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F970B-10F1-4C20-9DD5-22C0E45781AD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72BDC-C745-4B0A-8DFE-EAAAA5750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908542A-645D-490E-A268-A2A7965909F3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5D26858-EC8D-4867-B988-228605C2BE6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F9388ED-DA16-491D-960C-54DAE59B570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922FC80-4FFA-4AF6-8E4F-8C950C79CC4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8F15DCA-6879-44AB-AA10-761962F9276F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3EE3FFD-544D-434F-A29E-DCEBBD2C61F5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0386353-9408-444A-91F4-A31F1086BD31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E192DED-53B3-4BEF-A7DB-84154DBFEB11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27E3045-BE39-4849-9062-57D47667946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6911578-4819-40F9-964A-339D95B1E78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D691E88-AC81-4711-AD14-06887FBDFE6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D760CBB-2DE2-4B25-B9CD-87FFBA30BCAC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BD8479D-BD09-46BF-9725-F9381B5DFCC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2ECF9DE-5E9C-4A1D-BA27-514C2076D92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263" y="8685335"/>
            <a:ext cx="2972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88176ED-0101-4B33-8B8F-5A67D2D5207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8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5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0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4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1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74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5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5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0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2ABEF-EFE1-4883-B4E9-DA21158E6B3C}" type="datetime1">
              <a:rPr lang="en-US"/>
              <a:pPr>
                <a:defRPr/>
              </a:pPr>
              <a:t>4/11/2017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4389E6-80AF-4759-B518-648573CCD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20735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66D802-5727-4F5F-9C04-98003EBAE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5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8E16-970A-4DC6-9B95-F29CD3AB7752}" type="datetimeFigureOut">
              <a:rPr lang="en-US" smtClean="0"/>
              <a:t>4/11/2017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C10F9-D2A3-4950-A100-6E6270060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iide bar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9144000" cy="686360"/>
          </a:xfrm>
        </p:spPr>
      </p:pic>
      <p:pic>
        <p:nvPicPr>
          <p:cNvPr id="4099" name="Picture 4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007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7"/>
          <p:cNvSpPr txBox="1">
            <a:spLocks noChangeArrowheads="1"/>
          </p:cNvSpPr>
          <p:nvPr/>
        </p:nvSpPr>
        <p:spPr bwMode="auto">
          <a:xfrm>
            <a:off x="0" y="270622"/>
            <a:ext cx="9144000" cy="33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1" rIns="91381" bIns="45691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/>
          </a:p>
        </p:txBody>
      </p:sp>
      <p:sp>
        <p:nvSpPr>
          <p:cNvPr id="4101" name="Line 8"/>
          <p:cNvSpPr>
            <a:spLocks noChangeShapeType="1"/>
          </p:cNvSpPr>
          <p:nvPr/>
        </p:nvSpPr>
        <p:spPr bwMode="auto">
          <a:xfrm>
            <a:off x="0" y="648120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381" tIns="45691" rIns="91381" bIns="45691"/>
          <a:lstStyle/>
          <a:p>
            <a:endParaRPr lang="en-US"/>
          </a:p>
        </p:txBody>
      </p:sp>
      <p:sp>
        <p:nvSpPr>
          <p:cNvPr id="4102" name="Rectangle 13"/>
          <p:cNvSpPr>
            <a:spLocks noChangeArrowheads="1"/>
          </p:cNvSpPr>
          <p:nvPr/>
        </p:nvSpPr>
        <p:spPr bwMode="auto">
          <a:xfrm>
            <a:off x="1192068" y="935691"/>
            <a:ext cx="6732444" cy="218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1" rIns="91381" bIns="45691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3600" dirty="0" smtClean="0">
                <a:solidFill>
                  <a:srgbClr val="6600CC"/>
                </a:solidFill>
                <a:latin typeface="Times New Roman" pitchFamily="18" charset="0"/>
              </a:rPr>
              <a:t>Analysis of Algorithm</a:t>
            </a:r>
            <a:endParaRPr lang="en-GB" altLang="en-US" sz="3600" dirty="0">
              <a:solidFill>
                <a:srgbClr val="6600CC"/>
              </a:solidFill>
              <a:latin typeface="Times New Roman" pitchFamily="18" charset="0"/>
            </a:endParaRPr>
          </a:p>
        </p:txBody>
      </p:sp>
      <p:sp>
        <p:nvSpPr>
          <p:cNvPr id="4103" name="Rectangle 14"/>
          <p:cNvSpPr>
            <a:spLocks noChangeArrowheads="1"/>
          </p:cNvSpPr>
          <p:nvPr/>
        </p:nvSpPr>
        <p:spPr bwMode="auto">
          <a:xfrm>
            <a:off x="1447512" y="2895320"/>
            <a:ext cx="6400511" cy="312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1" rIns="91381" bIns="45691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buFontTx/>
              <a:buNone/>
            </a:pPr>
            <a:endParaRPr lang="en-US" altLang="en-US" dirty="0">
              <a:solidFill>
                <a:srgbClr val="CC00FF"/>
              </a:solidFill>
              <a:latin typeface="Times New Roman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altLang="en-US" dirty="0">
                <a:solidFill>
                  <a:srgbClr val="CC00FF"/>
                </a:solidFill>
                <a:latin typeface="Times New Roman" pitchFamily="18" charset="0"/>
              </a:rPr>
              <a:t>Lecture 8</a:t>
            </a:r>
            <a:r>
              <a:rPr lang="en-US" altLang="en-US" dirty="0" smtClean="0">
                <a:solidFill>
                  <a:srgbClr val="CC00FF"/>
                </a:solidFill>
                <a:latin typeface="Times New Roman" pitchFamily="18" charset="0"/>
              </a:rPr>
              <a:t> </a:t>
            </a:r>
            <a:endParaRPr lang="en-US" altLang="en-US" dirty="0">
              <a:solidFill>
                <a:srgbClr val="CC00FF"/>
              </a:solidFill>
              <a:latin typeface="Times New Roman" pitchFamily="18" charset="0"/>
            </a:endParaRPr>
          </a:p>
          <a:p>
            <a:pPr algn="ctr" eaLnBrk="1" hangingPunct="1">
              <a:buFontTx/>
              <a:buNone/>
            </a:pPr>
            <a:endParaRPr lang="en-US" altLang="en-US" dirty="0">
              <a:solidFill>
                <a:srgbClr val="CC00FF"/>
              </a:solidFill>
              <a:latin typeface="Times New Roman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altLang="en-US" dirty="0">
                <a:solidFill>
                  <a:srgbClr val="CC00FF"/>
                </a:solidFill>
                <a:latin typeface="Times New Roman" pitchFamily="18" charset="0"/>
              </a:rPr>
              <a:t>By</a:t>
            </a:r>
          </a:p>
          <a:p>
            <a:pPr algn="ctr" eaLnBrk="1" hangingPunct="1">
              <a:buFontTx/>
              <a:buNone/>
            </a:pPr>
            <a:r>
              <a:rPr lang="en-US" altLang="en-US" dirty="0">
                <a:solidFill>
                  <a:srgbClr val="CC00FF"/>
                </a:solidFill>
                <a:latin typeface="Times New Roman" pitchFamily="18" charset="0"/>
              </a:rPr>
              <a:t>Huma </a:t>
            </a:r>
            <a:r>
              <a:rPr lang="en-US" altLang="en-US" dirty="0" err="1">
                <a:solidFill>
                  <a:srgbClr val="CC00FF"/>
                </a:solidFill>
                <a:latin typeface="Times New Roman" pitchFamily="18" charset="0"/>
              </a:rPr>
              <a:t>Ayub</a:t>
            </a:r>
            <a:r>
              <a:rPr lang="en-US" altLang="en-US" dirty="0">
                <a:solidFill>
                  <a:srgbClr val="CC00FF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104" name="Slide Number Placeholder 9"/>
          <p:cNvSpPr>
            <a:spLocks noGrp="1"/>
          </p:cNvSpPr>
          <p:nvPr>
            <p:ph type="sldNum" sz="quarter" idx="12"/>
          </p:nvPr>
        </p:nvSpPr>
        <p:spPr bwMode="auto">
          <a:xfrm>
            <a:off x="6553489" y="6619875"/>
            <a:ext cx="2133023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F9890A5-2FC1-4811-9CD1-FCCC16024669}" type="slidenum">
              <a:rPr lang="en-US" altLang="en-US">
                <a:latin typeface="Arial" charset="0"/>
              </a:rPr>
              <a:pPr/>
              <a:t>1</a:t>
            </a:fld>
            <a:endParaRPr lang="en-US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841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HASHING </a:t>
            </a:r>
          </a:p>
        </p:txBody>
      </p:sp>
    </p:spTree>
    <p:extLst>
      <p:ext uri="{BB962C8B-B14F-4D97-AF65-F5344CB8AC3E}">
        <p14:creationId xmlns:p14="http://schemas.microsoft.com/office/powerpoint/2010/main" val="41252062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Hash Tables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All search structures so far</a:t>
            </a:r>
          </a:p>
          <a:p>
            <a:pPr lvl="1"/>
            <a:r>
              <a:rPr lang="en-US" altLang="en-US" smtClean="0"/>
              <a:t>Relied on a comparison operation</a:t>
            </a:r>
          </a:p>
          <a:p>
            <a:pPr lvl="1"/>
            <a:r>
              <a:rPr lang="en-US" altLang="en-US" smtClean="0"/>
              <a:t>Performance </a:t>
            </a:r>
            <a:r>
              <a:rPr lang="en-US" altLang="en-US" i="1" smtClean="0">
                <a:solidFill>
                  <a:schemeClr val="tx1"/>
                </a:solidFill>
                <a:latin typeface="Times New Roman" pitchFamily="18" charset="0"/>
              </a:rPr>
              <a:t>O(n)</a:t>
            </a:r>
            <a:r>
              <a:rPr lang="en-US" altLang="en-US" smtClean="0"/>
              <a:t>   or    </a:t>
            </a:r>
            <a:r>
              <a:rPr lang="en-US" altLang="en-US" i="1" smtClean="0">
                <a:solidFill>
                  <a:schemeClr val="tx1"/>
                </a:solidFill>
                <a:latin typeface="Times New Roman" pitchFamily="18" charset="0"/>
              </a:rPr>
              <a:t>O( </a:t>
            </a:r>
            <a:r>
              <a:rPr lang="en-US" altLang="en-US" smtClean="0">
                <a:solidFill>
                  <a:schemeClr val="tx1"/>
                </a:solidFill>
                <a:latin typeface="Times New Roman" pitchFamily="18" charset="0"/>
              </a:rPr>
              <a:t>log</a:t>
            </a:r>
            <a:r>
              <a:rPr lang="en-US" altLang="en-US" i="1" smtClean="0">
                <a:solidFill>
                  <a:schemeClr val="tx1"/>
                </a:solidFill>
                <a:latin typeface="Times New Roman" pitchFamily="18" charset="0"/>
              </a:rPr>
              <a:t> n)</a:t>
            </a:r>
            <a:endParaRPr lang="en-US" altLang="en-US" smtClean="0"/>
          </a:p>
          <a:p>
            <a:r>
              <a:rPr lang="en-US" altLang="en-US" smtClean="0"/>
              <a:t>Assume I have a function</a:t>
            </a:r>
          </a:p>
          <a:p>
            <a:pPr lvl="1"/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f ( key )    </a:t>
            </a:r>
            <a:r>
              <a:rPr lang="en-US" altLang="en-US" smtClean="0">
                <a:solidFill>
                  <a:schemeClr val="tx1"/>
                </a:solidFill>
                <a:latin typeface="Symbol" pitchFamily="18" charset="2"/>
              </a:rPr>
              <a:t>®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     integer</a:t>
            </a:r>
            <a:endParaRPr lang="en-US" altLang="en-US" sz="2400" i="1" smtClean="0">
              <a:latin typeface="Times New Roman" pitchFamily="18" charset="0"/>
            </a:endParaRPr>
          </a:p>
          <a:p>
            <a:pPr lvl="1">
              <a:buFontTx/>
              <a:buChar char=" "/>
            </a:pPr>
            <a:r>
              <a:rPr lang="en-US" altLang="en-US" i="1" smtClean="0">
                <a:latin typeface="Times New Roman" pitchFamily="18" charset="0"/>
              </a:rPr>
              <a:t>i.e</a:t>
            </a:r>
            <a:r>
              <a:rPr lang="en-US" altLang="en-US" smtClean="0"/>
              <a:t> one that maps a key to an integer</a:t>
            </a:r>
          </a:p>
          <a:p>
            <a:r>
              <a:rPr lang="en-US" altLang="en-US" smtClean="0"/>
              <a:t>What performance might I expect now?</a:t>
            </a:r>
          </a:p>
        </p:txBody>
      </p:sp>
    </p:spTree>
    <p:extLst>
      <p:ext uri="{BB962C8B-B14F-4D97-AF65-F5344CB8AC3E}">
        <p14:creationId xmlns:p14="http://schemas.microsoft.com/office/powerpoint/2010/main" val="367785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Hash Tables - </a:t>
            </a:r>
            <a:r>
              <a:rPr lang="en-US" altLang="en-US" sz="2800" smtClean="0"/>
              <a:t> </a:t>
            </a:r>
            <a:endParaRPr lang="en-US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Keys are integers</a:t>
            </a:r>
          </a:p>
          <a:p>
            <a:pPr lvl="1"/>
            <a:r>
              <a:rPr lang="en-US" altLang="en-US" smtClean="0"/>
              <a:t>Need a </a:t>
            </a:r>
            <a:r>
              <a:rPr lang="en-US" altLang="en-US" smtClean="0">
                <a:solidFill>
                  <a:srgbClr val="FC0128"/>
                </a:solidFill>
              </a:rPr>
              <a:t>hash function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h( key )    </a:t>
            </a:r>
            <a:r>
              <a:rPr lang="en-US" altLang="en-US" smtClean="0">
                <a:solidFill>
                  <a:schemeClr val="tx1"/>
                </a:solidFill>
                <a:latin typeface="Symbol" pitchFamily="18" charset="2"/>
              </a:rPr>
              <a:t>®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     integer</a:t>
            </a:r>
            <a:endParaRPr lang="en-US" altLang="en-US" sz="2400" i="1" smtClean="0">
              <a:latin typeface="Times New Roman" pitchFamily="18" charset="0"/>
            </a:endParaRPr>
          </a:p>
          <a:p>
            <a:pPr lvl="1">
              <a:buFontTx/>
              <a:buChar char=" "/>
            </a:pPr>
            <a:r>
              <a:rPr lang="en-US" altLang="en-US" i="1" smtClean="0">
                <a:latin typeface="Times New Roman" pitchFamily="18" charset="0"/>
              </a:rPr>
              <a:t>ie</a:t>
            </a:r>
            <a:r>
              <a:rPr lang="en-US" altLang="en-US" smtClean="0"/>
              <a:t> one that maps a key to </a:t>
            </a:r>
            <a:br>
              <a:rPr lang="en-US" altLang="en-US" smtClean="0"/>
            </a:br>
            <a:r>
              <a:rPr lang="en-US" altLang="en-US" smtClean="0"/>
              <a:t>an integer</a:t>
            </a:r>
          </a:p>
          <a:p>
            <a:pPr lvl="1"/>
            <a:r>
              <a:rPr lang="en-US" altLang="en-US" smtClean="0"/>
              <a:t>Applying this function to the</a:t>
            </a:r>
            <a:br>
              <a:rPr lang="en-US" altLang="en-US" smtClean="0"/>
            </a:br>
            <a:r>
              <a:rPr lang="en-US" altLang="en-US" smtClean="0"/>
              <a:t>key produces an address</a:t>
            </a:r>
          </a:p>
          <a:p>
            <a:pPr lvl="1"/>
            <a:r>
              <a:rPr lang="en-US" altLang="en-US" smtClean="0"/>
              <a:t>If 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h</a:t>
            </a:r>
            <a:r>
              <a:rPr lang="en-US" altLang="en-US" smtClean="0"/>
              <a:t> maps each key to a </a:t>
            </a:r>
            <a:r>
              <a:rPr lang="en-US" altLang="en-US" i="1" smtClean="0">
                <a:solidFill>
                  <a:srgbClr val="FC0128"/>
                </a:solidFill>
              </a:rPr>
              <a:t>unique</a:t>
            </a:r>
            <a:br>
              <a:rPr lang="en-US" altLang="en-US" i="1" smtClean="0">
                <a:solidFill>
                  <a:srgbClr val="FC0128"/>
                </a:solidFill>
              </a:rPr>
            </a:br>
            <a:r>
              <a:rPr lang="en-US" altLang="en-US" i="1" smtClean="0">
                <a:solidFill>
                  <a:srgbClr val="FC0128"/>
                </a:solidFill>
              </a:rPr>
              <a:t>integer</a:t>
            </a:r>
            <a:r>
              <a:rPr lang="en-US" altLang="en-US" smtClean="0"/>
              <a:t> in the range </a:t>
            </a:r>
            <a:r>
              <a:rPr lang="en-US" altLang="en-US" sz="2400" smtClean="0">
                <a:solidFill>
                  <a:schemeClr val="tx1"/>
                </a:solidFill>
                <a:latin typeface="Times New Roman" pitchFamily="18" charset="0"/>
              </a:rPr>
              <a:t>0 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.. m-</a:t>
            </a:r>
            <a:r>
              <a:rPr lang="en-US" altLang="en-US" sz="2400" smtClean="0">
                <a:solidFill>
                  <a:schemeClr val="tx1"/>
                </a:solidFill>
                <a:latin typeface="Times New Roman" pitchFamily="18" charset="0"/>
              </a:rPr>
              <a:t>1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then search is 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O(</a:t>
            </a:r>
            <a:r>
              <a:rPr lang="en-US" altLang="en-US" sz="2400" smtClean="0">
                <a:solidFill>
                  <a:schemeClr val="tx1"/>
                </a:solidFill>
                <a:latin typeface="Times New Roman" pitchFamily="18" charset="0"/>
              </a:rPr>
              <a:t>1</a:t>
            </a:r>
            <a:r>
              <a:rPr lang="en-US" altLang="en-US" sz="2400" i="1" smtClean="0">
                <a:solidFill>
                  <a:schemeClr val="tx1"/>
                </a:solidFill>
                <a:latin typeface="Times New Roman" pitchFamily="18" charset="0"/>
              </a:rPr>
              <a:t>)</a:t>
            </a:r>
            <a:endParaRPr lang="en-US" altLang="en-US" smtClean="0"/>
          </a:p>
          <a:p>
            <a:pPr lvl="1"/>
            <a:endParaRPr lang="en-US" altLang="en-US" smtClean="0"/>
          </a:p>
        </p:txBody>
      </p:sp>
      <p:pic>
        <p:nvPicPr>
          <p:cNvPr id="7172" name="Picture 4" descr="\\Odin\morris\Courses\PLDS210\fig\dir_acc_list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728788"/>
            <a:ext cx="3117850" cy="33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833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Hash Tables - </a:t>
            </a:r>
            <a:r>
              <a:rPr lang="en-US" altLang="en-US" sz="2800" smtClean="0"/>
              <a:t>Hash functions</a:t>
            </a:r>
            <a:endParaRPr lang="en-US" altLang="en-US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smtClean="0"/>
              <a:t>Form of the hash function</a:t>
            </a:r>
          </a:p>
          <a:p>
            <a:pPr lvl="1"/>
            <a:r>
              <a:rPr lang="en-US" altLang="en-US" smtClean="0"/>
              <a:t>Example - using an</a:t>
            </a:r>
            <a:r>
              <a:rPr lang="en-US" altLang="en-US" i="1" smtClean="0">
                <a:latin typeface="Times New Roman" pitchFamily="18" charset="0"/>
              </a:rPr>
              <a:t> </a:t>
            </a:r>
            <a:r>
              <a:rPr lang="en-US" altLang="en-US" smtClean="0"/>
              <a:t> </a:t>
            </a:r>
            <a:r>
              <a:rPr lang="en-US" altLang="en-US" i="1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altLang="en-US" smtClean="0"/>
              <a:t>-character key</a:t>
            </a:r>
          </a:p>
          <a:p>
            <a:pPr lvl="1">
              <a:buFontTx/>
              <a:buChar char=" "/>
            </a:pP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int hash( char *s, int n ) {</a:t>
            </a:r>
            <a:b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   int sum = 0;</a:t>
            </a:r>
            <a:b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   while( n-- ) sum = sum + *s++;</a:t>
            </a:r>
            <a:b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   return sum % 256;</a:t>
            </a:r>
            <a:b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   }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returns a value in </a:t>
            </a:r>
            <a:r>
              <a:rPr lang="en-US" altLang="en-US" smtClean="0">
                <a:solidFill>
                  <a:schemeClr val="tx1"/>
                </a:solidFill>
                <a:latin typeface="Times New Roman" pitchFamily="18" charset="0"/>
              </a:rPr>
              <a:t>0 .. 255</a:t>
            </a:r>
            <a:endParaRPr lang="en-US" altLang="en-US" smtClean="0"/>
          </a:p>
          <a:p>
            <a:pPr lvl="1"/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xor</a:t>
            </a:r>
            <a:r>
              <a:rPr lang="en-US" altLang="en-US" smtClean="0"/>
              <a:t> function is also commonly used</a:t>
            </a:r>
            <a:br>
              <a:rPr lang="en-US" altLang="en-US" smtClean="0"/>
            </a:br>
            <a:r>
              <a:rPr lang="en-US" altLang="en-US" smtClean="0"/>
              <a:t>      </a:t>
            </a: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sum = sum ^ *s++;</a:t>
            </a:r>
          </a:p>
          <a:p>
            <a:pPr lvl="1"/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Example </a:t>
            </a:r>
          </a:p>
          <a:p>
            <a:pPr lvl="1"/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hash(  “AB”, 2 )</a:t>
            </a:r>
            <a:r>
              <a:rPr lang="en-US" altLang="en-US" smtClean="0"/>
              <a:t>  and   </a:t>
            </a:r>
            <a:r>
              <a:rPr lang="en-US" altLang="en-US" smtClean="0">
                <a:solidFill>
                  <a:schemeClr val="tx1"/>
                </a:solidFill>
                <a:latin typeface="Courier New" pitchFamily="49" charset="0"/>
              </a:rPr>
              <a:t>hash( “BA”, 2 )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return the same value! This is called a </a:t>
            </a:r>
            <a:r>
              <a:rPr lang="en-US" altLang="en-US" smtClean="0">
                <a:solidFill>
                  <a:srgbClr val="FC0128"/>
                </a:solidFill>
              </a:rPr>
              <a:t>collision</a:t>
            </a:r>
            <a:endParaRPr lang="en-US" altLang="en-US" smtClean="0"/>
          </a:p>
          <a:p>
            <a:pPr lvl="1"/>
            <a:r>
              <a:rPr lang="en-US" altLang="en-US" smtClean="0"/>
              <a:t>A variety of techniques are used for resolving collisions</a:t>
            </a:r>
          </a:p>
          <a:p>
            <a:pPr lvl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120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90FC480-7DAD-4044-A658-A61CD65AF0DF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en-US" sz="2800" smtClean="0">
                <a:solidFill>
                  <a:srgbClr val="CC3333"/>
                </a:solidFill>
              </a:rPr>
              <a:t>Hashing: Collision Resolution Schemes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5410200"/>
          </a:xfrm>
        </p:spPr>
        <p:txBody>
          <a:bodyPr/>
          <a:lstStyle/>
          <a:p>
            <a:r>
              <a:rPr lang="en-US" altLang="en-US" sz="2000" smtClean="0"/>
              <a:t>Collision Resolution Techniques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Separate Chaining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Separate Chaining with String Keys 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Separate Chaining versus Open-addressing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Implementation of Separate Chaining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Introduction to Collision Resolution using Open Addressing</a:t>
            </a:r>
          </a:p>
          <a:p>
            <a:endParaRPr lang="en-US" altLang="en-US" sz="2000" smtClean="0"/>
          </a:p>
          <a:p>
            <a:r>
              <a:rPr lang="en-US" altLang="en-US" sz="2000" smtClean="0"/>
              <a:t>Linear Probing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4301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9394ABF-B4C5-4242-B62A-C10914D82CCD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Collision Resolution Techniques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6868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There are two broad ways of collision resolution: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tx2"/>
                </a:solidFill>
              </a:rPr>
              <a:t>1.</a:t>
            </a:r>
            <a:r>
              <a:rPr lang="en-US" altLang="en-US" smtClean="0">
                <a:solidFill>
                  <a:srgbClr val="FFFFFF"/>
                </a:solidFill>
              </a:rPr>
              <a:t> </a:t>
            </a:r>
            <a:r>
              <a:rPr lang="en-US" altLang="en-US" smtClean="0">
                <a:solidFill>
                  <a:srgbClr val="000099"/>
                </a:solidFill>
              </a:rPr>
              <a:t>Separate Chaining:</a:t>
            </a:r>
            <a:r>
              <a:rPr lang="en-US" altLang="en-US" smtClean="0">
                <a:solidFill>
                  <a:srgbClr val="FFFFFF"/>
                </a:solidFill>
              </a:rPr>
              <a:t>: </a:t>
            </a:r>
            <a:r>
              <a:rPr lang="en-US" altLang="en-US" smtClean="0">
                <a:solidFill>
                  <a:schemeClr val="tx2"/>
                </a:solidFill>
              </a:rPr>
              <a:t>An array of linked list implementation.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tx2"/>
                </a:solidFill>
              </a:rPr>
              <a:t>2.</a:t>
            </a:r>
            <a:r>
              <a:rPr lang="en-US" altLang="en-US" smtClean="0">
                <a:solidFill>
                  <a:srgbClr val="FFFFFF"/>
                </a:solidFill>
              </a:rPr>
              <a:t> </a:t>
            </a:r>
            <a:r>
              <a:rPr lang="en-US" altLang="en-US" smtClean="0">
                <a:solidFill>
                  <a:srgbClr val="000099"/>
                </a:solidFill>
              </a:rPr>
              <a:t>Open Addressing</a:t>
            </a:r>
            <a:r>
              <a:rPr lang="en-US" altLang="en-US" smtClean="0">
                <a:solidFill>
                  <a:schemeClr val="tx2"/>
                </a:solidFill>
              </a:rPr>
              <a:t>: Array-based implementation.</a:t>
            </a:r>
          </a:p>
          <a:p>
            <a:pPr>
              <a:lnSpc>
                <a:spcPct val="90000"/>
              </a:lnSpc>
            </a:pPr>
            <a:endParaRPr lang="en-US" altLang="en-US" smtClean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</a:rPr>
              <a:t>	(i)    Linear probing (linear search)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</a:rPr>
              <a:t>	(ii)   Quadratic probing (nonlinear search)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</a:rPr>
              <a:t>	(iii)  Double hashing (uses two hash functions)</a:t>
            </a:r>
          </a:p>
        </p:txBody>
      </p:sp>
    </p:spTree>
    <p:extLst>
      <p:ext uri="{BB962C8B-B14F-4D97-AF65-F5344CB8AC3E}">
        <p14:creationId xmlns:p14="http://schemas.microsoft.com/office/powerpoint/2010/main" val="122164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D217237-ABBD-4E7E-8FBE-97D631DC55C7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6858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Separate Chaining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382000" cy="2362200"/>
          </a:xfrm>
        </p:spPr>
        <p:txBody>
          <a:bodyPr/>
          <a:lstStyle/>
          <a:p>
            <a:r>
              <a:rPr lang="en-US" altLang="en-US" sz="1800" smtClean="0">
                <a:solidFill>
                  <a:schemeClr val="tx2"/>
                </a:solidFill>
              </a:rPr>
              <a:t>The hash table is implemented as an array of linked lists.</a:t>
            </a:r>
          </a:p>
          <a:p>
            <a:endParaRPr lang="en-US" altLang="en-US" sz="1800" smtClean="0">
              <a:solidFill>
                <a:schemeClr val="tx2"/>
              </a:solidFill>
            </a:endParaRPr>
          </a:p>
          <a:p>
            <a:r>
              <a:rPr lang="en-US" altLang="en-US" sz="1800" smtClean="0">
                <a:solidFill>
                  <a:schemeClr val="tx2"/>
                </a:solidFill>
              </a:rPr>
              <a:t>Inserting an item,</a:t>
            </a:r>
            <a:r>
              <a:rPr lang="en-US" altLang="en-US" sz="1800" smtClean="0">
                <a:solidFill>
                  <a:srgbClr val="FFFFFF"/>
                </a:solidFill>
              </a:rPr>
              <a:t> </a:t>
            </a:r>
            <a:r>
              <a:rPr lang="en-US" altLang="en-US" sz="1600" smtClean="0">
                <a:solidFill>
                  <a:srgbClr val="000099"/>
                </a:solidFill>
                <a:latin typeface="Courier New" pitchFamily="49" charset="0"/>
              </a:rPr>
              <a:t>r</a:t>
            </a:r>
            <a:r>
              <a:rPr lang="en-US" altLang="en-US" sz="1800" smtClean="0">
                <a:solidFill>
                  <a:schemeClr val="tx2"/>
                </a:solidFill>
              </a:rPr>
              <a:t>, that hashes at index</a:t>
            </a:r>
            <a:r>
              <a:rPr lang="en-US" altLang="en-US" sz="1800" smtClean="0">
                <a:solidFill>
                  <a:srgbClr val="FFFFFF"/>
                </a:solidFill>
              </a:rPr>
              <a:t> </a:t>
            </a:r>
            <a:r>
              <a:rPr lang="en-US" altLang="en-US" sz="16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18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chemeClr val="tx2"/>
                </a:solidFill>
              </a:rPr>
              <a:t>is simply insertion into the linked list at position</a:t>
            </a:r>
            <a:r>
              <a:rPr lang="en-US" altLang="en-US" sz="1800" smtClean="0">
                <a:solidFill>
                  <a:srgbClr val="FFFFFF"/>
                </a:solidFill>
              </a:rPr>
              <a:t> </a:t>
            </a:r>
            <a:r>
              <a:rPr lang="en-US" altLang="en-US" sz="16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1800" smtClean="0">
                <a:solidFill>
                  <a:schemeClr val="tx2"/>
                </a:solidFill>
              </a:rPr>
              <a:t>. </a:t>
            </a:r>
          </a:p>
          <a:p>
            <a:r>
              <a:rPr lang="en-US" altLang="en-US" sz="1800" smtClean="0"/>
              <a:t>identicals</a:t>
            </a:r>
            <a:r>
              <a:rPr lang="en-US" altLang="en-US" sz="1800" smtClean="0">
                <a:solidFill>
                  <a:schemeClr val="tx2"/>
                </a:solidFill>
              </a:rPr>
              <a:t> are chained in the same linked list.</a:t>
            </a:r>
            <a:r>
              <a:rPr lang="en-US" altLang="en-US" smtClean="0">
                <a:solidFill>
                  <a:schemeClr val="tx2"/>
                </a:solidFill>
              </a:rPr>
              <a:t> </a:t>
            </a:r>
          </a:p>
          <a:p>
            <a:endParaRPr lang="en-US" altLang="en-US" smtClean="0">
              <a:solidFill>
                <a:schemeClr val="tx2"/>
              </a:solidFill>
            </a:endParaRPr>
          </a:p>
          <a:p>
            <a:endParaRPr lang="en-US" altLang="en-US" sz="2000" smtClean="0">
              <a:solidFill>
                <a:schemeClr val="tx2"/>
              </a:solidFill>
            </a:endParaRPr>
          </a:p>
        </p:txBody>
      </p:sp>
      <p:pic>
        <p:nvPicPr>
          <p:cNvPr id="11269" name="Picture 4" descr="sp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95600"/>
            <a:ext cx="81819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550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2A03175-4B61-48BF-986C-881BB9A59A7F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6096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Separate Chaining (cont’d)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smtClean="0">
                <a:solidFill>
                  <a:schemeClr val="tx2"/>
                </a:solidFill>
              </a:rPr>
              <a:t>Retrieval of an item,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r</a:t>
            </a:r>
            <a:r>
              <a:rPr lang="en-US" altLang="en-US" sz="2000" smtClean="0">
                <a:solidFill>
                  <a:schemeClr val="tx2"/>
                </a:solidFill>
              </a:rPr>
              <a:t>, with hash address,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</a:rPr>
              <a:t>, is simply retrieval from the linked list at position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6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</a:rPr>
              <a:t>.</a:t>
            </a:r>
            <a:endParaRPr lang="en-US" altLang="en-US" smtClean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smtClean="0">
                <a:solidFill>
                  <a:schemeClr val="tx2"/>
                </a:solidFill>
              </a:rPr>
              <a:t>Deletion of an item,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r</a:t>
            </a:r>
            <a:r>
              <a:rPr lang="en-US" altLang="en-US" sz="2000" smtClean="0">
                <a:solidFill>
                  <a:schemeClr val="tx2"/>
                </a:solidFill>
              </a:rPr>
              <a:t>, with hash address,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</a:rPr>
              <a:t>, is simply deleting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r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</a:rPr>
              <a:t>from the linked list at position</a:t>
            </a:r>
            <a:r>
              <a:rPr lang="en-US" altLang="en-US" sz="2000" smtClean="0">
                <a:solidFill>
                  <a:srgbClr val="FFFF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sz="2000" smtClean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smtClean="0">
                <a:solidFill>
                  <a:schemeClr val="tx2"/>
                </a:solidFill>
              </a:rPr>
              <a:t>Example: </a:t>
            </a:r>
            <a:r>
              <a:rPr lang="en-US" altLang="ko-KR" sz="2000" smtClean="0">
                <a:ea typeface="Gulim" pitchFamily="34" charset="-127"/>
              </a:rPr>
              <a:t>Load the keys 23, 13, 21, 14, 7, 8, and 15 , in this order, in a hash table of size 7 using separate chaining with the hash function: h(key) = key % 7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ea typeface="Gulim" pitchFamily="34" charset="-127"/>
              </a:rPr>
              <a:t>		</a:t>
            </a: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h(23) = 23 % 7 =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 		h(13) = 13 % 7 = 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		h(21) = 21 % 7 = 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		h(14) = 14 % 7 = 0    collision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		h(7) = 7 % 7 = 0         collision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		h(8) = 8 % 7 = 1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solidFill>
                  <a:srgbClr val="000099"/>
                </a:solidFill>
                <a:ea typeface="Gulim" pitchFamily="34" charset="-127"/>
              </a:rPr>
              <a:t>		</a:t>
            </a:r>
            <a:r>
              <a:rPr lang="fr-FR" altLang="ko-KR" sz="2000" smtClean="0">
                <a:solidFill>
                  <a:srgbClr val="000099"/>
                </a:solidFill>
                <a:ea typeface="Gulim" pitchFamily="34" charset="-127"/>
              </a:rPr>
              <a:t>h(15) = 15 % 7 = 1     collision</a:t>
            </a:r>
            <a:endParaRPr lang="en-US" altLang="en-US" sz="2000" smtClean="0">
              <a:solidFill>
                <a:srgbClr val="000099"/>
              </a:solidFill>
            </a:endParaRPr>
          </a:p>
        </p:txBody>
      </p:sp>
      <p:pic>
        <p:nvPicPr>
          <p:cNvPr id="12293" name="Picture 4" descr="lch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267200"/>
            <a:ext cx="461010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839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065345A-9C44-483C-B8FC-DEAACCE47A31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6096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Separate Chaining with String Keys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09600"/>
            <a:ext cx="8915400" cy="6096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smtClean="0">
                <a:solidFill>
                  <a:schemeClr val="tx2"/>
                </a:solidFill>
              </a:rPr>
              <a:t>Recall that search keys can be numbers, strings or some other object.</a:t>
            </a:r>
          </a:p>
          <a:p>
            <a:pPr>
              <a:lnSpc>
                <a:spcPct val="90000"/>
              </a:lnSpc>
            </a:pPr>
            <a:r>
              <a:rPr lang="en-US" altLang="ko-KR" sz="2000" smtClean="0">
                <a:solidFill>
                  <a:schemeClr val="tx2"/>
                </a:solidFill>
                <a:ea typeface="Gulim" pitchFamily="34" charset="-127"/>
              </a:rPr>
              <a:t>A hash function for a string s = c0c1c2…cn-1 can be defined as: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ea typeface="Gulim" pitchFamily="34" charset="-127"/>
              </a:rPr>
              <a:t>             hash = (c</a:t>
            </a:r>
            <a:r>
              <a:rPr lang="en-US" altLang="ko-KR" sz="2000" baseline="-25000" smtClean="0">
                <a:ea typeface="Gulim" pitchFamily="34" charset="-127"/>
              </a:rPr>
              <a:t>0</a:t>
            </a:r>
            <a:r>
              <a:rPr lang="en-US" altLang="ko-KR" sz="2000" smtClean="0">
                <a:ea typeface="Gulim" pitchFamily="34" charset="-127"/>
              </a:rPr>
              <a:t> + c</a:t>
            </a:r>
            <a:r>
              <a:rPr lang="en-US" altLang="ko-KR" sz="2000" baseline="-25000" smtClean="0">
                <a:ea typeface="Gulim" pitchFamily="34" charset="-127"/>
              </a:rPr>
              <a:t>1</a:t>
            </a:r>
            <a:r>
              <a:rPr lang="en-US" altLang="ko-KR" sz="2000" smtClean="0">
                <a:ea typeface="Gulim" pitchFamily="34" charset="-127"/>
              </a:rPr>
              <a:t> + c</a:t>
            </a:r>
            <a:r>
              <a:rPr lang="en-US" altLang="ko-KR" sz="2000" baseline="-25000" smtClean="0">
                <a:ea typeface="Gulim" pitchFamily="34" charset="-127"/>
              </a:rPr>
              <a:t>2</a:t>
            </a:r>
            <a:r>
              <a:rPr lang="en-US" altLang="ko-KR" sz="2000" smtClean="0">
                <a:ea typeface="Gulim" pitchFamily="34" charset="-127"/>
              </a:rPr>
              <a:t> + … + c</a:t>
            </a:r>
            <a:r>
              <a:rPr lang="en-US" altLang="ko-KR" sz="2000" baseline="-25000" smtClean="0">
                <a:ea typeface="Gulim" pitchFamily="34" charset="-127"/>
              </a:rPr>
              <a:t>n-1</a:t>
            </a:r>
            <a:r>
              <a:rPr lang="en-US" altLang="ko-KR" sz="2000" smtClean="0">
                <a:ea typeface="Gulim" pitchFamily="34" charset="-127"/>
              </a:rPr>
              <a:t>) % tableSize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ko-KR" sz="2000" smtClean="0">
                <a:ea typeface="Gulim" pitchFamily="34" charset="-127"/>
              </a:rPr>
              <a:t>       this can be implemented as: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smtClean="0">
              <a:solidFill>
                <a:schemeClr val="tx2"/>
              </a:solidFill>
            </a:endParaRP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rgbClr val="0000FF"/>
                </a:solidFill>
                <a:latin typeface="Courier New" pitchFamily="49" charset="0"/>
              </a:rPr>
              <a:t> </a:t>
            </a:r>
          </a:p>
          <a:p>
            <a:pPr lvl="2" algn="just"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 lvl="2" algn="just"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 lvl="2" algn="just"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 lvl="2" algn="just"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 lvl="2" algn="just">
              <a:lnSpc>
                <a:spcPct val="90000"/>
              </a:lnSpc>
              <a:buFontTx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smtClean="0">
                <a:solidFill>
                  <a:schemeClr val="tx2"/>
                </a:solidFill>
              </a:rPr>
              <a:t>Example: The following class describes commodity items: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838200" y="2438400"/>
            <a:ext cx="7010400" cy="20145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public static int hash(String key, int tableSize){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int hashValue = 0;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for (int i = 0; i &lt; key.length(); i++){ </a:t>
            </a:r>
          </a:p>
          <a:p>
            <a:pPr lvl="2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hashValue += key.charAt(i);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return hashValue % tableSize;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990600" y="4953000"/>
            <a:ext cx="6750050" cy="14652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class CommodityItem 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 String name;	// commodity name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 int quantity;	// commodity quantity needed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    double price;	// commodity price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647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5334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Separate Chaining with String Keys (cont’d)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83820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000" smtClean="0">
                <a:ea typeface="Gulim" pitchFamily="34" charset="-127"/>
              </a:rPr>
              <a:t>Use the hash function hash to load the following commodity items into a hash table of size 13 using separate chaining:</a:t>
            </a:r>
            <a:endParaRPr lang="en-US" altLang="en-US" sz="1600" smtClean="0"/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onion		1	  10.0	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tomato		1	  8.50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cabbage		3	  3.50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carrot		1	  5.50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okra		1	  6.50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mellon		2	  10.0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potato		2	  7.50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Banana       	3          4.00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olive		2	  15.0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salt		2	  2.50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cucumber		3	  4.50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mushroom		3	  5.50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1400" smtClean="0">
                <a:solidFill>
                  <a:srgbClr val="000099"/>
                </a:solidFill>
                <a:latin typeface="Courier New" pitchFamily="49" charset="0"/>
              </a:rPr>
              <a:t>orange		2	  3.00</a:t>
            </a:r>
          </a:p>
          <a:p>
            <a:pPr>
              <a:lnSpc>
                <a:spcPct val="90000"/>
              </a:lnSpc>
            </a:pPr>
            <a:r>
              <a:rPr lang="en-US" altLang="en-US" sz="2000" smtClean="0"/>
              <a:t>Solution:</a:t>
            </a:r>
          </a:p>
        </p:txBody>
      </p:sp>
      <p:pic>
        <p:nvPicPr>
          <p:cNvPr id="14341" name="Picture 4" descr="sp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48200"/>
            <a:ext cx="9144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228600" y="5608638"/>
            <a:ext cx="8458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hash(onion) = (111 + 110 + 105 + 111 + 110) % 13 = 547 % 13 = 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hash(salt) = (115 + 97 + 108 + 116) % 13 = 436 % 13 = 7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hash(orange) = (111 + 114 + 97 + 110 + 103 + 101)%13 = 636 %13 = 12</a:t>
            </a:r>
            <a:endParaRPr lang="en-US" altLang="en-US" sz="20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97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ED311EC-C203-49A3-865E-0505C963FED2}" type="slidenum">
              <a:rPr lang="en-US" altLang="en-US" b="0" smtClean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en-US" b="0" smtClean="0">
              <a:latin typeface="Times New Roman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772400" cy="228600"/>
          </a:xfrm>
        </p:spPr>
        <p:txBody>
          <a:bodyPr>
            <a:normAutofit fontScale="90000"/>
          </a:bodyPr>
          <a:lstStyle/>
          <a:p>
            <a:r>
              <a:rPr lang="en-US" altLang="en-US" sz="2800" smtClean="0">
                <a:solidFill>
                  <a:srgbClr val="EE0000"/>
                </a:solidFill>
              </a:rPr>
              <a:t>Separate Chaining with String Keys (cont’d)</a:t>
            </a:r>
          </a:p>
        </p:txBody>
      </p:sp>
      <p:graphicFrame>
        <p:nvGraphicFramePr>
          <p:cNvPr id="10389" name="Group 149"/>
          <p:cNvGraphicFramePr>
            <a:graphicFrameLocks noGrp="1"/>
          </p:cNvGraphicFramePr>
          <p:nvPr/>
        </p:nvGraphicFramePr>
        <p:xfrm>
          <a:off x="762000" y="685800"/>
          <a:ext cx="1219200" cy="5943600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94" name="Text Box 147"/>
          <p:cNvSpPr txBox="1">
            <a:spLocks noChangeArrowheads="1"/>
          </p:cNvSpPr>
          <p:nvPr/>
        </p:nvSpPr>
        <p:spPr bwMode="auto">
          <a:xfrm>
            <a:off x="228600" y="685800"/>
            <a:ext cx="457200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0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1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2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3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4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5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6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7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8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9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10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11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itchFamily="18" charset="0"/>
              </a:rPr>
              <a:t>12</a:t>
            </a:r>
          </a:p>
        </p:txBody>
      </p:sp>
      <p:sp>
        <p:nvSpPr>
          <p:cNvPr id="15395" name="Line 151"/>
          <p:cNvSpPr>
            <a:spLocks noChangeShapeType="1"/>
          </p:cNvSpPr>
          <p:nvPr/>
        </p:nvSpPr>
        <p:spPr bwMode="auto">
          <a:xfrm>
            <a:off x="1752600" y="8382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6" name="Line 152"/>
          <p:cNvSpPr>
            <a:spLocks noChangeShapeType="1"/>
          </p:cNvSpPr>
          <p:nvPr/>
        </p:nvSpPr>
        <p:spPr bwMode="auto">
          <a:xfrm>
            <a:off x="1752600" y="64008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Line 154"/>
          <p:cNvSpPr>
            <a:spLocks noChangeShapeType="1"/>
          </p:cNvSpPr>
          <p:nvPr/>
        </p:nvSpPr>
        <p:spPr bwMode="auto">
          <a:xfrm>
            <a:off x="1752600" y="13716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8" name="Line 155"/>
          <p:cNvSpPr>
            <a:spLocks noChangeShapeType="1"/>
          </p:cNvSpPr>
          <p:nvPr/>
        </p:nvSpPr>
        <p:spPr bwMode="auto">
          <a:xfrm>
            <a:off x="1752600" y="27432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9" name="Line 156"/>
          <p:cNvSpPr>
            <a:spLocks noChangeShapeType="1"/>
          </p:cNvSpPr>
          <p:nvPr/>
        </p:nvSpPr>
        <p:spPr bwMode="auto">
          <a:xfrm>
            <a:off x="1752600" y="36576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0" name="Line 157"/>
          <p:cNvSpPr>
            <a:spLocks noChangeShapeType="1"/>
          </p:cNvSpPr>
          <p:nvPr/>
        </p:nvSpPr>
        <p:spPr bwMode="auto">
          <a:xfrm>
            <a:off x="1752600" y="41148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1" name="Line 158"/>
          <p:cNvSpPr>
            <a:spLocks noChangeShapeType="1"/>
          </p:cNvSpPr>
          <p:nvPr/>
        </p:nvSpPr>
        <p:spPr bwMode="auto">
          <a:xfrm>
            <a:off x="1752600" y="50292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2" name="Line 159"/>
          <p:cNvSpPr>
            <a:spLocks noChangeShapeType="1"/>
          </p:cNvSpPr>
          <p:nvPr/>
        </p:nvSpPr>
        <p:spPr bwMode="auto">
          <a:xfrm>
            <a:off x="1752600" y="54864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3" name="Line 160"/>
          <p:cNvSpPr>
            <a:spLocks noChangeShapeType="1"/>
          </p:cNvSpPr>
          <p:nvPr/>
        </p:nvSpPr>
        <p:spPr bwMode="auto">
          <a:xfrm>
            <a:off x="1752600" y="59436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83" name="Group 743"/>
          <p:cNvGraphicFramePr>
            <a:graphicFrameLocks noGrp="1"/>
          </p:cNvGraphicFramePr>
          <p:nvPr/>
        </p:nvGraphicFramePr>
        <p:xfrm>
          <a:off x="2590800" y="12192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onion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86" name="Group 746"/>
          <p:cNvGraphicFramePr>
            <a:graphicFrameLocks noGrp="1"/>
          </p:cNvGraphicFramePr>
          <p:nvPr/>
        </p:nvGraphicFramePr>
        <p:xfrm>
          <a:off x="2590800" y="6096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okra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92" name="Group 752"/>
          <p:cNvGraphicFramePr>
            <a:graphicFrameLocks noGrp="1"/>
          </p:cNvGraphicFramePr>
          <p:nvPr/>
        </p:nvGraphicFramePr>
        <p:xfrm>
          <a:off x="4876800" y="53340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mellon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77" name="Group 737"/>
          <p:cNvGraphicFramePr>
            <a:graphicFrameLocks noGrp="1"/>
          </p:cNvGraphicFramePr>
          <p:nvPr/>
        </p:nvGraphicFramePr>
        <p:xfrm>
          <a:off x="2590800" y="57912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banana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75" name="Group 735"/>
          <p:cNvGraphicFramePr>
            <a:graphicFrameLocks noGrp="1"/>
          </p:cNvGraphicFramePr>
          <p:nvPr/>
        </p:nvGraphicFramePr>
        <p:xfrm>
          <a:off x="2590800" y="53340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tomato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94" name="Group 754"/>
          <p:cNvGraphicFramePr>
            <a:graphicFrameLocks noGrp="1"/>
          </p:cNvGraphicFramePr>
          <p:nvPr/>
        </p:nvGraphicFramePr>
        <p:xfrm>
          <a:off x="7162800" y="53340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olive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73" name="Group 733"/>
          <p:cNvGraphicFramePr>
            <a:graphicFrameLocks noGrp="1"/>
          </p:cNvGraphicFramePr>
          <p:nvPr/>
        </p:nvGraphicFramePr>
        <p:xfrm>
          <a:off x="2590800" y="48006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cucumber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69" name="Group 729"/>
          <p:cNvGraphicFramePr>
            <a:graphicFrameLocks noGrp="1"/>
          </p:cNvGraphicFramePr>
          <p:nvPr/>
        </p:nvGraphicFramePr>
        <p:xfrm>
          <a:off x="2590800" y="34290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mushroom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71" name="Group 731"/>
          <p:cNvGraphicFramePr>
            <a:graphicFrameLocks noGrp="1"/>
          </p:cNvGraphicFramePr>
          <p:nvPr/>
        </p:nvGraphicFramePr>
        <p:xfrm>
          <a:off x="2590800" y="39624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salt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81" name="Group 741"/>
          <p:cNvGraphicFramePr>
            <a:graphicFrameLocks noGrp="1"/>
          </p:cNvGraphicFramePr>
          <p:nvPr/>
        </p:nvGraphicFramePr>
        <p:xfrm>
          <a:off x="2590800" y="25908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cabbage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91" name="Group 751"/>
          <p:cNvGraphicFramePr>
            <a:graphicFrameLocks noGrp="1"/>
          </p:cNvGraphicFramePr>
          <p:nvPr/>
        </p:nvGraphicFramePr>
        <p:xfrm>
          <a:off x="4876800" y="12192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carrot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90" name="Group 750"/>
          <p:cNvGraphicFramePr>
            <a:graphicFrameLocks noGrp="1"/>
          </p:cNvGraphicFramePr>
          <p:nvPr/>
        </p:nvGraphicFramePr>
        <p:xfrm>
          <a:off x="4876800" y="6096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potato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79" name="Group 739"/>
          <p:cNvGraphicFramePr>
            <a:graphicFrameLocks noGrp="1"/>
          </p:cNvGraphicFramePr>
          <p:nvPr/>
        </p:nvGraphicFramePr>
        <p:xfrm>
          <a:off x="2590800" y="6248400"/>
          <a:ext cx="1752600" cy="396875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orange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517" name="Line 545"/>
          <p:cNvSpPr>
            <a:spLocks noChangeShapeType="1"/>
          </p:cNvSpPr>
          <p:nvPr/>
        </p:nvSpPr>
        <p:spPr bwMode="auto">
          <a:xfrm>
            <a:off x="3962400" y="838200"/>
            <a:ext cx="914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18" name="Line 546"/>
          <p:cNvSpPr>
            <a:spLocks noChangeShapeType="1"/>
          </p:cNvSpPr>
          <p:nvPr/>
        </p:nvSpPr>
        <p:spPr bwMode="auto">
          <a:xfrm>
            <a:off x="3962400" y="1447800"/>
            <a:ext cx="914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19" name="Line 547"/>
          <p:cNvSpPr>
            <a:spLocks noChangeShapeType="1"/>
          </p:cNvSpPr>
          <p:nvPr/>
        </p:nvSpPr>
        <p:spPr bwMode="auto">
          <a:xfrm>
            <a:off x="6324600" y="5562600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20" name="Line 548"/>
          <p:cNvSpPr>
            <a:spLocks noChangeShapeType="1"/>
          </p:cNvSpPr>
          <p:nvPr/>
        </p:nvSpPr>
        <p:spPr bwMode="auto">
          <a:xfrm>
            <a:off x="3962400" y="5562600"/>
            <a:ext cx="914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21" name="Rectangle 755"/>
          <p:cNvSpPr>
            <a:spLocks noChangeArrowheads="1"/>
          </p:cNvSpPr>
          <p:nvPr/>
        </p:nvSpPr>
        <p:spPr bwMode="auto">
          <a:xfrm>
            <a:off x="4724400" y="1828800"/>
            <a:ext cx="40386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 u="sng">
                <a:latin typeface="Courier New" pitchFamily="49" charset="0"/>
              </a:rPr>
              <a:t>Item	Qty	Price	 h(key</a:t>
            </a:r>
            <a:r>
              <a:rPr lang="en-US" altLang="en-US" sz="1400">
                <a:latin typeface="Courier New" pitchFamily="49" charset="0"/>
              </a:rPr>
              <a:t>)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onion	1	  10.0	  1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tomato	1	  8.50	  10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cabbage	3	  3.50     4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carrot	1	  5.50     1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okra	1	  6.50     0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mellon	2	  10.0    10 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potato	2	  7.50     0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Banana  	3          4.0     11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olive	2	  15.0    10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salt	2	  2.50    7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cucumber	3	  4.50    9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mushroom	3	  5.50    6</a:t>
            </a:r>
          </a:p>
          <a:p>
            <a:pPr algn="just">
              <a:lnSpc>
                <a:spcPct val="90000"/>
              </a:lnSpc>
              <a:buSzTx/>
              <a:buFontTx/>
              <a:buNone/>
            </a:pPr>
            <a:r>
              <a:rPr lang="en-US" altLang="en-US" sz="1400">
                <a:latin typeface="Courier New" pitchFamily="49" charset="0"/>
              </a:rPr>
              <a:t>orange	2	  3.00    12</a:t>
            </a:r>
          </a:p>
          <a:p>
            <a:pPr>
              <a:lnSpc>
                <a:spcPct val="90000"/>
              </a:lnSpc>
              <a:buSzTx/>
            </a:pPr>
            <a:endParaRPr lang="en-US" altLang="en-US" sz="14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96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69C2CC7-63C2-401E-B121-6E5D2064C286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5334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Separate Chaining versus Open-addressing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610600" cy="5943600"/>
          </a:xfrm>
        </p:spPr>
        <p:txBody>
          <a:bodyPr/>
          <a:lstStyle/>
          <a:p>
            <a:r>
              <a:rPr lang="en-US" altLang="en-US" sz="1600" smtClean="0"/>
              <a:t>Organization         Advantages                                                         Disadvantages</a:t>
            </a:r>
          </a:p>
          <a:p>
            <a:r>
              <a:rPr lang="en-US" altLang="en-US" sz="1600" smtClean="0"/>
              <a:t> Chaining        Unlimited number of elements</a:t>
            </a:r>
            <a:br>
              <a:rPr lang="en-US" altLang="en-US" sz="1600" smtClean="0"/>
            </a:br>
            <a:r>
              <a:rPr lang="en-US" altLang="en-US" sz="1600" smtClean="0"/>
              <a:t>                        Unlimited number of collisions          Overhead of multiple linked lists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mtClean="0">
                <a:ea typeface="Gulim" pitchFamily="34" charset="-127"/>
              </a:rPr>
              <a:t> 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559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9D883D8-9DD8-4E15-A42E-FA6D6F926EB1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533400"/>
          </a:xfrm>
        </p:spPr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Introduction to Open Addressing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6019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smtClean="0">
                <a:ea typeface="Gulim" pitchFamily="34" charset="-127"/>
              </a:rPr>
              <a:t>All items are stored in the hash table itself. </a:t>
            </a:r>
          </a:p>
          <a:p>
            <a:pPr>
              <a:lnSpc>
                <a:spcPct val="90000"/>
              </a:lnSpc>
            </a:pPr>
            <a:r>
              <a:rPr lang="en-US" altLang="ko-KR" sz="1800" smtClean="0">
                <a:ea typeface="Gulim" pitchFamily="34" charset="-127"/>
              </a:rPr>
              <a:t>In addition to the cell data (if any), each cell keeps one of the three states: EMPTY, OCCUPIED, DELETED.</a:t>
            </a:r>
          </a:p>
          <a:p>
            <a:pPr>
              <a:lnSpc>
                <a:spcPct val="90000"/>
              </a:lnSpc>
            </a:pPr>
            <a:r>
              <a:rPr lang="en-US" altLang="ko-KR" sz="1800" smtClean="0">
                <a:ea typeface="Gulim" pitchFamily="34" charset="-127"/>
              </a:rPr>
              <a:t>While inserting, if a collision occurs, alternative cells are tried until an empty cell is found. </a:t>
            </a:r>
          </a:p>
          <a:p>
            <a:pPr>
              <a:lnSpc>
                <a:spcPct val="90000"/>
              </a:lnSpc>
            </a:pPr>
            <a:endParaRPr lang="en-US" altLang="ko-KR" sz="1800" smtClean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800" smtClean="0">
                <a:ea typeface="Gulim" pitchFamily="34" charset="-127"/>
              </a:rPr>
              <a:t>Deletion: (lazy deletion): When a key is deleted the slot is marked as DELETED rather than EMPTY otherwise subsequent searches that hash at the deleted cell will be unsuccessful.</a:t>
            </a:r>
          </a:p>
          <a:p>
            <a:pPr>
              <a:lnSpc>
                <a:spcPct val="90000"/>
              </a:lnSpc>
            </a:pPr>
            <a:endParaRPr lang="en-US" altLang="ko-KR" sz="1800" smtClean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800" smtClean="0">
                <a:ea typeface="Gulim" pitchFamily="34" charset="-127"/>
              </a:rPr>
              <a:t>Probe sequence: A probe sequence is the sequence of array indexes that is followed in searching for an empty cell during an insertion, or in searching for a key during find or delete operations.</a:t>
            </a:r>
          </a:p>
          <a:p>
            <a:pPr>
              <a:lnSpc>
                <a:spcPct val="90000"/>
              </a:lnSpc>
            </a:pPr>
            <a:endParaRPr lang="en-US" altLang="ko-KR" sz="1800" smtClean="0">
              <a:ea typeface="Gulim" pitchFamily="34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1800" smtClean="0">
                <a:ea typeface="Gulim" pitchFamily="34" charset="-127"/>
              </a:rPr>
              <a:t>The most common probe sequences are of the form: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 smtClean="0">
                <a:ea typeface="Gulim" pitchFamily="34" charset="-127"/>
              </a:rPr>
              <a:t>	              </a:t>
            </a:r>
            <a:r>
              <a:rPr lang="en-US" altLang="ko-KR" sz="1800" smtClean="0">
                <a:solidFill>
                  <a:srgbClr val="000099"/>
                </a:solidFill>
                <a:ea typeface="Gulim" pitchFamily="34" charset="-127"/>
              </a:rPr>
              <a:t>h</a:t>
            </a:r>
            <a:r>
              <a:rPr lang="en-US" altLang="ko-KR" sz="1800" baseline="-25000" smtClean="0">
                <a:solidFill>
                  <a:srgbClr val="000099"/>
                </a:solidFill>
                <a:ea typeface="Gulim" pitchFamily="34" charset="-127"/>
              </a:rPr>
              <a:t>i</a:t>
            </a:r>
            <a:r>
              <a:rPr lang="en-US" altLang="ko-KR" sz="1800" smtClean="0">
                <a:solidFill>
                  <a:srgbClr val="000099"/>
                </a:solidFill>
                <a:ea typeface="Gulim" pitchFamily="34" charset="-127"/>
              </a:rPr>
              <a:t>(key) = [h(key) + c(i)] %  n,     for i = 0, 1, …, n-1.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 smtClean="0">
                <a:ea typeface="Gulim" pitchFamily="34" charset="-127"/>
              </a:rPr>
              <a:t>	 where h is a hash function and n is the size of the hash table</a:t>
            </a:r>
          </a:p>
          <a:p>
            <a:pPr>
              <a:lnSpc>
                <a:spcPct val="80000"/>
              </a:lnSpc>
            </a:pPr>
            <a:r>
              <a:rPr lang="en-US" altLang="ko-KR" sz="1800" smtClean="0">
                <a:ea typeface="Gulim" pitchFamily="34" charset="-127"/>
              </a:rPr>
              <a:t>The function c(i) is required to have the following two  properties: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 smtClean="0">
                <a:ea typeface="Gulim" pitchFamily="34" charset="-127"/>
              </a:rPr>
              <a:t>     Property 1:     c(0) = 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 smtClean="0">
                <a:ea typeface="Gulim" pitchFamily="34" charset="-127"/>
              </a:rPr>
              <a:t>     Property 2: The set of values  {c(0) % n, c(1) % n, c(2) % n, . . . , c(n-1) % n} must be a permutation of {0, 1, 2,. . ., n – 1}, that is, it must contain every integer between 0 and n - 1 inclusive.</a:t>
            </a:r>
            <a:endParaRPr lang="en-US" altLang="en-US" sz="1800" smtClean="0"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0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69817CB-915E-42B5-8F17-16E78C4A3CE8}" type="slidenum">
              <a:rPr lang="en-US" altLang="en-US" b="0" smtClean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en-US" b="0" smtClean="0">
              <a:latin typeface="Times New Roman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Introduction to Open Addressing (cont’d)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9600"/>
            <a:ext cx="9144000" cy="3505200"/>
          </a:xfrm>
        </p:spPr>
        <p:txBody>
          <a:bodyPr/>
          <a:lstStyle/>
          <a:p>
            <a:r>
              <a:rPr lang="en-US" altLang="en-US" sz="1800" smtClean="0"/>
              <a:t>The function </a:t>
            </a:r>
            <a:r>
              <a:rPr lang="en-US" altLang="en-US" sz="1800" smtClean="0">
                <a:solidFill>
                  <a:srgbClr val="000099"/>
                </a:solidFill>
              </a:rPr>
              <a:t>c(i)</a:t>
            </a:r>
            <a:r>
              <a:rPr lang="en-US" altLang="en-US" sz="1800" smtClean="0"/>
              <a:t> is used to resolve collisions.</a:t>
            </a:r>
          </a:p>
          <a:p>
            <a:pPr>
              <a:buFontTx/>
              <a:buNone/>
            </a:pPr>
            <a:endParaRPr lang="en-US" altLang="en-US" sz="1800" smtClean="0"/>
          </a:p>
          <a:p>
            <a:r>
              <a:rPr lang="en-US" altLang="en-US" sz="1800" smtClean="0"/>
              <a:t>To insert item </a:t>
            </a:r>
            <a:r>
              <a:rPr lang="en-US" altLang="en-US" sz="1800" smtClean="0">
                <a:solidFill>
                  <a:srgbClr val="0000FF"/>
                </a:solidFill>
              </a:rPr>
              <a:t>r</a:t>
            </a:r>
            <a:r>
              <a:rPr lang="en-US" altLang="en-US" sz="1800" smtClean="0"/>
              <a:t>, we examine array location </a:t>
            </a:r>
            <a:r>
              <a:rPr lang="en-US" altLang="en-US" sz="1800" smtClean="0">
                <a:solidFill>
                  <a:srgbClr val="000099"/>
                </a:solidFill>
              </a:rPr>
              <a:t>h</a:t>
            </a:r>
            <a:r>
              <a:rPr lang="en-US" altLang="en-US" sz="1800" baseline="-25000" smtClean="0">
                <a:solidFill>
                  <a:srgbClr val="000099"/>
                </a:solidFill>
              </a:rPr>
              <a:t>0</a:t>
            </a:r>
            <a:r>
              <a:rPr lang="en-US" altLang="en-US" sz="1800" smtClean="0">
                <a:solidFill>
                  <a:srgbClr val="000099"/>
                </a:solidFill>
              </a:rPr>
              <a:t>(r) = h(r)</a:t>
            </a:r>
            <a:r>
              <a:rPr lang="en-US" altLang="en-US" sz="1800" smtClean="0"/>
              <a:t>. If there is a collision, array locations </a:t>
            </a:r>
            <a:r>
              <a:rPr lang="en-US" altLang="en-US" sz="1800" smtClean="0">
                <a:solidFill>
                  <a:srgbClr val="0000FF"/>
                </a:solidFill>
              </a:rPr>
              <a:t> </a:t>
            </a:r>
            <a:r>
              <a:rPr lang="en-US" altLang="en-US" sz="1800" smtClean="0">
                <a:solidFill>
                  <a:srgbClr val="000099"/>
                </a:solidFill>
              </a:rPr>
              <a:t>h</a:t>
            </a:r>
            <a:r>
              <a:rPr lang="en-US" altLang="en-US" sz="1800" baseline="-30000" smtClean="0">
                <a:solidFill>
                  <a:srgbClr val="000099"/>
                </a:solidFill>
              </a:rPr>
              <a:t>1</a:t>
            </a:r>
            <a:r>
              <a:rPr lang="en-US" altLang="en-US" sz="1800" smtClean="0">
                <a:solidFill>
                  <a:srgbClr val="000099"/>
                </a:solidFill>
              </a:rPr>
              <a:t>(r), h</a:t>
            </a:r>
            <a:r>
              <a:rPr lang="en-US" altLang="en-US" sz="1800" baseline="-30000" smtClean="0">
                <a:solidFill>
                  <a:srgbClr val="000099"/>
                </a:solidFill>
              </a:rPr>
              <a:t>2</a:t>
            </a:r>
            <a:r>
              <a:rPr lang="en-US" altLang="en-US" sz="1800" smtClean="0">
                <a:solidFill>
                  <a:srgbClr val="000099"/>
                </a:solidFill>
              </a:rPr>
              <a:t>(r), ..., h</a:t>
            </a:r>
            <a:r>
              <a:rPr lang="en-US" altLang="en-US" sz="1800" baseline="-25000" smtClean="0">
                <a:solidFill>
                  <a:srgbClr val="000099"/>
                </a:solidFill>
              </a:rPr>
              <a:t>n-1</a:t>
            </a:r>
            <a:r>
              <a:rPr lang="en-US" altLang="en-US" sz="1800" smtClean="0">
                <a:solidFill>
                  <a:srgbClr val="000099"/>
                </a:solidFill>
              </a:rPr>
              <a:t>(r) </a:t>
            </a:r>
            <a:r>
              <a:rPr lang="en-US" altLang="en-US" sz="1800" smtClean="0"/>
              <a:t>are examined until an empty slot is found.</a:t>
            </a:r>
          </a:p>
          <a:p>
            <a:pPr>
              <a:buFontTx/>
              <a:buNone/>
            </a:pPr>
            <a:endParaRPr lang="en-US" altLang="en-US" sz="1800" smtClean="0"/>
          </a:p>
          <a:p>
            <a:r>
              <a:rPr lang="en-US" altLang="en-US" sz="1800" smtClean="0"/>
              <a:t> Similarly, to find item </a:t>
            </a:r>
            <a:r>
              <a:rPr lang="en-US" altLang="en-US" sz="1800" smtClean="0">
                <a:solidFill>
                  <a:srgbClr val="000099"/>
                </a:solidFill>
              </a:rPr>
              <a:t>r</a:t>
            </a:r>
            <a:r>
              <a:rPr lang="en-US" altLang="en-US" sz="1800" smtClean="0"/>
              <a:t>, we examine the same sequence of locations in the same order.</a:t>
            </a:r>
          </a:p>
          <a:p>
            <a:pPr>
              <a:buFontTx/>
              <a:buNone/>
            </a:pPr>
            <a:endParaRPr lang="en-US" altLang="en-US" sz="1800" smtClean="0"/>
          </a:p>
          <a:p>
            <a:r>
              <a:rPr lang="en-US" altLang="ko-KR" sz="1800" smtClean="0">
                <a:ea typeface="Gulim" pitchFamily="34" charset="-127"/>
              </a:rPr>
              <a:t>Note: For a given hash function h(key), the only difference in the open addressing collision resolution techniques (linear probing, quadratic probing and double hashing) is in the definition of the function c(i).</a:t>
            </a:r>
          </a:p>
          <a:p>
            <a:r>
              <a:rPr lang="en-US" altLang="ko-KR" sz="1800" smtClean="0">
                <a:ea typeface="Gulim" pitchFamily="34" charset="-127"/>
              </a:rPr>
              <a:t>Common definitions of </a:t>
            </a:r>
            <a:r>
              <a:rPr lang="en-US" altLang="ko-KR" sz="1800" smtClean="0">
                <a:solidFill>
                  <a:srgbClr val="000099"/>
                </a:solidFill>
                <a:ea typeface="Gulim" pitchFamily="34" charset="-127"/>
              </a:rPr>
              <a:t>c(i)</a:t>
            </a:r>
            <a:r>
              <a:rPr lang="en-US" altLang="ko-KR" sz="1800" smtClean="0">
                <a:ea typeface="Gulim" pitchFamily="34" charset="-127"/>
              </a:rPr>
              <a:t> are:</a:t>
            </a:r>
          </a:p>
          <a:p>
            <a:endParaRPr lang="en-US" altLang="en-US" sz="1800" smtClean="0"/>
          </a:p>
        </p:txBody>
      </p:sp>
      <p:graphicFrame>
        <p:nvGraphicFramePr>
          <p:cNvPr id="56352" name="Group 32"/>
          <p:cNvGraphicFramePr>
            <a:graphicFrameLocks noGrp="1"/>
          </p:cNvGraphicFramePr>
          <p:nvPr>
            <p:ph sz="half" idx="2"/>
          </p:nvPr>
        </p:nvGraphicFramePr>
        <p:xfrm>
          <a:off x="762000" y="4495800"/>
          <a:ext cx="7848600" cy="1884365"/>
        </p:xfrm>
        <a:graphic>
          <a:graphicData uri="http://schemas.openxmlformats.org/drawingml/2006/table">
            <a:tbl>
              <a:tblPr/>
              <a:tblGrid>
                <a:gridCol w="3924300"/>
                <a:gridCol w="3924300"/>
              </a:tblGrid>
              <a:tr h="7619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Collision resolution technique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c(i)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376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Linear probing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Quadratic probing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±i</a:t>
                      </a:r>
                      <a:r>
                        <a:rPr kumimoji="0" lang="en-US" sz="1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0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Double hashing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*h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(key)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54" name="Text Box 31"/>
          <p:cNvSpPr txBox="1">
            <a:spLocks noChangeArrowheads="1"/>
          </p:cNvSpPr>
          <p:nvPr/>
        </p:nvSpPr>
        <p:spPr bwMode="auto">
          <a:xfrm>
            <a:off x="441325" y="6286500"/>
            <a:ext cx="37782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 b="0">
              <a:latin typeface="Times New Roman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0">
                <a:latin typeface="Times New Roman" pitchFamily="18" charset="0"/>
              </a:rPr>
              <a:t>where </a:t>
            </a:r>
            <a:r>
              <a:rPr lang="en-US" altLang="en-US" sz="1800">
                <a:latin typeface="Times New Roman" pitchFamily="18" charset="0"/>
              </a:rPr>
              <a:t>h</a:t>
            </a:r>
            <a:r>
              <a:rPr lang="en-US" altLang="en-US" sz="1800" baseline="-25000">
                <a:latin typeface="Times New Roman" pitchFamily="18" charset="0"/>
              </a:rPr>
              <a:t>p</a:t>
            </a:r>
            <a:r>
              <a:rPr lang="en-US" altLang="en-US" sz="1800">
                <a:latin typeface="Times New Roman" pitchFamily="18" charset="0"/>
              </a:rPr>
              <a:t>(key) </a:t>
            </a:r>
            <a:r>
              <a:rPr lang="en-US" altLang="en-US" sz="1800" b="0">
                <a:latin typeface="Times New Roman" pitchFamily="18" charset="0"/>
              </a:rPr>
              <a:t>is another hash function.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806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latin typeface="Times New Roman" pitchFamily="18" charset="0"/>
              </a:rPr>
              <a:t>                  </a:t>
            </a:r>
            <a:fld id="{4F52BB9C-ED24-479A-8857-02730C17A107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Introduction to Open Addressing (cont'd)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915400" cy="5867400"/>
          </a:xfrm>
        </p:spPr>
        <p:txBody>
          <a:bodyPr/>
          <a:lstStyle/>
          <a:p>
            <a:r>
              <a:rPr lang="en-US" altLang="ko-KR" smtClean="0">
                <a:ea typeface="Gulim" pitchFamily="34" charset="-127"/>
              </a:rPr>
              <a:t>Advantages of Open addressing:</a:t>
            </a:r>
          </a:p>
          <a:p>
            <a:pPr lvl="1"/>
            <a:r>
              <a:rPr lang="en-US" altLang="ko-KR" sz="2400" smtClean="0">
                <a:ea typeface="Gulim" pitchFamily="34" charset="-127"/>
              </a:rPr>
              <a:t>All items are stored in the hash table itself. There is no need for another data structure(MEANS NO LINKLIST).</a:t>
            </a:r>
          </a:p>
          <a:p>
            <a:pPr lvl="1"/>
            <a:r>
              <a:rPr lang="en-US" altLang="ko-KR" sz="2400" smtClean="0">
                <a:ea typeface="Gulim" pitchFamily="34" charset="-127"/>
              </a:rPr>
              <a:t>Open addressing is more efficient storage-wise.</a:t>
            </a:r>
          </a:p>
          <a:p>
            <a:endParaRPr lang="en-US" altLang="ko-KR" smtClean="0">
              <a:ea typeface="Gulim" pitchFamily="34" charset="-127"/>
            </a:endParaRPr>
          </a:p>
          <a:p>
            <a:r>
              <a:rPr lang="en-US" altLang="ko-KR" smtClean="0">
                <a:ea typeface="Gulim" pitchFamily="34" charset="-127"/>
              </a:rPr>
              <a:t>Disadvantages of Open Addressing:</a:t>
            </a:r>
          </a:p>
          <a:p>
            <a:pPr lvl="1"/>
            <a:r>
              <a:rPr lang="en-US" altLang="ko-KR" sz="2400" smtClean="0">
                <a:ea typeface="Gulim" pitchFamily="34" charset="-127"/>
              </a:rPr>
              <a:t>The keys of the objects to be hashed must be distinct.</a:t>
            </a:r>
          </a:p>
          <a:p>
            <a:pPr lvl="1"/>
            <a:r>
              <a:rPr lang="en-US" altLang="ko-KR" sz="2400" smtClean="0">
                <a:ea typeface="Gulim" pitchFamily="34" charset="-127"/>
              </a:rPr>
              <a:t>Dependent on choosing a proper table size.</a:t>
            </a:r>
          </a:p>
          <a:p>
            <a:pPr lvl="1"/>
            <a:r>
              <a:rPr lang="en-US" altLang="ko-KR" sz="2400" smtClean="0">
                <a:ea typeface="Gulim" pitchFamily="34" charset="-127"/>
              </a:rPr>
              <a:t>Requires the use of a three-state (Occupied, Empty, or Deleted) flag in each cell.</a:t>
            </a:r>
          </a:p>
        </p:txBody>
      </p:sp>
    </p:spTree>
    <p:extLst>
      <p:ext uri="{BB962C8B-B14F-4D97-AF65-F5344CB8AC3E}">
        <p14:creationId xmlns:p14="http://schemas.microsoft.com/office/powerpoint/2010/main" val="392338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               </a:t>
            </a:r>
            <a:r>
              <a:rPr lang="en-US" altLang="en-US" smtClean="0">
                <a:solidFill>
                  <a:srgbClr val="FF0000"/>
                </a:solidFill>
              </a:rPr>
              <a:t>Open Addressing Facts</a:t>
            </a:r>
            <a:r>
              <a:rPr lang="en-US" altLang="en-US" smtClean="0"/>
              <a:t> 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600" smtClean="0">
                <a:ea typeface="Gulim" pitchFamily="34" charset="-127"/>
              </a:rPr>
              <a:t>In general,  the best table size  is most important.</a:t>
            </a:r>
          </a:p>
          <a:p>
            <a:pPr>
              <a:lnSpc>
                <a:spcPct val="90000"/>
              </a:lnSpc>
            </a:pPr>
            <a:r>
              <a:rPr lang="en-US" altLang="ko-KR" sz="1600" smtClean="0">
                <a:ea typeface="Gulim" pitchFamily="34" charset="-127"/>
              </a:rPr>
              <a:t>With any open addressing method of collision resolution, as the table fills, there can be a severe degradation in the table performance.  </a:t>
            </a:r>
          </a:p>
          <a:p>
            <a:pPr>
              <a:lnSpc>
                <a:spcPct val="90000"/>
              </a:lnSpc>
            </a:pPr>
            <a:r>
              <a:rPr lang="en-US" altLang="en-US" sz="1600" smtClean="0"/>
              <a:t>Hashing  has two parameters that affect its performance: </a:t>
            </a:r>
            <a:r>
              <a:rPr lang="en-US" altLang="en-US" sz="1600" i="1" smtClean="0"/>
              <a:t>initial capacity</a:t>
            </a:r>
            <a:r>
              <a:rPr lang="en-US" altLang="en-US" sz="1600" smtClean="0"/>
              <a:t> and </a:t>
            </a:r>
            <a:r>
              <a:rPr lang="en-US" altLang="en-US" sz="1600" i="1" smtClean="0"/>
              <a:t>load factor</a:t>
            </a:r>
            <a:r>
              <a:rPr lang="en-US" altLang="en-US" sz="1600" smtClean="0"/>
              <a:t>. </a:t>
            </a:r>
          </a:p>
          <a:p>
            <a:r>
              <a:rPr lang="en-US" altLang="en-US" sz="1600" smtClean="0"/>
              <a:t>The </a:t>
            </a:r>
            <a:r>
              <a:rPr lang="en-US" altLang="en-US" sz="1600" i="1" smtClean="0"/>
              <a:t>capacity</a:t>
            </a:r>
            <a:r>
              <a:rPr lang="en-US" altLang="en-US" sz="1600" smtClean="0"/>
              <a:t> is the number of buckets in the hash table, and the initial capacity is simply the capacity at the time the hash table is created.</a:t>
            </a:r>
          </a:p>
          <a:p>
            <a:r>
              <a:rPr lang="en-US" altLang="en-US" sz="1600" smtClean="0"/>
              <a:t>The </a:t>
            </a:r>
            <a:r>
              <a:rPr lang="en-US" altLang="en-US" sz="1600" i="1" smtClean="0"/>
              <a:t>load factor</a:t>
            </a:r>
            <a:r>
              <a:rPr lang="en-US" altLang="en-US" sz="1600" smtClean="0"/>
              <a:t> is a measure of how full the hash table is allowed to get before its capacity is automatically increased. i.e </a:t>
            </a:r>
          </a:p>
          <a:p>
            <a:r>
              <a:rPr lang="en-US" altLang="en-US" sz="1600" smtClean="0"/>
              <a:t> When the number of entries in the hash table exceeds the product of the load factor and the current capacity, the capacity is roughly doubled by calling the rehash method. </a:t>
            </a:r>
          </a:p>
          <a:p>
            <a:r>
              <a:rPr lang="en-US" altLang="en-US" sz="1600" smtClean="0"/>
              <a:t>As a general rule, the default load factor (.75) offers a good tradeoff between time and space costs. </a:t>
            </a:r>
          </a:p>
          <a:p>
            <a:pPr>
              <a:lnSpc>
                <a:spcPct val="90000"/>
              </a:lnSpc>
            </a:pPr>
            <a:r>
              <a:rPr lang="en-CA" altLang="en-US" sz="1600" smtClean="0">
                <a:solidFill>
                  <a:srgbClr val="000000"/>
                </a:solidFill>
                <a:cs typeface="Times New Roman" pitchFamily="18" charset="0"/>
              </a:rPr>
              <a:t>The load factor of the table is m/N, where m is the number of</a:t>
            </a:r>
            <a:r>
              <a:rPr lang="en-CA" altLang="en-US" sz="1600" smtClean="0">
                <a:solidFill>
                  <a:srgbClr val="000000"/>
                </a:solidFill>
              </a:rPr>
              <a:t/>
            </a:r>
            <a:br>
              <a:rPr lang="en-CA" altLang="en-US" sz="1600" smtClean="0">
                <a:solidFill>
                  <a:srgbClr val="000000"/>
                </a:solidFill>
              </a:rPr>
            </a:br>
            <a:r>
              <a:rPr lang="en-CA" altLang="en-US" sz="1600" smtClean="0">
                <a:solidFill>
                  <a:srgbClr val="000000"/>
                </a:solidFill>
              </a:rPr>
              <a:t>d</a:t>
            </a:r>
            <a:r>
              <a:rPr lang="en-CA" altLang="en-US" sz="1600" smtClean="0">
                <a:solidFill>
                  <a:srgbClr val="000000"/>
                </a:solidFill>
                <a:cs typeface="Times New Roman" pitchFamily="18" charset="0"/>
              </a:rPr>
              <a:t>istinct indexes used in the table or</a:t>
            </a:r>
            <a:r>
              <a:rPr lang="en-US" altLang="en-US" sz="1600" smtClean="0"/>
              <a:t> is the number of records currently in the table.</a:t>
            </a:r>
            <a:r>
              <a:rPr lang="en-CA" altLang="en-US" sz="1600" smtClean="0">
                <a:solidFill>
                  <a:srgbClr val="000000"/>
                </a:solidFill>
                <a:cs typeface="Times New Roman" pitchFamily="18" charset="0"/>
              </a:rPr>
              <a:t>  and N   is the size of the array used to implement it.</a:t>
            </a:r>
            <a:endParaRPr lang="en-US" altLang="ko-KR" sz="1600" smtClean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600" smtClean="0">
                <a:ea typeface="Gulim" pitchFamily="34" charset="-127"/>
              </a:rPr>
              <a:t>Load factors between 0.6 and 0.7 are common. </a:t>
            </a:r>
          </a:p>
          <a:p>
            <a:pPr>
              <a:lnSpc>
                <a:spcPct val="90000"/>
              </a:lnSpc>
            </a:pPr>
            <a:r>
              <a:rPr lang="en-US" altLang="ko-KR" sz="1600" smtClean="0">
                <a:ea typeface="Gulim" pitchFamily="34" charset="-127"/>
              </a:rPr>
              <a:t>Load factors &gt; 0.7 are undesirable.  </a:t>
            </a:r>
          </a:p>
          <a:p>
            <a:endParaRPr lang="en-US" altLang="en-US" sz="1800" smtClean="0"/>
          </a:p>
          <a:p>
            <a:pPr>
              <a:buFontTx/>
              <a:buNone/>
            </a:pPr>
            <a:endParaRPr lang="en-US" altLang="en-US" sz="1800" smtClean="0"/>
          </a:p>
          <a:p>
            <a:endParaRPr lang="en-US" altLang="en-US" sz="1800" smtClean="0"/>
          </a:p>
        </p:txBody>
      </p:sp>
    </p:spTree>
    <p:extLst>
      <p:ext uri="{BB962C8B-B14F-4D97-AF65-F5344CB8AC3E}">
        <p14:creationId xmlns:p14="http://schemas.microsoft.com/office/powerpoint/2010/main" val="1210405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2397275-FE66-454D-8023-97A21E87FF6E}" type="slidenum">
              <a:rPr lang="en-US" altLang="en-US" b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en-US" b="0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Open Addressing : Linear Probing (cont’d)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686800" cy="5638800"/>
          </a:xfrm>
        </p:spPr>
        <p:txBody>
          <a:bodyPr>
            <a:normAutofit fontScale="92500" lnSpcReduction="10000"/>
          </a:bodyPr>
          <a:lstStyle/>
          <a:p>
            <a:pPr algn="just">
              <a:buFontTx/>
              <a:buNone/>
            </a:pPr>
            <a:r>
              <a:rPr lang="en-US" altLang="ko-KR" smtClean="0">
                <a:ea typeface="Gulim" pitchFamily="34" charset="-127"/>
              </a:rPr>
              <a:t>Example: Perform the operations given below, in the given order, on an initially empty hash table of size 13 using linear probing with c(i) = i and the hash function: h(key) = key % 13:</a:t>
            </a:r>
          </a:p>
          <a:p>
            <a:pPr algn="just">
              <a:buFontTx/>
              <a:buNone/>
            </a:pPr>
            <a:endParaRPr lang="en-US" altLang="ko-KR" smtClean="0">
              <a:ea typeface="Gulim" pitchFamily="34" charset="-127"/>
            </a:endParaRPr>
          </a:p>
          <a:p>
            <a:pPr algn="just">
              <a:buFontTx/>
              <a:buNone/>
            </a:pPr>
            <a:r>
              <a:rPr lang="en-US" altLang="ko-KR" smtClean="0">
                <a:ea typeface="Gulim" pitchFamily="34" charset="-127"/>
              </a:rPr>
              <a:t>insert(18), insert(26), insert(35), insert(9), find(15), find(48), delete(35), delete(40), find(9), insert(64), insert(47), find(35)</a:t>
            </a:r>
          </a:p>
          <a:p>
            <a:pPr algn="just">
              <a:buFontTx/>
              <a:buNone/>
            </a:pPr>
            <a:endParaRPr lang="en-US" altLang="ko-KR" smtClean="0">
              <a:ea typeface="Gulim" pitchFamily="34" charset="-127"/>
            </a:endParaRPr>
          </a:p>
          <a:p>
            <a:r>
              <a:rPr lang="en-US" altLang="ko-KR" smtClean="0">
                <a:ea typeface="Gulim" pitchFamily="34" charset="-127"/>
              </a:rPr>
              <a:t>The required probe sequences are given by: </a:t>
            </a:r>
          </a:p>
          <a:p>
            <a:pPr>
              <a:buFontTx/>
              <a:buNone/>
            </a:pP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              h</a:t>
            </a:r>
            <a:r>
              <a:rPr lang="en-US" altLang="ko-KR" baseline="-25000" smtClean="0">
                <a:solidFill>
                  <a:srgbClr val="000099"/>
                </a:solidFill>
                <a:ea typeface="Gulim" pitchFamily="34" charset="-127"/>
              </a:rPr>
              <a:t>i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(key) = (h(key) + i) % 13   </a:t>
            </a:r>
          </a:p>
          <a:p>
            <a:pPr>
              <a:buFontTx/>
              <a:buNone/>
            </a:pP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              i = 0, 1, 2, . . ., 12</a:t>
            </a:r>
            <a:r>
              <a:rPr lang="en-US" altLang="ko-KR" smtClean="0">
                <a:solidFill>
                  <a:schemeClr val="tx2"/>
                </a:solidFill>
                <a:ea typeface="Gulim" pitchFamily="34" charset="-127"/>
              </a:rPr>
              <a:t> </a:t>
            </a:r>
          </a:p>
          <a:p>
            <a:pPr>
              <a:buFontTx/>
              <a:buNone/>
            </a:pPr>
            <a:endParaRPr lang="en-US" altLang="ko-KR" smtClean="0">
              <a:solidFill>
                <a:schemeClr val="tx2"/>
              </a:solidFill>
              <a:ea typeface="Gulim" pitchFamily="34" charset="-127"/>
            </a:endParaRPr>
          </a:p>
          <a:p>
            <a:pPr>
              <a:buFontTx/>
              <a:buNone/>
            </a:pPr>
            <a:endParaRPr lang="en-US" altLang="ko-KR" smtClean="0">
              <a:ea typeface="Gulim" pitchFamily="34" charset="-127"/>
            </a:endParaRPr>
          </a:p>
          <a:p>
            <a:pPr>
              <a:buFontTx/>
              <a:buNone/>
            </a:pPr>
            <a:endParaRPr lang="en-US" altLang="ko-KR" smtClean="0">
              <a:ea typeface="Gulim" pitchFamily="34" charset="-127"/>
            </a:endParaRPr>
          </a:p>
          <a:p>
            <a:pPr algn="just">
              <a:lnSpc>
                <a:spcPct val="75000"/>
              </a:lnSpc>
              <a:buFontTx/>
              <a:buNone/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48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D659A27-EBEB-4BDE-B267-2E4A6F13A6A1}" type="slidenum">
              <a:rPr lang="en-US" altLang="en-US" b="0" smtClean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US" altLang="en-US" b="0" smtClean="0">
              <a:latin typeface="Times New Roman" pitchFamily="18" charset="0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52400"/>
          </a:xfrm>
        </p:spPr>
        <p:txBody>
          <a:bodyPr>
            <a:normAutofit fontScale="90000"/>
          </a:bodyPr>
          <a:lstStyle/>
          <a:p>
            <a:r>
              <a:rPr lang="en-US" altLang="en-US" sz="700" smtClean="0"/>
              <a:t>a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ko-KR" sz="1600" smtClean="0">
              <a:ea typeface="Gulim" pitchFamily="34" charset="-127"/>
            </a:endParaRPr>
          </a:p>
          <a:p>
            <a:pPr>
              <a:buFontTx/>
              <a:buNone/>
            </a:pPr>
            <a:endParaRPr lang="en-US" altLang="ko-KR" sz="1600" smtClean="0">
              <a:ea typeface="Gulim" pitchFamily="34" charset="-127"/>
            </a:endParaRPr>
          </a:p>
          <a:p>
            <a:pPr>
              <a:buFontTx/>
              <a:buNone/>
            </a:pPr>
            <a:endParaRPr lang="en-US" altLang="ko-KR" sz="1600" smtClean="0">
              <a:ea typeface="Gulim" pitchFamily="34" charset="-127"/>
            </a:endParaRPr>
          </a:p>
          <a:p>
            <a:pPr algn="just">
              <a:lnSpc>
                <a:spcPct val="75000"/>
              </a:lnSpc>
              <a:buFontTx/>
              <a:buNone/>
            </a:pPr>
            <a:endParaRPr lang="en-US" altLang="en-US" sz="1600" smtClean="0"/>
          </a:p>
        </p:txBody>
      </p:sp>
      <p:pic>
        <p:nvPicPr>
          <p:cNvPr id="225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7713"/>
            <a:ext cx="7239000" cy="611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95" name="Group 83"/>
          <p:cNvGraphicFramePr>
            <a:graphicFrameLocks noGrp="1"/>
          </p:cNvGraphicFramePr>
          <p:nvPr/>
        </p:nvGraphicFramePr>
        <p:xfrm>
          <a:off x="7391400" y="1622425"/>
          <a:ext cx="1600200" cy="4649791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533400"/>
              </a:tblGrid>
              <a:tr h="2905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Status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6" name="Rectangle 84"/>
          <p:cNvSpPr>
            <a:spLocks noChangeArrowheads="1"/>
          </p:cNvSpPr>
          <p:nvPr/>
        </p:nvSpPr>
        <p:spPr bwMode="auto">
          <a:xfrm>
            <a:off x="685800" y="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 New Roman" pitchFamily="18" charset="0"/>
              </a:rPr>
              <a:t>Linear Probing (cont’d)</a:t>
            </a:r>
          </a:p>
        </p:txBody>
      </p:sp>
      <p:pic>
        <p:nvPicPr>
          <p:cNvPr id="22597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0668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98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954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99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002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0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8288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1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432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2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7338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3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8768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4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8674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5" name="Picture 7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562600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6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60960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7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6324600"/>
            <a:ext cx="457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4486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C087DD8-0473-4D18-B546-01F0F9BBD2F0}" type="slidenum">
              <a:rPr lang="en-US" altLang="en-US" b="0" smtClean="0">
                <a:latin typeface="Times New Roman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en-US" b="0" smtClean="0"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609600"/>
          </a:xfrm>
        </p:spPr>
        <p:txBody>
          <a:bodyPr/>
          <a:lstStyle/>
          <a:p>
            <a:r>
              <a:rPr lang="en-US" altLang="en-US" sz="2400" smtClean="0">
                <a:solidFill>
                  <a:srgbClr val="FF0000"/>
                </a:solidFill>
              </a:rPr>
              <a:t>Disadvantage of Linear Probing: Primary Clustering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81000" y="34290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>
                <a:solidFill>
                  <a:srgbClr val="0000FF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3557" name="Text Box 102"/>
          <p:cNvSpPr txBox="1">
            <a:spLocks noChangeArrowheads="1"/>
          </p:cNvSpPr>
          <p:nvPr/>
        </p:nvSpPr>
        <p:spPr bwMode="auto">
          <a:xfrm>
            <a:off x="0" y="457200"/>
            <a:ext cx="89154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SzTx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 Linear probing is subject to a primary clustering phenomenon. </a:t>
            </a:r>
          </a:p>
          <a:p>
            <a:pPr>
              <a:spcBef>
                <a:spcPct val="50000"/>
              </a:spcBef>
              <a:buSzTx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 Elements tend to cluster around table locations that they originally hash to. </a:t>
            </a:r>
          </a:p>
          <a:p>
            <a:pPr>
              <a:spcBef>
                <a:spcPct val="50000"/>
              </a:spcBef>
              <a:buSzTx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 Primary clusters can combine to form larger clusters. This leads to long search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ko-KR" sz="2000" b="0">
                <a:latin typeface="Times New Roman" pitchFamily="18" charset="0"/>
                <a:ea typeface="Gulim" pitchFamily="34" charset="-127"/>
              </a:rPr>
              <a:t>   sequences and hence decline in hash table efficiency.</a:t>
            </a:r>
            <a:endParaRPr lang="en-US" altLang="en-US" sz="2000" b="0">
              <a:latin typeface="Times New Roman" pitchFamily="18" charset="0"/>
            </a:endParaRPr>
          </a:p>
        </p:txBody>
      </p:sp>
      <p:pic>
        <p:nvPicPr>
          <p:cNvPr id="23558" name="Picture 103" descr="primary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65532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Text Box 104"/>
          <p:cNvSpPr txBox="1">
            <a:spLocks noChangeArrowheads="1"/>
          </p:cNvSpPr>
          <p:nvPr/>
        </p:nvSpPr>
        <p:spPr bwMode="auto">
          <a:xfrm>
            <a:off x="304800" y="3657600"/>
            <a:ext cx="82835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rgbClr val="063DE8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>
                <a:latin typeface="Times New Roman" pitchFamily="18" charset="0"/>
                <a:ea typeface="Gulim" pitchFamily="34" charset="-127"/>
              </a:rPr>
              <a:t>Example of a primary cluster</a:t>
            </a: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: Insert keys: </a:t>
            </a:r>
            <a:r>
              <a:rPr lang="en-US" altLang="ko-KR" sz="1600">
                <a:latin typeface="Times New Roman" pitchFamily="18" charset="0"/>
                <a:ea typeface="Gulim" pitchFamily="34" charset="-127"/>
              </a:rPr>
              <a:t>18, 41, 22, 44, 59, 32, 31, 73</a:t>
            </a: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, in this order, in an originally empty hash table of size </a:t>
            </a:r>
            <a:r>
              <a:rPr lang="en-US" altLang="ko-KR" sz="1600">
                <a:latin typeface="Times New Roman" pitchFamily="18" charset="0"/>
                <a:ea typeface="Gulim" pitchFamily="34" charset="-127"/>
              </a:rPr>
              <a:t>13</a:t>
            </a: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, using the hash function </a:t>
            </a:r>
            <a:r>
              <a:rPr lang="en-US" altLang="ko-KR" sz="1600">
                <a:latin typeface="Times New Roman" pitchFamily="18" charset="0"/>
                <a:ea typeface="Gulim" pitchFamily="34" charset="-127"/>
              </a:rPr>
              <a:t>h(key) = key % 13</a:t>
            </a: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 and </a:t>
            </a:r>
            <a:r>
              <a:rPr lang="en-US" altLang="ko-KR" sz="1600">
                <a:latin typeface="Times New Roman" pitchFamily="18" charset="0"/>
                <a:ea typeface="Gulim" pitchFamily="34" charset="-127"/>
              </a:rPr>
              <a:t>c(i) = i</a:t>
            </a: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h(18) = 5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h(41) 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h(22) = 9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h(44) = 5+1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h(59) = 7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h(32) = 6+1+1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h(31) = 5+1+1+1+1+1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ko-KR" sz="1600" b="0">
                <a:latin typeface="Times New Roman" pitchFamily="18" charset="0"/>
                <a:ea typeface="Gulim" pitchFamily="34" charset="-127"/>
              </a:rPr>
              <a:t>h(73) = 8+1+1+1</a:t>
            </a:r>
            <a:endParaRPr lang="en-US" altLang="en-US" sz="1600" b="0">
              <a:latin typeface="Times New Roman" pitchFamily="18" charset="0"/>
            </a:endParaRPr>
          </a:p>
        </p:txBody>
      </p:sp>
      <p:pic>
        <p:nvPicPr>
          <p:cNvPr id="23560" name="Picture 105" descr="clus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029200"/>
            <a:ext cx="548005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7005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1428</Words>
  <Application>Microsoft Office PowerPoint</Application>
  <PresentationFormat>On-screen Show (4:3)</PresentationFormat>
  <Paragraphs>309</Paragraphs>
  <Slides>20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HASHING </vt:lpstr>
      <vt:lpstr>Hash Tables</vt:lpstr>
      <vt:lpstr>Hash Tables -  </vt:lpstr>
      <vt:lpstr>Hash Tables - Hash functions</vt:lpstr>
      <vt:lpstr>Hashing: Collision Resolution Schemes</vt:lpstr>
      <vt:lpstr>Collision Resolution Techniques</vt:lpstr>
      <vt:lpstr>Separate Chaining</vt:lpstr>
      <vt:lpstr>Separate Chaining (cont’d)</vt:lpstr>
      <vt:lpstr>Separate Chaining with String Keys</vt:lpstr>
      <vt:lpstr>Separate Chaining with String Keys (cont’d)</vt:lpstr>
      <vt:lpstr>Separate Chaining with String Keys (cont’d)</vt:lpstr>
      <vt:lpstr>Separate Chaining versus Open-addressing</vt:lpstr>
      <vt:lpstr>Introduction to Open Addressing</vt:lpstr>
      <vt:lpstr>Introduction to Open Addressing (cont’d)</vt:lpstr>
      <vt:lpstr>Introduction to Open Addressing (cont'd)</vt:lpstr>
      <vt:lpstr>               Open Addressing Facts </vt:lpstr>
      <vt:lpstr>Open Addressing : Linear Probing (cont’d)</vt:lpstr>
      <vt:lpstr>a</vt:lpstr>
      <vt:lpstr>Disadvantage of Linear Probing: Primary Clustering</vt:lpstr>
    </vt:vector>
  </TitlesOfParts>
  <Company>MyCompanyName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MyUserName</dc:creator>
  <cp:lastModifiedBy>MyUserName</cp:lastModifiedBy>
  <cp:revision>7</cp:revision>
  <dcterms:created xsi:type="dcterms:W3CDTF">2017-03-23T13:14:36Z</dcterms:created>
  <dcterms:modified xsi:type="dcterms:W3CDTF">2017-04-11T11:09:22Z</dcterms:modified>
</cp:coreProperties>
</file>