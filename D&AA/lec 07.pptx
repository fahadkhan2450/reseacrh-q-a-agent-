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av" ContentType="audio/wav"/>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85"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341" r:id="rId16"/>
    <p:sldId id="342" r:id="rId17"/>
    <p:sldId id="343" r:id="rId18"/>
    <p:sldId id="270" r:id="rId19"/>
    <p:sldId id="271" r:id="rId20"/>
    <p:sldId id="273" r:id="rId21"/>
    <p:sldId id="274" r:id="rId22"/>
    <p:sldId id="275" r:id="rId23"/>
    <p:sldId id="276" r:id="rId24"/>
    <p:sldId id="277" r:id="rId25"/>
    <p:sldId id="278" r:id="rId26"/>
    <p:sldId id="327" r:id="rId27"/>
    <p:sldId id="328" r:id="rId28"/>
    <p:sldId id="329" r:id="rId29"/>
    <p:sldId id="330" r:id="rId30"/>
    <p:sldId id="331" r:id="rId31"/>
    <p:sldId id="332" r:id="rId32"/>
    <p:sldId id="333" r:id="rId33"/>
    <p:sldId id="334" r:id="rId34"/>
    <p:sldId id="335" r:id="rId35"/>
    <p:sldId id="336" r:id="rId36"/>
    <p:sldId id="337" r:id="rId37"/>
    <p:sldId id="338" r:id="rId38"/>
    <p:sldId id="339" r:id="rId39"/>
    <p:sldId id="340" r:id="rId40"/>
    <p:sldId id="279" r:id="rId41"/>
    <p:sldId id="325" r:id="rId42"/>
    <p:sldId id="280" r:id="rId43"/>
    <p:sldId id="349" r:id="rId44"/>
    <p:sldId id="359" r:id="rId45"/>
    <p:sldId id="350" r:id="rId46"/>
    <p:sldId id="351" r:id="rId47"/>
    <p:sldId id="353" r:id="rId48"/>
    <p:sldId id="354"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4692" autoAdjust="0"/>
  </p:normalViewPr>
  <p:slideViewPr>
    <p:cSldViewPr>
      <p:cViewPr varScale="1">
        <p:scale>
          <a:sx n="80" d="100"/>
          <a:sy n="80" d="100"/>
        </p:scale>
        <p:origin x="-1445" y="-77"/>
      </p:cViewPr>
      <p:guideLst>
        <p:guide orient="horz" pos="2160"/>
        <p:guide pos="2880"/>
      </p:guideLst>
    </p:cSldViewPr>
  </p:slideViewPr>
  <p:outlineViewPr>
    <p:cViewPr>
      <p:scale>
        <a:sx n="33" d="100"/>
        <a:sy n="33" d="100"/>
      </p:scale>
      <p:origin x="0" y="1158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B1D64FF-7BD7-49D5-806E-05B9BF22FAC5}" type="datetimeFigureOut">
              <a:rPr lang="en-US" smtClean="0"/>
              <a:t>5/22/2017</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4F9A30B-7068-4B00-939F-B51702759E61}" type="slidenum">
              <a:rPr lang="en-US" smtClean="0"/>
              <a:t>‹#›</a:t>
            </a:fld>
            <a:endParaRPr lang="en-US"/>
          </a:p>
        </p:txBody>
      </p:sp>
    </p:spTree>
    <p:extLst>
      <p:ext uri="{BB962C8B-B14F-4D97-AF65-F5344CB8AC3E}">
        <p14:creationId xmlns:p14="http://schemas.microsoft.com/office/powerpoint/2010/main" val="17838194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5123" name="Rectangle 3"/>
          <p:cNvSpPr>
            <a:spLocks noGrp="1"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spcBef>
                <a:spcPct val="0"/>
              </a:spcBef>
            </a:pPr>
            <a:endParaRPr lang="en-US" altLang="en-US" smtClean="0">
              <a:latin typeface="Arial"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
          <p:cNvSpPr>
            <a:spLocks noGrp="1" noChangeArrowheads="1"/>
          </p:cNvSpPr>
          <p:nvPr>
            <p:ph type="sldNum" sz="quarter" idx="4294967295"/>
          </p:nvPr>
        </p:nvSpPr>
        <p:spPr bwMode="auto">
          <a:xfrm>
            <a:off x="3884263" y="8685335"/>
            <a:ext cx="2972123"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098A74FC-4FE2-4BF1-BCC1-9FC940A8665F}" type="slidenum">
              <a:rPr lang="en-US" altLang="en-US">
                <a:latin typeface="Arial" pitchFamily="34" charset="0"/>
                <a:cs typeface="Arial" pitchFamily="34" charset="0"/>
              </a:rPr>
              <a:pPr eaLnBrk="1" hangingPunct="1"/>
              <a:t>12</a:t>
            </a:fld>
            <a:endParaRPr lang="en-US" altLang="en-US">
              <a:latin typeface="Arial" pitchFamily="34" charset="0"/>
              <a:cs typeface="Arial" pitchFamily="34" charset="0"/>
            </a:endParaRPr>
          </a:p>
        </p:txBody>
      </p:sp>
      <p:sp>
        <p:nvSpPr>
          <p:cNvPr id="164867" name="Rectangle 2"/>
          <p:cNvSpPr>
            <a:spLocks noGrp="1" noRot="1" noChangeAspect="1" noChangeArrowheads="1" noTextEdit="1"/>
          </p:cNvSpPr>
          <p:nvPr>
            <p:ph type="sldImg"/>
          </p:nvPr>
        </p:nvSpPr>
        <p:spPr>
          <a:solidFill>
            <a:srgbClr val="FFFFFF"/>
          </a:solidFill>
          <a:ln/>
        </p:spPr>
      </p:sp>
      <p:sp>
        <p:nvSpPr>
          <p:cNvPr id="164868" name="Rectangle 3"/>
          <p:cNvSpPr>
            <a:spLocks noGrp="1" noChangeArrowheads="1"/>
          </p:cNvSpPr>
          <p:nvPr>
            <p:ph type="body" idx="1"/>
          </p:nvPr>
        </p:nvSpPr>
        <p:spPr>
          <a:solidFill>
            <a:srgbClr val="FFFFFF"/>
          </a:solidFill>
          <a:ln>
            <a:solidFill>
              <a:srgbClr val="000000"/>
            </a:solidFill>
          </a:ln>
        </p:spPr>
        <p:txBody>
          <a:bodyPr/>
          <a:lstStyle/>
          <a:p>
            <a:pPr eaLnBrk="1" hangingPunct="1">
              <a:spcBef>
                <a:spcPct val="0"/>
              </a:spcBef>
            </a:pPr>
            <a:endParaRPr lang="en-US" alt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B461D44-83E7-4571-88C3-470EC6255C69}" type="slidenum">
              <a:rPr lang="en-US" altLang="en-US"/>
              <a:pPr/>
              <a:t>26</a:t>
            </a:fld>
            <a:endParaRPr lang="en-US" altLang="en-US"/>
          </a:p>
        </p:txBody>
      </p:sp>
      <p:sp>
        <p:nvSpPr>
          <p:cNvPr id="10242" name="Rectangle 2"/>
          <p:cNvSpPr>
            <a:spLocks noGrp="1" noRot="1" noChangeAspect="1" noChangeArrowheads="1" noTextEdit="1"/>
          </p:cNvSpPr>
          <p:nvPr>
            <p:ph type="sldImg"/>
          </p:nvPr>
        </p:nvSpPr>
        <p:spPr>
          <a:ln/>
        </p:spPr>
      </p:sp>
      <p:sp>
        <p:nvSpPr>
          <p:cNvPr id="10243"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CA13319-DFBA-4C11-B2FD-A0636C542CC0}" type="slidenum">
              <a:rPr lang="en-US" altLang="en-US"/>
              <a:pPr/>
              <a:t>27</a:t>
            </a:fld>
            <a:endParaRPr lang="en-US" altLang="en-US"/>
          </a:p>
        </p:txBody>
      </p:sp>
      <p:sp>
        <p:nvSpPr>
          <p:cNvPr id="11266" name="Rectangle 2"/>
          <p:cNvSpPr>
            <a:spLocks noGrp="1" noRot="1" noChangeAspect="1" noChangeArrowheads="1" noTextEdit="1"/>
          </p:cNvSpPr>
          <p:nvPr>
            <p:ph type="sldImg"/>
          </p:nvPr>
        </p:nvSpPr>
        <p:spPr>
          <a:ln/>
        </p:spPr>
      </p:sp>
      <p:sp>
        <p:nvSpPr>
          <p:cNvPr id="11267"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E8CC22A-5040-422C-BFB1-9F0BE5D94570}" type="slidenum">
              <a:rPr lang="en-US" altLang="en-US"/>
              <a:pPr/>
              <a:t>28</a:t>
            </a:fld>
            <a:endParaRPr lang="en-US" altLang="en-US"/>
          </a:p>
        </p:txBody>
      </p:sp>
      <p:sp>
        <p:nvSpPr>
          <p:cNvPr id="13314"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3315"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4500EF8-5E7B-4745-BF1C-08610000A6E4}" type="slidenum">
              <a:rPr lang="en-US" altLang="en-US"/>
              <a:pPr/>
              <a:t>29</a:t>
            </a:fld>
            <a:endParaRPr lang="en-US" altLang="en-US"/>
          </a:p>
        </p:txBody>
      </p:sp>
      <p:sp>
        <p:nvSpPr>
          <p:cNvPr id="15362"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536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33DC94F-AC4D-4EF0-BA2B-E95D0A18C1B2}" type="slidenum">
              <a:rPr lang="en-US" altLang="en-US"/>
              <a:pPr/>
              <a:t>30</a:t>
            </a:fld>
            <a:endParaRPr lang="en-US" altLang="en-US"/>
          </a:p>
        </p:txBody>
      </p:sp>
      <p:sp>
        <p:nvSpPr>
          <p:cNvPr id="17410"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741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EC116D5-B94A-41D1-8805-0CB705418492}" type="slidenum">
              <a:rPr lang="en-US" altLang="en-US"/>
              <a:pPr/>
              <a:t>31</a:t>
            </a:fld>
            <a:endParaRPr lang="en-US" altLang="en-US"/>
          </a:p>
        </p:txBody>
      </p:sp>
      <p:sp>
        <p:nvSpPr>
          <p:cNvPr id="22530"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2253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DD74759-B0FC-4677-B306-1377E4F992C8}" type="slidenum">
              <a:rPr lang="en-US" altLang="en-US"/>
              <a:pPr/>
              <a:t>32</a:t>
            </a:fld>
            <a:endParaRPr lang="en-US" altLang="en-US"/>
          </a:p>
        </p:txBody>
      </p:sp>
      <p:sp>
        <p:nvSpPr>
          <p:cNvPr id="19458"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945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252C609-B2DA-4A91-AF9F-934583F1C430}" type="slidenum">
              <a:rPr lang="en-US" altLang="en-US"/>
              <a:pPr/>
              <a:t>33</a:t>
            </a:fld>
            <a:endParaRPr lang="en-US" altLang="en-US"/>
          </a:p>
        </p:txBody>
      </p:sp>
      <p:sp>
        <p:nvSpPr>
          <p:cNvPr id="24578"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2457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A98C068-BD46-4D7C-BE44-08ED22BCA8BE}" type="slidenum">
              <a:rPr lang="en-US" altLang="en-US"/>
              <a:pPr/>
              <a:t>34</a:t>
            </a:fld>
            <a:endParaRPr lang="en-US" altLang="en-US"/>
          </a:p>
        </p:txBody>
      </p:sp>
      <p:sp>
        <p:nvSpPr>
          <p:cNvPr id="28674"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28675"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C15B95E-28EA-4C6C-A2A2-38F0ABB67E22}" type="slidenum">
              <a:rPr lang="en-US" altLang="en-US"/>
              <a:pPr/>
              <a:t>35</a:t>
            </a:fld>
            <a:endParaRPr lang="en-US" altLang="en-US"/>
          </a:p>
        </p:txBody>
      </p:sp>
      <p:sp>
        <p:nvSpPr>
          <p:cNvPr id="31746"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3174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A517A62-5866-40C1-B30C-5406ED8BCE05}" type="slidenum">
              <a:rPr lang="en-US" altLang="en-US"/>
              <a:pPr/>
              <a:t>36</a:t>
            </a:fld>
            <a:endParaRPr lang="en-US" altLang="en-US"/>
          </a:p>
        </p:txBody>
      </p:sp>
      <p:sp>
        <p:nvSpPr>
          <p:cNvPr id="33794"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33795"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ACE9F75-63D2-4003-88CC-0016F5F1E08C}" type="slidenum">
              <a:rPr lang="en-US" altLang="en-US"/>
              <a:pPr/>
              <a:t>37</a:t>
            </a:fld>
            <a:endParaRPr lang="en-US" altLang="en-US"/>
          </a:p>
        </p:txBody>
      </p:sp>
      <p:sp>
        <p:nvSpPr>
          <p:cNvPr id="35842"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3584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B022131-5FDC-462A-AED8-A72FC7A409C6}" type="slidenum">
              <a:rPr lang="en-US" altLang="en-US"/>
              <a:pPr/>
              <a:t>38</a:t>
            </a:fld>
            <a:endParaRPr lang="en-US" altLang="en-US"/>
          </a:p>
        </p:txBody>
      </p:sp>
      <p:sp>
        <p:nvSpPr>
          <p:cNvPr id="37890"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3789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8F5D6C1-299F-44B0-80BE-C62E5CB7DB44}" type="slidenum">
              <a:rPr lang="en-US" altLang="en-US"/>
              <a:pPr/>
              <a:t>39</a:t>
            </a:fld>
            <a:endParaRPr lang="en-US" altLang="en-US"/>
          </a:p>
        </p:txBody>
      </p:sp>
      <p:sp>
        <p:nvSpPr>
          <p:cNvPr id="39938"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3993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7"/>
          <p:cNvSpPr>
            <a:spLocks noGrp="1" noChangeArrowheads="1"/>
          </p:cNvSpPr>
          <p:nvPr>
            <p:ph type="sldNum" sz="quarter" idx="4294967295"/>
          </p:nvPr>
        </p:nvSpPr>
        <p:spPr bwMode="auto">
          <a:xfrm>
            <a:off x="3884263" y="8685335"/>
            <a:ext cx="2972123"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E3388C48-17D1-4221-8B0C-244A593054B5}" type="slidenum">
              <a:rPr lang="zh-CN" altLang="en-US">
                <a:latin typeface="Arial" pitchFamily="34" charset="0"/>
                <a:cs typeface="Arial" pitchFamily="34" charset="0"/>
              </a:rPr>
              <a:pPr eaLnBrk="1" hangingPunct="1"/>
              <a:t>40</a:t>
            </a:fld>
            <a:endParaRPr lang="en-US" altLang="zh-CN">
              <a:latin typeface="Arial" pitchFamily="34" charset="0"/>
              <a:cs typeface="Arial" pitchFamily="34" charset="0"/>
            </a:endParaRPr>
          </a:p>
        </p:txBody>
      </p:sp>
      <p:sp>
        <p:nvSpPr>
          <p:cNvPr id="166915" name="Rectangle 2"/>
          <p:cNvSpPr>
            <a:spLocks noGrp="1" noRot="1" noChangeAspect="1" noChangeArrowheads="1" noTextEdit="1"/>
          </p:cNvSpPr>
          <p:nvPr>
            <p:ph type="sldImg"/>
          </p:nvPr>
        </p:nvSpPr>
        <p:spPr>
          <a:ln/>
        </p:spPr>
      </p:sp>
      <p:sp>
        <p:nvSpPr>
          <p:cNvPr id="166916"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pPr eaLnBrk="1" hangingPunct="1">
              <a:spcBef>
                <a:spcPct val="0"/>
              </a:spcBef>
            </a:pPr>
            <a:endParaRPr lang="zh-CN" alt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7"/>
          <p:cNvSpPr>
            <a:spLocks noGrp="1" noChangeArrowheads="1"/>
          </p:cNvSpPr>
          <p:nvPr>
            <p:ph type="sldNum" sz="quarter" idx="4294967295"/>
          </p:nvPr>
        </p:nvSpPr>
        <p:spPr bwMode="auto">
          <a:xfrm>
            <a:off x="3884263" y="8685335"/>
            <a:ext cx="2972123"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1EBB1855-ABDE-4F56-BA27-F312F5D55EA0}" type="slidenum">
              <a:rPr lang="zh-CN" altLang="en-US">
                <a:latin typeface="Arial" pitchFamily="34" charset="0"/>
                <a:cs typeface="Arial" pitchFamily="34" charset="0"/>
              </a:rPr>
              <a:pPr eaLnBrk="1" hangingPunct="1"/>
              <a:t>42</a:t>
            </a:fld>
            <a:endParaRPr lang="en-US" altLang="zh-CN">
              <a:latin typeface="Arial" pitchFamily="34" charset="0"/>
              <a:cs typeface="Arial" pitchFamily="34" charset="0"/>
            </a:endParaRPr>
          </a:p>
        </p:txBody>
      </p:sp>
      <p:sp>
        <p:nvSpPr>
          <p:cNvPr id="167939" name="Rectangle 2"/>
          <p:cNvSpPr>
            <a:spLocks noGrp="1" noRot="1" noChangeAspect="1" noChangeArrowheads="1" noTextEdit="1"/>
          </p:cNvSpPr>
          <p:nvPr>
            <p:ph type="sldImg"/>
          </p:nvPr>
        </p:nvSpPr>
        <p:spPr>
          <a:ln/>
        </p:spPr>
      </p:sp>
      <p:sp>
        <p:nvSpPr>
          <p:cNvPr id="16794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pPr eaLnBrk="1" hangingPunct="1">
              <a:spcBef>
                <a:spcPct val="0"/>
              </a:spcBef>
            </a:pPr>
            <a:endParaRPr lang="zh-CN"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793408F-9B70-4604-922C-B2C5AC37AE6D}" type="datetimeFigureOut">
              <a:rPr lang="en-US" smtClean="0"/>
              <a:t>5/22/2017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D0F286-E4B3-47EE-A080-25D44D55FAA1}" type="slidenum">
              <a:rPr lang="en-US" smtClean="0"/>
              <a:t>‹#›</a:t>
            </a:fld>
            <a:endParaRPr lang="en-US"/>
          </a:p>
        </p:txBody>
      </p:sp>
    </p:spTree>
    <p:extLst>
      <p:ext uri="{BB962C8B-B14F-4D97-AF65-F5344CB8AC3E}">
        <p14:creationId xmlns:p14="http://schemas.microsoft.com/office/powerpoint/2010/main" val="3132035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793408F-9B70-4604-922C-B2C5AC37AE6D}" type="datetimeFigureOut">
              <a:rPr lang="en-US" smtClean="0"/>
              <a:t>5/22/2017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D0F286-E4B3-47EE-A080-25D44D55FAA1}" type="slidenum">
              <a:rPr lang="en-US" smtClean="0"/>
              <a:t>‹#›</a:t>
            </a:fld>
            <a:endParaRPr lang="en-US"/>
          </a:p>
        </p:txBody>
      </p:sp>
    </p:spTree>
    <p:extLst>
      <p:ext uri="{BB962C8B-B14F-4D97-AF65-F5344CB8AC3E}">
        <p14:creationId xmlns:p14="http://schemas.microsoft.com/office/powerpoint/2010/main" val="30783140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793408F-9B70-4604-922C-B2C5AC37AE6D}" type="datetimeFigureOut">
              <a:rPr lang="en-US" smtClean="0"/>
              <a:t>5/22/2017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D0F286-E4B3-47EE-A080-25D44D55FAA1}" type="slidenum">
              <a:rPr lang="en-US" smtClean="0"/>
              <a:t>‹#›</a:t>
            </a:fld>
            <a:endParaRPr lang="en-US"/>
          </a:p>
        </p:txBody>
      </p:sp>
    </p:spTree>
    <p:extLst>
      <p:ext uri="{BB962C8B-B14F-4D97-AF65-F5344CB8AC3E}">
        <p14:creationId xmlns:p14="http://schemas.microsoft.com/office/powerpoint/2010/main" val="5288386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793408F-9B70-4604-922C-B2C5AC37AE6D}" type="datetimeFigureOut">
              <a:rPr lang="en-US" smtClean="0"/>
              <a:t>5/22/2017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D0F286-E4B3-47EE-A080-25D44D55FAA1}" type="slidenum">
              <a:rPr lang="en-US" smtClean="0"/>
              <a:t>‹#›</a:t>
            </a:fld>
            <a:endParaRPr lang="en-US"/>
          </a:p>
        </p:txBody>
      </p:sp>
    </p:spTree>
    <p:extLst>
      <p:ext uri="{BB962C8B-B14F-4D97-AF65-F5344CB8AC3E}">
        <p14:creationId xmlns:p14="http://schemas.microsoft.com/office/powerpoint/2010/main" val="25262033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793408F-9B70-4604-922C-B2C5AC37AE6D}" type="datetimeFigureOut">
              <a:rPr lang="en-US" smtClean="0"/>
              <a:t>5/22/2017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CD0F286-E4B3-47EE-A080-25D44D55FAA1}" type="slidenum">
              <a:rPr lang="en-US" smtClean="0"/>
              <a:t>‹#›</a:t>
            </a:fld>
            <a:endParaRPr lang="en-US"/>
          </a:p>
        </p:txBody>
      </p:sp>
    </p:spTree>
    <p:extLst>
      <p:ext uri="{BB962C8B-B14F-4D97-AF65-F5344CB8AC3E}">
        <p14:creationId xmlns:p14="http://schemas.microsoft.com/office/powerpoint/2010/main" val="623558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793408F-9B70-4604-922C-B2C5AC37AE6D}" type="datetimeFigureOut">
              <a:rPr lang="en-US" smtClean="0"/>
              <a:t>5/22/2017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CD0F286-E4B3-47EE-A080-25D44D55FAA1}" type="slidenum">
              <a:rPr lang="en-US" smtClean="0"/>
              <a:t>‹#›</a:t>
            </a:fld>
            <a:endParaRPr lang="en-US"/>
          </a:p>
        </p:txBody>
      </p:sp>
    </p:spTree>
    <p:extLst>
      <p:ext uri="{BB962C8B-B14F-4D97-AF65-F5344CB8AC3E}">
        <p14:creationId xmlns:p14="http://schemas.microsoft.com/office/powerpoint/2010/main" val="10881851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93408F-9B70-4604-922C-B2C5AC37AE6D}" type="datetimeFigureOut">
              <a:rPr lang="en-US" smtClean="0"/>
              <a:t>5/22/2017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CD0F286-E4B3-47EE-A080-25D44D55FAA1}" type="slidenum">
              <a:rPr lang="en-US" smtClean="0"/>
              <a:t>‹#›</a:t>
            </a:fld>
            <a:endParaRPr lang="en-US"/>
          </a:p>
        </p:txBody>
      </p:sp>
    </p:spTree>
    <p:extLst>
      <p:ext uri="{BB962C8B-B14F-4D97-AF65-F5344CB8AC3E}">
        <p14:creationId xmlns:p14="http://schemas.microsoft.com/office/powerpoint/2010/main" val="41185189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793408F-9B70-4604-922C-B2C5AC37AE6D}" type="datetimeFigureOut">
              <a:rPr lang="en-US" smtClean="0"/>
              <a:t>5/22/2017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D0F286-E4B3-47EE-A080-25D44D55FAA1}" type="slidenum">
              <a:rPr lang="en-US" smtClean="0"/>
              <a:t>‹#›</a:t>
            </a:fld>
            <a:endParaRPr lang="en-US"/>
          </a:p>
        </p:txBody>
      </p:sp>
    </p:spTree>
    <p:extLst>
      <p:ext uri="{BB962C8B-B14F-4D97-AF65-F5344CB8AC3E}">
        <p14:creationId xmlns:p14="http://schemas.microsoft.com/office/powerpoint/2010/main" val="31844885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793408F-9B70-4604-922C-B2C5AC37AE6D}" type="datetimeFigureOut">
              <a:rPr lang="en-US" smtClean="0"/>
              <a:t>5/22/2017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D0F286-E4B3-47EE-A080-25D44D55FAA1}" type="slidenum">
              <a:rPr lang="en-US" smtClean="0"/>
              <a:t>‹#›</a:t>
            </a:fld>
            <a:endParaRPr lang="en-US"/>
          </a:p>
        </p:txBody>
      </p:sp>
    </p:spTree>
    <p:extLst>
      <p:ext uri="{BB962C8B-B14F-4D97-AF65-F5344CB8AC3E}">
        <p14:creationId xmlns:p14="http://schemas.microsoft.com/office/powerpoint/2010/main" val="1132666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793408F-9B70-4604-922C-B2C5AC37AE6D}" type="datetimeFigureOut">
              <a:rPr lang="en-US" smtClean="0"/>
              <a:t>5/22/2017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D0F286-E4B3-47EE-A080-25D44D55FAA1}" type="slidenum">
              <a:rPr lang="en-US" smtClean="0"/>
              <a:t>‹#›</a:t>
            </a:fld>
            <a:endParaRPr lang="en-US"/>
          </a:p>
        </p:txBody>
      </p:sp>
    </p:spTree>
    <p:extLst>
      <p:ext uri="{BB962C8B-B14F-4D97-AF65-F5344CB8AC3E}">
        <p14:creationId xmlns:p14="http://schemas.microsoft.com/office/powerpoint/2010/main" val="41120907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793408F-9B70-4604-922C-B2C5AC37AE6D}" type="datetimeFigureOut">
              <a:rPr lang="en-US" smtClean="0"/>
              <a:t>5/22/2017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D0F286-E4B3-47EE-A080-25D44D55FAA1}" type="slidenum">
              <a:rPr lang="en-US" smtClean="0"/>
              <a:t>‹#›</a:t>
            </a:fld>
            <a:endParaRPr lang="en-US"/>
          </a:p>
        </p:txBody>
      </p:sp>
    </p:spTree>
    <p:extLst>
      <p:ext uri="{BB962C8B-B14F-4D97-AF65-F5344CB8AC3E}">
        <p14:creationId xmlns:p14="http://schemas.microsoft.com/office/powerpoint/2010/main" val="34691858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4"/>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4"/>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p:txBody>
          <a:bodyPr/>
          <a:lstStyle>
            <a:lvl1pPr>
              <a:defRPr/>
            </a:lvl1pPr>
          </a:lstStyle>
          <a:p>
            <a:pPr>
              <a:defRPr/>
            </a:pPr>
            <a:fld id="{09A2ABEF-EFE1-4883-B4E9-DA21158E6B3C}" type="datetime1">
              <a:rPr lang="en-US"/>
              <a:pPr>
                <a:defRPr/>
              </a:pPr>
              <a:t>5/22/2017</a:t>
            </a:fld>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fld id="{BF4389E6-80AF-4759-B518-648573CCD323}" type="slidenum">
              <a:rPr lang="en-US" altLang="en-US"/>
              <a:pPr/>
              <a:t>‹#›</a:t>
            </a:fld>
            <a:endParaRPr lang="en-US" altLang="en-US"/>
          </a:p>
        </p:txBody>
      </p:sp>
    </p:spTree>
    <p:extLst>
      <p:ext uri="{BB962C8B-B14F-4D97-AF65-F5344CB8AC3E}">
        <p14:creationId xmlns:p14="http://schemas.microsoft.com/office/powerpoint/2010/main" val="3567262285"/>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93408F-9B70-4604-922C-B2C5AC37AE6D}" type="datetimeFigureOut">
              <a:rPr lang="en-US" smtClean="0"/>
              <a:t>5/22/2017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D0F286-E4B3-47EE-A080-25D44D55FAA1}" type="slidenum">
              <a:rPr lang="en-US" smtClean="0"/>
              <a:t>‹#›</a:t>
            </a:fld>
            <a:endParaRPr lang="en-US"/>
          </a:p>
        </p:txBody>
      </p:sp>
    </p:spTree>
    <p:extLst>
      <p:ext uri="{BB962C8B-B14F-4D97-AF65-F5344CB8AC3E}">
        <p14:creationId xmlns:p14="http://schemas.microsoft.com/office/powerpoint/2010/main" val="202308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siide bar"/>
          <p:cNvPicPr>
            <a:picLocks noGrp="1" noChangeAspect="1" noChangeArrowheads="1"/>
          </p:cNvPicPr>
          <p:nvPr>
            <p:ph idx="4294967295"/>
          </p:nvPr>
        </p:nvPicPr>
        <p:blipFill>
          <a:blip r:embed="rId3">
            <a:extLst>
              <a:ext uri="{28A0092B-C50C-407E-A947-70E740481C1C}">
                <a14:useLocalDpi xmlns:a14="http://schemas.microsoft.com/office/drawing/2010/main" val="0"/>
              </a:ext>
            </a:extLst>
          </a:blip>
          <a:srcRect/>
          <a:stretch>
            <a:fillRect/>
          </a:stretch>
        </p:blipFill>
        <p:spPr>
          <a:xfrm>
            <a:off x="0" y="1"/>
            <a:ext cx="9144000" cy="686360"/>
          </a:xfrm>
        </p:spPr>
      </p:pic>
      <p:pic>
        <p:nvPicPr>
          <p:cNvPr id="4099" name="Picture 4" descr="siide ba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491007"/>
            <a:ext cx="9144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0" name="Text Box 7"/>
          <p:cNvSpPr txBox="1">
            <a:spLocks noChangeArrowheads="1"/>
          </p:cNvSpPr>
          <p:nvPr/>
        </p:nvSpPr>
        <p:spPr bwMode="auto">
          <a:xfrm>
            <a:off x="0" y="270622"/>
            <a:ext cx="9144000" cy="338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81" tIns="45691" rIns="91381" bIns="45691">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50000"/>
              </a:spcBef>
              <a:buFontTx/>
              <a:buNone/>
            </a:pPr>
            <a:endParaRPr lang="en-US" altLang="en-US" sz="1600"/>
          </a:p>
        </p:txBody>
      </p:sp>
      <p:sp>
        <p:nvSpPr>
          <p:cNvPr id="4101" name="Line 8"/>
          <p:cNvSpPr>
            <a:spLocks noChangeShapeType="1"/>
          </p:cNvSpPr>
          <p:nvPr/>
        </p:nvSpPr>
        <p:spPr bwMode="auto">
          <a:xfrm>
            <a:off x="0" y="6481203"/>
            <a:ext cx="9144000" cy="0"/>
          </a:xfrm>
          <a:prstGeom prst="line">
            <a:avLst/>
          </a:prstGeom>
          <a:noFill/>
          <a:ln w="44450">
            <a:solidFill>
              <a:srgbClr val="006AFF"/>
            </a:solidFill>
            <a:round/>
            <a:headEnd/>
            <a:tailEnd/>
          </a:ln>
          <a:extLst>
            <a:ext uri="{909E8E84-426E-40DD-AFC4-6F175D3DCCD1}">
              <a14:hiddenFill xmlns:a14="http://schemas.microsoft.com/office/drawing/2010/main">
                <a:noFill/>
              </a14:hiddenFill>
            </a:ext>
          </a:extLst>
        </p:spPr>
        <p:txBody>
          <a:bodyPr lIns="91381" tIns="45691" rIns="91381" bIns="45691"/>
          <a:lstStyle/>
          <a:p>
            <a:endParaRPr lang="en-US"/>
          </a:p>
        </p:txBody>
      </p:sp>
      <p:sp>
        <p:nvSpPr>
          <p:cNvPr id="4102" name="Rectangle 13"/>
          <p:cNvSpPr>
            <a:spLocks noChangeArrowheads="1"/>
          </p:cNvSpPr>
          <p:nvPr/>
        </p:nvSpPr>
        <p:spPr bwMode="auto">
          <a:xfrm>
            <a:off x="1192068" y="935691"/>
            <a:ext cx="6732444" cy="2187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81" tIns="45691" rIns="91381" bIns="45691" anchor="ct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eaLnBrk="1" hangingPunct="1">
              <a:spcBef>
                <a:spcPct val="0"/>
              </a:spcBef>
              <a:buFontTx/>
              <a:buNone/>
            </a:pPr>
            <a:r>
              <a:rPr lang="en-GB" altLang="en-US" sz="3600" dirty="0" smtClean="0">
                <a:solidFill>
                  <a:srgbClr val="6600CC"/>
                </a:solidFill>
                <a:latin typeface="Times New Roman" pitchFamily="18" charset="0"/>
              </a:rPr>
              <a:t>Analysis of Algorithm</a:t>
            </a:r>
            <a:endParaRPr lang="en-GB" altLang="en-US" sz="3600" dirty="0">
              <a:solidFill>
                <a:srgbClr val="6600CC"/>
              </a:solidFill>
              <a:latin typeface="Times New Roman" pitchFamily="18" charset="0"/>
            </a:endParaRPr>
          </a:p>
        </p:txBody>
      </p:sp>
      <p:sp>
        <p:nvSpPr>
          <p:cNvPr id="4103" name="Rectangle 14"/>
          <p:cNvSpPr>
            <a:spLocks noChangeArrowheads="1"/>
          </p:cNvSpPr>
          <p:nvPr/>
        </p:nvSpPr>
        <p:spPr bwMode="auto">
          <a:xfrm>
            <a:off x="1447512" y="2895320"/>
            <a:ext cx="6400511" cy="3125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81" tIns="45691" rIns="91381" bIns="45691"/>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3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defTabSz="912813"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eaLnBrk="1" hangingPunct="1">
              <a:buFontTx/>
              <a:buNone/>
            </a:pPr>
            <a:endParaRPr lang="en-US" altLang="en-US" dirty="0">
              <a:solidFill>
                <a:srgbClr val="CC00FF"/>
              </a:solidFill>
              <a:latin typeface="Times New Roman" pitchFamily="18" charset="0"/>
            </a:endParaRPr>
          </a:p>
          <a:p>
            <a:pPr algn="ctr" eaLnBrk="1" hangingPunct="1">
              <a:buFontTx/>
              <a:buNone/>
            </a:pPr>
            <a:r>
              <a:rPr lang="en-US" altLang="en-US" dirty="0">
                <a:solidFill>
                  <a:srgbClr val="CC00FF"/>
                </a:solidFill>
                <a:latin typeface="Times New Roman" pitchFamily="18" charset="0"/>
              </a:rPr>
              <a:t>Lecture </a:t>
            </a:r>
            <a:r>
              <a:rPr lang="en-US" altLang="en-US" dirty="0" smtClean="0">
                <a:solidFill>
                  <a:srgbClr val="CC00FF"/>
                </a:solidFill>
                <a:latin typeface="Times New Roman" pitchFamily="18" charset="0"/>
              </a:rPr>
              <a:t>7 </a:t>
            </a:r>
            <a:endParaRPr lang="en-US" altLang="en-US" dirty="0">
              <a:solidFill>
                <a:srgbClr val="CC00FF"/>
              </a:solidFill>
              <a:latin typeface="Times New Roman" pitchFamily="18" charset="0"/>
            </a:endParaRPr>
          </a:p>
          <a:p>
            <a:pPr algn="ctr" eaLnBrk="1" hangingPunct="1">
              <a:buFontTx/>
              <a:buNone/>
            </a:pPr>
            <a:endParaRPr lang="en-US" altLang="en-US" dirty="0">
              <a:solidFill>
                <a:srgbClr val="CC00FF"/>
              </a:solidFill>
              <a:latin typeface="Times New Roman" pitchFamily="18" charset="0"/>
            </a:endParaRPr>
          </a:p>
          <a:p>
            <a:pPr algn="ctr" eaLnBrk="1" hangingPunct="1">
              <a:buFontTx/>
              <a:buNone/>
            </a:pPr>
            <a:r>
              <a:rPr lang="en-US" altLang="en-US" dirty="0">
                <a:solidFill>
                  <a:srgbClr val="CC00FF"/>
                </a:solidFill>
                <a:latin typeface="Times New Roman" pitchFamily="18" charset="0"/>
              </a:rPr>
              <a:t>By</a:t>
            </a:r>
          </a:p>
          <a:p>
            <a:pPr algn="ctr" eaLnBrk="1" hangingPunct="1">
              <a:buFontTx/>
              <a:buNone/>
            </a:pPr>
            <a:r>
              <a:rPr lang="en-US" altLang="en-US" dirty="0">
                <a:solidFill>
                  <a:srgbClr val="CC00FF"/>
                </a:solidFill>
                <a:latin typeface="Times New Roman" pitchFamily="18" charset="0"/>
              </a:rPr>
              <a:t>Huma </a:t>
            </a:r>
            <a:r>
              <a:rPr lang="en-US" altLang="en-US" dirty="0" err="1">
                <a:solidFill>
                  <a:srgbClr val="CC00FF"/>
                </a:solidFill>
                <a:latin typeface="Times New Roman" pitchFamily="18" charset="0"/>
              </a:rPr>
              <a:t>Ayub</a:t>
            </a:r>
            <a:r>
              <a:rPr lang="en-US" altLang="en-US" dirty="0">
                <a:solidFill>
                  <a:srgbClr val="CC00FF"/>
                </a:solidFill>
                <a:latin typeface="Times New Roman" pitchFamily="18" charset="0"/>
              </a:rPr>
              <a:t> </a:t>
            </a:r>
          </a:p>
        </p:txBody>
      </p:sp>
      <p:sp>
        <p:nvSpPr>
          <p:cNvPr id="4104" name="Slide Number Placeholder 9"/>
          <p:cNvSpPr>
            <a:spLocks noGrp="1"/>
          </p:cNvSpPr>
          <p:nvPr>
            <p:ph type="sldNum" sz="quarter" idx="12"/>
          </p:nvPr>
        </p:nvSpPr>
        <p:spPr bwMode="auto">
          <a:xfrm>
            <a:off x="6553489" y="6619875"/>
            <a:ext cx="2133023"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6F9890A5-2FC1-4811-9CD1-FCCC16024669}" type="slidenum">
              <a:rPr lang="en-US" altLang="en-US">
                <a:latin typeface="Arial" charset="0"/>
              </a:rPr>
              <a:pPr/>
              <a:t>1</a:t>
            </a:fld>
            <a:endParaRPr lang="en-US" altLang="en-US">
              <a:latin typeface="Arial" charset="0"/>
            </a:endParaRPr>
          </a:p>
        </p:txBody>
      </p:sp>
    </p:spTree>
    <p:extLst>
      <p:ext uri="{BB962C8B-B14F-4D97-AF65-F5344CB8AC3E}">
        <p14:creationId xmlns:p14="http://schemas.microsoft.com/office/powerpoint/2010/main" val="3061908011"/>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altLang="en-US" smtClean="0"/>
              <a:t>AVL Search Trees</a:t>
            </a:r>
          </a:p>
        </p:txBody>
      </p:sp>
      <p:sp>
        <p:nvSpPr>
          <p:cNvPr id="4099" name="Rectangle 3"/>
          <p:cNvSpPr>
            <a:spLocks noGrp="1" noChangeArrowheads="1"/>
          </p:cNvSpPr>
          <p:nvPr>
            <p:ph type="body" idx="1"/>
          </p:nvPr>
        </p:nvSpPr>
        <p:spPr/>
        <p:txBody>
          <a:bodyPr>
            <a:normAutofit fontScale="70000" lnSpcReduction="20000"/>
          </a:bodyPr>
          <a:lstStyle/>
          <a:p>
            <a:pPr eaLnBrk="1" hangingPunct="1">
              <a:defRPr/>
            </a:pPr>
            <a:r>
              <a:rPr lang="en-US" smtClean="0"/>
              <a:t>What is an AVL Tree?</a:t>
            </a:r>
          </a:p>
          <a:p>
            <a:pPr eaLnBrk="1" hangingPunct="1">
              <a:defRPr/>
            </a:pPr>
            <a:endParaRPr lang="en-US" smtClean="0"/>
          </a:p>
          <a:p>
            <a:pPr eaLnBrk="1" hangingPunct="1">
              <a:defRPr/>
            </a:pPr>
            <a:endParaRPr lang="en-US" u="sng" smtClean="0"/>
          </a:p>
          <a:p>
            <a:pPr eaLnBrk="1" hangingPunct="1">
              <a:defRPr/>
            </a:pPr>
            <a:endParaRPr lang="en-US" u="sng" smtClean="0"/>
          </a:p>
          <a:p>
            <a:pPr eaLnBrk="1" hangingPunct="1">
              <a:defRPr/>
            </a:pPr>
            <a:r>
              <a:rPr lang="en-US" smtClean="0"/>
              <a:t>AVL Tree Implementation.</a:t>
            </a:r>
          </a:p>
          <a:p>
            <a:pPr eaLnBrk="1" hangingPunct="1">
              <a:defRPr/>
            </a:pPr>
            <a:endParaRPr lang="en-US" u="sng" smtClean="0"/>
          </a:p>
          <a:p>
            <a:pPr eaLnBrk="1" hangingPunct="1">
              <a:defRPr/>
            </a:pPr>
            <a:endParaRPr lang="en-US" u="sng" smtClean="0"/>
          </a:p>
          <a:p>
            <a:pPr eaLnBrk="1" hangingPunct="1">
              <a:defRPr/>
            </a:pPr>
            <a:endParaRPr lang="en-US" u="sng" smtClean="0"/>
          </a:p>
          <a:p>
            <a:pPr eaLnBrk="1" hangingPunct="1">
              <a:defRPr/>
            </a:pPr>
            <a:r>
              <a:rPr lang="en-US" smtClean="0"/>
              <a:t>Why AVL Trees?</a:t>
            </a:r>
          </a:p>
          <a:p>
            <a:pPr eaLnBrk="1" hangingPunct="1">
              <a:defRPr/>
            </a:pPr>
            <a:endParaRPr lang="en-US" smtClean="0"/>
          </a:p>
          <a:p>
            <a:pPr eaLnBrk="1" hangingPunct="1">
              <a:defRPr/>
            </a:pPr>
            <a:endParaRPr lang="en-US" u="sng" smtClean="0"/>
          </a:p>
          <a:p>
            <a:pPr eaLnBrk="1" hangingPunct="1">
              <a:defRPr/>
            </a:pPr>
            <a:endParaRPr lang="en-US" u="sng" smtClean="0"/>
          </a:p>
          <a:p>
            <a:pPr eaLnBrk="1" hangingPunct="1">
              <a:defRPr/>
            </a:pPr>
            <a:r>
              <a:rPr lang="en-US" smtClean="0"/>
              <a:t>Rotations.</a:t>
            </a:r>
          </a:p>
        </p:txBody>
      </p:sp>
    </p:spTree>
    <p:extLst>
      <p:ext uri="{BB962C8B-B14F-4D97-AF65-F5344CB8AC3E}">
        <p14:creationId xmlns:p14="http://schemas.microsoft.com/office/powerpoint/2010/main" val="50093347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457200" y="0"/>
            <a:ext cx="8229600" cy="836613"/>
          </a:xfrm>
        </p:spPr>
        <p:txBody>
          <a:bodyPr/>
          <a:lstStyle/>
          <a:p>
            <a:pPr eaLnBrk="1" hangingPunct="1"/>
            <a:r>
              <a:rPr lang="en-US" altLang="en-US" smtClean="0"/>
              <a:t>What is an AVL Tree?</a:t>
            </a:r>
          </a:p>
        </p:txBody>
      </p:sp>
      <p:sp>
        <p:nvSpPr>
          <p:cNvPr id="5123" name="Rectangle 3"/>
          <p:cNvSpPr>
            <a:spLocks noGrp="1" noChangeArrowheads="1"/>
          </p:cNvSpPr>
          <p:nvPr>
            <p:ph type="body" idx="1"/>
          </p:nvPr>
        </p:nvSpPr>
        <p:spPr>
          <a:xfrm>
            <a:off x="250825" y="836613"/>
            <a:ext cx="8569325" cy="2881312"/>
          </a:xfrm>
        </p:spPr>
        <p:txBody>
          <a:bodyPr>
            <a:normAutofit fontScale="70000" lnSpcReduction="20000"/>
          </a:bodyPr>
          <a:lstStyle/>
          <a:p>
            <a:pPr eaLnBrk="1" hangingPunct="1">
              <a:lnSpc>
                <a:spcPct val="90000"/>
              </a:lnSpc>
              <a:defRPr/>
            </a:pPr>
            <a:r>
              <a:rPr lang="en-US" dirty="0" smtClean="0"/>
              <a:t>An AVL tree is a binary search tree with a height balance property: </a:t>
            </a:r>
          </a:p>
          <a:p>
            <a:pPr lvl="1" eaLnBrk="1" hangingPunct="1">
              <a:lnSpc>
                <a:spcPct val="90000"/>
              </a:lnSpc>
              <a:defRPr/>
            </a:pPr>
            <a:r>
              <a:rPr lang="en-US" dirty="0" smtClean="0"/>
              <a:t>For each node v, the heights of the subtrees of v differ by at most 1.</a:t>
            </a:r>
          </a:p>
          <a:p>
            <a:pPr lvl="1" eaLnBrk="1" hangingPunct="1">
              <a:lnSpc>
                <a:spcPct val="90000"/>
              </a:lnSpc>
              <a:defRPr/>
            </a:pPr>
            <a:endParaRPr lang="en-US" dirty="0" smtClean="0"/>
          </a:p>
          <a:p>
            <a:pPr eaLnBrk="1" hangingPunct="1">
              <a:lnSpc>
                <a:spcPct val="90000"/>
              </a:lnSpc>
              <a:defRPr/>
            </a:pPr>
            <a:r>
              <a:rPr lang="en-US" dirty="0" smtClean="0"/>
              <a:t>A subtree of an AVL tree is also an AVL tree.</a:t>
            </a:r>
          </a:p>
          <a:p>
            <a:pPr eaLnBrk="1" hangingPunct="1">
              <a:lnSpc>
                <a:spcPct val="90000"/>
              </a:lnSpc>
              <a:defRPr/>
            </a:pPr>
            <a:r>
              <a:rPr lang="en-US" dirty="0" smtClean="0"/>
              <a:t>For each node of an AVL tree:</a:t>
            </a:r>
          </a:p>
          <a:p>
            <a:pPr lvl="1" eaLnBrk="1" hangingPunct="1">
              <a:lnSpc>
                <a:spcPct val="90000"/>
              </a:lnSpc>
              <a:buFontTx/>
              <a:buNone/>
              <a:defRPr/>
            </a:pPr>
            <a:r>
              <a:rPr lang="en-US" dirty="0" smtClean="0"/>
              <a:t>Balance factor = height(right subtree) - height(left subtree)</a:t>
            </a:r>
          </a:p>
          <a:p>
            <a:pPr lvl="1">
              <a:lnSpc>
                <a:spcPct val="90000"/>
              </a:lnSpc>
              <a:buNone/>
              <a:defRPr/>
            </a:pPr>
            <a:r>
              <a:rPr lang="en-US" dirty="0"/>
              <a:t>Balance factor = </a:t>
            </a:r>
            <a:r>
              <a:rPr lang="en-US" dirty="0" smtClean="0"/>
              <a:t>height(left </a:t>
            </a:r>
            <a:r>
              <a:rPr lang="en-US" smtClean="0"/>
              <a:t>subtree)    </a:t>
            </a:r>
            <a:r>
              <a:rPr lang="en-US"/>
              <a:t>- </a:t>
            </a:r>
            <a:r>
              <a:rPr lang="en-US" smtClean="0"/>
              <a:t>   height(right </a:t>
            </a:r>
            <a:r>
              <a:rPr lang="en-US" dirty="0"/>
              <a:t>subtree)</a:t>
            </a:r>
          </a:p>
          <a:p>
            <a:pPr lvl="1">
              <a:lnSpc>
                <a:spcPct val="90000"/>
              </a:lnSpc>
              <a:buNone/>
              <a:defRPr/>
            </a:pPr>
            <a:endParaRPr lang="en-US" dirty="0" smtClean="0"/>
          </a:p>
          <a:p>
            <a:pPr lvl="1" eaLnBrk="1" hangingPunct="1">
              <a:lnSpc>
                <a:spcPct val="90000"/>
              </a:lnSpc>
              <a:buFontTx/>
              <a:buNone/>
              <a:defRPr/>
            </a:pPr>
            <a:endParaRPr lang="en-US" dirty="0" smtClean="0"/>
          </a:p>
          <a:p>
            <a:pPr eaLnBrk="1" hangingPunct="1">
              <a:lnSpc>
                <a:spcPct val="90000"/>
              </a:lnSpc>
              <a:defRPr/>
            </a:pPr>
            <a:r>
              <a:rPr lang="en-US" dirty="0" smtClean="0"/>
              <a:t>An AVL node can have a balance factor of -1, 0, or +1.</a:t>
            </a:r>
          </a:p>
        </p:txBody>
      </p:sp>
      <p:sp>
        <p:nvSpPr>
          <p:cNvPr id="19460" name="Oval 4"/>
          <p:cNvSpPr>
            <a:spLocks noChangeArrowheads="1"/>
          </p:cNvSpPr>
          <p:nvPr/>
        </p:nvSpPr>
        <p:spPr bwMode="auto">
          <a:xfrm>
            <a:off x="1260475" y="4795838"/>
            <a:ext cx="503238" cy="36036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nchorCtr="1"/>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spcBef>
                <a:spcPct val="0"/>
              </a:spcBef>
              <a:buSzTx/>
              <a:buFontTx/>
              <a:buNone/>
            </a:pPr>
            <a:r>
              <a:rPr lang="en-US" altLang="en-US" b="0">
                <a:latin typeface="Times New Roman" pitchFamily="18" charset="0"/>
              </a:rPr>
              <a:t>3</a:t>
            </a:r>
          </a:p>
        </p:txBody>
      </p:sp>
      <p:sp>
        <p:nvSpPr>
          <p:cNvPr id="19461" name="Oval 5"/>
          <p:cNvSpPr>
            <a:spLocks noChangeArrowheads="1"/>
          </p:cNvSpPr>
          <p:nvPr/>
        </p:nvSpPr>
        <p:spPr bwMode="auto">
          <a:xfrm>
            <a:off x="684213" y="5443538"/>
            <a:ext cx="503237" cy="36036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nchorCtr="1"/>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spcBef>
                <a:spcPct val="0"/>
              </a:spcBef>
              <a:buSzTx/>
              <a:buFontTx/>
              <a:buNone/>
            </a:pPr>
            <a:r>
              <a:rPr lang="en-US" altLang="en-US" b="0">
                <a:latin typeface="Times New Roman" pitchFamily="18" charset="0"/>
              </a:rPr>
              <a:t>1</a:t>
            </a:r>
          </a:p>
        </p:txBody>
      </p:sp>
      <p:sp>
        <p:nvSpPr>
          <p:cNvPr id="19462" name="Oval 7"/>
          <p:cNvSpPr>
            <a:spLocks noChangeArrowheads="1"/>
          </p:cNvSpPr>
          <p:nvPr/>
        </p:nvSpPr>
        <p:spPr bwMode="auto">
          <a:xfrm>
            <a:off x="1081088" y="6172200"/>
            <a:ext cx="503237" cy="36036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nchorCtr="1"/>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spcBef>
                <a:spcPct val="0"/>
              </a:spcBef>
              <a:buSzTx/>
              <a:buFontTx/>
              <a:buNone/>
            </a:pPr>
            <a:r>
              <a:rPr lang="en-US" altLang="en-US" b="0">
                <a:latin typeface="Times New Roman" pitchFamily="18" charset="0"/>
              </a:rPr>
              <a:t>2</a:t>
            </a:r>
          </a:p>
        </p:txBody>
      </p:sp>
      <p:sp>
        <p:nvSpPr>
          <p:cNvPr id="19463" name="Oval 9"/>
          <p:cNvSpPr>
            <a:spLocks noChangeArrowheads="1"/>
          </p:cNvSpPr>
          <p:nvPr/>
        </p:nvSpPr>
        <p:spPr bwMode="auto">
          <a:xfrm>
            <a:off x="1765300" y="5443538"/>
            <a:ext cx="503238" cy="36036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nchorCtr="1"/>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spcBef>
                <a:spcPct val="0"/>
              </a:spcBef>
              <a:buSzTx/>
              <a:buFontTx/>
              <a:buNone/>
            </a:pPr>
            <a:r>
              <a:rPr lang="en-US" altLang="en-US" b="0">
                <a:latin typeface="Times New Roman" pitchFamily="18" charset="0"/>
              </a:rPr>
              <a:t>4</a:t>
            </a:r>
          </a:p>
        </p:txBody>
      </p:sp>
      <p:sp>
        <p:nvSpPr>
          <p:cNvPr id="19464" name="Oval 11"/>
          <p:cNvSpPr>
            <a:spLocks noChangeArrowheads="1"/>
          </p:cNvSpPr>
          <p:nvPr/>
        </p:nvSpPr>
        <p:spPr bwMode="auto">
          <a:xfrm>
            <a:off x="2916238" y="4797425"/>
            <a:ext cx="503237" cy="36036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nchorCtr="1"/>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spcBef>
                <a:spcPct val="0"/>
              </a:spcBef>
              <a:buSzTx/>
              <a:buFontTx/>
              <a:buNone/>
            </a:pPr>
            <a:r>
              <a:rPr lang="en-US" altLang="en-US" b="0">
                <a:latin typeface="Times New Roman" pitchFamily="18" charset="0"/>
              </a:rPr>
              <a:t>10</a:t>
            </a:r>
          </a:p>
        </p:txBody>
      </p:sp>
      <p:sp>
        <p:nvSpPr>
          <p:cNvPr id="19465" name="Oval 12"/>
          <p:cNvSpPr>
            <a:spLocks noChangeArrowheads="1"/>
          </p:cNvSpPr>
          <p:nvPr/>
        </p:nvSpPr>
        <p:spPr bwMode="auto">
          <a:xfrm>
            <a:off x="3349625" y="5443538"/>
            <a:ext cx="503238" cy="36036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nchorCtr="1"/>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spcBef>
                <a:spcPct val="0"/>
              </a:spcBef>
              <a:buSzTx/>
              <a:buFontTx/>
              <a:buNone/>
            </a:pPr>
            <a:r>
              <a:rPr lang="en-US" altLang="en-US" b="0">
                <a:latin typeface="Times New Roman" pitchFamily="18" charset="0"/>
              </a:rPr>
              <a:t>13</a:t>
            </a:r>
          </a:p>
        </p:txBody>
      </p:sp>
      <p:cxnSp>
        <p:nvCxnSpPr>
          <p:cNvPr id="19466" name="AutoShape 13"/>
          <p:cNvCxnSpPr>
            <a:cxnSpLocks noChangeShapeType="1"/>
            <a:stCxn id="19472" idx="2"/>
            <a:endCxn id="19460" idx="7"/>
          </p:cNvCxnSpPr>
          <p:nvPr/>
        </p:nvCxnSpPr>
        <p:spPr bwMode="auto">
          <a:xfrm flipH="1">
            <a:off x="1690688" y="4400550"/>
            <a:ext cx="433387" cy="44767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467" name="AutoShape 14"/>
          <p:cNvCxnSpPr>
            <a:cxnSpLocks noChangeShapeType="1"/>
            <a:stCxn id="19472" idx="6"/>
            <a:endCxn id="19464" idx="1"/>
          </p:cNvCxnSpPr>
          <p:nvPr/>
        </p:nvCxnSpPr>
        <p:spPr bwMode="auto">
          <a:xfrm>
            <a:off x="2627313" y="4400550"/>
            <a:ext cx="361950" cy="449263"/>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468" name="AutoShape 15"/>
          <p:cNvCxnSpPr>
            <a:cxnSpLocks noChangeShapeType="1"/>
            <a:stCxn id="19460" idx="3"/>
            <a:endCxn id="19461" idx="7"/>
          </p:cNvCxnSpPr>
          <p:nvPr/>
        </p:nvCxnSpPr>
        <p:spPr bwMode="auto">
          <a:xfrm flipH="1">
            <a:off x="1114425" y="5103813"/>
            <a:ext cx="219075" cy="39211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469" name="AutoShape 17"/>
          <p:cNvCxnSpPr>
            <a:cxnSpLocks noChangeShapeType="1"/>
            <a:stCxn id="19460" idx="5"/>
            <a:endCxn id="19463" idx="1"/>
          </p:cNvCxnSpPr>
          <p:nvPr/>
        </p:nvCxnSpPr>
        <p:spPr bwMode="auto">
          <a:xfrm>
            <a:off x="1690688" y="5103813"/>
            <a:ext cx="147637" cy="39211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470" name="AutoShape 19"/>
          <p:cNvCxnSpPr>
            <a:cxnSpLocks noChangeShapeType="1"/>
            <a:stCxn id="19464" idx="5"/>
            <a:endCxn id="19465" idx="0"/>
          </p:cNvCxnSpPr>
          <p:nvPr/>
        </p:nvCxnSpPr>
        <p:spPr bwMode="auto">
          <a:xfrm>
            <a:off x="3346450" y="5105400"/>
            <a:ext cx="255588" cy="338138"/>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471" name="AutoShape 21"/>
          <p:cNvCxnSpPr>
            <a:cxnSpLocks noChangeShapeType="1"/>
            <a:stCxn id="19461" idx="5"/>
            <a:endCxn id="19462" idx="0"/>
          </p:cNvCxnSpPr>
          <p:nvPr/>
        </p:nvCxnSpPr>
        <p:spPr bwMode="auto">
          <a:xfrm>
            <a:off x="1114425" y="5751513"/>
            <a:ext cx="219075" cy="420687"/>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9472" name="Oval 22"/>
          <p:cNvSpPr>
            <a:spLocks noChangeArrowheads="1"/>
          </p:cNvSpPr>
          <p:nvPr/>
        </p:nvSpPr>
        <p:spPr bwMode="auto">
          <a:xfrm>
            <a:off x="2124075" y="4219575"/>
            <a:ext cx="503238" cy="36036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nchorCtr="1"/>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sz="2000" b="0">
                <a:latin typeface="Times New Roman" pitchFamily="18" charset="0"/>
              </a:rPr>
              <a:t>7</a:t>
            </a:r>
          </a:p>
        </p:txBody>
      </p:sp>
      <p:sp>
        <p:nvSpPr>
          <p:cNvPr id="19473" name="Text Box 23"/>
          <p:cNvSpPr txBox="1">
            <a:spLocks noChangeArrowheads="1"/>
          </p:cNvSpPr>
          <p:nvPr/>
        </p:nvSpPr>
        <p:spPr bwMode="auto">
          <a:xfrm>
            <a:off x="2700338" y="4149725"/>
            <a:ext cx="7739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dirty="0">
                <a:cs typeface="Arial" pitchFamily="34" charset="0"/>
              </a:rPr>
              <a:t>-1</a:t>
            </a:r>
          </a:p>
        </p:txBody>
      </p:sp>
      <p:sp>
        <p:nvSpPr>
          <p:cNvPr id="19474" name="Text Box 24"/>
          <p:cNvSpPr txBox="1">
            <a:spLocks noChangeArrowheads="1"/>
          </p:cNvSpPr>
          <p:nvPr/>
        </p:nvSpPr>
        <p:spPr bwMode="auto">
          <a:xfrm>
            <a:off x="3419475" y="4724400"/>
            <a:ext cx="431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a:cs typeface="Arial" pitchFamily="34" charset="0"/>
              </a:rPr>
              <a:t>1</a:t>
            </a:r>
          </a:p>
        </p:txBody>
      </p:sp>
      <p:sp>
        <p:nvSpPr>
          <p:cNvPr id="19475" name="Text Box 25"/>
          <p:cNvSpPr txBox="1">
            <a:spLocks noChangeArrowheads="1"/>
          </p:cNvSpPr>
          <p:nvPr/>
        </p:nvSpPr>
        <p:spPr bwMode="auto">
          <a:xfrm>
            <a:off x="3924300" y="5445125"/>
            <a:ext cx="431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a:cs typeface="Arial" pitchFamily="34" charset="0"/>
              </a:rPr>
              <a:t>0</a:t>
            </a:r>
          </a:p>
        </p:txBody>
      </p:sp>
      <p:sp>
        <p:nvSpPr>
          <p:cNvPr id="19476" name="Text Box 26"/>
          <p:cNvSpPr txBox="1">
            <a:spLocks noChangeArrowheads="1"/>
          </p:cNvSpPr>
          <p:nvPr/>
        </p:nvSpPr>
        <p:spPr bwMode="auto">
          <a:xfrm>
            <a:off x="2339975" y="5373688"/>
            <a:ext cx="431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a:cs typeface="Arial" pitchFamily="34" charset="0"/>
              </a:rPr>
              <a:t>0</a:t>
            </a:r>
          </a:p>
        </p:txBody>
      </p:sp>
      <p:sp>
        <p:nvSpPr>
          <p:cNvPr id="19477" name="Text Box 27"/>
          <p:cNvSpPr txBox="1">
            <a:spLocks noChangeArrowheads="1"/>
          </p:cNvSpPr>
          <p:nvPr/>
        </p:nvSpPr>
        <p:spPr bwMode="auto">
          <a:xfrm>
            <a:off x="1547813" y="6172200"/>
            <a:ext cx="431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a:cs typeface="Arial" pitchFamily="34" charset="0"/>
              </a:rPr>
              <a:t>0</a:t>
            </a:r>
          </a:p>
        </p:txBody>
      </p:sp>
      <p:sp>
        <p:nvSpPr>
          <p:cNvPr id="19478" name="Text Box 28"/>
          <p:cNvSpPr txBox="1">
            <a:spLocks noChangeArrowheads="1"/>
          </p:cNvSpPr>
          <p:nvPr/>
        </p:nvSpPr>
        <p:spPr bwMode="auto">
          <a:xfrm>
            <a:off x="1187450" y="5445125"/>
            <a:ext cx="431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dirty="0">
                <a:cs typeface="Arial" pitchFamily="34" charset="0"/>
              </a:rPr>
              <a:t>1</a:t>
            </a:r>
          </a:p>
        </p:txBody>
      </p:sp>
      <p:sp>
        <p:nvSpPr>
          <p:cNvPr id="19479" name="Text Box 29"/>
          <p:cNvSpPr txBox="1">
            <a:spLocks noChangeArrowheads="1"/>
          </p:cNvSpPr>
          <p:nvPr/>
        </p:nvSpPr>
        <p:spPr bwMode="auto">
          <a:xfrm>
            <a:off x="900113" y="4718050"/>
            <a:ext cx="6477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dirty="0">
                <a:cs typeface="Arial" pitchFamily="34" charset="0"/>
              </a:rPr>
              <a:t>-1</a:t>
            </a:r>
          </a:p>
        </p:txBody>
      </p:sp>
      <p:sp>
        <p:nvSpPr>
          <p:cNvPr id="19480" name="Text Box 30"/>
          <p:cNvSpPr txBox="1">
            <a:spLocks noChangeArrowheads="1"/>
          </p:cNvSpPr>
          <p:nvPr/>
        </p:nvSpPr>
        <p:spPr bwMode="auto">
          <a:xfrm>
            <a:off x="1979613" y="6021388"/>
            <a:ext cx="12969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a:cs typeface="Arial" pitchFamily="34" charset="0"/>
              </a:rPr>
              <a:t>AVL Tree</a:t>
            </a:r>
          </a:p>
        </p:txBody>
      </p:sp>
      <p:sp>
        <p:nvSpPr>
          <p:cNvPr id="19481" name="Oval 31"/>
          <p:cNvSpPr>
            <a:spLocks noChangeArrowheads="1"/>
          </p:cNvSpPr>
          <p:nvPr/>
        </p:nvSpPr>
        <p:spPr bwMode="auto">
          <a:xfrm>
            <a:off x="5724525" y="4787900"/>
            <a:ext cx="503238" cy="36036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nchorCtr="1"/>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spcBef>
                <a:spcPct val="0"/>
              </a:spcBef>
              <a:buSzTx/>
              <a:buFontTx/>
              <a:buNone/>
            </a:pPr>
            <a:r>
              <a:rPr lang="en-US" altLang="en-US" b="0">
                <a:latin typeface="Times New Roman" pitchFamily="18" charset="0"/>
              </a:rPr>
              <a:t>3</a:t>
            </a:r>
          </a:p>
        </p:txBody>
      </p:sp>
      <p:sp>
        <p:nvSpPr>
          <p:cNvPr id="19482" name="Oval 32"/>
          <p:cNvSpPr>
            <a:spLocks noChangeArrowheads="1"/>
          </p:cNvSpPr>
          <p:nvPr/>
        </p:nvSpPr>
        <p:spPr bwMode="auto">
          <a:xfrm>
            <a:off x="5148263" y="5435600"/>
            <a:ext cx="503237" cy="36036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nchorCtr="1"/>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spcBef>
                <a:spcPct val="0"/>
              </a:spcBef>
              <a:buSzTx/>
              <a:buFontTx/>
              <a:buNone/>
            </a:pPr>
            <a:r>
              <a:rPr lang="en-US" altLang="en-US" b="0">
                <a:latin typeface="Times New Roman" pitchFamily="18" charset="0"/>
              </a:rPr>
              <a:t>1</a:t>
            </a:r>
          </a:p>
        </p:txBody>
      </p:sp>
      <p:sp>
        <p:nvSpPr>
          <p:cNvPr id="19483" name="Oval 33"/>
          <p:cNvSpPr>
            <a:spLocks noChangeArrowheads="1"/>
          </p:cNvSpPr>
          <p:nvPr/>
        </p:nvSpPr>
        <p:spPr bwMode="auto">
          <a:xfrm>
            <a:off x="5586413" y="6154738"/>
            <a:ext cx="503237" cy="36036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nchorCtr="1"/>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spcBef>
                <a:spcPct val="0"/>
              </a:spcBef>
              <a:buSzTx/>
              <a:buFontTx/>
              <a:buNone/>
            </a:pPr>
            <a:r>
              <a:rPr lang="en-US" altLang="en-US" b="0">
                <a:latin typeface="Times New Roman" pitchFamily="18" charset="0"/>
              </a:rPr>
              <a:t>2</a:t>
            </a:r>
          </a:p>
        </p:txBody>
      </p:sp>
      <p:sp>
        <p:nvSpPr>
          <p:cNvPr id="19484" name="Oval 35"/>
          <p:cNvSpPr>
            <a:spLocks noChangeArrowheads="1"/>
          </p:cNvSpPr>
          <p:nvPr/>
        </p:nvSpPr>
        <p:spPr bwMode="auto">
          <a:xfrm>
            <a:off x="7380288" y="4789488"/>
            <a:ext cx="503237" cy="36036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nchorCtr="1"/>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spcBef>
                <a:spcPct val="0"/>
              </a:spcBef>
              <a:buSzTx/>
              <a:buFontTx/>
              <a:buNone/>
            </a:pPr>
            <a:r>
              <a:rPr lang="en-US" altLang="en-US" b="0">
                <a:latin typeface="Times New Roman" pitchFamily="18" charset="0"/>
              </a:rPr>
              <a:t>10</a:t>
            </a:r>
          </a:p>
        </p:txBody>
      </p:sp>
      <p:sp>
        <p:nvSpPr>
          <p:cNvPr id="19485" name="Oval 36"/>
          <p:cNvSpPr>
            <a:spLocks noChangeArrowheads="1"/>
          </p:cNvSpPr>
          <p:nvPr/>
        </p:nvSpPr>
        <p:spPr bwMode="auto">
          <a:xfrm>
            <a:off x="7813675" y="5435600"/>
            <a:ext cx="503238" cy="36036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nchorCtr="1"/>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spcBef>
                <a:spcPct val="0"/>
              </a:spcBef>
              <a:buSzTx/>
              <a:buFontTx/>
              <a:buNone/>
            </a:pPr>
            <a:r>
              <a:rPr lang="en-US" altLang="en-US" b="0">
                <a:latin typeface="Times New Roman" pitchFamily="18" charset="0"/>
              </a:rPr>
              <a:t>13</a:t>
            </a:r>
          </a:p>
        </p:txBody>
      </p:sp>
      <p:cxnSp>
        <p:nvCxnSpPr>
          <p:cNvPr id="19486" name="AutoShape 37"/>
          <p:cNvCxnSpPr>
            <a:cxnSpLocks noChangeShapeType="1"/>
            <a:stCxn id="19491" idx="2"/>
            <a:endCxn id="19481" idx="7"/>
          </p:cNvCxnSpPr>
          <p:nvPr/>
        </p:nvCxnSpPr>
        <p:spPr bwMode="auto">
          <a:xfrm flipH="1">
            <a:off x="6154738" y="4392613"/>
            <a:ext cx="433387" cy="44767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487" name="AutoShape 38"/>
          <p:cNvCxnSpPr>
            <a:cxnSpLocks noChangeShapeType="1"/>
            <a:stCxn id="19491" idx="6"/>
            <a:endCxn id="19484" idx="1"/>
          </p:cNvCxnSpPr>
          <p:nvPr/>
        </p:nvCxnSpPr>
        <p:spPr bwMode="auto">
          <a:xfrm>
            <a:off x="7091363" y="4392613"/>
            <a:ext cx="361950" cy="44926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488" name="AutoShape 39"/>
          <p:cNvCxnSpPr>
            <a:cxnSpLocks noChangeShapeType="1"/>
            <a:stCxn id="19481" idx="3"/>
            <a:endCxn id="19482" idx="7"/>
          </p:cNvCxnSpPr>
          <p:nvPr/>
        </p:nvCxnSpPr>
        <p:spPr bwMode="auto">
          <a:xfrm flipH="1">
            <a:off x="5578475" y="5095875"/>
            <a:ext cx="219075" cy="392113"/>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489" name="AutoShape 41"/>
          <p:cNvCxnSpPr>
            <a:cxnSpLocks noChangeShapeType="1"/>
            <a:stCxn id="19484" idx="5"/>
            <a:endCxn id="19485" idx="0"/>
          </p:cNvCxnSpPr>
          <p:nvPr/>
        </p:nvCxnSpPr>
        <p:spPr bwMode="auto">
          <a:xfrm>
            <a:off x="7810500" y="5097463"/>
            <a:ext cx="255588" cy="338137"/>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490" name="AutoShape 42"/>
          <p:cNvCxnSpPr>
            <a:cxnSpLocks noChangeShapeType="1"/>
            <a:stCxn id="19482" idx="5"/>
            <a:endCxn id="19483" idx="0"/>
          </p:cNvCxnSpPr>
          <p:nvPr/>
        </p:nvCxnSpPr>
        <p:spPr bwMode="auto">
          <a:xfrm>
            <a:off x="5578475" y="5743575"/>
            <a:ext cx="260350" cy="411163"/>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9491" name="Oval 43"/>
          <p:cNvSpPr>
            <a:spLocks noChangeArrowheads="1"/>
          </p:cNvSpPr>
          <p:nvPr/>
        </p:nvSpPr>
        <p:spPr bwMode="auto">
          <a:xfrm>
            <a:off x="6588125" y="4211638"/>
            <a:ext cx="503238" cy="36036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nchorCtr="1"/>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sz="2000" b="0">
                <a:latin typeface="Times New Roman" pitchFamily="18" charset="0"/>
              </a:rPr>
              <a:t>7</a:t>
            </a:r>
          </a:p>
        </p:txBody>
      </p:sp>
      <p:sp>
        <p:nvSpPr>
          <p:cNvPr id="19492" name="Text Box 44"/>
          <p:cNvSpPr txBox="1">
            <a:spLocks noChangeArrowheads="1"/>
          </p:cNvSpPr>
          <p:nvPr/>
        </p:nvSpPr>
        <p:spPr bwMode="auto">
          <a:xfrm>
            <a:off x="7164387" y="4141788"/>
            <a:ext cx="93503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dirty="0">
                <a:cs typeface="Arial" pitchFamily="34" charset="0"/>
              </a:rPr>
              <a:t>-1</a:t>
            </a:r>
          </a:p>
        </p:txBody>
      </p:sp>
      <p:sp>
        <p:nvSpPr>
          <p:cNvPr id="19493" name="Text Box 45"/>
          <p:cNvSpPr txBox="1">
            <a:spLocks noChangeArrowheads="1"/>
          </p:cNvSpPr>
          <p:nvPr/>
        </p:nvSpPr>
        <p:spPr bwMode="auto">
          <a:xfrm>
            <a:off x="7883525" y="4716463"/>
            <a:ext cx="431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a:cs typeface="Arial" pitchFamily="34" charset="0"/>
              </a:rPr>
              <a:t>1</a:t>
            </a:r>
          </a:p>
        </p:txBody>
      </p:sp>
      <p:sp>
        <p:nvSpPr>
          <p:cNvPr id="19494" name="Text Box 46"/>
          <p:cNvSpPr txBox="1">
            <a:spLocks noChangeArrowheads="1"/>
          </p:cNvSpPr>
          <p:nvPr/>
        </p:nvSpPr>
        <p:spPr bwMode="auto">
          <a:xfrm>
            <a:off x="8388350" y="5437188"/>
            <a:ext cx="431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a:cs typeface="Arial" pitchFamily="34" charset="0"/>
              </a:rPr>
              <a:t>0</a:t>
            </a:r>
          </a:p>
        </p:txBody>
      </p:sp>
      <p:sp>
        <p:nvSpPr>
          <p:cNvPr id="19495" name="Text Box 48"/>
          <p:cNvSpPr txBox="1">
            <a:spLocks noChangeArrowheads="1"/>
          </p:cNvSpPr>
          <p:nvPr/>
        </p:nvSpPr>
        <p:spPr bwMode="auto">
          <a:xfrm>
            <a:off x="6118225" y="6157913"/>
            <a:ext cx="431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a:cs typeface="Arial" pitchFamily="34" charset="0"/>
              </a:rPr>
              <a:t>0</a:t>
            </a:r>
          </a:p>
        </p:txBody>
      </p:sp>
      <p:sp>
        <p:nvSpPr>
          <p:cNvPr id="19496" name="Text Box 49"/>
          <p:cNvSpPr txBox="1">
            <a:spLocks noChangeArrowheads="1"/>
          </p:cNvSpPr>
          <p:nvPr/>
        </p:nvSpPr>
        <p:spPr bwMode="auto">
          <a:xfrm>
            <a:off x="5651500" y="5437188"/>
            <a:ext cx="431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a:cs typeface="Arial" pitchFamily="34" charset="0"/>
              </a:rPr>
              <a:t>1</a:t>
            </a:r>
          </a:p>
        </p:txBody>
      </p:sp>
      <p:sp>
        <p:nvSpPr>
          <p:cNvPr id="19497" name="Text Box 50"/>
          <p:cNvSpPr txBox="1">
            <a:spLocks noChangeArrowheads="1"/>
          </p:cNvSpPr>
          <p:nvPr/>
        </p:nvSpPr>
        <p:spPr bwMode="auto">
          <a:xfrm>
            <a:off x="5364162" y="4710113"/>
            <a:ext cx="22677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a:cs typeface="Arial" pitchFamily="34" charset="0"/>
              </a:rPr>
              <a:t>-2</a:t>
            </a:r>
          </a:p>
        </p:txBody>
      </p:sp>
      <p:sp>
        <p:nvSpPr>
          <p:cNvPr id="19498" name="Text Box 51"/>
          <p:cNvSpPr txBox="1">
            <a:spLocks noChangeArrowheads="1"/>
          </p:cNvSpPr>
          <p:nvPr/>
        </p:nvSpPr>
        <p:spPr bwMode="auto">
          <a:xfrm>
            <a:off x="6443663" y="6013450"/>
            <a:ext cx="20161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a:cs typeface="Arial" pitchFamily="34" charset="0"/>
              </a:rPr>
              <a:t>Not an AVL Tree</a:t>
            </a:r>
          </a:p>
        </p:txBody>
      </p:sp>
    </p:spTree>
    <p:extLst>
      <p:ext uri="{BB962C8B-B14F-4D97-AF65-F5344CB8AC3E}">
        <p14:creationId xmlns:p14="http://schemas.microsoft.com/office/powerpoint/2010/main" val="221168611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ltLang="en-US" smtClean="0"/>
              <a:t>Why AVL Trees?</a:t>
            </a:r>
          </a:p>
        </p:txBody>
      </p:sp>
      <p:sp>
        <p:nvSpPr>
          <p:cNvPr id="20483" name="Rectangle 3"/>
          <p:cNvSpPr>
            <a:spLocks noGrp="1" noChangeArrowheads="1"/>
          </p:cNvSpPr>
          <p:nvPr>
            <p:ph type="body" idx="1"/>
          </p:nvPr>
        </p:nvSpPr>
        <p:spPr/>
        <p:txBody>
          <a:bodyPr>
            <a:normAutofit fontScale="92500" lnSpcReduction="20000"/>
          </a:bodyPr>
          <a:lstStyle/>
          <a:p>
            <a:pPr eaLnBrk="1" hangingPunct="1"/>
            <a:r>
              <a:rPr lang="en-US" altLang="en-US" smtClean="0"/>
              <a:t>Insertion or deletion in an ordinary Binary Search Tree can cause large imbalances. </a:t>
            </a:r>
          </a:p>
          <a:p>
            <a:pPr eaLnBrk="1" hangingPunct="1"/>
            <a:endParaRPr lang="en-US" altLang="en-US" smtClean="0"/>
          </a:p>
          <a:p>
            <a:pPr eaLnBrk="1" hangingPunct="1"/>
            <a:r>
              <a:rPr lang="en-US" altLang="en-US" smtClean="0"/>
              <a:t>In the worst case searching an imbalanced Binary Search Tree is O(n).</a:t>
            </a:r>
          </a:p>
          <a:p>
            <a:pPr eaLnBrk="1" hangingPunct="1"/>
            <a:endParaRPr lang="en-US" altLang="en-US" smtClean="0"/>
          </a:p>
          <a:p>
            <a:pPr eaLnBrk="1" hangingPunct="1"/>
            <a:r>
              <a:rPr lang="en-US" altLang="en-US" smtClean="0"/>
              <a:t>An AVL tree is rebalanced after each insertion or deletion.</a:t>
            </a:r>
          </a:p>
          <a:p>
            <a:pPr lvl="1" eaLnBrk="1" hangingPunct="1"/>
            <a:r>
              <a:rPr lang="en-US" altLang="en-US" smtClean="0"/>
              <a:t>The height-balance property ensures that the height of an AVL tree with n nodes is O(log n).</a:t>
            </a:r>
          </a:p>
          <a:p>
            <a:pPr lvl="1" eaLnBrk="1" hangingPunct="1"/>
            <a:r>
              <a:rPr lang="en-US" altLang="en-US" smtClean="0"/>
              <a:t>Searching, insertion, and deletion are all O(log n).</a:t>
            </a:r>
          </a:p>
        </p:txBody>
      </p:sp>
    </p:spTree>
    <p:extLst>
      <p:ext uri="{BB962C8B-B14F-4D97-AF65-F5344CB8AC3E}">
        <p14:creationId xmlns:p14="http://schemas.microsoft.com/office/powerpoint/2010/main" val="243495830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4"/>
          <p:cNvSpPr>
            <a:spLocks noGrp="1"/>
          </p:cNvSpPr>
          <p:nvPr>
            <p:ph type="ftr" sz="quarter" idx="4294967295"/>
          </p:nvPr>
        </p:nvSpPr>
        <p:spPr bwMode="auto">
          <a:xfrm>
            <a:off x="3124200" y="6248400"/>
            <a:ext cx="28956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0"/>
              </a:spcBef>
              <a:buSzTx/>
              <a:buFontTx/>
              <a:buNone/>
            </a:pPr>
            <a:endParaRPr lang="en-US" altLang="en-US" b="0">
              <a:cs typeface="Arial" pitchFamily="34" charset="0"/>
            </a:endParaRPr>
          </a:p>
        </p:txBody>
      </p:sp>
      <p:sp>
        <p:nvSpPr>
          <p:cNvPr id="21507" name="Slide Number Placeholder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0"/>
              </a:spcBef>
              <a:buSzTx/>
              <a:buFontTx/>
              <a:buNone/>
            </a:pPr>
            <a:fld id="{C39BDBB0-B94A-44BF-8524-967FE1A5998C}" type="slidenum">
              <a:rPr lang="en-US" altLang="en-US" b="0">
                <a:cs typeface="Arial" pitchFamily="34" charset="0"/>
              </a:rPr>
              <a:pPr eaLnBrk="1" hangingPunct="1">
                <a:spcBef>
                  <a:spcPct val="0"/>
                </a:spcBef>
                <a:buSzTx/>
                <a:buFontTx/>
                <a:buNone/>
              </a:pPr>
              <a:t>5</a:t>
            </a:fld>
            <a:endParaRPr lang="en-US" altLang="en-US" b="0">
              <a:cs typeface="Arial" pitchFamily="34" charset="0"/>
            </a:endParaRPr>
          </a:p>
        </p:txBody>
      </p:sp>
      <p:sp>
        <p:nvSpPr>
          <p:cNvPr id="21508" name="Rectangle 2"/>
          <p:cNvSpPr>
            <a:spLocks noGrp="1" noChangeArrowheads="1"/>
          </p:cNvSpPr>
          <p:nvPr>
            <p:ph type="title"/>
          </p:nvPr>
        </p:nvSpPr>
        <p:spPr/>
        <p:txBody>
          <a:bodyPr/>
          <a:lstStyle/>
          <a:p>
            <a:r>
              <a:rPr lang="en-US" altLang="en-US" smtClean="0"/>
              <a:t>Rebalancing</a:t>
            </a:r>
          </a:p>
        </p:txBody>
      </p:sp>
      <p:sp>
        <p:nvSpPr>
          <p:cNvPr id="21509" name="Rectangle 3"/>
          <p:cNvSpPr>
            <a:spLocks noGrp="1" noChangeArrowheads="1"/>
          </p:cNvSpPr>
          <p:nvPr>
            <p:ph type="body" idx="1"/>
          </p:nvPr>
        </p:nvSpPr>
        <p:spPr>
          <a:xfrm>
            <a:off x="381000" y="1143000"/>
            <a:ext cx="8077200" cy="4648200"/>
          </a:xfrm>
        </p:spPr>
        <p:txBody>
          <a:bodyPr/>
          <a:lstStyle/>
          <a:p>
            <a:pPr marL="609600" indent="-609600"/>
            <a:r>
              <a:rPr lang="en-US" altLang="en-US" sz="2800" dirty="0" smtClean="0"/>
              <a:t>Suppose the node to be rebalanced is X. There are 4 cases that we might have to fix (two are the mirror images of the other two):</a:t>
            </a:r>
          </a:p>
          <a:p>
            <a:pPr marL="990600" lvl="1" indent="-533400">
              <a:buFontTx/>
              <a:buAutoNum type="arabicPeriod"/>
            </a:pPr>
            <a:r>
              <a:rPr lang="en-US" altLang="en-US" sz="2400" dirty="0" smtClean="0"/>
              <a:t>An insertion in the left subtree of the left child of X,</a:t>
            </a:r>
          </a:p>
          <a:p>
            <a:pPr marL="990600" lvl="1" indent="-533400">
              <a:buFontTx/>
              <a:buAutoNum type="arabicPeriod"/>
            </a:pPr>
            <a:r>
              <a:rPr lang="en-US" altLang="en-US" sz="2400" dirty="0" smtClean="0"/>
              <a:t>An insertion in the right subtree of the left child of X,</a:t>
            </a:r>
          </a:p>
          <a:p>
            <a:pPr marL="990600" lvl="1" indent="-533400">
              <a:buFontTx/>
              <a:buAutoNum type="arabicPeriod"/>
            </a:pPr>
            <a:r>
              <a:rPr lang="en-US" altLang="en-US" sz="2400" dirty="0" smtClean="0"/>
              <a:t>An insertion in the left subtree of the right child of X, or</a:t>
            </a:r>
          </a:p>
          <a:p>
            <a:pPr marL="990600" lvl="1" indent="-533400">
              <a:buFontTx/>
              <a:buAutoNum type="arabicPeriod"/>
            </a:pPr>
            <a:r>
              <a:rPr lang="en-US" altLang="en-US" sz="2400" dirty="0" smtClean="0"/>
              <a:t>An insertion in the right subtree of the right child of X.</a:t>
            </a:r>
          </a:p>
          <a:p>
            <a:pPr marL="609600" indent="-609600"/>
            <a:r>
              <a:rPr lang="en-US" altLang="en-US" sz="2800" dirty="0" smtClean="0"/>
              <a:t>Balance is restored by tree </a:t>
            </a:r>
            <a:r>
              <a:rPr lang="en-US" altLang="en-US" sz="2800" i="1" dirty="0" smtClean="0"/>
              <a:t>rotations</a:t>
            </a:r>
            <a:r>
              <a:rPr lang="en-US" altLang="en-US" sz="2800" dirty="0" smtClean="0"/>
              <a:t>.</a:t>
            </a:r>
          </a:p>
        </p:txBody>
      </p:sp>
    </p:spTree>
    <p:extLst>
      <p:ext uri="{BB962C8B-B14F-4D97-AF65-F5344CB8AC3E}">
        <p14:creationId xmlns:p14="http://schemas.microsoft.com/office/powerpoint/2010/main" val="30020510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en-US" smtClean="0"/>
              <a:t>What is a Rotation?</a:t>
            </a:r>
          </a:p>
        </p:txBody>
      </p:sp>
      <p:sp>
        <p:nvSpPr>
          <p:cNvPr id="8195" name="Rectangle 3"/>
          <p:cNvSpPr>
            <a:spLocks noGrp="1" noChangeArrowheads="1"/>
          </p:cNvSpPr>
          <p:nvPr>
            <p:ph type="body" idx="1"/>
          </p:nvPr>
        </p:nvSpPr>
        <p:spPr>
          <a:xfrm>
            <a:off x="457200" y="1341438"/>
            <a:ext cx="8435975" cy="2808287"/>
          </a:xfrm>
        </p:spPr>
        <p:txBody>
          <a:bodyPr>
            <a:normAutofit fontScale="70000" lnSpcReduction="20000"/>
          </a:bodyPr>
          <a:lstStyle/>
          <a:p>
            <a:pPr eaLnBrk="1" hangingPunct="1">
              <a:defRPr/>
            </a:pPr>
            <a:r>
              <a:rPr lang="en-US" smtClean="0"/>
              <a:t>A rotation is a process of switching children and parents among two or three adjacent nodes to restore balance to a tree. </a:t>
            </a:r>
          </a:p>
          <a:p>
            <a:pPr eaLnBrk="1" hangingPunct="1">
              <a:defRPr/>
            </a:pPr>
            <a:endParaRPr lang="en-US" smtClean="0"/>
          </a:p>
          <a:p>
            <a:pPr eaLnBrk="1" hangingPunct="1">
              <a:defRPr/>
            </a:pPr>
            <a:r>
              <a:rPr lang="en-US" smtClean="0"/>
              <a:t>An insertion or deletion may cause an imbalance in an AVL tree.</a:t>
            </a:r>
          </a:p>
          <a:p>
            <a:pPr eaLnBrk="1" hangingPunct="1">
              <a:defRPr/>
            </a:pPr>
            <a:endParaRPr lang="en-US" smtClean="0"/>
          </a:p>
          <a:p>
            <a:pPr eaLnBrk="1" hangingPunct="1">
              <a:defRPr/>
            </a:pPr>
            <a:r>
              <a:rPr lang="en-US" smtClean="0"/>
              <a:t>The deepest node, which is an ancestor of a deleted or an inserted node, and whose balance factor has changed to -2 or +2 requires rotation to rebalance the tree.</a:t>
            </a:r>
          </a:p>
        </p:txBody>
      </p:sp>
      <p:sp>
        <p:nvSpPr>
          <p:cNvPr id="22532" name="Oval 4"/>
          <p:cNvSpPr>
            <a:spLocks noChangeArrowheads="1"/>
          </p:cNvSpPr>
          <p:nvPr/>
        </p:nvSpPr>
        <p:spPr bwMode="auto">
          <a:xfrm>
            <a:off x="1692275" y="4938713"/>
            <a:ext cx="503238" cy="36036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nchorCtr="1"/>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spcBef>
                <a:spcPct val="0"/>
              </a:spcBef>
              <a:buSzTx/>
              <a:buFontTx/>
              <a:buNone/>
            </a:pPr>
            <a:r>
              <a:rPr lang="en-US" altLang="en-US" b="0">
                <a:latin typeface="Times New Roman" pitchFamily="18" charset="0"/>
              </a:rPr>
              <a:t>45</a:t>
            </a:r>
          </a:p>
        </p:txBody>
      </p:sp>
      <p:sp>
        <p:nvSpPr>
          <p:cNvPr id="22533" name="Oval 5"/>
          <p:cNvSpPr>
            <a:spLocks noChangeArrowheads="1"/>
          </p:cNvSpPr>
          <p:nvPr/>
        </p:nvSpPr>
        <p:spPr bwMode="auto">
          <a:xfrm>
            <a:off x="971550" y="5586413"/>
            <a:ext cx="503238" cy="36036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nchorCtr="1"/>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spcBef>
                <a:spcPct val="0"/>
              </a:spcBef>
              <a:buSzTx/>
              <a:buFontTx/>
              <a:buNone/>
            </a:pPr>
            <a:r>
              <a:rPr lang="en-US" altLang="en-US" b="0">
                <a:latin typeface="Times New Roman" pitchFamily="18" charset="0"/>
              </a:rPr>
              <a:t>40</a:t>
            </a:r>
          </a:p>
        </p:txBody>
      </p:sp>
      <p:sp>
        <p:nvSpPr>
          <p:cNvPr id="22534" name="Oval 6"/>
          <p:cNvSpPr>
            <a:spLocks noChangeArrowheads="1"/>
          </p:cNvSpPr>
          <p:nvPr/>
        </p:nvSpPr>
        <p:spPr bwMode="auto">
          <a:xfrm>
            <a:off x="3203575" y="4940300"/>
            <a:ext cx="503238" cy="36036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nchorCtr="1"/>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spcBef>
                <a:spcPct val="0"/>
              </a:spcBef>
              <a:buSzTx/>
              <a:buFontTx/>
              <a:buNone/>
            </a:pPr>
            <a:r>
              <a:rPr lang="en-US" altLang="en-US" b="0">
                <a:latin typeface="Times New Roman" pitchFamily="18" charset="0"/>
              </a:rPr>
              <a:t>78</a:t>
            </a:r>
          </a:p>
        </p:txBody>
      </p:sp>
      <p:cxnSp>
        <p:nvCxnSpPr>
          <p:cNvPr id="22535" name="AutoShape 7"/>
          <p:cNvCxnSpPr>
            <a:cxnSpLocks noChangeShapeType="1"/>
            <a:stCxn id="22538" idx="3"/>
            <a:endCxn id="22532" idx="7"/>
          </p:cNvCxnSpPr>
          <p:nvPr/>
        </p:nvCxnSpPr>
        <p:spPr bwMode="auto">
          <a:xfrm flipH="1">
            <a:off x="2122488" y="4670425"/>
            <a:ext cx="361950" cy="32067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2536" name="AutoShape 8"/>
          <p:cNvCxnSpPr>
            <a:cxnSpLocks noChangeShapeType="1"/>
            <a:stCxn id="22538" idx="5"/>
            <a:endCxn id="22534" idx="1"/>
          </p:cNvCxnSpPr>
          <p:nvPr/>
        </p:nvCxnSpPr>
        <p:spPr bwMode="auto">
          <a:xfrm>
            <a:off x="2841625" y="4670425"/>
            <a:ext cx="434975" cy="322263"/>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2537" name="AutoShape 9"/>
          <p:cNvCxnSpPr>
            <a:cxnSpLocks noChangeShapeType="1"/>
            <a:stCxn id="22532" idx="3"/>
            <a:endCxn id="22533" idx="7"/>
          </p:cNvCxnSpPr>
          <p:nvPr/>
        </p:nvCxnSpPr>
        <p:spPr bwMode="auto">
          <a:xfrm flipH="1">
            <a:off x="1401763" y="5246688"/>
            <a:ext cx="363537" cy="39211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2538" name="Oval 11"/>
          <p:cNvSpPr>
            <a:spLocks noChangeArrowheads="1"/>
          </p:cNvSpPr>
          <p:nvPr/>
        </p:nvSpPr>
        <p:spPr bwMode="auto">
          <a:xfrm>
            <a:off x="2411413" y="4362450"/>
            <a:ext cx="503237" cy="36036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nchorCtr="1"/>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sz="2000" b="0">
                <a:latin typeface="Times New Roman" pitchFamily="18" charset="0"/>
              </a:rPr>
              <a:t>50</a:t>
            </a:r>
          </a:p>
        </p:txBody>
      </p:sp>
      <p:sp>
        <p:nvSpPr>
          <p:cNvPr id="22539" name="Text Box 12"/>
          <p:cNvSpPr txBox="1">
            <a:spLocks noChangeArrowheads="1"/>
          </p:cNvSpPr>
          <p:nvPr/>
        </p:nvSpPr>
        <p:spPr bwMode="auto">
          <a:xfrm>
            <a:off x="2916237" y="4292600"/>
            <a:ext cx="7905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dirty="0">
                <a:cs typeface="Arial" pitchFamily="34" charset="0"/>
              </a:rPr>
              <a:t>-1</a:t>
            </a:r>
          </a:p>
        </p:txBody>
      </p:sp>
      <p:sp>
        <p:nvSpPr>
          <p:cNvPr id="22540" name="Text Box 13"/>
          <p:cNvSpPr txBox="1">
            <a:spLocks noChangeArrowheads="1"/>
          </p:cNvSpPr>
          <p:nvPr/>
        </p:nvSpPr>
        <p:spPr bwMode="auto">
          <a:xfrm>
            <a:off x="684213" y="5516563"/>
            <a:ext cx="431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a:cs typeface="Arial" pitchFamily="34" charset="0"/>
              </a:rPr>
              <a:t>0</a:t>
            </a:r>
          </a:p>
        </p:txBody>
      </p:sp>
      <p:sp>
        <p:nvSpPr>
          <p:cNvPr id="22541" name="Text Box 14"/>
          <p:cNvSpPr txBox="1">
            <a:spLocks noChangeArrowheads="1"/>
          </p:cNvSpPr>
          <p:nvPr/>
        </p:nvSpPr>
        <p:spPr bwMode="auto">
          <a:xfrm>
            <a:off x="971550" y="4860925"/>
            <a:ext cx="7921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dirty="0">
                <a:cs typeface="Arial" pitchFamily="34" charset="0"/>
              </a:rPr>
              <a:t>-1</a:t>
            </a:r>
          </a:p>
        </p:txBody>
      </p:sp>
      <p:sp>
        <p:nvSpPr>
          <p:cNvPr id="22542" name="Text Box 15"/>
          <p:cNvSpPr txBox="1">
            <a:spLocks noChangeArrowheads="1"/>
          </p:cNvSpPr>
          <p:nvPr/>
        </p:nvSpPr>
        <p:spPr bwMode="auto">
          <a:xfrm>
            <a:off x="3779838" y="4941888"/>
            <a:ext cx="431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a:cs typeface="Arial" pitchFamily="34" charset="0"/>
              </a:rPr>
              <a:t>0</a:t>
            </a:r>
          </a:p>
        </p:txBody>
      </p:sp>
      <p:sp>
        <p:nvSpPr>
          <p:cNvPr id="22543" name="Oval 16"/>
          <p:cNvSpPr>
            <a:spLocks noChangeArrowheads="1"/>
          </p:cNvSpPr>
          <p:nvPr/>
        </p:nvSpPr>
        <p:spPr bwMode="auto">
          <a:xfrm>
            <a:off x="6156325" y="4938713"/>
            <a:ext cx="503238" cy="360362"/>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nchorCtr="1"/>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spcBef>
                <a:spcPct val="0"/>
              </a:spcBef>
              <a:buSzTx/>
              <a:buFontTx/>
              <a:buNone/>
            </a:pPr>
            <a:r>
              <a:rPr lang="en-US" altLang="en-US" b="0">
                <a:latin typeface="Times New Roman" pitchFamily="18" charset="0"/>
              </a:rPr>
              <a:t>45</a:t>
            </a:r>
          </a:p>
        </p:txBody>
      </p:sp>
      <p:sp>
        <p:nvSpPr>
          <p:cNvPr id="22544" name="Oval 17"/>
          <p:cNvSpPr>
            <a:spLocks noChangeArrowheads="1"/>
          </p:cNvSpPr>
          <p:nvPr/>
        </p:nvSpPr>
        <p:spPr bwMode="auto">
          <a:xfrm>
            <a:off x="5435600" y="5586413"/>
            <a:ext cx="503238" cy="36036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nchorCtr="1"/>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spcBef>
                <a:spcPct val="0"/>
              </a:spcBef>
              <a:buSzTx/>
              <a:buFontTx/>
              <a:buNone/>
            </a:pPr>
            <a:r>
              <a:rPr lang="en-US" altLang="en-US" b="0">
                <a:latin typeface="Times New Roman" pitchFamily="18" charset="0"/>
              </a:rPr>
              <a:t>40</a:t>
            </a:r>
          </a:p>
        </p:txBody>
      </p:sp>
      <p:sp>
        <p:nvSpPr>
          <p:cNvPr id="22545" name="Oval 18"/>
          <p:cNvSpPr>
            <a:spLocks noChangeArrowheads="1"/>
          </p:cNvSpPr>
          <p:nvPr/>
        </p:nvSpPr>
        <p:spPr bwMode="auto">
          <a:xfrm>
            <a:off x="7667625" y="4940300"/>
            <a:ext cx="503238" cy="36036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nchorCtr="1"/>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spcBef>
                <a:spcPct val="0"/>
              </a:spcBef>
              <a:buSzTx/>
              <a:buFontTx/>
              <a:buNone/>
            </a:pPr>
            <a:r>
              <a:rPr lang="en-US" altLang="en-US" b="0">
                <a:latin typeface="Times New Roman" pitchFamily="18" charset="0"/>
              </a:rPr>
              <a:t>78</a:t>
            </a:r>
          </a:p>
        </p:txBody>
      </p:sp>
      <p:cxnSp>
        <p:nvCxnSpPr>
          <p:cNvPr id="22546" name="AutoShape 19"/>
          <p:cNvCxnSpPr>
            <a:cxnSpLocks noChangeShapeType="1"/>
            <a:stCxn id="22549" idx="3"/>
            <a:endCxn id="22543" idx="7"/>
          </p:cNvCxnSpPr>
          <p:nvPr/>
        </p:nvCxnSpPr>
        <p:spPr bwMode="auto">
          <a:xfrm flipH="1">
            <a:off x="6586538" y="4670425"/>
            <a:ext cx="361950" cy="30162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2547" name="AutoShape 20"/>
          <p:cNvCxnSpPr>
            <a:cxnSpLocks noChangeShapeType="1"/>
            <a:stCxn id="22549" idx="5"/>
            <a:endCxn id="22545" idx="1"/>
          </p:cNvCxnSpPr>
          <p:nvPr/>
        </p:nvCxnSpPr>
        <p:spPr bwMode="auto">
          <a:xfrm>
            <a:off x="7305675" y="4670425"/>
            <a:ext cx="434975" cy="322263"/>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2548" name="AutoShape 21"/>
          <p:cNvCxnSpPr>
            <a:cxnSpLocks noChangeShapeType="1"/>
            <a:stCxn id="22543" idx="3"/>
            <a:endCxn id="22544" idx="7"/>
          </p:cNvCxnSpPr>
          <p:nvPr/>
        </p:nvCxnSpPr>
        <p:spPr bwMode="auto">
          <a:xfrm flipH="1">
            <a:off x="5865813" y="5265738"/>
            <a:ext cx="363537" cy="37306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2549" name="Oval 22"/>
          <p:cNvSpPr>
            <a:spLocks noChangeArrowheads="1"/>
          </p:cNvSpPr>
          <p:nvPr/>
        </p:nvSpPr>
        <p:spPr bwMode="auto">
          <a:xfrm>
            <a:off x="6875463" y="4362450"/>
            <a:ext cx="503237" cy="36036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nchorCtr="1"/>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sz="2000" b="0">
                <a:latin typeface="Times New Roman" pitchFamily="18" charset="0"/>
              </a:rPr>
              <a:t>50</a:t>
            </a:r>
          </a:p>
        </p:txBody>
      </p:sp>
      <p:sp>
        <p:nvSpPr>
          <p:cNvPr id="22550" name="Text Box 23"/>
          <p:cNvSpPr txBox="1">
            <a:spLocks noChangeArrowheads="1"/>
          </p:cNvSpPr>
          <p:nvPr/>
        </p:nvSpPr>
        <p:spPr bwMode="auto">
          <a:xfrm>
            <a:off x="6047581" y="4292600"/>
            <a:ext cx="9009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dirty="0">
                <a:cs typeface="Arial" pitchFamily="34" charset="0"/>
              </a:rPr>
              <a:t>-2</a:t>
            </a:r>
          </a:p>
        </p:txBody>
      </p:sp>
      <p:sp>
        <p:nvSpPr>
          <p:cNvPr id="22551" name="Text Box 24"/>
          <p:cNvSpPr txBox="1">
            <a:spLocks noChangeArrowheads="1"/>
          </p:cNvSpPr>
          <p:nvPr/>
        </p:nvSpPr>
        <p:spPr bwMode="auto">
          <a:xfrm>
            <a:off x="4716463" y="5516563"/>
            <a:ext cx="863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a:cs typeface="Arial" pitchFamily="34" charset="0"/>
              </a:rPr>
              <a:t>-1</a:t>
            </a:r>
          </a:p>
        </p:txBody>
      </p:sp>
      <p:sp>
        <p:nvSpPr>
          <p:cNvPr id="22552" name="Text Box 25"/>
          <p:cNvSpPr txBox="1">
            <a:spLocks noChangeArrowheads="1"/>
          </p:cNvSpPr>
          <p:nvPr/>
        </p:nvSpPr>
        <p:spPr bwMode="auto">
          <a:xfrm>
            <a:off x="5364163" y="4860925"/>
            <a:ext cx="863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dirty="0" smtClean="0">
                <a:cs typeface="Arial" pitchFamily="34" charset="0"/>
              </a:rPr>
              <a:t>    -</a:t>
            </a:r>
            <a:r>
              <a:rPr lang="en-US" altLang="en-US" b="0" dirty="0">
                <a:cs typeface="Arial" pitchFamily="34" charset="0"/>
              </a:rPr>
              <a:t>2</a:t>
            </a:r>
          </a:p>
        </p:txBody>
      </p:sp>
      <p:sp>
        <p:nvSpPr>
          <p:cNvPr id="22553" name="Text Box 26"/>
          <p:cNvSpPr txBox="1">
            <a:spLocks noChangeArrowheads="1"/>
          </p:cNvSpPr>
          <p:nvPr/>
        </p:nvSpPr>
        <p:spPr bwMode="auto">
          <a:xfrm>
            <a:off x="8172450" y="4941888"/>
            <a:ext cx="431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a:cs typeface="Arial" pitchFamily="34" charset="0"/>
              </a:rPr>
              <a:t>0</a:t>
            </a:r>
          </a:p>
        </p:txBody>
      </p:sp>
      <p:sp>
        <p:nvSpPr>
          <p:cNvPr id="22554" name="Oval 27"/>
          <p:cNvSpPr>
            <a:spLocks noChangeArrowheads="1"/>
          </p:cNvSpPr>
          <p:nvPr/>
        </p:nvSpPr>
        <p:spPr bwMode="auto">
          <a:xfrm>
            <a:off x="4716463" y="6237288"/>
            <a:ext cx="503237" cy="36036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nchorCtr="1"/>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spcBef>
                <a:spcPct val="0"/>
              </a:spcBef>
              <a:buSzTx/>
              <a:buFontTx/>
              <a:buNone/>
            </a:pPr>
            <a:r>
              <a:rPr lang="en-US" altLang="en-US" b="0">
                <a:latin typeface="Times New Roman" pitchFamily="18" charset="0"/>
              </a:rPr>
              <a:t>35</a:t>
            </a:r>
          </a:p>
        </p:txBody>
      </p:sp>
      <p:cxnSp>
        <p:nvCxnSpPr>
          <p:cNvPr id="22555" name="AutoShape 28"/>
          <p:cNvCxnSpPr>
            <a:cxnSpLocks noChangeShapeType="1"/>
            <a:stCxn id="22544" idx="3"/>
            <a:endCxn id="22554" idx="7"/>
          </p:cNvCxnSpPr>
          <p:nvPr/>
        </p:nvCxnSpPr>
        <p:spPr bwMode="auto">
          <a:xfrm flipH="1">
            <a:off x="5146675" y="5894388"/>
            <a:ext cx="361950" cy="395287"/>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2556" name="Text Box 29"/>
          <p:cNvSpPr txBox="1">
            <a:spLocks noChangeArrowheads="1"/>
          </p:cNvSpPr>
          <p:nvPr/>
        </p:nvSpPr>
        <p:spPr bwMode="auto">
          <a:xfrm>
            <a:off x="4427538" y="6092825"/>
            <a:ext cx="431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a:cs typeface="Arial" pitchFamily="34" charset="0"/>
              </a:rPr>
              <a:t>0</a:t>
            </a:r>
          </a:p>
        </p:txBody>
      </p:sp>
      <p:sp>
        <p:nvSpPr>
          <p:cNvPr id="22557" name="Line 30"/>
          <p:cNvSpPr>
            <a:spLocks noChangeShapeType="1"/>
          </p:cNvSpPr>
          <p:nvPr/>
        </p:nvSpPr>
        <p:spPr bwMode="auto">
          <a:xfrm>
            <a:off x="4354513" y="5011738"/>
            <a:ext cx="1223962" cy="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58" name="Line 31"/>
          <p:cNvSpPr>
            <a:spLocks noChangeShapeType="1"/>
          </p:cNvSpPr>
          <p:nvPr/>
        </p:nvSpPr>
        <p:spPr bwMode="auto">
          <a:xfrm flipV="1">
            <a:off x="6516688" y="5445125"/>
            <a:ext cx="0" cy="792163"/>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59" name="Text Box 32"/>
          <p:cNvSpPr txBox="1">
            <a:spLocks noChangeArrowheads="1"/>
          </p:cNvSpPr>
          <p:nvPr/>
        </p:nvSpPr>
        <p:spPr bwMode="auto">
          <a:xfrm>
            <a:off x="4427538" y="4581525"/>
            <a:ext cx="10810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a:cs typeface="Arial" pitchFamily="34" charset="0"/>
              </a:rPr>
              <a:t>Insert 35</a:t>
            </a:r>
          </a:p>
        </p:txBody>
      </p:sp>
      <p:sp>
        <p:nvSpPr>
          <p:cNvPr id="22560" name="Text Box 33"/>
          <p:cNvSpPr txBox="1">
            <a:spLocks noChangeArrowheads="1"/>
          </p:cNvSpPr>
          <p:nvPr/>
        </p:nvSpPr>
        <p:spPr bwMode="auto">
          <a:xfrm>
            <a:off x="5651500" y="6092825"/>
            <a:ext cx="34925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dirty="0">
                <a:cs typeface="Arial" pitchFamily="34" charset="0"/>
              </a:rPr>
              <a:t>Deepest unbalanced node</a:t>
            </a:r>
          </a:p>
        </p:txBody>
      </p:sp>
    </p:spTree>
    <p:extLst>
      <p:ext uri="{BB962C8B-B14F-4D97-AF65-F5344CB8AC3E}">
        <p14:creationId xmlns:p14="http://schemas.microsoft.com/office/powerpoint/2010/main" val="391076266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ltLang="en-US" smtClean="0"/>
              <a:t>What is a Rotation? (contd.)</a:t>
            </a:r>
          </a:p>
        </p:txBody>
      </p:sp>
      <p:sp>
        <p:nvSpPr>
          <p:cNvPr id="9219" name="Rectangle 3"/>
          <p:cNvSpPr>
            <a:spLocks noGrp="1" noChangeArrowheads="1"/>
          </p:cNvSpPr>
          <p:nvPr>
            <p:ph type="body" idx="1"/>
          </p:nvPr>
        </p:nvSpPr>
        <p:spPr>
          <a:xfrm>
            <a:off x="206375" y="3716338"/>
            <a:ext cx="8686800" cy="2881312"/>
          </a:xfrm>
        </p:spPr>
        <p:txBody>
          <a:bodyPr>
            <a:normAutofit fontScale="70000" lnSpcReduction="20000"/>
          </a:bodyPr>
          <a:lstStyle/>
          <a:p>
            <a:pPr eaLnBrk="1" hangingPunct="1">
              <a:defRPr/>
            </a:pPr>
            <a:endParaRPr lang="en-US" smtClean="0"/>
          </a:p>
          <a:p>
            <a:pPr eaLnBrk="1" hangingPunct="1">
              <a:defRPr/>
            </a:pPr>
            <a:r>
              <a:rPr lang="en-US" smtClean="0"/>
              <a:t>There are two kinds of single rotation:</a:t>
            </a:r>
          </a:p>
          <a:p>
            <a:pPr eaLnBrk="1" hangingPunct="1">
              <a:buFontTx/>
              <a:buNone/>
              <a:defRPr/>
            </a:pPr>
            <a:endParaRPr lang="en-US" smtClean="0"/>
          </a:p>
          <a:p>
            <a:pPr lvl="1" eaLnBrk="1" hangingPunct="1">
              <a:buFontTx/>
              <a:buNone/>
              <a:defRPr/>
            </a:pPr>
            <a:r>
              <a:rPr lang="en-US" smtClean="0"/>
              <a:t>Right Rotation. 			Left Rotation.</a:t>
            </a:r>
          </a:p>
          <a:p>
            <a:pPr lvl="1" eaLnBrk="1" hangingPunct="1">
              <a:buFontTx/>
              <a:buNone/>
              <a:defRPr/>
            </a:pPr>
            <a:endParaRPr lang="en-US" smtClean="0"/>
          </a:p>
          <a:p>
            <a:pPr eaLnBrk="1" hangingPunct="1">
              <a:defRPr/>
            </a:pPr>
            <a:r>
              <a:rPr lang="en-US" smtClean="0"/>
              <a:t>A double right-left rotation is a right rotation followed by a left rotation.</a:t>
            </a:r>
          </a:p>
          <a:p>
            <a:pPr eaLnBrk="1" hangingPunct="1">
              <a:defRPr/>
            </a:pPr>
            <a:r>
              <a:rPr lang="en-US" smtClean="0"/>
              <a:t>A double left-right rotation is a left rotation followed by a right rotation.</a:t>
            </a:r>
          </a:p>
        </p:txBody>
      </p:sp>
      <p:sp>
        <p:nvSpPr>
          <p:cNvPr id="23556" name="Oval 4"/>
          <p:cNvSpPr>
            <a:spLocks noChangeArrowheads="1"/>
          </p:cNvSpPr>
          <p:nvPr/>
        </p:nvSpPr>
        <p:spPr bwMode="auto">
          <a:xfrm>
            <a:off x="2051050" y="1914525"/>
            <a:ext cx="503238" cy="360363"/>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nchorCtr="1"/>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spcBef>
                <a:spcPct val="0"/>
              </a:spcBef>
              <a:buSzTx/>
              <a:buFontTx/>
              <a:buNone/>
            </a:pPr>
            <a:r>
              <a:rPr lang="en-US" altLang="en-US" b="0">
                <a:latin typeface="Times New Roman" pitchFamily="18" charset="0"/>
              </a:rPr>
              <a:t>45</a:t>
            </a:r>
          </a:p>
        </p:txBody>
      </p:sp>
      <p:sp>
        <p:nvSpPr>
          <p:cNvPr id="23557" name="Oval 5"/>
          <p:cNvSpPr>
            <a:spLocks noChangeArrowheads="1"/>
          </p:cNvSpPr>
          <p:nvPr/>
        </p:nvSpPr>
        <p:spPr bwMode="auto">
          <a:xfrm>
            <a:off x="1404938" y="2420938"/>
            <a:ext cx="503237" cy="36036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nchorCtr="1"/>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spcBef>
                <a:spcPct val="0"/>
              </a:spcBef>
              <a:buSzTx/>
              <a:buFontTx/>
              <a:buNone/>
            </a:pPr>
            <a:r>
              <a:rPr lang="en-US" altLang="en-US" b="0">
                <a:latin typeface="Times New Roman" pitchFamily="18" charset="0"/>
              </a:rPr>
              <a:t>40</a:t>
            </a:r>
          </a:p>
        </p:txBody>
      </p:sp>
      <p:sp>
        <p:nvSpPr>
          <p:cNvPr id="23558" name="Oval 6"/>
          <p:cNvSpPr>
            <a:spLocks noChangeArrowheads="1"/>
          </p:cNvSpPr>
          <p:nvPr/>
        </p:nvSpPr>
        <p:spPr bwMode="auto">
          <a:xfrm>
            <a:off x="3138488" y="1916113"/>
            <a:ext cx="503237" cy="36036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nchorCtr="1"/>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spcBef>
                <a:spcPct val="0"/>
              </a:spcBef>
              <a:buSzTx/>
              <a:buFontTx/>
              <a:buNone/>
            </a:pPr>
            <a:r>
              <a:rPr lang="en-US" altLang="en-US" b="0">
                <a:latin typeface="Times New Roman" pitchFamily="18" charset="0"/>
              </a:rPr>
              <a:t>78</a:t>
            </a:r>
          </a:p>
        </p:txBody>
      </p:sp>
      <p:cxnSp>
        <p:nvCxnSpPr>
          <p:cNvPr id="23559" name="AutoShape 7"/>
          <p:cNvCxnSpPr>
            <a:cxnSpLocks noChangeShapeType="1"/>
            <a:stCxn id="23562" idx="3"/>
            <a:endCxn id="23556" idx="0"/>
          </p:cNvCxnSpPr>
          <p:nvPr/>
        </p:nvCxnSpPr>
        <p:spPr bwMode="auto">
          <a:xfrm flipH="1">
            <a:off x="2303463" y="1646238"/>
            <a:ext cx="325437" cy="249237"/>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3560" name="AutoShape 8"/>
          <p:cNvCxnSpPr>
            <a:cxnSpLocks noChangeShapeType="1"/>
            <a:stCxn id="23562" idx="5"/>
            <a:endCxn id="23558" idx="0"/>
          </p:cNvCxnSpPr>
          <p:nvPr/>
        </p:nvCxnSpPr>
        <p:spPr bwMode="auto">
          <a:xfrm>
            <a:off x="2986088" y="1646238"/>
            <a:ext cx="404812" cy="26987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3561" name="AutoShape 9"/>
          <p:cNvCxnSpPr>
            <a:cxnSpLocks noChangeShapeType="1"/>
            <a:stCxn id="23556" idx="3"/>
            <a:endCxn id="23557" idx="7"/>
          </p:cNvCxnSpPr>
          <p:nvPr/>
        </p:nvCxnSpPr>
        <p:spPr bwMode="auto">
          <a:xfrm flipH="1">
            <a:off x="1835150" y="2241550"/>
            <a:ext cx="288925" cy="23177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3562" name="Oval 10"/>
          <p:cNvSpPr>
            <a:spLocks noChangeArrowheads="1"/>
          </p:cNvSpPr>
          <p:nvPr/>
        </p:nvSpPr>
        <p:spPr bwMode="auto">
          <a:xfrm>
            <a:off x="2555875" y="1338263"/>
            <a:ext cx="503238" cy="36036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nchorCtr="1"/>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sz="2000" b="0">
                <a:latin typeface="Times New Roman" pitchFamily="18" charset="0"/>
              </a:rPr>
              <a:t>50</a:t>
            </a:r>
          </a:p>
        </p:txBody>
      </p:sp>
      <p:sp>
        <p:nvSpPr>
          <p:cNvPr id="23563" name="Text Box 11"/>
          <p:cNvSpPr txBox="1">
            <a:spLocks noChangeArrowheads="1"/>
          </p:cNvSpPr>
          <p:nvPr/>
        </p:nvSpPr>
        <p:spPr bwMode="auto">
          <a:xfrm>
            <a:off x="2195513" y="1196975"/>
            <a:ext cx="431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a:cs typeface="Arial" pitchFamily="34" charset="0"/>
              </a:rPr>
              <a:t>-2</a:t>
            </a:r>
          </a:p>
        </p:txBody>
      </p:sp>
      <p:sp>
        <p:nvSpPr>
          <p:cNvPr id="23564" name="Text Box 12"/>
          <p:cNvSpPr txBox="1">
            <a:spLocks noChangeArrowheads="1"/>
          </p:cNvSpPr>
          <p:nvPr/>
        </p:nvSpPr>
        <p:spPr bwMode="auto">
          <a:xfrm>
            <a:off x="1116013" y="2349500"/>
            <a:ext cx="431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a:cs typeface="Arial" pitchFamily="34" charset="0"/>
              </a:rPr>
              <a:t>-1</a:t>
            </a:r>
          </a:p>
        </p:txBody>
      </p:sp>
      <p:sp>
        <p:nvSpPr>
          <p:cNvPr id="23565" name="Text Box 13"/>
          <p:cNvSpPr txBox="1">
            <a:spLocks noChangeArrowheads="1"/>
          </p:cNvSpPr>
          <p:nvPr/>
        </p:nvSpPr>
        <p:spPr bwMode="auto">
          <a:xfrm>
            <a:off x="1690688" y="1836738"/>
            <a:ext cx="431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a:cs typeface="Arial" pitchFamily="34" charset="0"/>
              </a:rPr>
              <a:t>-2</a:t>
            </a:r>
          </a:p>
        </p:txBody>
      </p:sp>
      <p:sp>
        <p:nvSpPr>
          <p:cNvPr id="23566" name="Text Box 14"/>
          <p:cNvSpPr txBox="1">
            <a:spLocks noChangeArrowheads="1"/>
          </p:cNvSpPr>
          <p:nvPr/>
        </p:nvSpPr>
        <p:spPr bwMode="auto">
          <a:xfrm>
            <a:off x="3852863" y="1917700"/>
            <a:ext cx="431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a:cs typeface="Arial" pitchFamily="34" charset="0"/>
              </a:rPr>
              <a:t>0</a:t>
            </a:r>
          </a:p>
        </p:txBody>
      </p:sp>
      <p:sp>
        <p:nvSpPr>
          <p:cNvPr id="23567" name="Oval 15"/>
          <p:cNvSpPr>
            <a:spLocks noChangeArrowheads="1"/>
          </p:cNvSpPr>
          <p:nvPr/>
        </p:nvSpPr>
        <p:spPr bwMode="auto">
          <a:xfrm>
            <a:off x="755650" y="2997200"/>
            <a:ext cx="503238" cy="36036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nchorCtr="1"/>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spcBef>
                <a:spcPct val="0"/>
              </a:spcBef>
              <a:buSzTx/>
              <a:buFontTx/>
              <a:buNone/>
            </a:pPr>
            <a:r>
              <a:rPr lang="en-US" altLang="en-US" b="0">
                <a:latin typeface="Times New Roman" pitchFamily="18" charset="0"/>
              </a:rPr>
              <a:t>35</a:t>
            </a:r>
          </a:p>
        </p:txBody>
      </p:sp>
      <p:cxnSp>
        <p:nvCxnSpPr>
          <p:cNvPr id="23568" name="AutoShape 16"/>
          <p:cNvCxnSpPr>
            <a:cxnSpLocks noChangeShapeType="1"/>
            <a:stCxn id="23557" idx="3"/>
            <a:endCxn id="23567" idx="7"/>
          </p:cNvCxnSpPr>
          <p:nvPr/>
        </p:nvCxnSpPr>
        <p:spPr bwMode="auto">
          <a:xfrm flipH="1">
            <a:off x="1185863" y="2728913"/>
            <a:ext cx="292100" cy="32067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3569" name="Text Box 17"/>
          <p:cNvSpPr txBox="1">
            <a:spLocks noChangeArrowheads="1"/>
          </p:cNvSpPr>
          <p:nvPr/>
        </p:nvSpPr>
        <p:spPr bwMode="auto">
          <a:xfrm>
            <a:off x="466725" y="2852738"/>
            <a:ext cx="431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a:cs typeface="Arial" pitchFamily="34" charset="0"/>
              </a:rPr>
              <a:t>0</a:t>
            </a:r>
          </a:p>
        </p:txBody>
      </p:sp>
      <p:sp>
        <p:nvSpPr>
          <p:cNvPr id="23570" name="Oval 18"/>
          <p:cNvSpPr>
            <a:spLocks noChangeArrowheads="1"/>
          </p:cNvSpPr>
          <p:nvPr/>
        </p:nvSpPr>
        <p:spPr bwMode="auto">
          <a:xfrm>
            <a:off x="7092950" y="2565400"/>
            <a:ext cx="503238" cy="360363"/>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nchorCtr="1"/>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spcBef>
                <a:spcPct val="0"/>
              </a:spcBef>
              <a:buSzTx/>
              <a:buFontTx/>
              <a:buNone/>
            </a:pPr>
            <a:r>
              <a:rPr lang="en-US" altLang="en-US" b="0">
                <a:latin typeface="Times New Roman" pitchFamily="18" charset="0"/>
              </a:rPr>
              <a:t>45</a:t>
            </a:r>
          </a:p>
        </p:txBody>
      </p:sp>
      <p:sp>
        <p:nvSpPr>
          <p:cNvPr id="23571" name="Oval 19"/>
          <p:cNvSpPr>
            <a:spLocks noChangeArrowheads="1"/>
          </p:cNvSpPr>
          <p:nvPr/>
        </p:nvSpPr>
        <p:spPr bwMode="auto">
          <a:xfrm>
            <a:off x="6734175" y="1914525"/>
            <a:ext cx="503238" cy="36036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nchorCtr="1"/>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spcBef>
                <a:spcPct val="0"/>
              </a:spcBef>
              <a:buSzTx/>
              <a:buFontTx/>
              <a:buNone/>
            </a:pPr>
            <a:r>
              <a:rPr lang="en-US" altLang="en-US" b="0">
                <a:latin typeface="Times New Roman" pitchFamily="18" charset="0"/>
              </a:rPr>
              <a:t>40</a:t>
            </a:r>
          </a:p>
        </p:txBody>
      </p:sp>
      <p:sp>
        <p:nvSpPr>
          <p:cNvPr id="23572" name="Oval 20"/>
          <p:cNvSpPr>
            <a:spLocks noChangeArrowheads="1"/>
          </p:cNvSpPr>
          <p:nvPr/>
        </p:nvSpPr>
        <p:spPr bwMode="auto">
          <a:xfrm>
            <a:off x="7889875" y="1916113"/>
            <a:ext cx="503238" cy="36036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nchorCtr="1"/>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spcBef>
                <a:spcPct val="0"/>
              </a:spcBef>
              <a:buSzTx/>
              <a:buFontTx/>
              <a:buNone/>
            </a:pPr>
            <a:r>
              <a:rPr lang="en-US" altLang="en-US" b="0">
                <a:latin typeface="Times New Roman" pitchFamily="18" charset="0"/>
              </a:rPr>
              <a:t>78</a:t>
            </a:r>
          </a:p>
        </p:txBody>
      </p:sp>
      <p:cxnSp>
        <p:nvCxnSpPr>
          <p:cNvPr id="23573" name="AutoShape 21"/>
          <p:cNvCxnSpPr>
            <a:cxnSpLocks noChangeShapeType="1"/>
            <a:stCxn id="23576" idx="3"/>
            <a:endCxn id="23571" idx="0"/>
          </p:cNvCxnSpPr>
          <p:nvPr/>
        </p:nvCxnSpPr>
        <p:spPr bwMode="auto">
          <a:xfrm flipH="1">
            <a:off x="6986588" y="1646238"/>
            <a:ext cx="393700" cy="268287"/>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3574" name="AutoShape 22"/>
          <p:cNvCxnSpPr>
            <a:cxnSpLocks noChangeShapeType="1"/>
            <a:stCxn id="23576" idx="5"/>
            <a:endCxn id="23572" idx="0"/>
          </p:cNvCxnSpPr>
          <p:nvPr/>
        </p:nvCxnSpPr>
        <p:spPr bwMode="auto">
          <a:xfrm>
            <a:off x="7737475" y="1646238"/>
            <a:ext cx="404813" cy="26987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3575" name="AutoShape 23"/>
          <p:cNvCxnSpPr>
            <a:cxnSpLocks noChangeShapeType="1"/>
            <a:stCxn id="23571" idx="5"/>
            <a:endCxn id="23570" idx="0"/>
          </p:cNvCxnSpPr>
          <p:nvPr/>
        </p:nvCxnSpPr>
        <p:spPr bwMode="auto">
          <a:xfrm>
            <a:off x="7164388" y="2222500"/>
            <a:ext cx="180975" cy="32385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3576" name="Oval 24"/>
          <p:cNvSpPr>
            <a:spLocks noChangeArrowheads="1"/>
          </p:cNvSpPr>
          <p:nvPr/>
        </p:nvSpPr>
        <p:spPr bwMode="auto">
          <a:xfrm>
            <a:off x="7307263" y="1338263"/>
            <a:ext cx="503237" cy="36036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nchorCtr="1"/>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sz="2000" b="0">
                <a:latin typeface="Times New Roman" pitchFamily="18" charset="0"/>
              </a:rPr>
              <a:t>50</a:t>
            </a:r>
          </a:p>
        </p:txBody>
      </p:sp>
      <p:sp>
        <p:nvSpPr>
          <p:cNvPr id="23577" name="Text Box 25"/>
          <p:cNvSpPr txBox="1">
            <a:spLocks noChangeArrowheads="1"/>
          </p:cNvSpPr>
          <p:nvPr/>
        </p:nvSpPr>
        <p:spPr bwMode="auto">
          <a:xfrm>
            <a:off x="6948488" y="1268413"/>
            <a:ext cx="431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a:cs typeface="Arial" pitchFamily="34" charset="0"/>
              </a:rPr>
              <a:t>-1</a:t>
            </a:r>
          </a:p>
        </p:txBody>
      </p:sp>
      <p:sp>
        <p:nvSpPr>
          <p:cNvPr id="23578" name="Text Box 26"/>
          <p:cNvSpPr txBox="1">
            <a:spLocks noChangeArrowheads="1"/>
          </p:cNvSpPr>
          <p:nvPr/>
        </p:nvSpPr>
        <p:spPr bwMode="auto">
          <a:xfrm>
            <a:off x="6446838" y="1844675"/>
            <a:ext cx="431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a:cs typeface="Arial" pitchFamily="34" charset="0"/>
              </a:rPr>
              <a:t>0</a:t>
            </a:r>
          </a:p>
        </p:txBody>
      </p:sp>
      <p:sp>
        <p:nvSpPr>
          <p:cNvPr id="23579" name="Text Box 27"/>
          <p:cNvSpPr txBox="1">
            <a:spLocks noChangeArrowheads="1"/>
          </p:cNvSpPr>
          <p:nvPr/>
        </p:nvSpPr>
        <p:spPr bwMode="auto">
          <a:xfrm>
            <a:off x="7667625" y="2492375"/>
            <a:ext cx="431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a:cs typeface="Arial" pitchFamily="34" charset="0"/>
              </a:rPr>
              <a:t>0</a:t>
            </a:r>
          </a:p>
        </p:txBody>
      </p:sp>
      <p:sp>
        <p:nvSpPr>
          <p:cNvPr id="23580" name="Text Box 28"/>
          <p:cNvSpPr txBox="1">
            <a:spLocks noChangeArrowheads="1"/>
          </p:cNvSpPr>
          <p:nvPr/>
        </p:nvSpPr>
        <p:spPr bwMode="auto">
          <a:xfrm>
            <a:off x="8604250" y="1917700"/>
            <a:ext cx="431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a:cs typeface="Arial" pitchFamily="34" charset="0"/>
              </a:rPr>
              <a:t>0</a:t>
            </a:r>
          </a:p>
        </p:txBody>
      </p:sp>
      <p:sp>
        <p:nvSpPr>
          <p:cNvPr id="23581" name="Oval 29"/>
          <p:cNvSpPr>
            <a:spLocks noChangeArrowheads="1"/>
          </p:cNvSpPr>
          <p:nvPr/>
        </p:nvSpPr>
        <p:spPr bwMode="auto">
          <a:xfrm>
            <a:off x="6015038" y="2565400"/>
            <a:ext cx="503237" cy="36036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nchorCtr="1"/>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spcBef>
                <a:spcPct val="0"/>
              </a:spcBef>
              <a:buSzTx/>
              <a:buFontTx/>
              <a:buNone/>
            </a:pPr>
            <a:r>
              <a:rPr lang="en-US" altLang="en-US" b="0">
                <a:latin typeface="Times New Roman" pitchFamily="18" charset="0"/>
              </a:rPr>
              <a:t>35</a:t>
            </a:r>
          </a:p>
        </p:txBody>
      </p:sp>
      <p:cxnSp>
        <p:nvCxnSpPr>
          <p:cNvPr id="23582" name="AutoShape 30"/>
          <p:cNvCxnSpPr>
            <a:cxnSpLocks noChangeShapeType="1"/>
            <a:stCxn id="23571" idx="3"/>
            <a:endCxn id="23581" idx="7"/>
          </p:cNvCxnSpPr>
          <p:nvPr/>
        </p:nvCxnSpPr>
        <p:spPr bwMode="auto">
          <a:xfrm flipH="1">
            <a:off x="6445250" y="2222500"/>
            <a:ext cx="361950" cy="395288"/>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3583" name="Text Box 31"/>
          <p:cNvSpPr txBox="1">
            <a:spLocks noChangeArrowheads="1"/>
          </p:cNvSpPr>
          <p:nvPr/>
        </p:nvSpPr>
        <p:spPr bwMode="auto">
          <a:xfrm>
            <a:off x="5726113" y="2420938"/>
            <a:ext cx="431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a:cs typeface="Arial" pitchFamily="34" charset="0"/>
              </a:rPr>
              <a:t>0</a:t>
            </a:r>
          </a:p>
        </p:txBody>
      </p:sp>
      <p:sp>
        <p:nvSpPr>
          <p:cNvPr id="23584" name="Line 32"/>
          <p:cNvSpPr>
            <a:spLocks noChangeShapeType="1"/>
          </p:cNvSpPr>
          <p:nvPr/>
        </p:nvSpPr>
        <p:spPr bwMode="auto">
          <a:xfrm>
            <a:off x="4284663" y="2058988"/>
            <a:ext cx="1223962" cy="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585" name="Text Box 33"/>
          <p:cNvSpPr txBox="1">
            <a:spLocks noChangeArrowheads="1"/>
          </p:cNvSpPr>
          <p:nvPr/>
        </p:nvSpPr>
        <p:spPr bwMode="auto">
          <a:xfrm>
            <a:off x="4357688" y="1628775"/>
            <a:ext cx="10810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a:cs typeface="Arial" pitchFamily="34" charset="0"/>
              </a:rPr>
              <a:t>rotation</a:t>
            </a:r>
          </a:p>
        </p:txBody>
      </p:sp>
      <p:sp>
        <p:nvSpPr>
          <p:cNvPr id="23586" name="Arc 36"/>
          <p:cNvSpPr>
            <a:spLocks/>
          </p:cNvSpPr>
          <p:nvPr/>
        </p:nvSpPr>
        <p:spPr bwMode="auto">
          <a:xfrm rot="-5400000">
            <a:off x="2635250" y="4678363"/>
            <a:ext cx="542925" cy="558800"/>
          </a:xfrm>
          <a:custGeom>
            <a:avLst/>
            <a:gdLst>
              <a:gd name="T0" fmla="*/ 2147483647 w 21600"/>
              <a:gd name="T1" fmla="*/ 0 h 41964"/>
              <a:gd name="T2" fmla="*/ 2147483647 w 21600"/>
              <a:gd name="T3" fmla="*/ 2147483647 h 41964"/>
              <a:gd name="T4" fmla="*/ 0 w 21600"/>
              <a:gd name="T5" fmla="*/ 2147483647 h 41964"/>
              <a:gd name="T6" fmla="*/ 0 60000 65536"/>
              <a:gd name="T7" fmla="*/ 0 60000 65536"/>
              <a:gd name="T8" fmla="*/ 0 60000 65536"/>
              <a:gd name="T9" fmla="*/ 0 w 21600"/>
              <a:gd name="T10" fmla="*/ 0 h 41964"/>
              <a:gd name="T11" fmla="*/ 21600 w 21600"/>
              <a:gd name="T12" fmla="*/ 41964 h 41964"/>
            </a:gdLst>
            <a:ahLst/>
            <a:cxnLst>
              <a:cxn ang="T6">
                <a:pos x="T0" y="T1"/>
              </a:cxn>
              <a:cxn ang="T7">
                <a:pos x="T2" y="T3"/>
              </a:cxn>
              <a:cxn ang="T8">
                <a:pos x="T4" y="T5"/>
              </a:cxn>
            </a:cxnLst>
            <a:rect l="T9" t="T10" r="T11" b="T12"/>
            <a:pathLst>
              <a:path w="21600" h="41964" fill="none" extrusionOk="0">
                <a:moveTo>
                  <a:pt x="5534" y="-1"/>
                </a:moveTo>
                <a:cubicBezTo>
                  <a:pt x="15004" y="2510"/>
                  <a:pt x="21600" y="11080"/>
                  <a:pt x="21600" y="20879"/>
                </a:cubicBezTo>
                <a:cubicBezTo>
                  <a:pt x="21600" y="31001"/>
                  <a:pt x="14569" y="39767"/>
                  <a:pt x="4688" y="41964"/>
                </a:cubicBezTo>
              </a:path>
              <a:path w="21600" h="41964" stroke="0" extrusionOk="0">
                <a:moveTo>
                  <a:pt x="5534" y="-1"/>
                </a:moveTo>
                <a:cubicBezTo>
                  <a:pt x="15004" y="2510"/>
                  <a:pt x="21600" y="11080"/>
                  <a:pt x="21600" y="20879"/>
                </a:cubicBezTo>
                <a:cubicBezTo>
                  <a:pt x="21600" y="31001"/>
                  <a:pt x="14569" y="39767"/>
                  <a:pt x="4688" y="41964"/>
                </a:cubicBezTo>
                <a:lnTo>
                  <a:pt x="0" y="20879"/>
                </a:lnTo>
                <a:lnTo>
                  <a:pt x="5534" y="-1"/>
                </a:lnTo>
                <a:close/>
              </a:path>
            </a:pathLst>
          </a:custGeom>
          <a:noFill/>
          <a:ln w="5715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3587" name="Arc 37"/>
          <p:cNvSpPr>
            <a:spLocks/>
          </p:cNvSpPr>
          <p:nvPr/>
        </p:nvSpPr>
        <p:spPr bwMode="auto">
          <a:xfrm rot="5400000" flipH="1">
            <a:off x="6596062" y="4646613"/>
            <a:ext cx="542925" cy="558800"/>
          </a:xfrm>
          <a:custGeom>
            <a:avLst/>
            <a:gdLst>
              <a:gd name="T0" fmla="*/ 2147483647 w 21600"/>
              <a:gd name="T1" fmla="*/ 0 h 41964"/>
              <a:gd name="T2" fmla="*/ 2147483647 w 21600"/>
              <a:gd name="T3" fmla="*/ 2147483647 h 41964"/>
              <a:gd name="T4" fmla="*/ 0 w 21600"/>
              <a:gd name="T5" fmla="*/ 2147483647 h 41964"/>
              <a:gd name="T6" fmla="*/ 0 60000 65536"/>
              <a:gd name="T7" fmla="*/ 0 60000 65536"/>
              <a:gd name="T8" fmla="*/ 0 60000 65536"/>
              <a:gd name="T9" fmla="*/ 0 w 21600"/>
              <a:gd name="T10" fmla="*/ 0 h 41964"/>
              <a:gd name="T11" fmla="*/ 21600 w 21600"/>
              <a:gd name="T12" fmla="*/ 41964 h 41964"/>
            </a:gdLst>
            <a:ahLst/>
            <a:cxnLst>
              <a:cxn ang="T6">
                <a:pos x="T0" y="T1"/>
              </a:cxn>
              <a:cxn ang="T7">
                <a:pos x="T2" y="T3"/>
              </a:cxn>
              <a:cxn ang="T8">
                <a:pos x="T4" y="T5"/>
              </a:cxn>
            </a:cxnLst>
            <a:rect l="T9" t="T10" r="T11" b="T12"/>
            <a:pathLst>
              <a:path w="21600" h="41964" fill="none" extrusionOk="0">
                <a:moveTo>
                  <a:pt x="5534" y="-1"/>
                </a:moveTo>
                <a:cubicBezTo>
                  <a:pt x="15004" y="2510"/>
                  <a:pt x="21600" y="11080"/>
                  <a:pt x="21600" y="20879"/>
                </a:cubicBezTo>
                <a:cubicBezTo>
                  <a:pt x="21600" y="31001"/>
                  <a:pt x="14569" y="39767"/>
                  <a:pt x="4688" y="41964"/>
                </a:cubicBezTo>
              </a:path>
              <a:path w="21600" h="41964" stroke="0" extrusionOk="0">
                <a:moveTo>
                  <a:pt x="5534" y="-1"/>
                </a:moveTo>
                <a:cubicBezTo>
                  <a:pt x="15004" y="2510"/>
                  <a:pt x="21600" y="11080"/>
                  <a:pt x="21600" y="20879"/>
                </a:cubicBezTo>
                <a:cubicBezTo>
                  <a:pt x="21600" y="31001"/>
                  <a:pt x="14569" y="39767"/>
                  <a:pt x="4688" y="41964"/>
                </a:cubicBezTo>
                <a:lnTo>
                  <a:pt x="0" y="20879"/>
                </a:lnTo>
                <a:lnTo>
                  <a:pt x="5534" y="-1"/>
                </a:lnTo>
                <a:close/>
              </a:path>
            </a:pathLst>
          </a:custGeom>
          <a:noFill/>
          <a:ln w="5715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Tree>
    <p:extLst>
      <p:ext uri="{BB962C8B-B14F-4D97-AF65-F5344CB8AC3E}">
        <p14:creationId xmlns:p14="http://schemas.microsoft.com/office/powerpoint/2010/main" val="53479715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468313" y="115888"/>
            <a:ext cx="8229600" cy="922337"/>
          </a:xfrm>
        </p:spPr>
        <p:txBody>
          <a:bodyPr/>
          <a:lstStyle/>
          <a:p>
            <a:pPr eaLnBrk="1" hangingPunct="1"/>
            <a:r>
              <a:rPr lang="en-US" altLang="en-US" smtClean="0"/>
              <a:t>Single Right Rotation </a:t>
            </a:r>
          </a:p>
        </p:txBody>
      </p:sp>
      <p:sp>
        <p:nvSpPr>
          <p:cNvPr id="10243" name="Rectangle 3"/>
          <p:cNvSpPr>
            <a:spLocks noGrp="1" noChangeArrowheads="1"/>
          </p:cNvSpPr>
          <p:nvPr>
            <p:ph type="body" idx="1"/>
          </p:nvPr>
        </p:nvSpPr>
        <p:spPr>
          <a:xfrm>
            <a:off x="468313" y="981075"/>
            <a:ext cx="8229600" cy="1511300"/>
          </a:xfrm>
        </p:spPr>
        <p:txBody>
          <a:bodyPr>
            <a:normAutofit fontScale="77500" lnSpcReduction="20000"/>
          </a:bodyPr>
          <a:lstStyle/>
          <a:p>
            <a:pPr eaLnBrk="1" hangingPunct="1">
              <a:defRPr/>
            </a:pPr>
            <a:r>
              <a:rPr lang="en-US" smtClean="0"/>
              <a:t>Single right rotation:</a:t>
            </a:r>
          </a:p>
          <a:p>
            <a:pPr lvl="1" eaLnBrk="1" hangingPunct="1">
              <a:defRPr/>
            </a:pPr>
            <a:r>
              <a:rPr lang="en-US" smtClean="0"/>
              <a:t>The left child x of a node y becomes y's parent.</a:t>
            </a:r>
          </a:p>
          <a:p>
            <a:pPr lvl="1" eaLnBrk="1" hangingPunct="1">
              <a:defRPr/>
            </a:pPr>
            <a:r>
              <a:rPr lang="en-US" smtClean="0"/>
              <a:t>y becomes the right child of x.</a:t>
            </a:r>
          </a:p>
          <a:p>
            <a:pPr lvl="1" eaLnBrk="1" hangingPunct="1">
              <a:defRPr/>
            </a:pPr>
            <a:r>
              <a:rPr lang="en-US" smtClean="0"/>
              <a:t>The right child T</a:t>
            </a:r>
            <a:r>
              <a:rPr lang="en-US" baseline="-25000" smtClean="0"/>
              <a:t>2</a:t>
            </a:r>
            <a:r>
              <a:rPr lang="en-US" smtClean="0"/>
              <a:t> of x, if any, becomes the left child of y.</a:t>
            </a:r>
          </a:p>
        </p:txBody>
      </p:sp>
      <p:grpSp>
        <p:nvGrpSpPr>
          <p:cNvPr id="24580" name="Group 35"/>
          <p:cNvGrpSpPr>
            <a:grpSpLocks/>
          </p:cNvGrpSpPr>
          <p:nvPr/>
        </p:nvGrpSpPr>
        <p:grpSpPr bwMode="auto">
          <a:xfrm>
            <a:off x="144463" y="2781300"/>
            <a:ext cx="8675687" cy="2879725"/>
            <a:chOff x="91" y="2115"/>
            <a:chExt cx="5465" cy="1814"/>
          </a:xfrm>
        </p:grpSpPr>
        <p:grpSp>
          <p:nvGrpSpPr>
            <p:cNvPr id="24582" name="Group 17"/>
            <p:cNvGrpSpPr>
              <a:grpSpLocks/>
            </p:cNvGrpSpPr>
            <p:nvPr/>
          </p:nvGrpSpPr>
          <p:grpSpPr bwMode="auto">
            <a:xfrm>
              <a:off x="181" y="2432"/>
              <a:ext cx="1610" cy="1497"/>
              <a:chOff x="45" y="2341"/>
              <a:chExt cx="1610" cy="1497"/>
            </a:xfrm>
          </p:grpSpPr>
          <p:sp>
            <p:nvSpPr>
              <p:cNvPr id="24597" name="Arc 4"/>
              <p:cNvSpPr>
                <a:spLocks/>
              </p:cNvSpPr>
              <p:nvPr/>
            </p:nvSpPr>
            <p:spPr bwMode="auto">
              <a:xfrm rot="-5400000">
                <a:off x="900" y="2766"/>
                <a:ext cx="342" cy="352"/>
              </a:xfrm>
              <a:custGeom>
                <a:avLst/>
                <a:gdLst>
                  <a:gd name="T0" fmla="*/ 0 w 21600"/>
                  <a:gd name="T1" fmla="*/ 0 h 41964"/>
                  <a:gd name="T2" fmla="*/ 0 w 21600"/>
                  <a:gd name="T3" fmla="*/ 0 h 41964"/>
                  <a:gd name="T4" fmla="*/ 0 w 21600"/>
                  <a:gd name="T5" fmla="*/ 0 h 41964"/>
                  <a:gd name="T6" fmla="*/ 0 60000 65536"/>
                  <a:gd name="T7" fmla="*/ 0 60000 65536"/>
                  <a:gd name="T8" fmla="*/ 0 60000 65536"/>
                  <a:gd name="T9" fmla="*/ 0 w 21600"/>
                  <a:gd name="T10" fmla="*/ 0 h 41964"/>
                  <a:gd name="T11" fmla="*/ 21600 w 21600"/>
                  <a:gd name="T12" fmla="*/ 41964 h 41964"/>
                </a:gdLst>
                <a:ahLst/>
                <a:cxnLst>
                  <a:cxn ang="T6">
                    <a:pos x="T0" y="T1"/>
                  </a:cxn>
                  <a:cxn ang="T7">
                    <a:pos x="T2" y="T3"/>
                  </a:cxn>
                  <a:cxn ang="T8">
                    <a:pos x="T4" y="T5"/>
                  </a:cxn>
                </a:cxnLst>
                <a:rect l="T9" t="T10" r="T11" b="T12"/>
                <a:pathLst>
                  <a:path w="21600" h="41964" fill="none" extrusionOk="0">
                    <a:moveTo>
                      <a:pt x="5534" y="-1"/>
                    </a:moveTo>
                    <a:cubicBezTo>
                      <a:pt x="15004" y="2510"/>
                      <a:pt x="21600" y="11080"/>
                      <a:pt x="21600" y="20879"/>
                    </a:cubicBezTo>
                    <a:cubicBezTo>
                      <a:pt x="21600" y="31001"/>
                      <a:pt x="14569" y="39767"/>
                      <a:pt x="4688" y="41964"/>
                    </a:cubicBezTo>
                  </a:path>
                  <a:path w="21600" h="41964" stroke="0" extrusionOk="0">
                    <a:moveTo>
                      <a:pt x="5534" y="-1"/>
                    </a:moveTo>
                    <a:cubicBezTo>
                      <a:pt x="15004" y="2510"/>
                      <a:pt x="21600" y="11080"/>
                      <a:pt x="21600" y="20879"/>
                    </a:cubicBezTo>
                    <a:cubicBezTo>
                      <a:pt x="21600" y="31001"/>
                      <a:pt x="14569" y="39767"/>
                      <a:pt x="4688" y="41964"/>
                    </a:cubicBezTo>
                    <a:lnTo>
                      <a:pt x="0" y="20879"/>
                    </a:lnTo>
                    <a:lnTo>
                      <a:pt x="5534" y="-1"/>
                    </a:lnTo>
                    <a:close/>
                  </a:path>
                </a:pathLst>
              </a:custGeom>
              <a:noFill/>
              <a:ln w="5715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24598" name="Group 16"/>
              <p:cNvGrpSpPr>
                <a:grpSpLocks/>
              </p:cNvGrpSpPr>
              <p:nvPr/>
            </p:nvGrpSpPr>
            <p:grpSpPr bwMode="auto">
              <a:xfrm flipH="1">
                <a:off x="45" y="2341"/>
                <a:ext cx="1610" cy="1497"/>
                <a:chOff x="45" y="2341"/>
                <a:chExt cx="2155" cy="1951"/>
              </a:xfrm>
            </p:grpSpPr>
            <p:sp>
              <p:nvSpPr>
                <p:cNvPr id="24599" name="Oval 5"/>
                <p:cNvSpPr>
                  <a:spLocks noChangeArrowheads="1"/>
                </p:cNvSpPr>
                <p:nvPr/>
              </p:nvSpPr>
              <p:spPr bwMode="auto">
                <a:xfrm flipH="1">
                  <a:off x="1203" y="2885"/>
                  <a:ext cx="363" cy="36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x</a:t>
                  </a:r>
                </a:p>
              </p:txBody>
            </p:sp>
            <p:cxnSp>
              <p:nvCxnSpPr>
                <p:cNvPr id="24600" name="AutoShape 6"/>
                <p:cNvCxnSpPr>
                  <a:cxnSpLocks noChangeShapeType="1"/>
                  <a:stCxn id="24599" idx="5"/>
                  <a:endCxn id="24602" idx="0"/>
                </p:cNvCxnSpPr>
                <p:nvPr/>
              </p:nvCxnSpPr>
              <p:spPr bwMode="auto">
                <a:xfrm>
                  <a:off x="1257" y="3194"/>
                  <a:ext cx="637" cy="28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4601" name="AutoShape 7"/>
                <p:cNvCxnSpPr>
                  <a:cxnSpLocks noChangeShapeType="1"/>
                  <a:stCxn id="24599" idx="3"/>
                  <a:endCxn id="24603" idx="0"/>
                </p:cNvCxnSpPr>
                <p:nvPr/>
              </p:nvCxnSpPr>
              <p:spPr bwMode="auto">
                <a:xfrm flipH="1">
                  <a:off x="896" y="3194"/>
                  <a:ext cx="617" cy="28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4602" name="AutoShape 9"/>
                <p:cNvSpPr>
                  <a:spLocks noChangeArrowheads="1"/>
                </p:cNvSpPr>
                <p:nvPr/>
              </p:nvSpPr>
              <p:spPr bwMode="auto">
                <a:xfrm flipH="1">
                  <a:off x="1588" y="3475"/>
                  <a:ext cx="612" cy="817"/>
                </a:xfrm>
                <a:prstGeom prst="flowChartExtra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T</a:t>
                  </a:r>
                  <a:r>
                    <a:rPr lang="en-US" altLang="en-US" b="0" baseline="-25000">
                      <a:latin typeface="Times New Roman" pitchFamily="18" charset="0"/>
                    </a:rPr>
                    <a:t>1</a:t>
                  </a:r>
                </a:p>
              </p:txBody>
            </p:sp>
            <p:sp>
              <p:nvSpPr>
                <p:cNvPr id="24603" name="AutoShape 10"/>
                <p:cNvSpPr>
                  <a:spLocks noChangeArrowheads="1"/>
                </p:cNvSpPr>
                <p:nvPr/>
              </p:nvSpPr>
              <p:spPr bwMode="auto">
                <a:xfrm flipH="1">
                  <a:off x="590" y="3475"/>
                  <a:ext cx="612" cy="817"/>
                </a:xfrm>
                <a:prstGeom prst="flowChartExtra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T</a:t>
                  </a:r>
                  <a:r>
                    <a:rPr lang="en-US" altLang="en-US" b="0" baseline="-25000">
                      <a:latin typeface="Times New Roman" pitchFamily="18" charset="0"/>
                    </a:rPr>
                    <a:t>2</a:t>
                  </a:r>
                </a:p>
              </p:txBody>
            </p:sp>
            <p:sp>
              <p:nvSpPr>
                <p:cNvPr id="24604" name="Oval 11"/>
                <p:cNvSpPr>
                  <a:spLocks noChangeArrowheads="1"/>
                </p:cNvSpPr>
                <p:nvPr/>
              </p:nvSpPr>
              <p:spPr bwMode="auto">
                <a:xfrm flipH="1">
                  <a:off x="658" y="2341"/>
                  <a:ext cx="363" cy="36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y</a:t>
                  </a:r>
                </a:p>
              </p:txBody>
            </p:sp>
            <p:cxnSp>
              <p:nvCxnSpPr>
                <p:cNvPr id="24605" name="AutoShape 12"/>
                <p:cNvCxnSpPr>
                  <a:cxnSpLocks noChangeShapeType="1"/>
                  <a:stCxn id="24604" idx="5"/>
                  <a:endCxn id="24599" idx="0"/>
                </p:cNvCxnSpPr>
                <p:nvPr/>
              </p:nvCxnSpPr>
              <p:spPr bwMode="auto">
                <a:xfrm>
                  <a:off x="712" y="2650"/>
                  <a:ext cx="673" cy="23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4606" name="AutoShape 13"/>
                <p:cNvCxnSpPr>
                  <a:cxnSpLocks noChangeShapeType="1"/>
                  <a:stCxn id="24604" idx="3"/>
                  <a:endCxn id="24607" idx="0"/>
                </p:cNvCxnSpPr>
                <p:nvPr/>
              </p:nvCxnSpPr>
              <p:spPr bwMode="auto">
                <a:xfrm flipH="1">
                  <a:off x="351" y="2650"/>
                  <a:ext cx="617" cy="28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4607" name="AutoShape 14"/>
                <p:cNvSpPr>
                  <a:spLocks noChangeArrowheads="1"/>
                </p:cNvSpPr>
                <p:nvPr/>
              </p:nvSpPr>
              <p:spPr bwMode="auto">
                <a:xfrm flipH="1">
                  <a:off x="45" y="2931"/>
                  <a:ext cx="612" cy="817"/>
                </a:xfrm>
                <a:prstGeom prst="flowChartExtra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T</a:t>
                  </a:r>
                  <a:r>
                    <a:rPr lang="en-US" altLang="en-US" b="0" baseline="-25000">
                      <a:latin typeface="Times New Roman" pitchFamily="18" charset="0"/>
                    </a:rPr>
                    <a:t>3</a:t>
                  </a:r>
                  <a:endParaRPr lang="en-US" altLang="en-US" b="0">
                    <a:latin typeface="Times New Roman" pitchFamily="18" charset="0"/>
                  </a:endParaRPr>
                </a:p>
              </p:txBody>
            </p:sp>
          </p:grpSp>
        </p:grpSp>
        <p:sp>
          <p:nvSpPr>
            <p:cNvPr id="24583" name="Text Box 18"/>
            <p:cNvSpPr txBox="1">
              <a:spLocks noChangeArrowheads="1"/>
            </p:cNvSpPr>
            <p:nvPr/>
          </p:nvSpPr>
          <p:spPr bwMode="auto">
            <a:xfrm>
              <a:off x="91" y="2115"/>
              <a:ext cx="161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a:cs typeface="Arial" pitchFamily="34" charset="0"/>
                </a:rPr>
                <a:t>deepest unbalanced node</a:t>
              </a:r>
            </a:p>
          </p:txBody>
        </p:sp>
        <p:sp>
          <p:nvSpPr>
            <p:cNvPr id="24584" name="Line 19"/>
            <p:cNvSpPr>
              <a:spLocks noChangeShapeType="1"/>
            </p:cNvSpPr>
            <p:nvPr/>
          </p:nvSpPr>
          <p:spPr bwMode="auto">
            <a:xfrm>
              <a:off x="657" y="2387"/>
              <a:ext cx="363" cy="91"/>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4585" name="Line 20"/>
            <p:cNvSpPr>
              <a:spLocks noChangeShapeType="1"/>
            </p:cNvSpPr>
            <p:nvPr/>
          </p:nvSpPr>
          <p:spPr bwMode="auto">
            <a:xfrm>
              <a:off x="1882" y="2568"/>
              <a:ext cx="1996" cy="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4586" name="Text Box 21"/>
            <p:cNvSpPr txBox="1">
              <a:spLocks noChangeArrowheads="1"/>
            </p:cNvSpPr>
            <p:nvPr/>
          </p:nvSpPr>
          <p:spPr bwMode="auto">
            <a:xfrm>
              <a:off x="1927" y="2337"/>
              <a:ext cx="199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a:cs typeface="Arial" pitchFamily="34" charset="0"/>
                </a:rPr>
                <a:t>a right rotation of x about y</a:t>
              </a:r>
            </a:p>
          </p:txBody>
        </p:sp>
        <p:grpSp>
          <p:nvGrpSpPr>
            <p:cNvPr id="24587" name="Group 24"/>
            <p:cNvGrpSpPr>
              <a:grpSpLocks/>
            </p:cNvGrpSpPr>
            <p:nvPr/>
          </p:nvGrpSpPr>
          <p:grpSpPr bwMode="auto">
            <a:xfrm>
              <a:off x="3946" y="2432"/>
              <a:ext cx="1610" cy="1497"/>
              <a:chOff x="45" y="2341"/>
              <a:chExt cx="2155" cy="1951"/>
            </a:xfrm>
          </p:grpSpPr>
          <p:sp>
            <p:nvSpPr>
              <p:cNvPr id="24588" name="Oval 25"/>
              <p:cNvSpPr>
                <a:spLocks noChangeArrowheads="1"/>
              </p:cNvSpPr>
              <p:nvPr/>
            </p:nvSpPr>
            <p:spPr bwMode="auto">
              <a:xfrm flipH="1">
                <a:off x="1203" y="2885"/>
                <a:ext cx="363" cy="36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y</a:t>
                </a:r>
              </a:p>
            </p:txBody>
          </p:sp>
          <p:cxnSp>
            <p:nvCxnSpPr>
              <p:cNvPr id="24589" name="AutoShape 26"/>
              <p:cNvCxnSpPr>
                <a:cxnSpLocks noChangeShapeType="1"/>
                <a:stCxn id="24588" idx="5"/>
                <a:endCxn id="24591" idx="0"/>
              </p:cNvCxnSpPr>
              <p:nvPr/>
            </p:nvCxnSpPr>
            <p:spPr bwMode="auto">
              <a:xfrm>
                <a:off x="1257" y="3194"/>
                <a:ext cx="637" cy="28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4590" name="AutoShape 27"/>
              <p:cNvCxnSpPr>
                <a:cxnSpLocks noChangeShapeType="1"/>
                <a:stCxn id="24588" idx="3"/>
                <a:endCxn id="24592" idx="0"/>
              </p:cNvCxnSpPr>
              <p:nvPr/>
            </p:nvCxnSpPr>
            <p:spPr bwMode="auto">
              <a:xfrm flipH="1">
                <a:off x="896" y="3194"/>
                <a:ext cx="617" cy="28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4591" name="AutoShape 28"/>
              <p:cNvSpPr>
                <a:spLocks noChangeArrowheads="1"/>
              </p:cNvSpPr>
              <p:nvPr/>
            </p:nvSpPr>
            <p:spPr bwMode="auto">
              <a:xfrm flipH="1">
                <a:off x="1588" y="3475"/>
                <a:ext cx="612" cy="817"/>
              </a:xfrm>
              <a:prstGeom prst="flowChartExtra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T</a:t>
                </a:r>
                <a:r>
                  <a:rPr lang="en-US" altLang="en-US" b="0" baseline="-25000">
                    <a:latin typeface="Times New Roman" pitchFamily="18" charset="0"/>
                  </a:rPr>
                  <a:t>3</a:t>
                </a:r>
              </a:p>
            </p:txBody>
          </p:sp>
          <p:sp>
            <p:nvSpPr>
              <p:cNvPr id="24592" name="AutoShape 29"/>
              <p:cNvSpPr>
                <a:spLocks noChangeArrowheads="1"/>
              </p:cNvSpPr>
              <p:nvPr/>
            </p:nvSpPr>
            <p:spPr bwMode="auto">
              <a:xfrm flipH="1">
                <a:off x="590" y="3475"/>
                <a:ext cx="612" cy="817"/>
              </a:xfrm>
              <a:prstGeom prst="flowChartExtra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T</a:t>
                </a:r>
                <a:r>
                  <a:rPr lang="en-US" altLang="en-US" b="0" baseline="-25000">
                    <a:latin typeface="Times New Roman" pitchFamily="18" charset="0"/>
                  </a:rPr>
                  <a:t>2</a:t>
                </a:r>
              </a:p>
            </p:txBody>
          </p:sp>
          <p:sp>
            <p:nvSpPr>
              <p:cNvPr id="24593" name="Oval 30"/>
              <p:cNvSpPr>
                <a:spLocks noChangeArrowheads="1"/>
              </p:cNvSpPr>
              <p:nvPr/>
            </p:nvSpPr>
            <p:spPr bwMode="auto">
              <a:xfrm flipH="1">
                <a:off x="658" y="2341"/>
                <a:ext cx="363" cy="36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x</a:t>
                </a:r>
              </a:p>
            </p:txBody>
          </p:sp>
          <p:cxnSp>
            <p:nvCxnSpPr>
              <p:cNvPr id="24594" name="AutoShape 31"/>
              <p:cNvCxnSpPr>
                <a:cxnSpLocks noChangeShapeType="1"/>
                <a:stCxn id="24593" idx="5"/>
                <a:endCxn id="24588" idx="0"/>
              </p:cNvCxnSpPr>
              <p:nvPr/>
            </p:nvCxnSpPr>
            <p:spPr bwMode="auto">
              <a:xfrm>
                <a:off x="712" y="2650"/>
                <a:ext cx="673" cy="23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4595" name="AutoShape 32"/>
              <p:cNvCxnSpPr>
                <a:cxnSpLocks noChangeShapeType="1"/>
                <a:stCxn id="24593" idx="3"/>
                <a:endCxn id="24596" idx="0"/>
              </p:cNvCxnSpPr>
              <p:nvPr/>
            </p:nvCxnSpPr>
            <p:spPr bwMode="auto">
              <a:xfrm flipH="1">
                <a:off x="351" y="2650"/>
                <a:ext cx="617" cy="28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4596" name="AutoShape 33"/>
              <p:cNvSpPr>
                <a:spLocks noChangeArrowheads="1"/>
              </p:cNvSpPr>
              <p:nvPr/>
            </p:nvSpPr>
            <p:spPr bwMode="auto">
              <a:xfrm flipH="1">
                <a:off x="45" y="2931"/>
                <a:ext cx="612" cy="817"/>
              </a:xfrm>
              <a:prstGeom prst="flowChartExtra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T</a:t>
                </a:r>
                <a:r>
                  <a:rPr lang="en-US" altLang="en-US" b="0" baseline="-25000">
                    <a:latin typeface="Times New Roman" pitchFamily="18" charset="0"/>
                  </a:rPr>
                  <a:t>1</a:t>
                </a:r>
                <a:endParaRPr lang="en-US" altLang="en-US" b="0">
                  <a:latin typeface="Times New Roman" pitchFamily="18" charset="0"/>
                </a:endParaRPr>
              </a:p>
            </p:txBody>
          </p:sp>
        </p:grpSp>
      </p:grpSp>
      <p:sp>
        <p:nvSpPr>
          <p:cNvPr id="24581" name="Text Box 34"/>
          <p:cNvSpPr txBox="1">
            <a:spLocks noChangeArrowheads="1"/>
          </p:cNvSpPr>
          <p:nvPr/>
        </p:nvSpPr>
        <p:spPr bwMode="auto">
          <a:xfrm>
            <a:off x="323850" y="6092825"/>
            <a:ext cx="71850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a:solidFill>
                  <a:schemeClr val="accent2"/>
                </a:solidFill>
                <a:cs typeface="Arial" pitchFamily="34" charset="0"/>
              </a:rPr>
              <a:t>Note: The pivot of the rotation is the deepest unbalanced node</a:t>
            </a:r>
          </a:p>
        </p:txBody>
      </p:sp>
    </p:spTree>
    <p:extLst>
      <p:ext uri="{BB962C8B-B14F-4D97-AF65-F5344CB8AC3E}">
        <p14:creationId xmlns:p14="http://schemas.microsoft.com/office/powerpoint/2010/main" val="4239969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468313" y="0"/>
            <a:ext cx="8229600" cy="922338"/>
          </a:xfrm>
        </p:spPr>
        <p:txBody>
          <a:bodyPr/>
          <a:lstStyle/>
          <a:p>
            <a:pPr eaLnBrk="1" hangingPunct="1"/>
            <a:r>
              <a:rPr lang="en-US" altLang="en-US" smtClean="0"/>
              <a:t>Single Left Rotation</a:t>
            </a:r>
          </a:p>
        </p:txBody>
      </p:sp>
      <p:sp>
        <p:nvSpPr>
          <p:cNvPr id="11267" name="Rectangle 6"/>
          <p:cNvSpPr>
            <a:spLocks noGrp="1" noChangeArrowheads="1"/>
          </p:cNvSpPr>
          <p:nvPr>
            <p:ph type="body" idx="1"/>
          </p:nvPr>
        </p:nvSpPr>
        <p:spPr>
          <a:xfrm>
            <a:off x="468313" y="836613"/>
            <a:ext cx="8229600" cy="1511300"/>
          </a:xfrm>
        </p:spPr>
        <p:txBody>
          <a:bodyPr>
            <a:normAutofit fontScale="77500" lnSpcReduction="20000"/>
          </a:bodyPr>
          <a:lstStyle/>
          <a:p>
            <a:pPr eaLnBrk="1" hangingPunct="1">
              <a:defRPr/>
            </a:pPr>
            <a:r>
              <a:rPr lang="en-US" smtClean="0"/>
              <a:t>Single left rotation:</a:t>
            </a:r>
          </a:p>
          <a:p>
            <a:pPr lvl="1" eaLnBrk="1" hangingPunct="1">
              <a:defRPr/>
            </a:pPr>
            <a:r>
              <a:rPr lang="en-US" smtClean="0"/>
              <a:t>The right child y of a node x becomes x's parent.</a:t>
            </a:r>
          </a:p>
          <a:p>
            <a:pPr lvl="1" eaLnBrk="1" hangingPunct="1">
              <a:defRPr/>
            </a:pPr>
            <a:r>
              <a:rPr lang="en-US" smtClean="0"/>
              <a:t>x becomes the left child of y.</a:t>
            </a:r>
          </a:p>
          <a:p>
            <a:pPr lvl="1" eaLnBrk="1" hangingPunct="1">
              <a:defRPr/>
            </a:pPr>
            <a:r>
              <a:rPr lang="en-US" smtClean="0"/>
              <a:t>The left child T</a:t>
            </a:r>
            <a:r>
              <a:rPr lang="en-US" baseline="-25000" smtClean="0"/>
              <a:t>2</a:t>
            </a:r>
            <a:r>
              <a:rPr lang="en-US" smtClean="0"/>
              <a:t> of y, if any, becomes the right child of x.</a:t>
            </a:r>
          </a:p>
        </p:txBody>
      </p:sp>
      <p:grpSp>
        <p:nvGrpSpPr>
          <p:cNvPr id="25604" name="Group 33"/>
          <p:cNvGrpSpPr>
            <a:grpSpLocks/>
          </p:cNvGrpSpPr>
          <p:nvPr/>
        </p:nvGrpSpPr>
        <p:grpSpPr bwMode="auto">
          <a:xfrm>
            <a:off x="144463" y="2636838"/>
            <a:ext cx="8675687" cy="2952750"/>
            <a:chOff x="91" y="2115"/>
            <a:chExt cx="5465" cy="1860"/>
          </a:xfrm>
        </p:grpSpPr>
        <p:sp>
          <p:nvSpPr>
            <p:cNvPr id="25606" name="Arc 8"/>
            <p:cNvSpPr>
              <a:spLocks/>
            </p:cNvSpPr>
            <p:nvPr/>
          </p:nvSpPr>
          <p:spPr bwMode="auto">
            <a:xfrm rot="5400000" flipH="1">
              <a:off x="1003" y="2903"/>
              <a:ext cx="342" cy="352"/>
            </a:xfrm>
            <a:custGeom>
              <a:avLst/>
              <a:gdLst>
                <a:gd name="T0" fmla="*/ 0 w 21600"/>
                <a:gd name="T1" fmla="*/ 0 h 41964"/>
                <a:gd name="T2" fmla="*/ 0 w 21600"/>
                <a:gd name="T3" fmla="*/ 0 h 41964"/>
                <a:gd name="T4" fmla="*/ 0 w 21600"/>
                <a:gd name="T5" fmla="*/ 0 h 41964"/>
                <a:gd name="T6" fmla="*/ 0 60000 65536"/>
                <a:gd name="T7" fmla="*/ 0 60000 65536"/>
                <a:gd name="T8" fmla="*/ 0 60000 65536"/>
                <a:gd name="T9" fmla="*/ 0 w 21600"/>
                <a:gd name="T10" fmla="*/ 0 h 41964"/>
                <a:gd name="T11" fmla="*/ 21600 w 21600"/>
                <a:gd name="T12" fmla="*/ 41964 h 41964"/>
              </a:gdLst>
              <a:ahLst/>
              <a:cxnLst>
                <a:cxn ang="T6">
                  <a:pos x="T0" y="T1"/>
                </a:cxn>
                <a:cxn ang="T7">
                  <a:pos x="T2" y="T3"/>
                </a:cxn>
                <a:cxn ang="T8">
                  <a:pos x="T4" y="T5"/>
                </a:cxn>
              </a:cxnLst>
              <a:rect l="T9" t="T10" r="T11" b="T12"/>
              <a:pathLst>
                <a:path w="21600" h="41964" fill="none" extrusionOk="0">
                  <a:moveTo>
                    <a:pt x="5534" y="-1"/>
                  </a:moveTo>
                  <a:cubicBezTo>
                    <a:pt x="15004" y="2510"/>
                    <a:pt x="21600" y="11080"/>
                    <a:pt x="21600" y="20879"/>
                  </a:cubicBezTo>
                  <a:cubicBezTo>
                    <a:pt x="21600" y="31001"/>
                    <a:pt x="14569" y="39767"/>
                    <a:pt x="4688" y="41964"/>
                  </a:cubicBezTo>
                </a:path>
                <a:path w="21600" h="41964" stroke="0" extrusionOk="0">
                  <a:moveTo>
                    <a:pt x="5534" y="-1"/>
                  </a:moveTo>
                  <a:cubicBezTo>
                    <a:pt x="15004" y="2510"/>
                    <a:pt x="21600" y="11080"/>
                    <a:pt x="21600" y="20879"/>
                  </a:cubicBezTo>
                  <a:cubicBezTo>
                    <a:pt x="21600" y="31001"/>
                    <a:pt x="14569" y="39767"/>
                    <a:pt x="4688" y="41964"/>
                  </a:cubicBezTo>
                  <a:lnTo>
                    <a:pt x="0" y="20879"/>
                  </a:lnTo>
                  <a:lnTo>
                    <a:pt x="5534" y="-1"/>
                  </a:lnTo>
                  <a:close/>
                </a:path>
              </a:pathLst>
            </a:custGeom>
            <a:noFill/>
            <a:ln w="5715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25607" name="Group 9"/>
            <p:cNvGrpSpPr>
              <a:grpSpLocks/>
            </p:cNvGrpSpPr>
            <p:nvPr/>
          </p:nvGrpSpPr>
          <p:grpSpPr bwMode="auto">
            <a:xfrm>
              <a:off x="590" y="2478"/>
              <a:ext cx="1610" cy="1497"/>
              <a:chOff x="45" y="2341"/>
              <a:chExt cx="2155" cy="1951"/>
            </a:xfrm>
          </p:grpSpPr>
          <p:sp>
            <p:nvSpPr>
              <p:cNvPr id="25622" name="Oval 10"/>
              <p:cNvSpPr>
                <a:spLocks noChangeArrowheads="1"/>
              </p:cNvSpPr>
              <p:nvPr/>
            </p:nvSpPr>
            <p:spPr bwMode="auto">
              <a:xfrm flipH="1">
                <a:off x="1203" y="2885"/>
                <a:ext cx="363" cy="36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y</a:t>
                </a:r>
              </a:p>
            </p:txBody>
          </p:sp>
          <p:cxnSp>
            <p:nvCxnSpPr>
              <p:cNvPr id="25623" name="AutoShape 11"/>
              <p:cNvCxnSpPr>
                <a:cxnSpLocks noChangeShapeType="1"/>
                <a:stCxn id="25622" idx="5"/>
                <a:endCxn id="25625" idx="0"/>
              </p:cNvCxnSpPr>
              <p:nvPr/>
            </p:nvCxnSpPr>
            <p:spPr bwMode="auto">
              <a:xfrm>
                <a:off x="1257" y="3194"/>
                <a:ext cx="637" cy="28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5624" name="AutoShape 12"/>
              <p:cNvCxnSpPr>
                <a:cxnSpLocks noChangeShapeType="1"/>
                <a:stCxn id="25622" idx="3"/>
                <a:endCxn id="25626" idx="0"/>
              </p:cNvCxnSpPr>
              <p:nvPr/>
            </p:nvCxnSpPr>
            <p:spPr bwMode="auto">
              <a:xfrm flipH="1">
                <a:off x="896" y="3194"/>
                <a:ext cx="617" cy="28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5625" name="AutoShape 13"/>
              <p:cNvSpPr>
                <a:spLocks noChangeArrowheads="1"/>
              </p:cNvSpPr>
              <p:nvPr/>
            </p:nvSpPr>
            <p:spPr bwMode="auto">
              <a:xfrm flipH="1">
                <a:off x="1588" y="3475"/>
                <a:ext cx="612" cy="817"/>
              </a:xfrm>
              <a:prstGeom prst="flowChartExtra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T</a:t>
                </a:r>
                <a:r>
                  <a:rPr lang="en-US" altLang="en-US" b="0" baseline="-25000">
                    <a:latin typeface="Times New Roman" pitchFamily="18" charset="0"/>
                  </a:rPr>
                  <a:t>3</a:t>
                </a:r>
              </a:p>
            </p:txBody>
          </p:sp>
          <p:sp>
            <p:nvSpPr>
              <p:cNvPr id="25626" name="AutoShape 14"/>
              <p:cNvSpPr>
                <a:spLocks noChangeArrowheads="1"/>
              </p:cNvSpPr>
              <p:nvPr/>
            </p:nvSpPr>
            <p:spPr bwMode="auto">
              <a:xfrm flipH="1">
                <a:off x="590" y="3475"/>
                <a:ext cx="612" cy="817"/>
              </a:xfrm>
              <a:prstGeom prst="flowChartExtra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T</a:t>
                </a:r>
                <a:r>
                  <a:rPr lang="en-US" altLang="en-US" b="0" baseline="-25000">
                    <a:latin typeface="Times New Roman" pitchFamily="18" charset="0"/>
                  </a:rPr>
                  <a:t>2</a:t>
                </a:r>
              </a:p>
            </p:txBody>
          </p:sp>
          <p:sp>
            <p:nvSpPr>
              <p:cNvPr id="25627" name="Oval 15"/>
              <p:cNvSpPr>
                <a:spLocks noChangeArrowheads="1"/>
              </p:cNvSpPr>
              <p:nvPr/>
            </p:nvSpPr>
            <p:spPr bwMode="auto">
              <a:xfrm flipH="1">
                <a:off x="658" y="2341"/>
                <a:ext cx="363" cy="36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x</a:t>
                </a:r>
              </a:p>
            </p:txBody>
          </p:sp>
          <p:cxnSp>
            <p:nvCxnSpPr>
              <p:cNvPr id="25628" name="AutoShape 16"/>
              <p:cNvCxnSpPr>
                <a:cxnSpLocks noChangeShapeType="1"/>
                <a:stCxn id="25627" idx="5"/>
                <a:endCxn id="25622" idx="0"/>
              </p:cNvCxnSpPr>
              <p:nvPr/>
            </p:nvCxnSpPr>
            <p:spPr bwMode="auto">
              <a:xfrm>
                <a:off x="712" y="2650"/>
                <a:ext cx="673" cy="23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5629" name="AutoShape 17"/>
              <p:cNvCxnSpPr>
                <a:cxnSpLocks noChangeShapeType="1"/>
                <a:stCxn id="25627" idx="3"/>
                <a:endCxn id="25630" idx="0"/>
              </p:cNvCxnSpPr>
              <p:nvPr/>
            </p:nvCxnSpPr>
            <p:spPr bwMode="auto">
              <a:xfrm flipH="1">
                <a:off x="351" y="2650"/>
                <a:ext cx="617" cy="28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5630" name="AutoShape 18"/>
              <p:cNvSpPr>
                <a:spLocks noChangeArrowheads="1"/>
              </p:cNvSpPr>
              <p:nvPr/>
            </p:nvSpPr>
            <p:spPr bwMode="auto">
              <a:xfrm flipH="1">
                <a:off x="45" y="2931"/>
                <a:ext cx="612" cy="817"/>
              </a:xfrm>
              <a:prstGeom prst="flowChartExtra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T</a:t>
                </a:r>
                <a:r>
                  <a:rPr lang="en-US" altLang="en-US" b="0" baseline="-25000">
                    <a:latin typeface="Times New Roman" pitchFamily="18" charset="0"/>
                  </a:rPr>
                  <a:t>1</a:t>
                </a:r>
                <a:endParaRPr lang="en-US" altLang="en-US" b="0">
                  <a:latin typeface="Times New Roman" pitchFamily="18" charset="0"/>
                </a:endParaRPr>
              </a:p>
            </p:txBody>
          </p:sp>
        </p:grpSp>
        <p:sp>
          <p:nvSpPr>
            <p:cNvPr id="25608" name="Text Box 19"/>
            <p:cNvSpPr txBox="1">
              <a:spLocks noChangeArrowheads="1"/>
            </p:cNvSpPr>
            <p:nvPr/>
          </p:nvSpPr>
          <p:spPr bwMode="auto">
            <a:xfrm>
              <a:off x="91" y="2115"/>
              <a:ext cx="161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a:cs typeface="Arial" pitchFamily="34" charset="0"/>
                </a:rPr>
                <a:t>deepest unbalanced node</a:t>
              </a:r>
            </a:p>
          </p:txBody>
        </p:sp>
        <p:sp>
          <p:nvSpPr>
            <p:cNvPr id="25609" name="Line 20"/>
            <p:cNvSpPr>
              <a:spLocks noChangeShapeType="1"/>
            </p:cNvSpPr>
            <p:nvPr/>
          </p:nvSpPr>
          <p:spPr bwMode="auto">
            <a:xfrm>
              <a:off x="657" y="2387"/>
              <a:ext cx="363" cy="91"/>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5610" name="Line 21"/>
            <p:cNvSpPr>
              <a:spLocks noChangeShapeType="1"/>
            </p:cNvSpPr>
            <p:nvPr/>
          </p:nvSpPr>
          <p:spPr bwMode="auto">
            <a:xfrm>
              <a:off x="1882" y="2568"/>
              <a:ext cx="1996" cy="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5611" name="Text Box 22"/>
            <p:cNvSpPr txBox="1">
              <a:spLocks noChangeArrowheads="1"/>
            </p:cNvSpPr>
            <p:nvPr/>
          </p:nvSpPr>
          <p:spPr bwMode="auto">
            <a:xfrm>
              <a:off x="1927" y="2337"/>
              <a:ext cx="199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a:cs typeface="Arial" pitchFamily="34" charset="0"/>
                </a:rPr>
                <a:t>a left rotation of y about x</a:t>
              </a:r>
            </a:p>
          </p:txBody>
        </p:sp>
        <p:grpSp>
          <p:nvGrpSpPr>
            <p:cNvPr id="25612" name="Group 23"/>
            <p:cNvGrpSpPr>
              <a:grpSpLocks/>
            </p:cNvGrpSpPr>
            <p:nvPr/>
          </p:nvGrpSpPr>
          <p:grpSpPr bwMode="auto">
            <a:xfrm flipH="1">
              <a:off x="3946" y="2432"/>
              <a:ext cx="1610" cy="1497"/>
              <a:chOff x="45" y="2341"/>
              <a:chExt cx="2155" cy="1951"/>
            </a:xfrm>
          </p:grpSpPr>
          <p:sp>
            <p:nvSpPr>
              <p:cNvPr id="25613" name="Oval 24"/>
              <p:cNvSpPr>
                <a:spLocks noChangeArrowheads="1"/>
              </p:cNvSpPr>
              <p:nvPr/>
            </p:nvSpPr>
            <p:spPr bwMode="auto">
              <a:xfrm flipH="1">
                <a:off x="1203" y="2885"/>
                <a:ext cx="363" cy="36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x</a:t>
                </a:r>
              </a:p>
            </p:txBody>
          </p:sp>
          <p:cxnSp>
            <p:nvCxnSpPr>
              <p:cNvPr id="25614" name="AutoShape 25"/>
              <p:cNvCxnSpPr>
                <a:cxnSpLocks noChangeShapeType="1"/>
                <a:stCxn id="25613" idx="5"/>
                <a:endCxn id="25616" idx="0"/>
              </p:cNvCxnSpPr>
              <p:nvPr/>
            </p:nvCxnSpPr>
            <p:spPr bwMode="auto">
              <a:xfrm>
                <a:off x="1257" y="3194"/>
                <a:ext cx="637" cy="28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5615" name="AutoShape 26"/>
              <p:cNvCxnSpPr>
                <a:cxnSpLocks noChangeShapeType="1"/>
                <a:stCxn id="25613" idx="3"/>
                <a:endCxn id="25617" idx="0"/>
              </p:cNvCxnSpPr>
              <p:nvPr/>
            </p:nvCxnSpPr>
            <p:spPr bwMode="auto">
              <a:xfrm flipH="1">
                <a:off x="896" y="3194"/>
                <a:ext cx="617" cy="28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5616" name="AutoShape 27"/>
              <p:cNvSpPr>
                <a:spLocks noChangeArrowheads="1"/>
              </p:cNvSpPr>
              <p:nvPr/>
            </p:nvSpPr>
            <p:spPr bwMode="auto">
              <a:xfrm flipH="1">
                <a:off x="1588" y="3475"/>
                <a:ext cx="612" cy="817"/>
              </a:xfrm>
              <a:prstGeom prst="flowChartExtra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T</a:t>
                </a:r>
                <a:r>
                  <a:rPr lang="en-US" altLang="en-US" b="0" baseline="-25000">
                    <a:latin typeface="Times New Roman" pitchFamily="18" charset="0"/>
                  </a:rPr>
                  <a:t>1</a:t>
                </a:r>
              </a:p>
            </p:txBody>
          </p:sp>
          <p:sp>
            <p:nvSpPr>
              <p:cNvPr id="25617" name="AutoShape 28"/>
              <p:cNvSpPr>
                <a:spLocks noChangeArrowheads="1"/>
              </p:cNvSpPr>
              <p:nvPr/>
            </p:nvSpPr>
            <p:spPr bwMode="auto">
              <a:xfrm flipH="1">
                <a:off x="590" y="3475"/>
                <a:ext cx="612" cy="817"/>
              </a:xfrm>
              <a:prstGeom prst="flowChartExtra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T</a:t>
                </a:r>
                <a:r>
                  <a:rPr lang="en-US" altLang="en-US" b="0" baseline="-25000">
                    <a:latin typeface="Times New Roman" pitchFamily="18" charset="0"/>
                  </a:rPr>
                  <a:t>2</a:t>
                </a:r>
              </a:p>
            </p:txBody>
          </p:sp>
          <p:sp>
            <p:nvSpPr>
              <p:cNvPr id="25618" name="Oval 29"/>
              <p:cNvSpPr>
                <a:spLocks noChangeArrowheads="1"/>
              </p:cNvSpPr>
              <p:nvPr/>
            </p:nvSpPr>
            <p:spPr bwMode="auto">
              <a:xfrm flipH="1">
                <a:off x="658" y="2341"/>
                <a:ext cx="363" cy="36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y</a:t>
                </a:r>
              </a:p>
            </p:txBody>
          </p:sp>
          <p:cxnSp>
            <p:nvCxnSpPr>
              <p:cNvPr id="25619" name="AutoShape 30"/>
              <p:cNvCxnSpPr>
                <a:cxnSpLocks noChangeShapeType="1"/>
                <a:stCxn id="25618" idx="5"/>
                <a:endCxn id="25613" idx="0"/>
              </p:cNvCxnSpPr>
              <p:nvPr/>
            </p:nvCxnSpPr>
            <p:spPr bwMode="auto">
              <a:xfrm>
                <a:off x="712" y="2650"/>
                <a:ext cx="673" cy="23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5620" name="AutoShape 31"/>
              <p:cNvCxnSpPr>
                <a:cxnSpLocks noChangeShapeType="1"/>
                <a:stCxn id="25618" idx="3"/>
                <a:endCxn id="25621" idx="0"/>
              </p:cNvCxnSpPr>
              <p:nvPr/>
            </p:nvCxnSpPr>
            <p:spPr bwMode="auto">
              <a:xfrm flipH="1">
                <a:off x="351" y="2650"/>
                <a:ext cx="617" cy="28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5621" name="AutoShape 32"/>
              <p:cNvSpPr>
                <a:spLocks noChangeArrowheads="1"/>
              </p:cNvSpPr>
              <p:nvPr/>
            </p:nvSpPr>
            <p:spPr bwMode="auto">
              <a:xfrm flipH="1">
                <a:off x="45" y="2931"/>
                <a:ext cx="612" cy="817"/>
              </a:xfrm>
              <a:prstGeom prst="flowChartExtra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T</a:t>
                </a:r>
                <a:r>
                  <a:rPr lang="en-US" altLang="en-US" b="0" baseline="-25000">
                    <a:latin typeface="Times New Roman" pitchFamily="18" charset="0"/>
                  </a:rPr>
                  <a:t>3</a:t>
                </a:r>
                <a:endParaRPr lang="en-US" altLang="en-US" b="0">
                  <a:latin typeface="Times New Roman" pitchFamily="18" charset="0"/>
                </a:endParaRPr>
              </a:p>
            </p:txBody>
          </p:sp>
        </p:grpSp>
      </p:grpSp>
      <p:sp>
        <p:nvSpPr>
          <p:cNvPr id="25605" name="Text Box 34"/>
          <p:cNvSpPr txBox="1">
            <a:spLocks noChangeArrowheads="1"/>
          </p:cNvSpPr>
          <p:nvPr/>
        </p:nvSpPr>
        <p:spPr bwMode="auto">
          <a:xfrm>
            <a:off x="468313" y="6021388"/>
            <a:ext cx="71850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a:solidFill>
                  <a:schemeClr val="accent2"/>
                </a:solidFill>
                <a:cs typeface="Arial" pitchFamily="34" charset="0"/>
              </a:rPr>
              <a:t>Note: The pivot of the rotation is the deepest unbalanced node</a:t>
            </a:r>
          </a:p>
        </p:txBody>
      </p:sp>
    </p:spTree>
    <p:extLst>
      <p:ext uri="{BB962C8B-B14F-4D97-AF65-F5344CB8AC3E}">
        <p14:creationId xmlns:p14="http://schemas.microsoft.com/office/powerpoint/2010/main" val="408908420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Footer Placeholder 4"/>
          <p:cNvSpPr>
            <a:spLocks noGrp="1"/>
          </p:cNvSpPr>
          <p:nvPr>
            <p:ph type="ftr" sz="quarter" idx="4294967295"/>
          </p:nvPr>
        </p:nvSpPr>
        <p:spPr bwMode="auto">
          <a:xfrm>
            <a:off x="3124200" y="6248400"/>
            <a:ext cx="28956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0"/>
              </a:spcBef>
              <a:buSzTx/>
              <a:buFontTx/>
              <a:buNone/>
            </a:pPr>
            <a:endParaRPr lang="en-US" altLang="en-US" b="0">
              <a:cs typeface="Arial" pitchFamily="34" charset="0"/>
            </a:endParaRPr>
          </a:p>
        </p:txBody>
      </p:sp>
      <p:sp>
        <p:nvSpPr>
          <p:cNvPr id="26627" name="Slide Number Placeholder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0"/>
              </a:spcBef>
              <a:buSzTx/>
              <a:buFontTx/>
              <a:buNone/>
            </a:pPr>
            <a:fld id="{7B89D375-87F0-4CF7-A8F0-3723F86D43F1}" type="slidenum">
              <a:rPr lang="en-US" altLang="en-US" b="0">
                <a:cs typeface="Arial" pitchFamily="34" charset="0"/>
              </a:rPr>
              <a:pPr eaLnBrk="1" hangingPunct="1">
                <a:spcBef>
                  <a:spcPct val="0"/>
                </a:spcBef>
                <a:buSzTx/>
                <a:buFontTx/>
                <a:buNone/>
              </a:pPr>
              <a:t>10</a:t>
            </a:fld>
            <a:endParaRPr lang="en-US" altLang="en-US" b="0">
              <a:cs typeface="Arial" pitchFamily="34" charset="0"/>
            </a:endParaRPr>
          </a:p>
        </p:txBody>
      </p:sp>
      <p:sp>
        <p:nvSpPr>
          <p:cNvPr id="26628" name="Rectangle 2"/>
          <p:cNvSpPr>
            <a:spLocks noGrp="1" noChangeArrowheads="1"/>
          </p:cNvSpPr>
          <p:nvPr>
            <p:ph type="title"/>
          </p:nvPr>
        </p:nvSpPr>
        <p:spPr/>
        <p:txBody>
          <a:bodyPr/>
          <a:lstStyle/>
          <a:p>
            <a:r>
              <a:rPr lang="en-US" altLang="en-US" smtClean="0"/>
              <a:t>Single Rotation</a:t>
            </a:r>
          </a:p>
        </p:txBody>
      </p:sp>
      <p:sp>
        <p:nvSpPr>
          <p:cNvPr id="11267" name="Rectangle 3"/>
          <p:cNvSpPr>
            <a:spLocks noGrp="1" noChangeArrowheads="1"/>
          </p:cNvSpPr>
          <p:nvPr>
            <p:ph type="body" idx="1"/>
          </p:nvPr>
        </p:nvSpPr>
        <p:spPr/>
        <p:txBody>
          <a:bodyPr>
            <a:normAutofit fontScale="92500"/>
          </a:bodyPr>
          <a:lstStyle/>
          <a:p>
            <a:pPr>
              <a:defRPr/>
            </a:pPr>
            <a:r>
              <a:rPr lang="en-US" sz="2800" dirty="0"/>
              <a:t>A single rotation switches the roles of the parent and child while maintaining the search order.</a:t>
            </a:r>
          </a:p>
          <a:p>
            <a:pPr marL="342900" lvl="1" indent="-342900">
              <a:defRPr/>
            </a:pPr>
            <a:r>
              <a:rPr lang="en-US" sz="2800" dirty="0"/>
              <a:t>Single rotation handles the outside cases (i.e. 1 and 4</a:t>
            </a:r>
            <a:r>
              <a:rPr lang="en-US" sz="2800" dirty="0" smtClean="0"/>
              <a:t>).</a:t>
            </a:r>
            <a:r>
              <a:rPr lang="en-US" sz="2800" dirty="0" err="1" smtClean="0"/>
              <a:t>i.e</a:t>
            </a:r>
            <a:r>
              <a:rPr lang="en-US" sz="2800" dirty="0" smtClean="0"/>
              <a:t> </a:t>
            </a:r>
          </a:p>
          <a:p>
            <a:pPr marL="342900" lvl="1" indent="-342900">
              <a:defRPr/>
            </a:pPr>
            <a:r>
              <a:rPr lang="en-US" dirty="0" smtClean="0">
                <a:solidFill>
                  <a:srgbClr val="FF0000"/>
                </a:solidFill>
              </a:rPr>
              <a:t>1: An insertion in the left </a:t>
            </a:r>
            <a:r>
              <a:rPr lang="en-US" dirty="0" err="1" smtClean="0">
                <a:solidFill>
                  <a:srgbClr val="FF0000"/>
                </a:solidFill>
              </a:rPr>
              <a:t>subtree</a:t>
            </a:r>
            <a:r>
              <a:rPr lang="en-US" dirty="0" smtClean="0">
                <a:solidFill>
                  <a:srgbClr val="FF0000"/>
                </a:solidFill>
              </a:rPr>
              <a:t> of the left child of X,</a:t>
            </a:r>
          </a:p>
          <a:p>
            <a:pPr marL="342900" lvl="1" indent="-342900">
              <a:defRPr/>
            </a:pPr>
            <a:r>
              <a:rPr lang="en-US" dirty="0" smtClean="0">
                <a:solidFill>
                  <a:srgbClr val="FF0000"/>
                </a:solidFill>
              </a:rPr>
              <a:t>4: An insertion in the right </a:t>
            </a:r>
            <a:r>
              <a:rPr lang="en-US" dirty="0" err="1" smtClean="0">
                <a:solidFill>
                  <a:srgbClr val="FF0000"/>
                </a:solidFill>
              </a:rPr>
              <a:t>subtree</a:t>
            </a:r>
            <a:r>
              <a:rPr lang="en-US" dirty="0" smtClean="0">
                <a:solidFill>
                  <a:srgbClr val="FF0000"/>
                </a:solidFill>
              </a:rPr>
              <a:t> of the right child of X.</a:t>
            </a:r>
            <a:endParaRPr lang="en-US" dirty="0">
              <a:solidFill>
                <a:srgbClr val="FF0000"/>
              </a:solidFill>
            </a:endParaRPr>
          </a:p>
          <a:p>
            <a:pPr>
              <a:defRPr/>
            </a:pPr>
            <a:r>
              <a:rPr lang="en-US" sz="2800" dirty="0"/>
              <a:t>We rotate between a node and its child. </a:t>
            </a:r>
          </a:p>
          <a:p>
            <a:pPr lvl="1">
              <a:defRPr/>
            </a:pPr>
            <a:r>
              <a:rPr lang="en-US" sz="2400" dirty="0"/>
              <a:t>Child becomes parent. Parent becomes right child in case 1, left child in case 4.</a:t>
            </a:r>
          </a:p>
          <a:p>
            <a:pPr>
              <a:defRPr/>
            </a:pPr>
            <a:r>
              <a:rPr lang="en-US" sz="2800" dirty="0"/>
              <a:t>The result is a binary search tree that satisfies the AVL property.</a:t>
            </a:r>
          </a:p>
        </p:txBody>
      </p:sp>
    </p:spTree>
    <p:extLst>
      <p:ext uri="{BB962C8B-B14F-4D97-AF65-F5344CB8AC3E}">
        <p14:creationId xmlns:p14="http://schemas.microsoft.com/office/powerpoint/2010/main" val="265872195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26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26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Footer Placeholder 4"/>
          <p:cNvSpPr>
            <a:spLocks noGrp="1"/>
          </p:cNvSpPr>
          <p:nvPr>
            <p:ph type="ftr" sz="quarter" idx="4294967295"/>
          </p:nvPr>
        </p:nvSpPr>
        <p:spPr bwMode="auto">
          <a:xfrm>
            <a:off x="3124200" y="6248400"/>
            <a:ext cx="28956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0"/>
              </a:spcBef>
              <a:buSzTx/>
              <a:buFontTx/>
              <a:buNone/>
            </a:pPr>
            <a:endParaRPr lang="en-US" altLang="en-US" b="0">
              <a:cs typeface="Arial" pitchFamily="34" charset="0"/>
            </a:endParaRPr>
          </a:p>
        </p:txBody>
      </p:sp>
      <p:sp>
        <p:nvSpPr>
          <p:cNvPr id="27651" name="Slide Number Placeholder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0"/>
              </a:spcBef>
              <a:buSzTx/>
              <a:buFontTx/>
              <a:buNone/>
            </a:pPr>
            <a:fld id="{F3E2048C-3DC5-40F4-B336-E5347E7C638E}" type="slidenum">
              <a:rPr lang="en-US" altLang="en-US" b="0">
                <a:cs typeface="Arial" pitchFamily="34" charset="0"/>
              </a:rPr>
              <a:pPr eaLnBrk="1" hangingPunct="1">
                <a:spcBef>
                  <a:spcPct val="0"/>
                </a:spcBef>
                <a:buSzTx/>
                <a:buFontTx/>
                <a:buNone/>
              </a:pPr>
              <a:t>11</a:t>
            </a:fld>
            <a:endParaRPr lang="en-US" altLang="en-US" b="0">
              <a:cs typeface="Arial" pitchFamily="34" charset="0"/>
            </a:endParaRPr>
          </a:p>
        </p:txBody>
      </p:sp>
      <p:sp>
        <p:nvSpPr>
          <p:cNvPr id="27652" name="Rectangle 2"/>
          <p:cNvSpPr>
            <a:spLocks noGrp="1" noChangeArrowheads="1"/>
          </p:cNvSpPr>
          <p:nvPr>
            <p:ph type="title"/>
          </p:nvPr>
        </p:nvSpPr>
        <p:spPr/>
        <p:txBody>
          <a:bodyPr/>
          <a:lstStyle/>
          <a:p>
            <a:r>
              <a:rPr lang="en-US" altLang="en-US" smtClean="0"/>
              <a:t>Double Rotation</a:t>
            </a:r>
          </a:p>
        </p:txBody>
      </p:sp>
      <p:sp>
        <p:nvSpPr>
          <p:cNvPr id="22531" name="Rectangle 3"/>
          <p:cNvSpPr>
            <a:spLocks noGrp="1" noChangeArrowheads="1"/>
          </p:cNvSpPr>
          <p:nvPr>
            <p:ph type="body" idx="1"/>
          </p:nvPr>
        </p:nvSpPr>
        <p:spPr/>
        <p:txBody>
          <a:bodyPr/>
          <a:lstStyle/>
          <a:p>
            <a:r>
              <a:rPr lang="en-US" altLang="en-US" sz="2800" smtClean="0"/>
              <a:t>Single rotation does not fix the inside cases (2 and 3). </a:t>
            </a:r>
          </a:p>
          <a:p>
            <a:pPr marL="457200" lvl="1" indent="0">
              <a:buFontTx/>
              <a:buNone/>
            </a:pPr>
            <a:endParaRPr lang="en-US" altLang="en-US" sz="2400" smtClean="0"/>
          </a:p>
          <a:p>
            <a:pPr marL="457200" lvl="1" indent="0">
              <a:buFontTx/>
              <a:buNone/>
            </a:pPr>
            <a:r>
              <a:rPr lang="en-US" altLang="en-US" sz="2400" smtClean="0">
                <a:solidFill>
                  <a:srgbClr val="FF0000"/>
                </a:solidFill>
              </a:rPr>
              <a:t>2.   An insertion in the right subtree of the left child of X,</a:t>
            </a:r>
          </a:p>
          <a:p>
            <a:pPr marL="457200" lvl="1" indent="0">
              <a:buFontTx/>
              <a:buNone/>
            </a:pPr>
            <a:r>
              <a:rPr lang="en-US" altLang="en-US" sz="2400" smtClean="0">
                <a:solidFill>
                  <a:srgbClr val="FF0000"/>
                </a:solidFill>
              </a:rPr>
              <a:t>3.   An insertion in the left subtree of the right child of X,</a:t>
            </a:r>
            <a:endParaRPr lang="en-US" altLang="en-US" smtClean="0">
              <a:solidFill>
                <a:srgbClr val="FF0000"/>
              </a:solidFill>
            </a:endParaRPr>
          </a:p>
          <a:p>
            <a:endParaRPr lang="en-US" altLang="en-US" smtClean="0">
              <a:solidFill>
                <a:srgbClr val="FF0000"/>
              </a:solidFill>
            </a:endParaRPr>
          </a:p>
          <a:p>
            <a:r>
              <a:rPr lang="en-US" altLang="en-US" sz="2800" smtClean="0"/>
              <a:t>These cases require a </a:t>
            </a:r>
            <a:r>
              <a:rPr lang="en-US" altLang="en-US" sz="2800" i="1" smtClean="0"/>
              <a:t>double</a:t>
            </a:r>
            <a:r>
              <a:rPr lang="en-US" altLang="en-US" sz="2800" smtClean="0"/>
              <a:t> rotation</a:t>
            </a:r>
          </a:p>
          <a:p>
            <a:endParaRPr lang="en-US" altLang="en-US" sz="2800" smtClean="0"/>
          </a:p>
        </p:txBody>
      </p:sp>
    </p:spTree>
    <p:extLst>
      <p:ext uri="{BB962C8B-B14F-4D97-AF65-F5344CB8AC3E}">
        <p14:creationId xmlns:p14="http://schemas.microsoft.com/office/powerpoint/2010/main" val="25630829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2531">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53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ooter Placeholder 2"/>
          <p:cNvSpPr>
            <a:spLocks noGrp="1"/>
          </p:cNvSpPr>
          <p:nvPr>
            <p:ph type="ftr" sz="quarter" idx="4294967295"/>
          </p:nvPr>
        </p:nvSpPr>
        <p:spPr bwMode="auto">
          <a:xfrm>
            <a:off x="3124200" y="6248400"/>
            <a:ext cx="28956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0"/>
              </a:spcBef>
              <a:buSzTx/>
              <a:buFontTx/>
              <a:buNone/>
            </a:pPr>
            <a:endParaRPr lang="en-US" altLang="en-US" b="0" dirty="0" smtClean="0">
              <a:cs typeface="Arial" pitchFamily="34" charset="0"/>
            </a:endParaRPr>
          </a:p>
          <a:p>
            <a:pPr eaLnBrk="1" hangingPunct="1">
              <a:spcBef>
                <a:spcPct val="0"/>
              </a:spcBef>
              <a:buSzTx/>
              <a:buFontTx/>
              <a:buNone/>
            </a:pPr>
            <a:endParaRPr lang="en-US" altLang="en-US" b="0" dirty="0">
              <a:cs typeface="Arial" pitchFamily="34" charset="0"/>
            </a:endParaRPr>
          </a:p>
        </p:txBody>
      </p:sp>
      <p:sp>
        <p:nvSpPr>
          <p:cNvPr id="28675" name="Slide Number Placeholder 3"/>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0"/>
              </a:spcBef>
              <a:buSzTx/>
              <a:buFontTx/>
              <a:buNone/>
            </a:pPr>
            <a:fld id="{9809843E-2590-4572-A00B-80DBF87E54AF}" type="slidenum">
              <a:rPr lang="en-US" altLang="en-US" b="0">
                <a:cs typeface="Arial" pitchFamily="34" charset="0"/>
              </a:rPr>
              <a:pPr eaLnBrk="1" hangingPunct="1">
                <a:spcBef>
                  <a:spcPct val="0"/>
                </a:spcBef>
                <a:buSzTx/>
                <a:buFontTx/>
                <a:buNone/>
              </a:pPr>
              <a:t>12</a:t>
            </a:fld>
            <a:endParaRPr lang="en-US" altLang="en-US" b="0">
              <a:cs typeface="Arial" pitchFamily="34" charset="0"/>
            </a:endParaRPr>
          </a:p>
        </p:txBody>
      </p:sp>
      <p:sp>
        <p:nvSpPr>
          <p:cNvPr id="28676" name="Rectangle 2"/>
          <p:cNvSpPr>
            <a:spLocks noChangeArrowheads="1"/>
          </p:cNvSpPr>
          <p:nvPr/>
        </p:nvSpPr>
        <p:spPr bwMode="auto">
          <a:xfrm>
            <a:off x="127000" y="114300"/>
            <a:ext cx="8890000" cy="83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spcBef>
                <a:spcPct val="0"/>
              </a:spcBef>
              <a:buSzTx/>
              <a:buFontTx/>
              <a:buNone/>
            </a:pPr>
            <a:r>
              <a:rPr lang="en-US" altLang="en-US">
                <a:latin typeface="Arial MT"/>
              </a:rPr>
              <a:t>Figure 19.25</a:t>
            </a:r>
          </a:p>
          <a:p>
            <a:pPr>
              <a:spcBef>
                <a:spcPct val="0"/>
              </a:spcBef>
              <a:buSzTx/>
              <a:buFontTx/>
              <a:buNone/>
            </a:pPr>
            <a:r>
              <a:rPr lang="en-US" altLang="en-US" sz="2000" b="0">
                <a:latin typeface="TimesNewRomanPS"/>
              </a:rPr>
              <a:t>Single rotation fixes an AVL tree after insertion of 1.</a:t>
            </a:r>
            <a:endParaRPr lang="en-US" altLang="en-US" b="0">
              <a:latin typeface="Times" pitchFamily="18" charset="0"/>
            </a:endParaRPr>
          </a:p>
        </p:txBody>
      </p:sp>
      <p:pic>
        <p:nvPicPr>
          <p:cNvPr id="2867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713" y="1695450"/>
            <a:ext cx="8154987" cy="427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51595174"/>
      </p:ext>
    </p:extLst>
  </p:cSld>
  <p:clrMapOvr>
    <a:masterClrMapping/>
  </p:clrMapOvr>
  <p:transition>
    <p:wipe dir="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8"/>
          <p:cNvSpPr>
            <a:spLocks noChangeArrowheads="1"/>
          </p:cNvSpPr>
          <p:nvPr/>
        </p:nvSpPr>
        <p:spPr bwMode="auto">
          <a:xfrm>
            <a:off x="307975" y="908050"/>
            <a:ext cx="7848600" cy="125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nSpc>
                <a:spcPct val="90000"/>
              </a:lnSpc>
              <a:spcBef>
                <a:spcPct val="0"/>
              </a:spcBef>
              <a:buSzTx/>
              <a:buFontTx/>
              <a:buNone/>
            </a:pPr>
            <a:r>
              <a:rPr lang="en-US" altLang="en-US" sz="2800">
                <a:solidFill>
                  <a:srgbClr val="FF0000"/>
                </a:solidFill>
                <a:latin typeface="Times New Roman" pitchFamily="18" charset="0"/>
              </a:rPr>
              <a:t>Example :</a:t>
            </a:r>
            <a:r>
              <a:rPr lang="en-US" altLang="en-US" sz="2800" b="0">
                <a:solidFill>
                  <a:srgbClr val="FF0000"/>
                </a:solidFill>
                <a:latin typeface="Times New Roman" pitchFamily="18" charset="0"/>
              </a:rPr>
              <a:t>     </a:t>
            </a:r>
            <a:r>
              <a:rPr lang="en-US" altLang="en-US" sz="2800" b="0">
                <a:latin typeface="Times New Roman" pitchFamily="18" charset="0"/>
              </a:rPr>
              <a:t>Start with an empty AVL tree and insert the items 3,2,1, and then 4 through 7 in sequential order.</a:t>
            </a:r>
          </a:p>
        </p:txBody>
      </p:sp>
    </p:spTree>
    <p:extLst>
      <p:ext uri="{BB962C8B-B14F-4D97-AF65-F5344CB8AC3E}">
        <p14:creationId xmlns:p14="http://schemas.microsoft.com/office/powerpoint/2010/main" val="161297446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4"/>
          <p:cNvSpPr>
            <a:spLocks noGrp="1"/>
          </p:cNvSpPr>
          <p:nvPr>
            <p:ph type="ftr" sz="quarter" idx="4294967295"/>
          </p:nvPr>
        </p:nvSpPr>
        <p:spPr bwMode="auto">
          <a:xfrm>
            <a:off x="3124200" y="6248400"/>
            <a:ext cx="28956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0"/>
              </a:spcBef>
              <a:buSzTx/>
              <a:buFontTx/>
              <a:buNone/>
            </a:pPr>
            <a:endParaRPr lang="en-US" altLang="en-US" b="0">
              <a:cs typeface="Arial" pitchFamily="34" charset="0"/>
            </a:endParaRPr>
          </a:p>
        </p:txBody>
      </p:sp>
      <p:sp>
        <p:nvSpPr>
          <p:cNvPr id="30723" name="Slide Number Placeholder 5"/>
          <p:cNvSpPr>
            <a:spLocks noGrp="1"/>
          </p:cNvSpPr>
          <p:nvPr>
            <p:ph type="sldNum" sz="quarter" idx="4294967295"/>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0"/>
              </a:spcBef>
              <a:buSzTx/>
              <a:buFontTx/>
              <a:buNone/>
            </a:pPr>
            <a:fld id="{E0245EB6-3B68-4DC3-8148-5F6526E401A7}" type="slidenum">
              <a:rPr lang="en-US" altLang="en-US" b="0">
                <a:cs typeface="Arial" pitchFamily="34" charset="0"/>
              </a:rPr>
              <a:pPr eaLnBrk="1" hangingPunct="1">
                <a:spcBef>
                  <a:spcPct val="0"/>
                </a:spcBef>
                <a:buSzTx/>
                <a:buFontTx/>
                <a:buNone/>
              </a:pPr>
              <a:t>14</a:t>
            </a:fld>
            <a:endParaRPr lang="en-US" altLang="en-US" b="0">
              <a:cs typeface="Arial" pitchFamily="34" charset="0"/>
            </a:endParaRPr>
          </a:p>
        </p:txBody>
      </p:sp>
      <p:sp>
        <p:nvSpPr>
          <p:cNvPr id="30724" name="Rectangle 2"/>
          <p:cNvSpPr>
            <a:spLocks noGrp="1" noChangeArrowheads="1"/>
          </p:cNvSpPr>
          <p:nvPr>
            <p:ph type="title"/>
          </p:nvPr>
        </p:nvSpPr>
        <p:spPr/>
        <p:txBody>
          <a:bodyPr/>
          <a:lstStyle/>
          <a:p>
            <a:pPr eaLnBrk="1" hangingPunct="1"/>
            <a:r>
              <a:rPr lang="en-US" altLang="en-US" smtClean="0"/>
              <a:t>Example</a:t>
            </a:r>
          </a:p>
        </p:txBody>
      </p:sp>
      <p:sp>
        <p:nvSpPr>
          <p:cNvPr id="30725" name="Rectangle 3"/>
          <p:cNvSpPr>
            <a:spLocks noGrp="1" noChangeArrowheads="1"/>
          </p:cNvSpPr>
          <p:nvPr>
            <p:ph type="body" idx="1"/>
          </p:nvPr>
        </p:nvSpPr>
        <p:spPr>
          <a:xfrm>
            <a:off x="685800" y="1447800"/>
            <a:ext cx="7772400" cy="2133600"/>
          </a:xfrm>
        </p:spPr>
        <p:txBody>
          <a:bodyPr/>
          <a:lstStyle/>
          <a:p>
            <a:pPr eaLnBrk="1" hangingPunct="1">
              <a:lnSpc>
                <a:spcPct val="90000"/>
              </a:lnSpc>
            </a:pPr>
            <a:r>
              <a:rPr lang="en-US" altLang="en-US" smtClean="0"/>
              <a:t>Start with an empty AVL tree and insert the items 3,2,1, and then 4 through 7 in sequential order.</a:t>
            </a:r>
          </a:p>
          <a:p>
            <a:pPr eaLnBrk="1" hangingPunct="1">
              <a:lnSpc>
                <a:spcPct val="90000"/>
              </a:lnSpc>
            </a:pPr>
            <a:r>
              <a:rPr lang="en-US" altLang="en-US" smtClean="0"/>
              <a:t>Answer:</a:t>
            </a:r>
          </a:p>
          <a:p>
            <a:pPr eaLnBrk="1" hangingPunct="1">
              <a:lnSpc>
                <a:spcPct val="90000"/>
              </a:lnSpc>
              <a:buFontTx/>
              <a:buNone/>
            </a:pPr>
            <a:endParaRPr lang="en-US" altLang="en-US" smtClean="0"/>
          </a:p>
        </p:txBody>
      </p:sp>
      <p:grpSp>
        <p:nvGrpSpPr>
          <p:cNvPr id="2" name="Group 18"/>
          <p:cNvGrpSpPr>
            <a:grpSpLocks/>
          </p:cNvGrpSpPr>
          <p:nvPr/>
        </p:nvGrpSpPr>
        <p:grpSpPr bwMode="auto">
          <a:xfrm>
            <a:off x="1993900" y="3733800"/>
            <a:ext cx="4319588" cy="1981200"/>
            <a:chOff x="1256" y="2352"/>
            <a:chExt cx="2721" cy="1248"/>
          </a:xfrm>
        </p:grpSpPr>
        <p:sp>
          <p:nvSpPr>
            <p:cNvPr id="30727" name="Line 5"/>
            <p:cNvSpPr>
              <a:spLocks noChangeShapeType="1"/>
            </p:cNvSpPr>
            <p:nvPr/>
          </p:nvSpPr>
          <p:spPr bwMode="auto">
            <a:xfrm flipH="1">
              <a:off x="1437" y="3051"/>
              <a:ext cx="363" cy="3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spAutoFit/>
            </a:bodyPr>
            <a:lstStyle/>
            <a:p>
              <a:endParaRPr lang="en-US"/>
            </a:p>
          </p:txBody>
        </p:sp>
        <p:sp>
          <p:nvSpPr>
            <p:cNvPr id="30728" name="Line 6"/>
            <p:cNvSpPr>
              <a:spLocks noChangeShapeType="1"/>
            </p:cNvSpPr>
            <p:nvPr/>
          </p:nvSpPr>
          <p:spPr bwMode="auto">
            <a:xfrm>
              <a:off x="1936" y="3051"/>
              <a:ext cx="272" cy="3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spAutoFit/>
            </a:bodyPr>
            <a:lstStyle/>
            <a:p>
              <a:endParaRPr lang="en-US"/>
            </a:p>
          </p:txBody>
        </p:sp>
        <p:sp>
          <p:nvSpPr>
            <p:cNvPr id="30729" name="Line 7"/>
            <p:cNvSpPr>
              <a:spLocks noChangeShapeType="1"/>
            </p:cNvSpPr>
            <p:nvPr/>
          </p:nvSpPr>
          <p:spPr bwMode="auto">
            <a:xfrm flipH="1">
              <a:off x="3054" y="3028"/>
              <a:ext cx="363" cy="3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spAutoFit/>
            </a:bodyPr>
            <a:lstStyle/>
            <a:p>
              <a:endParaRPr lang="en-US"/>
            </a:p>
          </p:txBody>
        </p:sp>
        <p:sp>
          <p:nvSpPr>
            <p:cNvPr id="30730" name="Line 8"/>
            <p:cNvSpPr>
              <a:spLocks noChangeShapeType="1"/>
            </p:cNvSpPr>
            <p:nvPr/>
          </p:nvSpPr>
          <p:spPr bwMode="auto">
            <a:xfrm>
              <a:off x="3524" y="3051"/>
              <a:ext cx="272" cy="3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spAutoFit/>
            </a:bodyPr>
            <a:lstStyle/>
            <a:p>
              <a:endParaRPr lang="en-US"/>
            </a:p>
          </p:txBody>
        </p:sp>
        <p:sp>
          <p:nvSpPr>
            <p:cNvPr id="30731" name="Oval 9"/>
            <p:cNvSpPr>
              <a:spLocks noChangeArrowheads="1"/>
            </p:cNvSpPr>
            <p:nvPr/>
          </p:nvSpPr>
          <p:spPr bwMode="auto">
            <a:xfrm>
              <a:off x="2843" y="3350"/>
              <a:ext cx="227" cy="250"/>
            </a:xfrm>
            <a:prstGeom prst="ellipse">
              <a:avLst/>
            </a:prstGeom>
            <a:solidFill>
              <a:srgbClr val="EAEAEA"/>
            </a:solidFill>
            <a:ln w="9525">
              <a:solidFill>
                <a:schemeClr val="tx1"/>
              </a:solidFill>
              <a:round/>
              <a:headEnd/>
              <a:tailEnd/>
            </a:ln>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sz="1600" b="0">
                  <a:latin typeface="Times New Roman" pitchFamily="18" charset="0"/>
                </a:rPr>
                <a:t>5</a:t>
              </a:r>
            </a:p>
          </p:txBody>
        </p:sp>
        <p:sp>
          <p:nvSpPr>
            <p:cNvPr id="30732" name="Oval 10"/>
            <p:cNvSpPr>
              <a:spLocks noChangeArrowheads="1"/>
            </p:cNvSpPr>
            <p:nvPr/>
          </p:nvSpPr>
          <p:spPr bwMode="auto">
            <a:xfrm>
              <a:off x="1256" y="3350"/>
              <a:ext cx="227" cy="250"/>
            </a:xfrm>
            <a:prstGeom prst="ellipse">
              <a:avLst/>
            </a:prstGeom>
            <a:solidFill>
              <a:srgbClr val="EAEAEA"/>
            </a:solidFill>
            <a:ln w="9525">
              <a:solidFill>
                <a:schemeClr val="tx1"/>
              </a:solidFill>
              <a:round/>
              <a:headEnd/>
              <a:tailEnd/>
            </a:ln>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sz="1600" b="0">
                  <a:latin typeface="Times New Roman" pitchFamily="18" charset="0"/>
                </a:rPr>
                <a:t>1</a:t>
              </a:r>
            </a:p>
          </p:txBody>
        </p:sp>
        <p:sp>
          <p:nvSpPr>
            <p:cNvPr id="30733" name="Oval 11"/>
            <p:cNvSpPr>
              <a:spLocks noChangeArrowheads="1"/>
            </p:cNvSpPr>
            <p:nvPr/>
          </p:nvSpPr>
          <p:spPr bwMode="auto">
            <a:xfrm>
              <a:off x="2117" y="3350"/>
              <a:ext cx="227" cy="250"/>
            </a:xfrm>
            <a:prstGeom prst="ellipse">
              <a:avLst/>
            </a:prstGeom>
            <a:solidFill>
              <a:srgbClr val="EAEAEA"/>
            </a:solidFill>
            <a:ln w="9525">
              <a:solidFill>
                <a:schemeClr val="tx1"/>
              </a:solidFill>
              <a:round/>
              <a:headEnd/>
              <a:tailEnd/>
            </a:ln>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sz="1600" b="0">
                  <a:latin typeface="Times New Roman" pitchFamily="18" charset="0"/>
                </a:rPr>
                <a:t>3</a:t>
              </a:r>
            </a:p>
          </p:txBody>
        </p:sp>
        <p:sp>
          <p:nvSpPr>
            <p:cNvPr id="30734" name="Line 12"/>
            <p:cNvSpPr>
              <a:spLocks noChangeShapeType="1"/>
            </p:cNvSpPr>
            <p:nvPr/>
          </p:nvSpPr>
          <p:spPr bwMode="auto">
            <a:xfrm flipV="1">
              <a:off x="1845" y="2452"/>
              <a:ext cx="771" cy="54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en-US"/>
            </a:p>
          </p:txBody>
        </p:sp>
        <p:sp>
          <p:nvSpPr>
            <p:cNvPr id="30735" name="Line 13"/>
            <p:cNvSpPr>
              <a:spLocks noChangeShapeType="1"/>
            </p:cNvSpPr>
            <p:nvPr/>
          </p:nvSpPr>
          <p:spPr bwMode="auto">
            <a:xfrm>
              <a:off x="2571" y="2452"/>
              <a:ext cx="907" cy="54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spAutoFit/>
            </a:bodyPr>
            <a:lstStyle/>
            <a:p>
              <a:endParaRPr lang="en-US"/>
            </a:p>
          </p:txBody>
        </p:sp>
        <p:sp>
          <p:nvSpPr>
            <p:cNvPr id="30736" name="Oval 14"/>
            <p:cNvSpPr>
              <a:spLocks noChangeArrowheads="1"/>
            </p:cNvSpPr>
            <p:nvPr/>
          </p:nvSpPr>
          <p:spPr bwMode="auto">
            <a:xfrm>
              <a:off x="2496" y="2352"/>
              <a:ext cx="227" cy="250"/>
            </a:xfrm>
            <a:prstGeom prst="ellipse">
              <a:avLst/>
            </a:prstGeom>
            <a:solidFill>
              <a:srgbClr val="EAEAEA"/>
            </a:solidFill>
            <a:ln w="9525">
              <a:solidFill>
                <a:schemeClr val="tx1"/>
              </a:solidFill>
              <a:round/>
              <a:headEnd/>
              <a:tailEnd/>
            </a:ln>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sz="1600" b="0">
                  <a:latin typeface="Times New Roman" pitchFamily="18" charset="0"/>
                </a:rPr>
                <a:t>4</a:t>
              </a:r>
            </a:p>
          </p:txBody>
        </p:sp>
        <p:sp>
          <p:nvSpPr>
            <p:cNvPr id="30737" name="Oval 15"/>
            <p:cNvSpPr>
              <a:spLocks noChangeArrowheads="1"/>
            </p:cNvSpPr>
            <p:nvPr/>
          </p:nvSpPr>
          <p:spPr bwMode="auto">
            <a:xfrm>
              <a:off x="1754" y="2852"/>
              <a:ext cx="227" cy="249"/>
            </a:xfrm>
            <a:prstGeom prst="ellipse">
              <a:avLst/>
            </a:prstGeom>
            <a:solidFill>
              <a:srgbClr val="EAEAEA"/>
            </a:solidFill>
            <a:ln w="9525">
              <a:solidFill>
                <a:schemeClr val="tx1"/>
              </a:solidFill>
              <a:round/>
              <a:headEnd/>
              <a:tailEnd/>
            </a:ln>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sz="1600" b="0">
                  <a:latin typeface="Times New Roman" pitchFamily="18" charset="0"/>
                </a:rPr>
                <a:t>2</a:t>
              </a:r>
            </a:p>
          </p:txBody>
        </p:sp>
        <p:sp>
          <p:nvSpPr>
            <p:cNvPr id="30738" name="Oval 16"/>
            <p:cNvSpPr>
              <a:spLocks noChangeArrowheads="1"/>
            </p:cNvSpPr>
            <p:nvPr/>
          </p:nvSpPr>
          <p:spPr bwMode="auto">
            <a:xfrm>
              <a:off x="3342" y="2852"/>
              <a:ext cx="227" cy="249"/>
            </a:xfrm>
            <a:prstGeom prst="ellipse">
              <a:avLst/>
            </a:prstGeom>
            <a:solidFill>
              <a:srgbClr val="EAEAEA"/>
            </a:solidFill>
            <a:ln w="9525">
              <a:solidFill>
                <a:schemeClr val="tx1"/>
              </a:solidFill>
              <a:round/>
              <a:headEnd/>
              <a:tailEnd/>
            </a:ln>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sz="1600" b="0">
                  <a:latin typeface="Times New Roman" pitchFamily="18" charset="0"/>
                </a:rPr>
                <a:t>6</a:t>
              </a:r>
            </a:p>
          </p:txBody>
        </p:sp>
        <p:sp>
          <p:nvSpPr>
            <p:cNvPr id="30739" name="Oval 17"/>
            <p:cNvSpPr>
              <a:spLocks noChangeArrowheads="1"/>
            </p:cNvSpPr>
            <p:nvPr/>
          </p:nvSpPr>
          <p:spPr bwMode="auto">
            <a:xfrm>
              <a:off x="3750" y="3350"/>
              <a:ext cx="227" cy="250"/>
            </a:xfrm>
            <a:prstGeom prst="ellipse">
              <a:avLst/>
            </a:prstGeom>
            <a:solidFill>
              <a:srgbClr val="EAEAEA"/>
            </a:solidFill>
            <a:ln w="9525">
              <a:solidFill>
                <a:schemeClr val="tx1"/>
              </a:solidFill>
              <a:round/>
              <a:headEnd/>
              <a:tailEnd/>
            </a:ln>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sz="1600" b="0">
                  <a:latin typeface="Times New Roman" pitchFamily="18" charset="0"/>
                </a:rPr>
                <a:t>7</a:t>
              </a:r>
            </a:p>
          </p:txBody>
        </p:sp>
      </p:grpSp>
    </p:spTree>
    <p:extLst>
      <p:ext uri="{BB962C8B-B14F-4D97-AF65-F5344CB8AC3E}">
        <p14:creationId xmlns:p14="http://schemas.microsoft.com/office/powerpoint/2010/main" val="3932852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smtClean="0"/>
              <a:t>Insertion in an AVL tree</a:t>
            </a:r>
            <a:endParaRPr lang="en-US" dirty="0"/>
          </a:p>
        </p:txBody>
      </p:sp>
      <p:sp>
        <p:nvSpPr>
          <p:cNvPr id="3" name="Content Placeholder 2"/>
          <p:cNvSpPr>
            <a:spLocks noGrp="1"/>
          </p:cNvSpPr>
          <p:nvPr>
            <p:ph idx="1"/>
          </p:nvPr>
        </p:nvSpPr>
        <p:spPr>
          <a:xfrm>
            <a:off x="304800" y="990600"/>
            <a:ext cx="5867400" cy="5638800"/>
          </a:xfrm>
        </p:spPr>
        <p:txBody>
          <a:bodyPr>
            <a:normAutofit fontScale="70000" lnSpcReduction="20000"/>
          </a:bodyPr>
          <a:lstStyle/>
          <a:p>
            <a:r>
              <a:rPr lang="en-US" dirty="0" smtClean="0"/>
              <a:t>Let us call the node that must be rebalanced </a:t>
            </a:r>
            <a:r>
              <a:rPr lang="el-GR" b="1" dirty="0" smtClean="0">
                <a:solidFill>
                  <a:srgbClr val="B31B88"/>
                </a:solidFill>
              </a:rPr>
              <a:t>α</a:t>
            </a:r>
            <a:endParaRPr lang="en-US" b="1" dirty="0" smtClean="0">
              <a:solidFill>
                <a:srgbClr val="B31B88"/>
              </a:solidFill>
            </a:endParaRPr>
          </a:p>
          <a:p>
            <a:pPr lvl="1"/>
            <a:r>
              <a:rPr lang="en-US" dirty="0" smtClean="0"/>
              <a:t>Since any node has at most 2 children, and a height imbalance requires that </a:t>
            </a:r>
            <a:r>
              <a:rPr lang="el-GR" b="1" dirty="0" smtClean="0">
                <a:solidFill>
                  <a:srgbClr val="B31B88"/>
                </a:solidFill>
              </a:rPr>
              <a:t>α</a:t>
            </a:r>
            <a:r>
              <a:rPr lang="en-US" b="1" dirty="0" smtClean="0">
                <a:solidFill>
                  <a:srgbClr val="B31B88"/>
                </a:solidFill>
              </a:rPr>
              <a:t>’s </a:t>
            </a:r>
            <a:r>
              <a:rPr lang="en-US" dirty="0" smtClean="0"/>
              <a:t>2 </a:t>
            </a:r>
            <a:r>
              <a:rPr lang="en-US" dirty="0" err="1" smtClean="0"/>
              <a:t>subtrees</a:t>
            </a:r>
            <a:r>
              <a:rPr lang="en-US" dirty="0" smtClean="0"/>
              <a:t>’ height differ by 2, there are 4 violation cases:</a:t>
            </a:r>
          </a:p>
          <a:p>
            <a:pPr marL="971550" lvl="1" indent="-514350">
              <a:buFont typeface="+mj-lt"/>
              <a:buAutoNum type="arabicParenR"/>
            </a:pPr>
            <a:r>
              <a:rPr lang="en-US" dirty="0" smtClean="0"/>
              <a:t>An insertion into the left </a:t>
            </a:r>
            <a:r>
              <a:rPr lang="en-US" dirty="0" err="1" smtClean="0"/>
              <a:t>subtree</a:t>
            </a:r>
            <a:r>
              <a:rPr lang="en-US" dirty="0" smtClean="0"/>
              <a:t> of the left child of </a:t>
            </a:r>
            <a:r>
              <a:rPr lang="el-GR" b="1" dirty="0" smtClean="0">
                <a:solidFill>
                  <a:srgbClr val="B31B88"/>
                </a:solidFill>
              </a:rPr>
              <a:t>α</a:t>
            </a:r>
            <a:r>
              <a:rPr lang="en-US" b="1" dirty="0" smtClean="0">
                <a:solidFill>
                  <a:srgbClr val="B31B88"/>
                </a:solidFill>
              </a:rPr>
              <a:t>.</a:t>
            </a:r>
          </a:p>
          <a:p>
            <a:pPr marL="971550" lvl="1" indent="-514350">
              <a:buNone/>
            </a:pPr>
            <a:endParaRPr lang="en-US" b="1" dirty="0" smtClean="0">
              <a:solidFill>
                <a:srgbClr val="B31B88"/>
              </a:solidFill>
            </a:endParaRPr>
          </a:p>
          <a:p>
            <a:pPr marL="971550" lvl="1" indent="-514350">
              <a:buNone/>
            </a:pPr>
            <a:endParaRPr lang="en-US" b="1" dirty="0" smtClean="0">
              <a:solidFill>
                <a:srgbClr val="B31B88"/>
              </a:solidFill>
            </a:endParaRPr>
          </a:p>
          <a:p>
            <a:pPr marL="971550" lvl="1" indent="-514350">
              <a:buNone/>
            </a:pPr>
            <a:r>
              <a:rPr lang="en-US" dirty="0" smtClean="0"/>
              <a:t>2)    An insertion into the right </a:t>
            </a:r>
            <a:r>
              <a:rPr lang="en-US" dirty="0" err="1" smtClean="0"/>
              <a:t>subtree</a:t>
            </a:r>
            <a:r>
              <a:rPr lang="en-US" dirty="0" smtClean="0"/>
              <a:t> of the left child of </a:t>
            </a:r>
            <a:r>
              <a:rPr lang="el-GR" b="1" dirty="0" smtClean="0">
                <a:solidFill>
                  <a:srgbClr val="B31B88"/>
                </a:solidFill>
              </a:rPr>
              <a:t>α</a:t>
            </a:r>
            <a:r>
              <a:rPr lang="en-US" dirty="0" smtClean="0"/>
              <a:t>.</a:t>
            </a:r>
          </a:p>
          <a:p>
            <a:pPr marL="971550" lvl="1" indent="-514350">
              <a:buFont typeface="+mj-lt"/>
              <a:buAutoNum type="arabicParenR"/>
            </a:pPr>
            <a:endParaRPr lang="en-US" dirty="0" smtClean="0"/>
          </a:p>
          <a:p>
            <a:pPr marL="971550" lvl="1" indent="-514350">
              <a:buFont typeface="+mj-lt"/>
              <a:buAutoNum type="arabicParenR"/>
            </a:pPr>
            <a:endParaRPr lang="en-US" dirty="0" smtClean="0"/>
          </a:p>
          <a:p>
            <a:pPr marL="971550" lvl="1" indent="-514350">
              <a:buNone/>
            </a:pPr>
            <a:r>
              <a:rPr lang="en-US" dirty="0" smtClean="0"/>
              <a:t>3)    An insertion into the left </a:t>
            </a:r>
            <a:r>
              <a:rPr lang="en-US" dirty="0" err="1" smtClean="0"/>
              <a:t>subtree</a:t>
            </a:r>
            <a:r>
              <a:rPr lang="en-US" dirty="0" smtClean="0"/>
              <a:t> of the right child of </a:t>
            </a:r>
            <a:r>
              <a:rPr lang="el-GR" b="1" dirty="0" smtClean="0">
                <a:solidFill>
                  <a:srgbClr val="B31B88"/>
                </a:solidFill>
              </a:rPr>
              <a:t>α</a:t>
            </a:r>
            <a:r>
              <a:rPr lang="en-US" dirty="0" smtClean="0"/>
              <a:t>.</a:t>
            </a:r>
          </a:p>
          <a:p>
            <a:pPr marL="971550" lvl="1" indent="-514350">
              <a:buFont typeface="+mj-lt"/>
              <a:buAutoNum type="arabicParenR"/>
            </a:pPr>
            <a:endParaRPr lang="en-US" dirty="0" smtClean="0"/>
          </a:p>
          <a:p>
            <a:pPr marL="971550" lvl="1" indent="-514350">
              <a:buFont typeface="+mj-lt"/>
              <a:buAutoNum type="arabicParenR"/>
            </a:pPr>
            <a:endParaRPr lang="en-US" dirty="0" smtClean="0"/>
          </a:p>
          <a:p>
            <a:pPr marL="971550" lvl="1" indent="-514350">
              <a:buNone/>
            </a:pPr>
            <a:r>
              <a:rPr lang="en-US" dirty="0" smtClean="0"/>
              <a:t>4)    An insertion into the right </a:t>
            </a:r>
            <a:r>
              <a:rPr lang="en-US" dirty="0" err="1" smtClean="0"/>
              <a:t>subtree</a:t>
            </a:r>
            <a:r>
              <a:rPr lang="en-US" dirty="0" smtClean="0"/>
              <a:t> of the right child of </a:t>
            </a:r>
            <a:r>
              <a:rPr lang="el-GR" b="1" dirty="0" smtClean="0">
                <a:solidFill>
                  <a:srgbClr val="B31B88"/>
                </a:solidFill>
              </a:rPr>
              <a:t>α</a:t>
            </a:r>
            <a:r>
              <a:rPr lang="en-US" dirty="0" smtClean="0"/>
              <a:t>.</a:t>
            </a:r>
            <a:endParaRPr lang="en-US" dirty="0"/>
          </a:p>
        </p:txBody>
      </p:sp>
      <p:sp>
        <p:nvSpPr>
          <p:cNvPr id="4" name="Oval 3"/>
          <p:cNvSpPr/>
          <p:nvPr/>
        </p:nvSpPr>
        <p:spPr>
          <a:xfrm>
            <a:off x="6934200" y="22098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l-GR" b="1" dirty="0" smtClean="0">
                <a:solidFill>
                  <a:srgbClr val="B31B88"/>
                </a:solidFill>
              </a:rPr>
              <a:t>α</a:t>
            </a:r>
            <a:endParaRPr lang="en-US" dirty="0"/>
          </a:p>
        </p:txBody>
      </p:sp>
      <p:sp>
        <p:nvSpPr>
          <p:cNvPr id="5" name="Oval 4"/>
          <p:cNvSpPr/>
          <p:nvPr/>
        </p:nvSpPr>
        <p:spPr>
          <a:xfrm>
            <a:off x="6172200" y="29718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p:cNvSpPr/>
          <p:nvPr/>
        </p:nvSpPr>
        <p:spPr>
          <a:xfrm>
            <a:off x="6553200" y="25908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p:cNvCxnSpPr>
            <a:stCxn id="4" idx="3"/>
            <a:endCxn id="6" idx="7"/>
          </p:cNvCxnSpPr>
          <p:nvPr/>
        </p:nvCxnSpPr>
        <p:spPr>
          <a:xfrm rot="5400000">
            <a:off x="6748322" y="2404922"/>
            <a:ext cx="219356" cy="2193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5" idx="7"/>
            <a:endCxn id="6" idx="3"/>
          </p:cNvCxnSpPr>
          <p:nvPr/>
        </p:nvCxnSpPr>
        <p:spPr>
          <a:xfrm rot="5400000" flipH="1" flipV="1">
            <a:off x="6367322" y="2785922"/>
            <a:ext cx="219356" cy="219356"/>
          </a:xfrm>
          <a:prstGeom prst="line">
            <a:avLst/>
          </a:prstGeom>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7696200" y="32766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l-GR" b="1" dirty="0" smtClean="0">
                <a:solidFill>
                  <a:srgbClr val="B31B88"/>
                </a:solidFill>
              </a:rPr>
              <a:t>α</a:t>
            </a:r>
            <a:endParaRPr lang="en-US" dirty="0"/>
          </a:p>
        </p:txBody>
      </p:sp>
      <p:sp>
        <p:nvSpPr>
          <p:cNvPr id="18" name="Oval 17"/>
          <p:cNvSpPr/>
          <p:nvPr/>
        </p:nvSpPr>
        <p:spPr>
          <a:xfrm>
            <a:off x="7696200" y="41148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p:cNvSpPr/>
          <p:nvPr/>
        </p:nvSpPr>
        <p:spPr>
          <a:xfrm>
            <a:off x="7315200" y="36576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0" name="Straight Connector 19"/>
          <p:cNvCxnSpPr>
            <a:stCxn id="17" idx="3"/>
            <a:endCxn id="19" idx="7"/>
          </p:cNvCxnSpPr>
          <p:nvPr/>
        </p:nvCxnSpPr>
        <p:spPr>
          <a:xfrm rot="5400000">
            <a:off x="7510322" y="3471722"/>
            <a:ext cx="219356" cy="219356"/>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18" idx="1"/>
            <a:endCxn id="19" idx="5"/>
          </p:cNvCxnSpPr>
          <p:nvPr/>
        </p:nvCxnSpPr>
        <p:spPr>
          <a:xfrm rot="16200000" flipV="1">
            <a:off x="7472222" y="3890822"/>
            <a:ext cx="295556" cy="219356"/>
          </a:xfrm>
          <a:prstGeom prst="line">
            <a:avLst/>
          </a:prstGeom>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6324600" y="44958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l-GR" b="1" dirty="0" smtClean="0">
                <a:solidFill>
                  <a:srgbClr val="B31B88"/>
                </a:solidFill>
              </a:rPr>
              <a:t>α</a:t>
            </a:r>
            <a:endParaRPr lang="en-US" dirty="0"/>
          </a:p>
        </p:txBody>
      </p:sp>
      <p:sp>
        <p:nvSpPr>
          <p:cNvPr id="23" name="Oval 22"/>
          <p:cNvSpPr/>
          <p:nvPr/>
        </p:nvSpPr>
        <p:spPr>
          <a:xfrm>
            <a:off x="6248400" y="52578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p:cNvSpPr/>
          <p:nvPr/>
        </p:nvSpPr>
        <p:spPr>
          <a:xfrm>
            <a:off x="6629400" y="48768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5" name="Straight Connector 24"/>
          <p:cNvCxnSpPr>
            <a:stCxn id="22" idx="5"/>
            <a:endCxn id="24" idx="1"/>
          </p:cNvCxnSpPr>
          <p:nvPr/>
        </p:nvCxnSpPr>
        <p:spPr>
          <a:xfrm rot="16200000" flipH="1">
            <a:off x="6481622" y="4729022"/>
            <a:ext cx="219356" cy="143156"/>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a:stCxn id="23" idx="7"/>
            <a:endCxn id="24" idx="3"/>
          </p:cNvCxnSpPr>
          <p:nvPr/>
        </p:nvCxnSpPr>
        <p:spPr>
          <a:xfrm rot="5400000" flipH="1" flipV="1">
            <a:off x="6443522" y="5071922"/>
            <a:ext cx="219356" cy="219356"/>
          </a:xfrm>
          <a:prstGeom prst="line">
            <a:avLst/>
          </a:prstGeom>
        </p:spPr>
        <p:style>
          <a:lnRef idx="1">
            <a:schemeClr val="accent1"/>
          </a:lnRef>
          <a:fillRef idx="0">
            <a:schemeClr val="accent1"/>
          </a:fillRef>
          <a:effectRef idx="0">
            <a:schemeClr val="accent1"/>
          </a:effectRef>
          <a:fontRef idx="minor">
            <a:schemeClr val="tx1"/>
          </a:fontRef>
        </p:style>
      </p:cxnSp>
      <p:sp>
        <p:nvSpPr>
          <p:cNvPr id="27" name="Oval 26"/>
          <p:cNvSpPr/>
          <p:nvPr/>
        </p:nvSpPr>
        <p:spPr>
          <a:xfrm>
            <a:off x="7010400" y="58674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l-GR" b="1" dirty="0" smtClean="0">
                <a:solidFill>
                  <a:srgbClr val="B31B88"/>
                </a:solidFill>
              </a:rPr>
              <a:t>α</a:t>
            </a:r>
            <a:endParaRPr lang="en-US" dirty="0"/>
          </a:p>
        </p:txBody>
      </p:sp>
      <p:sp>
        <p:nvSpPr>
          <p:cNvPr id="28" name="Oval 27"/>
          <p:cNvSpPr/>
          <p:nvPr/>
        </p:nvSpPr>
        <p:spPr>
          <a:xfrm>
            <a:off x="7620000" y="64770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Oval 28"/>
          <p:cNvSpPr/>
          <p:nvPr/>
        </p:nvSpPr>
        <p:spPr>
          <a:xfrm>
            <a:off x="7315200" y="61722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1" name="Straight Connector 30"/>
          <p:cNvCxnSpPr>
            <a:stCxn id="28" idx="1"/>
            <a:endCxn id="29" idx="5"/>
          </p:cNvCxnSpPr>
          <p:nvPr/>
        </p:nvCxnSpPr>
        <p:spPr>
          <a:xfrm rot="16200000" flipV="1">
            <a:off x="7510322" y="6367322"/>
            <a:ext cx="143156" cy="143156"/>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p:cNvCxnSpPr>
            <a:stCxn id="29" idx="1"/>
            <a:endCxn id="27" idx="5"/>
          </p:cNvCxnSpPr>
          <p:nvPr/>
        </p:nvCxnSpPr>
        <p:spPr>
          <a:xfrm rot="16200000" flipV="1">
            <a:off x="7205522" y="6062522"/>
            <a:ext cx="143156" cy="143156"/>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959787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smtClean="0"/>
              <a:t>Insertion in an AVL tree</a:t>
            </a:r>
            <a:endParaRPr lang="en-US" dirty="0"/>
          </a:p>
        </p:txBody>
      </p:sp>
      <p:sp>
        <p:nvSpPr>
          <p:cNvPr id="3" name="Content Placeholder 2"/>
          <p:cNvSpPr>
            <a:spLocks noGrp="1"/>
          </p:cNvSpPr>
          <p:nvPr>
            <p:ph idx="1"/>
          </p:nvPr>
        </p:nvSpPr>
        <p:spPr>
          <a:xfrm>
            <a:off x="152400" y="1066800"/>
            <a:ext cx="8991600" cy="2286000"/>
          </a:xfrm>
        </p:spPr>
        <p:txBody>
          <a:bodyPr>
            <a:normAutofit fontScale="92500"/>
          </a:bodyPr>
          <a:lstStyle/>
          <a:p>
            <a:pPr marL="571500" indent="-514350"/>
            <a:r>
              <a:rPr lang="en-US" dirty="0" smtClean="0"/>
              <a:t>Outside cases (left-left or right-right), fixed by a </a:t>
            </a:r>
            <a:r>
              <a:rPr lang="en-US" b="1" dirty="0" smtClean="0">
                <a:solidFill>
                  <a:schemeClr val="accent5">
                    <a:lumMod val="75000"/>
                  </a:schemeClr>
                </a:solidFill>
              </a:rPr>
              <a:t>single rotation</a:t>
            </a:r>
            <a:r>
              <a:rPr lang="en-US" dirty="0" smtClean="0"/>
              <a:t>:</a:t>
            </a:r>
          </a:p>
          <a:p>
            <a:pPr marL="971550" lvl="1" indent="-514350">
              <a:buFont typeface="+mj-lt"/>
              <a:buAutoNum type="arabicParenR"/>
            </a:pPr>
            <a:r>
              <a:rPr lang="en-US" dirty="0" smtClean="0"/>
              <a:t>An insertion into the left </a:t>
            </a:r>
            <a:r>
              <a:rPr lang="en-US" dirty="0" err="1" smtClean="0"/>
              <a:t>subtree</a:t>
            </a:r>
            <a:r>
              <a:rPr lang="en-US" dirty="0" smtClean="0"/>
              <a:t> of the left child of </a:t>
            </a:r>
            <a:r>
              <a:rPr lang="el-GR" b="1" dirty="0" smtClean="0">
                <a:solidFill>
                  <a:srgbClr val="B31B88"/>
                </a:solidFill>
              </a:rPr>
              <a:t>α</a:t>
            </a:r>
            <a:r>
              <a:rPr lang="en-US" b="1" dirty="0" smtClean="0">
                <a:solidFill>
                  <a:srgbClr val="B31B88"/>
                </a:solidFill>
              </a:rPr>
              <a:t>.</a:t>
            </a:r>
          </a:p>
          <a:p>
            <a:pPr marL="971550" lvl="1" indent="-514350">
              <a:buNone/>
            </a:pPr>
            <a:r>
              <a:rPr lang="en-US" dirty="0" smtClean="0"/>
              <a:t>4)   An insertion into the right </a:t>
            </a:r>
            <a:r>
              <a:rPr lang="en-US" dirty="0" err="1" smtClean="0"/>
              <a:t>subtree</a:t>
            </a:r>
            <a:r>
              <a:rPr lang="en-US" dirty="0" smtClean="0"/>
              <a:t> of the right child of </a:t>
            </a:r>
            <a:r>
              <a:rPr lang="el-GR" b="1" dirty="0" smtClean="0">
                <a:solidFill>
                  <a:srgbClr val="B31B88"/>
                </a:solidFill>
              </a:rPr>
              <a:t>α</a:t>
            </a:r>
            <a:r>
              <a:rPr lang="en-US" dirty="0" smtClean="0"/>
              <a:t>.</a:t>
            </a:r>
            <a:endParaRPr lang="en-US" dirty="0"/>
          </a:p>
        </p:txBody>
      </p:sp>
      <p:sp>
        <p:nvSpPr>
          <p:cNvPr id="4" name="Oval 3"/>
          <p:cNvSpPr/>
          <p:nvPr/>
        </p:nvSpPr>
        <p:spPr>
          <a:xfrm>
            <a:off x="2438400" y="3124200"/>
            <a:ext cx="457200" cy="457200"/>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6</a:t>
            </a:r>
            <a:endParaRPr lang="en-US" b="1" dirty="0">
              <a:solidFill>
                <a:schemeClr val="tx1"/>
              </a:solidFill>
            </a:endParaRPr>
          </a:p>
        </p:txBody>
      </p:sp>
      <p:sp>
        <p:nvSpPr>
          <p:cNvPr id="5" name="Oval 4"/>
          <p:cNvSpPr/>
          <p:nvPr/>
        </p:nvSpPr>
        <p:spPr>
          <a:xfrm>
            <a:off x="3352800" y="3886200"/>
            <a:ext cx="457200" cy="457200"/>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8</a:t>
            </a:r>
            <a:endParaRPr lang="en-US" b="1" dirty="0">
              <a:solidFill>
                <a:schemeClr val="tx1"/>
              </a:solidFill>
            </a:endParaRPr>
          </a:p>
        </p:txBody>
      </p:sp>
      <p:sp>
        <p:nvSpPr>
          <p:cNvPr id="6" name="Oval 5"/>
          <p:cNvSpPr/>
          <p:nvPr/>
        </p:nvSpPr>
        <p:spPr>
          <a:xfrm>
            <a:off x="1524000" y="3962400"/>
            <a:ext cx="457200" cy="457200"/>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2</a:t>
            </a:r>
            <a:endParaRPr lang="en-US" b="1" dirty="0">
              <a:solidFill>
                <a:schemeClr val="tx1"/>
              </a:solidFill>
            </a:endParaRPr>
          </a:p>
        </p:txBody>
      </p:sp>
      <p:sp>
        <p:nvSpPr>
          <p:cNvPr id="7" name="Oval 6"/>
          <p:cNvSpPr/>
          <p:nvPr/>
        </p:nvSpPr>
        <p:spPr>
          <a:xfrm>
            <a:off x="914400" y="4648200"/>
            <a:ext cx="457200" cy="457200"/>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1</a:t>
            </a:r>
            <a:endParaRPr lang="en-US" b="1" dirty="0">
              <a:solidFill>
                <a:schemeClr val="tx1"/>
              </a:solidFill>
            </a:endParaRPr>
          </a:p>
        </p:txBody>
      </p:sp>
      <p:cxnSp>
        <p:nvCxnSpPr>
          <p:cNvPr id="8" name="Straight Connector 7"/>
          <p:cNvCxnSpPr>
            <a:stCxn id="4" idx="5"/>
            <a:endCxn id="5" idx="1"/>
          </p:cNvCxnSpPr>
          <p:nvPr/>
        </p:nvCxnSpPr>
        <p:spPr>
          <a:xfrm rot="16200000" flipH="1">
            <a:off x="2904845" y="3438245"/>
            <a:ext cx="438710" cy="59111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a:stCxn id="4" idx="3"/>
            <a:endCxn id="6" idx="7"/>
          </p:cNvCxnSpPr>
          <p:nvPr/>
        </p:nvCxnSpPr>
        <p:spPr>
          <a:xfrm rot="5400000">
            <a:off x="1952345" y="3476345"/>
            <a:ext cx="514910" cy="5911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6" idx="3"/>
            <a:endCxn id="7" idx="7"/>
          </p:cNvCxnSpPr>
          <p:nvPr/>
        </p:nvCxnSpPr>
        <p:spPr>
          <a:xfrm rot="5400000">
            <a:off x="1266545" y="4390745"/>
            <a:ext cx="362510" cy="286310"/>
          </a:xfrm>
          <a:prstGeom prst="line">
            <a:avLst/>
          </a:prstGeom>
        </p:spPr>
        <p:style>
          <a:lnRef idx="1">
            <a:schemeClr val="accent1"/>
          </a:lnRef>
          <a:fillRef idx="0">
            <a:schemeClr val="accent1"/>
          </a:fillRef>
          <a:effectRef idx="0">
            <a:schemeClr val="accent1"/>
          </a:effectRef>
          <a:fontRef idx="minor">
            <a:schemeClr val="tx1"/>
          </a:fontRef>
        </p:style>
      </p:cxnSp>
      <p:sp>
        <p:nvSpPr>
          <p:cNvPr id="11" name="Oval 10"/>
          <p:cNvSpPr/>
          <p:nvPr/>
        </p:nvSpPr>
        <p:spPr>
          <a:xfrm>
            <a:off x="2057400" y="4648200"/>
            <a:ext cx="457200" cy="457200"/>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5</a:t>
            </a:r>
          </a:p>
        </p:txBody>
      </p:sp>
      <p:sp>
        <p:nvSpPr>
          <p:cNvPr id="12" name="Oval 11"/>
          <p:cNvSpPr/>
          <p:nvPr/>
        </p:nvSpPr>
        <p:spPr>
          <a:xfrm>
            <a:off x="1447800" y="5486400"/>
            <a:ext cx="457200" cy="457200"/>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4</a:t>
            </a:r>
          </a:p>
        </p:txBody>
      </p:sp>
      <p:sp>
        <p:nvSpPr>
          <p:cNvPr id="13" name="Oval 12"/>
          <p:cNvSpPr/>
          <p:nvPr/>
        </p:nvSpPr>
        <p:spPr>
          <a:xfrm>
            <a:off x="2743200" y="4648200"/>
            <a:ext cx="457200" cy="457200"/>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7</a:t>
            </a:r>
            <a:endParaRPr lang="en-US" b="1" dirty="0">
              <a:solidFill>
                <a:schemeClr val="tx1"/>
              </a:solidFill>
            </a:endParaRPr>
          </a:p>
        </p:txBody>
      </p:sp>
      <p:cxnSp>
        <p:nvCxnSpPr>
          <p:cNvPr id="14" name="Straight Connector 13"/>
          <p:cNvCxnSpPr>
            <a:stCxn id="6" idx="5"/>
            <a:endCxn id="11" idx="1"/>
          </p:cNvCxnSpPr>
          <p:nvPr/>
        </p:nvCxnSpPr>
        <p:spPr>
          <a:xfrm rot="16200000" flipH="1">
            <a:off x="1838045" y="4428845"/>
            <a:ext cx="362510" cy="2101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5" idx="3"/>
            <a:endCxn id="13" idx="7"/>
          </p:cNvCxnSpPr>
          <p:nvPr/>
        </p:nvCxnSpPr>
        <p:spPr>
          <a:xfrm rot="5400000">
            <a:off x="3057245" y="4352645"/>
            <a:ext cx="438710" cy="2863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11" idx="3"/>
            <a:endCxn id="12" idx="7"/>
          </p:cNvCxnSpPr>
          <p:nvPr/>
        </p:nvCxnSpPr>
        <p:spPr>
          <a:xfrm rot="5400000">
            <a:off x="1723745" y="5152745"/>
            <a:ext cx="514910" cy="286310"/>
          </a:xfrm>
          <a:prstGeom prst="line">
            <a:avLst/>
          </a:prstGeom>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838200" y="6248400"/>
            <a:ext cx="457200" cy="457200"/>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3</a:t>
            </a:r>
            <a:endParaRPr lang="en-US" b="1" dirty="0">
              <a:solidFill>
                <a:schemeClr val="tx1"/>
              </a:solidFill>
            </a:endParaRPr>
          </a:p>
        </p:txBody>
      </p:sp>
      <p:cxnSp>
        <p:nvCxnSpPr>
          <p:cNvPr id="18" name="Straight Connector 17"/>
          <p:cNvCxnSpPr>
            <a:stCxn id="12" idx="3"/>
            <a:endCxn id="17" idx="7"/>
          </p:cNvCxnSpPr>
          <p:nvPr/>
        </p:nvCxnSpPr>
        <p:spPr>
          <a:xfrm rot="5400000">
            <a:off x="1152245" y="5952845"/>
            <a:ext cx="438710" cy="286310"/>
          </a:xfrm>
          <a:prstGeom prst="line">
            <a:avLst/>
          </a:prstGeom>
        </p:spPr>
        <p:style>
          <a:lnRef idx="1">
            <a:schemeClr val="accent1"/>
          </a:lnRef>
          <a:fillRef idx="0">
            <a:schemeClr val="accent1"/>
          </a:fillRef>
          <a:effectRef idx="0">
            <a:schemeClr val="accent1"/>
          </a:effectRef>
          <a:fontRef idx="minor">
            <a:schemeClr val="tx1"/>
          </a:fontRef>
        </p:style>
      </p:cxnSp>
      <p:sp>
        <p:nvSpPr>
          <p:cNvPr id="20" name="Oval 19"/>
          <p:cNvSpPr/>
          <p:nvPr/>
        </p:nvSpPr>
        <p:spPr>
          <a:xfrm>
            <a:off x="6324600" y="3276600"/>
            <a:ext cx="457200" cy="457200"/>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6</a:t>
            </a:r>
            <a:endParaRPr lang="en-US" b="1" dirty="0">
              <a:solidFill>
                <a:schemeClr val="tx1"/>
              </a:solidFill>
            </a:endParaRPr>
          </a:p>
        </p:txBody>
      </p:sp>
      <p:sp>
        <p:nvSpPr>
          <p:cNvPr id="21" name="Oval 20"/>
          <p:cNvSpPr/>
          <p:nvPr/>
        </p:nvSpPr>
        <p:spPr>
          <a:xfrm>
            <a:off x="7086600" y="3962400"/>
            <a:ext cx="457200" cy="457200"/>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7</a:t>
            </a:r>
          </a:p>
        </p:txBody>
      </p:sp>
      <p:sp>
        <p:nvSpPr>
          <p:cNvPr id="22" name="Oval 21"/>
          <p:cNvSpPr/>
          <p:nvPr/>
        </p:nvSpPr>
        <p:spPr>
          <a:xfrm>
            <a:off x="5562600" y="3962400"/>
            <a:ext cx="457200" cy="457200"/>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2</a:t>
            </a:r>
            <a:endParaRPr lang="en-US" b="1" dirty="0">
              <a:solidFill>
                <a:schemeClr val="tx1"/>
              </a:solidFill>
            </a:endParaRPr>
          </a:p>
        </p:txBody>
      </p:sp>
      <p:cxnSp>
        <p:nvCxnSpPr>
          <p:cNvPr id="24" name="Straight Connector 23"/>
          <p:cNvCxnSpPr>
            <a:stCxn id="20" idx="5"/>
            <a:endCxn id="21" idx="1"/>
          </p:cNvCxnSpPr>
          <p:nvPr/>
        </p:nvCxnSpPr>
        <p:spPr>
          <a:xfrm rot="16200000" flipH="1">
            <a:off x="6752945" y="3628745"/>
            <a:ext cx="362510" cy="43871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a:stCxn id="20" idx="3"/>
            <a:endCxn id="22" idx="7"/>
          </p:cNvCxnSpPr>
          <p:nvPr/>
        </p:nvCxnSpPr>
        <p:spPr>
          <a:xfrm rot="5400000">
            <a:off x="5990945" y="3628745"/>
            <a:ext cx="362510" cy="438710"/>
          </a:xfrm>
          <a:prstGeom prst="line">
            <a:avLst/>
          </a:prstGeom>
        </p:spPr>
        <p:style>
          <a:lnRef idx="1">
            <a:schemeClr val="accent1"/>
          </a:lnRef>
          <a:fillRef idx="0">
            <a:schemeClr val="accent1"/>
          </a:fillRef>
          <a:effectRef idx="0">
            <a:schemeClr val="accent1"/>
          </a:effectRef>
          <a:fontRef idx="minor">
            <a:schemeClr val="tx1"/>
          </a:fontRef>
        </p:style>
      </p:cxnSp>
      <p:sp>
        <p:nvSpPr>
          <p:cNvPr id="29" name="Oval 28"/>
          <p:cNvSpPr/>
          <p:nvPr/>
        </p:nvSpPr>
        <p:spPr>
          <a:xfrm>
            <a:off x="7772400" y="4648200"/>
            <a:ext cx="457200" cy="457200"/>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8</a:t>
            </a:r>
          </a:p>
        </p:txBody>
      </p:sp>
      <p:cxnSp>
        <p:nvCxnSpPr>
          <p:cNvPr id="31" name="Straight Connector 30"/>
          <p:cNvCxnSpPr>
            <a:stCxn id="21" idx="5"/>
            <a:endCxn id="29" idx="1"/>
          </p:cNvCxnSpPr>
          <p:nvPr/>
        </p:nvCxnSpPr>
        <p:spPr>
          <a:xfrm rot="16200000" flipH="1">
            <a:off x="7476845" y="4352645"/>
            <a:ext cx="362510" cy="362510"/>
          </a:xfrm>
          <a:prstGeom prst="line">
            <a:avLst/>
          </a:prstGeom>
        </p:spPr>
        <p:style>
          <a:lnRef idx="1">
            <a:schemeClr val="accent1"/>
          </a:lnRef>
          <a:fillRef idx="0">
            <a:schemeClr val="accent1"/>
          </a:fillRef>
          <a:effectRef idx="0">
            <a:schemeClr val="accent1"/>
          </a:effectRef>
          <a:fontRef idx="minor">
            <a:schemeClr val="tx1"/>
          </a:fontRef>
        </p:style>
      </p:cxnSp>
      <p:sp>
        <p:nvSpPr>
          <p:cNvPr id="43" name="Oval 42"/>
          <p:cNvSpPr/>
          <p:nvPr/>
        </p:nvSpPr>
        <p:spPr>
          <a:xfrm>
            <a:off x="8382000" y="5257800"/>
            <a:ext cx="457200" cy="457200"/>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9</a:t>
            </a:r>
            <a:endParaRPr lang="en-US" b="1" dirty="0">
              <a:solidFill>
                <a:schemeClr val="tx1"/>
              </a:solidFill>
            </a:endParaRPr>
          </a:p>
        </p:txBody>
      </p:sp>
      <p:cxnSp>
        <p:nvCxnSpPr>
          <p:cNvPr id="44" name="Straight Connector 43"/>
          <p:cNvCxnSpPr>
            <a:stCxn id="29" idx="5"/>
            <a:endCxn id="43" idx="1"/>
          </p:cNvCxnSpPr>
          <p:nvPr/>
        </p:nvCxnSpPr>
        <p:spPr>
          <a:xfrm rot="16200000" flipH="1">
            <a:off x="8162645" y="5038445"/>
            <a:ext cx="286310" cy="286310"/>
          </a:xfrm>
          <a:prstGeom prst="line">
            <a:avLst/>
          </a:prstGeom>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2133600" y="4343400"/>
            <a:ext cx="381000" cy="400110"/>
          </a:xfrm>
          <a:prstGeom prst="rect">
            <a:avLst/>
          </a:prstGeom>
          <a:noFill/>
        </p:spPr>
        <p:txBody>
          <a:bodyPr wrap="square" rtlCol="0">
            <a:spAutoFit/>
          </a:bodyPr>
          <a:lstStyle/>
          <a:p>
            <a:r>
              <a:rPr lang="el-GR" sz="2000" b="1" dirty="0" smtClean="0">
                <a:solidFill>
                  <a:srgbClr val="B31B88"/>
                </a:solidFill>
              </a:rPr>
              <a:t>α</a:t>
            </a:r>
            <a:endParaRPr lang="en-US" sz="2000" dirty="0"/>
          </a:p>
        </p:txBody>
      </p:sp>
      <p:sp>
        <p:nvSpPr>
          <p:cNvPr id="60" name="TextBox 59"/>
          <p:cNvSpPr txBox="1"/>
          <p:nvPr/>
        </p:nvSpPr>
        <p:spPr>
          <a:xfrm>
            <a:off x="7162800" y="3657600"/>
            <a:ext cx="381000" cy="400110"/>
          </a:xfrm>
          <a:prstGeom prst="rect">
            <a:avLst/>
          </a:prstGeom>
          <a:noFill/>
        </p:spPr>
        <p:txBody>
          <a:bodyPr wrap="square" rtlCol="0">
            <a:spAutoFit/>
          </a:bodyPr>
          <a:lstStyle/>
          <a:p>
            <a:r>
              <a:rPr lang="el-GR" sz="2000" b="1" dirty="0" smtClean="0">
                <a:solidFill>
                  <a:srgbClr val="B31B88"/>
                </a:solidFill>
              </a:rPr>
              <a:t>α</a:t>
            </a:r>
            <a:endParaRPr lang="en-US" sz="2000" dirty="0"/>
          </a:p>
        </p:txBody>
      </p:sp>
    </p:spTree>
    <p:extLst>
      <p:ext uri="{BB962C8B-B14F-4D97-AF65-F5344CB8AC3E}">
        <p14:creationId xmlns:p14="http://schemas.microsoft.com/office/powerpoint/2010/main" val="3052225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3"/>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4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11" grpId="0" animBg="1"/>
      <p:bldP spid="12" grpId="0" animBg="1"/>
      <p:bldP spid="13" grpId="0" animBg="1"/>
      <p:bldP spid="17" grpId="0" animBg="1"/>
      <p:bldP spid="20" grpId="0" animBg="1"/>
      <p:bldP spid="21" grpId="0" animBg="1"/>
      <p:bldP spid="22" grpId="0" animBg="1"/>
      <p:bldP spid="29" grpId="0" animBg="1"/>
      <p:bldP spid="43" grpId="0" animBg="1"/>
      <p:bldP spid="59" grpId="0"/>
      <p:bldP spid="6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smtClean="0"/>
              <a:t>Insertion in an AVL tree</a:t>
            </a:r>
            <a:endParaRPr lang="en-US" dirty="0"/>
          </a:p>
        </p:txBody>
      </p:sp>
      <p:sp>
        <p:nvSpPr>
          <p:cNvPr id="3" name="Content Placeholder 2"/>
          <p:cNvSpPr>
            <a:spLocks noGrp="1"/>
          </p:cNvSpPr>
          <p:nvPr>
            <p:ph idx="1"/>
          </p:nvPr>
        </p:nvSpPr>
        <p:spPr>
          <a:xfrm>
            <a:off x="152400" y="1066800"/>
            <a:ext cx="8991600" cy="2286000"/>
          </a:xfrm>
        </p:spPr>
        <p:txBody>
          <a:bodyPr>
            <a:normAutofit fontScale="92500"/>
          </a:bodyPr>
          <a:lstStyle/>
          <a:p>
            <a:pPr marL="571500" indent="-514350"/>
            <a:r>
              <a:rPr lang="en-US" dirty="0" smtClean="0"/>
              <a:t>Inside cases (right-left or left-right), fixed by a            </a:t>
            </a:r>
            <a:r>
              <a:rPr lang="en-US" b="1" dirty="0" smtClean="0">
                <a:solidFill>
                  <a:schemeClr val="accent6">
                    <a:lumMod val="75000"/>
                  </a:schemeClr>
                </a:solidFill>
              </a:rPr>
              <a:t>double rotation</a:t>
            </a:r>
            <a:r>
              <a:rPr lang="en-US" dirty="0" smtClean="0"/>
              <a:t>:</a:t>
            </a:r>
          </a:p>
          <a:p>
            <a:pPr marL="971550" lvl="1" indent="-514350">
              <a:buNone/>
            </a:pPr>
            <a:r>
              <a:rPr lang="en-US" dirty="0" smtClean="0"/>
              <a:t>2)   An insertion into the right </a:t>
            </a:r>
            <a:r>
              <a:rPr lang="en-US" dirty="0" err="1" smtClean="0"/>
              <a:t>subtree</a:t>
            </a:r>
            <a:r>
              <a:rPr lang="en-US" dirty="0" smtClean="0"/>
              <a:t> of the left child of </a:t>
            </a:r>
            <a:r>
              <a:rPr lang="el-GR" b="1" dirty="0" smtClean="0">
                <a:solidFill>
                  <a:srgbClr val="B31B88"/>
                </a:solidFill>
              </a:rPr>
              <a:t>α</a:t>
            </a:r>
            <a:r>
              <a:rPr lang="en-US" b="1" dirty="0" smtClean="0">
                <a:solidFill>
                  <a:srgbClr val="B31B88"/>
                </a:solidFill>
              </a:rPr>
              <a:t>.</a:t>
            </a:r>
          </a:p>
          <a:p>
            <a:pPr marL="971550" lvl="1" indent="-514350">
              <a:buNone/>
            </a:pPr>
            <a:r>
              <a:rPr lang="en-US" dirty="0"/>
              <a:t>3</a:t>
            </a:r>
            <a:r>
              <a:rPr lang="en-US" dirty="0" smtClean="0"/>
              <a:t>)   An insertion into the left </a:t>
            </a:r>
            <a:r>
              <a:rPr lang="en-US" dirty="0" err="1" smtClean="0"/>
              <a:t>subtree</a:t>
            </a:r>
            <a:r>
              <a:rPr lang="en-US" dirty="0" smtClean="0"/>
              <a:t> of the right child of </a:t>
            </a:r>
            <a:r>
              <a:rPr lang="el-GR" b="1" dirty="0" smtClean="0">
                <a:solidFill>
                  <a:srgbClr val="B31B88"/>
                </a:solidFill>
              </a:rPr>
              <a:t>α</a:t>
            </a:r>
            <a:r>
              <a:rPr lang="en-US" dirty="0" smtClean="0"/>
              <a:t>.</a:t>
            </a:r>
            <a:endParaRPr lang="en-US" dirty="0"/>
          </a:p>
        </p:txBody>
      </p:sp>
      <p:sp>
        <p:nvSpPr>
          <p:cNvPr id="4" name="Oval 3"/>
          <p:cNvSpPr/>
          <p:nvPr/>
        </p:nvSpPr>
        <p:spPr>
          <a:xfrm>
            <a:off x="2438400" y="3124200"/>
            <a:ext cx="457200" cy="457200"/>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7</a:t>
            </a:r>
          </a:p>
        </p:txBody>
      </p:sp>
      <p:sp>
        <p:nvSpPr>
          <p:cNvPr id="5" name="Oval 4"/>
          <p:cNvSpPr/>
          <p:nvPr/>
        </p:nvSpPr>
        <p:spPr>
          <a:xfrm>
            <a:off x="3352800" y="3886200"/>
            <a:ext cx="457200" cy="457200"/>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9</a:t>
            </a:r>
          </a:p>
        </p:txBody>
      </p:sp>
      <p:sp>
        <p:nvSpPr>
          <p:cNvPr id="6" name="Oval 5"/>
          <p:cNvSpPr/>
          <p:nvPr/>
        </p:nvSpPr>
        <p:spPr>
          <a:xfrm>
            <a:off x="1524000" y="3962400"/>
            <a:ext cx="457200" cy="457200"/>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2</a:t>
            </a:r>
            <a:endParaRPr lang="en-US" b="1" dirty="0">
              <a:solidFill>
                <a:schemeClr val="tx1"/>
              </a:solidFill>
            </a:endParaRPr>
          </a:p>
        </p:txBody>
      </p:sp>
      <p:sp>
        <p:nvSpPr>
          <p:cNvPr id="7" name="Oval 6"/>
          <p:cNvSpPr/>
          <p:nvPr/>
        </p:nvSpPr>
        <p:spPr>
          <a:xfrm>
            <a:off x="914400" y="4648200"/>
            <a:ext cx="457200" cy="457200"/>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1</a:t>
            </a:r>
            <a:endParaRPr lang="en-US" b="1" dirty="0">
              <a:solidFill>
                <a:schemeClr val="tx1"/>
              </a:solidFill>
            </a:endParaRPr>
          </a:p>
        </p:txBody>
      </p:sp>
      <p:cxnSp>
        <p:nvCxnSpPr>
          <p:cNvPr id="8" name="Straight Connector 7"/>
          <p:cNvCxnSpPr>
            <a:stCxn id="4" idx="5"/>
            <a:endCxn id="5" idx="1"/>
          </p:cNvCxnSpPr>
          <p:nvPr/>
        </p:nvCxnSpPr>
        <p:spPr>
          <a:xfrm rot="16200000" flipH="1">
            <a:off x="2904845" y="3438245"/>
            <a:ext cx="438710" cy="59111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a:stCxn id="4" idx="3"/>
            <a:endCxn id="6" idx="7"/>
          </p:cNvCxnSpPr>
          <p:nvPr/>
        </p:nvCxnSpPr>
        <p:spPr>
          <a:xfrm rot="5400000">
            <a:off x="1952345" y="3476345"/>
            <a:ext cx="514910" cy="5911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6" idx="3"/>
            <a:endCxn id="7" idx="7"/>
          </p:cNvCxnSpPr>
          <p:nvPr/>
        </p:nvCxnSpPr>
        <p:spPr>
          <a:xfrm rot="5400000">
            <a:off x="1266545" y="4390745"/>
            <a:ext cx="362510" cy="286310"/>
          </a:xfrm>
          <a:prstGeom prst="line">
            <a:avLst/>
          </a:prstGeom>
        </p:spPr>
        <p:style>
          <a:lnRef idx="1">
            <a:schemeClr val="accent1"/>
          </a:lnRef>
          <a:fillRef idx="0">
            <a:schemeClr val="accent1"/>
          </a:fillRef>
          <a:effectRef idx="0">
            <a:schemeClr val="accent1"/>
          </a:effectRef>
          <a:fontRef idx="minor">
            <a:schemeClr val="tx1"/>
          </a:fontRef>
        </p:style>
      </p:cxnSp>
      <p:sp>
        <p:nvSpPr>
          <p:cNvPr id="11" name="Oval 10"/>
          <p:cNvSpPr/>
          <p:nvPr/>
        </p:nvSpPr>
        <p:spPr>
          <a:xfrm>
            <a:off x="2057400" y="4648200"/>
            <a:ext cx="457200" cy="457200"/>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6</a:t>
            </a:r>
            <a:endParaRPr lang="en-US" b="1" dirty="0">
              <a:solidFill>
                <a:schemeClr val="tx1"/>
              </a:solidFill>
            </a:endParaRPr>
          </a:p>
        </p:txBody>
      </p:sp>
      <p:sp>
        <p:nvSpPr>
          <p:cNvPr id="12" name="Oval 11"/>
          <p:cNvSpPr/>
          <p:nvPr/>
        </p:nvSpPr>
        <p:spPr>
          <a:xfrm>
            <a:off x="1447800" y="5486400"/>
            <a:ext cx="457200" cy="457200"/>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4</a:t>
            </a:r>
          </a:p>
        </p:txBody>
      </p:sp>
      <p:sp>
        <p:nvSpPr>
          <p:cNvPr id="13" name="Oval 12"/>
          <p:cNvSpPr/>
          <p:nvPr/>
        </p:nvSpPr>
        <p:spPr>
          <a:xfrm>
            <a:off x="2743200" y="4648200"/>
            <a:ext cx="457200" cy="457200"/>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8</a:t>
            </a:r>
          </a:p>
        </p:txBody>
      </p:sp>
      <p:cxnSp>
        <p:nvCxnSpPr>
          <p:cNvPr id="14" name="Straight Connector 13"/>
          <p:cNvCxnSpPr>
            <a:stCxn id="6" idx="5"/>
            <a:endCxn id="11" idx="1"/>
          </p:cNvCxnSpPr>
          <p:nvPr/>
        </p:nvCxnSpPr>
        <p:spPr>
          <a:xfrm rot="16200000" flipH="1">
            <a:off x="1838045" y="4428845"/>
            <a:ext cx="362510" cy="2101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5" idx="3"/>
            <a:endCxn id="13" idx="7"/>
          </p:cNvCxnSpPr>
          <p:nvPr/>
        </p:nvCxnSpPr>
        <p:spPr>
          <a:xfrm rot="5400000">
            <a:off x="3057245" y="4352645"/>
            <a:ext cx="438710" cy="2863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11" idx="3"/>
            <a:endCxn id="12" idx="7"/>
          </p:cNvCxnSpPr>
          <p:nvPr/>
        </p:nvCxnSpPr>
        <p:spPr>
          <a:xfrm rot="5400000">
            <a:off x="1723745" y="5152745"/>
            <a:ext cx="514910" cy="286310"/>
          </a:xfrm>
          <a:prstGeom prst="line">
            <a:avLst/>
          </a:prstGeom>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1981200" y="6172200"/>
            <a:ext cx="457200" cy="457200"/>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5</a:t>
            </a:r>
          </a:p>
        </p:txBody>
      </p:sp>
      <p:cxnSp>
        <p:nvCxnSpPr>
          <p:cNvPr id="18" name="Straight Connector 17"/>
          <p:cNvCxnSpPr>
            <a:stCxn id="12" idx="5"/>
            <a:endCxn id="17" idx="1"/>
          </p:cNvCxnSpPr>
          <p:nvPr/>
        </p:nvCxnSpPr>
        <p:spPr>
          <a:xfrm rot="16200000" flipH="1">
            <a:off x="1761845" y="5952845"/>
            <a:ext cx="362510" cy="210110"/>
          </a:xfrm>
          <a:prstGeom prst="line">
            <a:avLst/>
          </a:prstGeom>
        </p:spPr>
        <p:style>
          <a:lnRef idx="1">
            <a:schemeClr val="accent1"/>
          </a:lnRef>
          <a:fillRef idx="0">
            <a:schemeClr val="accent1"/>
          </a:fillRef>
          <a:effectRef idx="0">
            <a:schemeClr val="accent1"/>
          </a:effectRef>
          <a:fontRef idx="minor">
            <a:schemeClr val="tx1"/>
          </a:fontRef>
        </p:style>
      </p:cxnSp>
      <p:sp>
        <p:nvSpPr>
          <p:cNvPr id="20" name="Oval 19"/>
          <p:cNvSpPr/>
          <p:nvPr/>
        </p:nvSpPr>
        <p:spPr>
          <a:xfrm>
            <a:off x="6324600" y="3276600"/>
            <a:ext cx="457200" cy="457200"/>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6</a:t>
            </a:r>
            <a:endParaRPr lang="en-US" b="1" dirty="0">
              <a:solidFill>
                <a:schemeClr val="tx1"/>
              </a:solidFill>
            </a:endParaRPr>
          </a:p>
        </p:txBody>
      </p:sp>
      <p:sp>
        <p:nvSpPr>
          <p:cNvPr id="21" name="Oval 20"/>
          <p:cNvSpPr/>
          <p:nvPr/>
        </p:nvSpPr>
        <p:spPr>
          <a:xfrm>
            <a:off x="7086600" y="3962400"/>
            <a:ext cx="457200" cy="457200"/>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7</a:t>
            </a:r>
          </a:p>
        </p:txBody>
      </p:sp>
      <p:sp>
        <p:nvSpPr>
          <p:cNvPr id="22" name="Oval 21"/>
          <p:cNvSpPr/>
          <p:nvPr/>
        </p:nvSpPr>
        <p:spPr>
          <a:xfrm>
            <a:off x="5562600" y="3962400"/>
            <a:ext cx="457200" cy="457200"/>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2</a:t>
            </a:r>
            <a:endParaRPr lang="en-US" b="1" dirty="0">
              <a:solidFill>
                <a:schemeClr val="tx1"/>
              </a:solidFill>
            </a:endParaRPr>
          </a:p>
        </p:txBody>
      </p:sp>
      <p:cxnSp>
        <p:nvCxnSpPr>
          <p:cNvPr id="24" name="Straight Connector 23"/>
          <p:cNvCxnSpPr>
            <a:stCxn id="20" idx="5"/>
            <a:endCxn id="21" idx="1"/>
          </p:cNvCxnSpPr>
          <p:nvPr/>
        </p:nvCxnSpPr>
        <p:spPr>
          <a:xfrm rot="16200000" flipH="1">
            <a:off x="6752945" y="3628745"/>
            <a:ext cx="362510" cy="43871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a:stCxn id="20" idx="3"/>
            <a:endCxn id="22" idx="7"/>
          </p:cNvCxnSpPr>
          <p:nvPr/>
        </p:nvCxnSpPr>
        <p:spPr>
          <a:xfrm rot="5400000">
            <a:off x="5990945" y="3628745"/>
            <a:ext cx="362510" cy="438710"/>
          </a:xfrm>
          <a:prstGeom prst="line">
            <a:avLst/>
          </a:prstGeom>
        </p:spPr>
        <p:style>
          <a:lnRef idx="1">
            <a:schemeClr val="accent1"/>
          </a:lnRef>
          <a:fillRef idx="0">
            <a:schemeClr val="accent1"/>
          </a:fillRef>
          <a:effectRef idx="0">
            <a:schemeClr val="accent1"/>
          </a:effectRef>
          <a:fontRef idx="minor">
            <a:schemeClr val="tx1"/>
          </a:fontRef>
        </p:style>
      </p:cxnSp>
      <p:sp>
        <p:nvSpPr>
          <p:cNvPr id="29" name="Oval 28"/>
          <p:cNvSpPr/>
          <p:nvPr/>
        </p:nvSpPr>
        <p:spPr>
          <a:xfrm>
            <a:off x="7772400" y="4648200"/>
            <a:ext cx="457200" cy="457200"/>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9</a:t>
            </a:r>
          </a:p>
        </p:txBody>
      </p:sp>
      <p:cxnSp>
        <p:nvCxnSpPr>
          <p:cNvPr id="31" name="Straight Connector 30"/>
          <p:cNvCxnSpPr>
            <a:stCxn id="21" idx="5"/>
            <a:endCxn id="29" idx="1"/>
          </p:cNvCxnSpPr>
          <p:nvPr/>
        </p:nvCxnSpPr>
        <p:spPr>
          <a:xfrm rot="16200000" flipH="1">
            <a:off x="7476845" y="4352645"/>
            <a:ext cx="362510" cy="362510"/>
          </a:xfrm>
          <a:prstGeom prst="line">
            <a:avLst/>
          </a:prstGeom>
        </p:spPr>
        <p:style>
          <a:lnRef idx="1">
            <a:schemeClr val="accent1"/>
          </a:lnRef>
          <a:fillRef idx="0">
            <a:schemeClr val="accent1"/>
          </a:fillRef>
          <a:effectRef idx="0">
            <a:schemeClr val="accent1"/>
          </a:effectRef>
          <a:fontRef idx="minor">
            <a:schemeClr val="tx1"/>
          </a:fontRef>
        </p:style>
      </p:cxnSp>
      <p:sp>
        <p:nvSpPr>
          <p:cNvPr id="43" name="Oval 42"/>
          <p:cNvSpPr/>
          <p:nvPr/>
        </p:nvSpPr>
        <p:spPr>
          <a:xfrm>
            <a:off x="7239000" y="5334000"/>
            <a:ext cx="457200" cy="457200"/>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8</a:t>
            </a:r>
            <a:endParaRPr lang="en-US" b="1" dirty="0">
              <a:solidFill>
                <a:schemeClr val="tx1"/>
              </a:solidFill>
            </a:endParaRPr>
          </a:p>
        </p:txBody>
      </p:sp>
      <p:cxnSp>
        <p:nvCxnSpPr>
          <p:cNvPr id="44" name="Straight Connector 43"/>
          <p:cNvCxnSpPr>
            <a:stCxn id="29" idx="3"/>
            <a:endCxn id="43" idx="7"/>
          </p:cNvCxnSpPr>
          <p:nvPr/>
        </p:nvCxnSpPr>
        <p:spPr>
          <a:xfrm rot="5400000">
            <a:off x="7553045" y="5114645"/>
            <a:ext cx="362510" cy="210110"/>
          </a:xfrm>
          <a:prstGeom prst="line">
            <a:avLst/>
          </a:prstGeom>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2133600" y="4343400"/>
            <a:ext cx="381000" cy="400110"/>
          </a:xfrm>
          <a:prstGeom prst="rect">
            <a:avLst/>
          </a:prstGeom>
          <a:noFill/>
        </p:spPr>
        <p:txBody>
          <a:bodyPr wrap="square" rtlCol="0">
            <a:spAutoFit/>
          </a:bodyPr>
          <a:lstStyle/>
          <a:p>
            <a:r>
              <a:rPr lang="el-GR" sz="2000" b="1" dirty="0" smtClean="0">
                <a:solidFill>
                  <a:srgbClr val="B31B88"/>
                </a:solidFill>
              </a:rPr>
              <a:t>α</a:t>
            </a:r>
            <a:endParaRPr lang="en-US" sz="2000" dirty="0"/>
          </a:p>
        </p:txBody>
      </p:sp>
      <p:sp>
        <p:nvSpPr>
          <p:cNvPr id="40" name="TextBox 39"/>
          <p:cNvSpPr txBox="1"/>
          <p:nvPr/>
        </p:nvSpPr>
        <p:spPr>
          <a:xfrm>
            <a:off x="7162800" y="3657600"/>
            <a:ext cx="381000" cy="400110"/>
          </a:xfrm>
          <a:prstGeom prst="rect">
            <a:avLst/>
          </a:prstGeom>
          <a:noFill/>
        </p:spPr>
        <p:txBody>
          <a:bodyPr wrap="square" rtlCol="0">
            <a:spAutoFit/>
          </a:bodyPr>
          <a:lstStyle/>
          <a:p>
            <a:r>
              <a:rPr lang="el-GR" sz="2000" b="1" dirty="0" smtClean="0">
                <a:solidFill>
                  <a:srgbClr val="B31B88"/>
                </a:solidFill>
              </a:rPr>
              <a:t>α</a:t>
            </a:r>
            <a:endParaRPr lang="en-US" sz="2000" dirty="0"/>
          </a:p>
        </p:txBody>
      </p:sp>
    </p:spTree>
    <p:extLst>
      <p:ext uri="{BB962C8B-B14F-4D97-AF65-F5344CB8AC3E}">
        <p14:creationId xmlns:p14="http://schemas.microsoft.com/office/powerpoint/2010/main" val="3355630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9"/>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1"/>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3"/>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11" grpId="0" animBg="1"/>
      <p:bldP spid="12" grpId="0" animBg="1"/>
      <p:bldP spid="13" grpId="0" animBg="1"/>
      <p:bldP spid="17" grpId="0" animBg="1"/>
      <p:bldP spid="20" grpId="0" animBg="1"/>
      <p:bldP spid="21" grpId="0" animBg="1"/>
      <p:bldP spid="22" grpId="0" animBg="1"/>
      <p:bldP spid="29" grpId="0" animBg="1"/>
      <p:bldP spid="43" grpId="0" animBg="1"/>
      <p:bldP spid="39" grpId="0"/>
      <p:bldP spid="4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altLang="en-US" dirty="0" smtClean="0"/>
              <a:t>Double Right-Left Rotation</a:t>
            </a:r>
          </a:p>
        </p:txBody>
      </p:sp>
      <p:sp>
        <p:nvSpPr>
          <p:cNvPr id="31747" name="Oval 7"/>
          <p:cNvSpPr>
            <a:spLocks noChangeArrowheads="1"/>
          </p:cNvSpPr>
          <p:nvPr/>
        </p:nvSpPr>
        <p:spPr bwMode="auto">
          <a:xfrm flipH="1">
            <a:off x="7781925" y="2362200"/>
            <a:ext cx="430213" cy="44291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z</a:t>
            </a:r>
          </a:p>
        </p:txBody>
      </p:sp>
      <p:cxnSp>
        <p:nvCxnSpPr>
          <p:cNvPr id="31748" name="AutoShape 8"/>
          <p:cNvCxnSpPr>
            <a:cxnSpLocks noChangeShapeType="1"/>
            <a:stCxn id="31747" idx="3"/>
            <a:endCxn id="31750" idx="0"/>
          </p:cNvCxnSpPr>
          <p:nvPr/>
        </p:nvCxnSpPr>
        <p:spPr bwMode="auto">
          <a:xfrm>
            <a:off x="8150225" y="2740025"/>
            <a:ext cx="452438" cy="341313"/>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1749" name="AutoShape 9"/>
          <p:cNvCxnSpPr>
            <a:cxnSpLocks noChangeShapeType="1"/>
            <a:stCxn id="31747" idx="5"/>
            <a:endCxn id="31751" idx="0"/>
          </p:cNvCxnSpPr>
          <p:nvPr/>
        </p:nvCxnSpPr>
        <p:spPr bwMode="auto">
          <a:xfrm flipH="1">
            <a:off x="7418388" y="2740025"/>
            <a:ext cx="427037" cy="341313"/>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1750" name="AutoShape 10"/>
          <p:cNvSpPr>
            <a:spLocks noChangeArrowheads="1"/>
          </p:cNvSpPr>
          <p:nvPr/>
        </p:nvSpPr>
        <p:spPr bwMode="auto">
          <a:xfrm flipH="1">
            <a:off x="8239125" y="3081338"/>
            <a:ext cx="725488" cy="995362"/>
          </a:xfrm>
          <a:prstGeom prst="flowChartExtra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T</a:t>
            </a:r>
            <a:r>
              <a:rPr lang="en-US" altLang="en-US" b="0" baseline="-25000">
                <a:latin typeface="Times New Roman" pitchFamily="18" charset="0"/>
              </a:rPr>
              <a:t>4</a:t>
            </a:r>
          </a:p>
        </p:txBody>
      </p:sp>
      <p:sp>
        <p:nvSpPr>
          <p:cNvPr id="31751" name="AutoShape 11"/>
          <p:cNvSpPr>
            <a:spLocks noChangeArrowheads="1"/>
          </p:cNvSpPr>
          <p:nvPr/>
        </p:nvSpPr>
        <p:spPr bwMode="auto">
          <a:xfrm flipH="1">
            <a:off x="7054850" y="3081338"/>
            <a:ext cx="725488" cy="995362"/>
          </a:xfrm>
          <a:prstGeom prst="flowChartExtra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T</a:t>
            </a:r>
            <a:r>
              <a:rPr lang="en-US" altLang="en-US" b="0" baseline="-25000">
                <a:latin typeface="Times New Roman" pitchFamily="18" charset="0"/>
              </a:rPr>
              <a:t>3</a:t>
            </a:r>
          </a:p>
        </p:txBody>
      </p:sp>
      <p:sp>
        <p:nvSpPr>
          <p:cNvPr id="31752" name="Oval 12"/>
          <p:cNvSpPr>
            <a:spLocks noChangeArrowheads="1"/>
          </p:cNvSpPr>
          <p:nvPr/>
        </p:nvSpPr>
        <p:spPr bwMode="auto">
          <a:xfrm flipH="1">
            <a:off x="7135813" y="1700213"/>
            <a:ext cx="430212" cy="44291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y</a:t>
            </a:r>
          </a:p>
        </p:txBody>
      </p:sp>
      <p:cxnSp>
        <p:nvCxnSpPr>
          <p:cNvPr id="31753" name="AutoShape 13"/>
          <p:cNvCxnSpPr>
            <a:cxnSpLocks noChangeShapeType="1"/>
            <a:stCxn id="31752" idx="3"/>
            <a:endCxn id="31747" idx="0"/>
          </p:cNvCxnSpPr>
          <p:nvPr/>
        </p:nvCxnSpPr>
        <p:spPr bwMode="auto">
          <a:xfrm>
            <a:off x="7504113" y="2078038"/>
            <a:ext cx="493712" cy="28416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1754" name="AutoShape 14"/>
          <p:cNvCxnSpPr>
            <a:cxnSpLocks noChangeShapeType="1"/>
            <a:stCxn id="31752" idx="5"/>
            <a:endCxn id="31755" idx="0"/>
          </p:cNvCxnSpPr>
          <p:nvPr/>
        </p:nvCxnSpPr>
        <p:spPr bwMode="auto">
          <a:xfrm flipH="1">
            <a:off x="6772275" y="2078038"/>
            <a:ext cx="427038" cy="34131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1755" name="AutoShape 15"/>
          <p:cNvSpPr>
            <a:spLocks noChangeArrowheads="1"/>
          </p:cNvSpPr>
          <p:nvPr/>
        </p:nvSpPr>
        <p:spPr bwMode="auto">
          <a:xfrm flipH="1">
            <a:off x="6408738" y="2419350"/>
            <a:ext cx="725487" cy="995363"/>
          </a:xfrm>
          <a:prstGeom prst="flowChartExtra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T</a:t>
            </a:r>
            <a:r>
              <a:rPr lang="en-US" altLang="en-US" b="0" baseline="-25000">
                <a:latin typeface="Times New Roman" pitchFamily="18" charset="0"/>
              </a:rPr>
              <a:t>2</a:t>
            </a:r>
            <a:endParaRPr lang="en-US" altLang="en-US" b="0">
              <a:latin typeface="Times New Roman" pitchFamily="18" charset="0"/>
            </a:endParaRPr>
          </a:p>
        </p:txBody>
      </p:sp>
      <p:sp>
        <p:nvSpPr>
          <p:cNvPr id="31756" name="Oval 16"/>
          <p:cNvSpPr>
            <a:spLocks noChangeArrowheads="1"/>
          </p:cNvSpPr>
          <p:nvPr/>
        </p:nvSpPr>
        <p:spPr bwMode="auto">
          <a:xfrm flipH="1">
            <a:off x="6380163" y="1125538"/>
            <a:ext cx="430212" cy="44291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x</a:t>
            </a:r>
          </a:p>
        </p:txBody>
      </p:sp>
      <p:cxnSp>
        <p:nvCxnSpPr>
          <p:cNvPr id="31757" name="AutoShape 17"/>
          <p:cNvCxnSpPr>
            <a:cxnSpLocks noChangeShapeType="1"/>
            <a:stCxn id="31756" idx="5"/>
            <a:endCxn id="31758" idx="0"/>
          </p:cNvCxnSpPr>
          <p:nvPr/>
        </p:nvCxnSpPr>
        <p:spPr bwMode="auto">
          <a:xfrm flipH="1">
            <a:off x="6016625" y="1503363"/>
            <a:ext cx="427038" cy="34131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1758" name="AutoShape 18"/>
          <p:cNvSpPr>
            <a:spLocks noChangeArrowheads="1"/>
          </p:cNvSpPr>
          <p:nvPr/>
        </p:nvSpPr>
        <p:spPr bwMode="auto">
          <a:xfrm flipH="1">
            <a:off x="5653088" y="1844675"/>
            <a:ext cx="725487" cy="995363"/>
          </a:xfrm>
          <a:prstGeom prst="flowChartExtra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T</a:t>
            </a:r>
            <a:r>
              <a:rPr lang="en-US" altLang="en-US" b="0" baseline="-25000">
                <a:latin typeface="Times New Roman" pitchFamily="18" charset="0"/>
              </a:rPr>
              <a:t>1</a:t>
            </a:r>
            <a:endParaRPr lang="en-US" altLang="en-US" b="0">
              <a:latin typeface="Times New Roman" pitchFamily="18" charset="0"/>
            </a:endParaRPr>
          </a:p>
        </p:txBody>
      </p:sp>
      <p:cxnSp>
        <p:nvCxnSpPr>
          <p:cNvPr id="31759" name="AutoShape 20"/>
          <p:cNvCxnSpPr>
            <a:cxnSpLocks noChangeShapeType="1"/>
            <a:stCxn id="31756" idx="3"/>
            <a:endCxn id="31752" idx="7"/>
          </p:cNvCxnSpPr>
          <p:nvPr/>
        </p:nvCxnSpPr>
        <p:spPr bwMode="auto">
          <a:xfrm>
            <a:off x="6748463" y="1503363"/>
            <a:ext cx="450850" cy="26035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1760" name="Oval 34"/>
          <p:cNvSpPr>
            <a:spLocks noChangeArrowheads="1"/>
          </p:cNvSpPr>
          <p:nvPr/>
        </p:nvSpPr>
        <p:spPr bwMode="auto">
          <a:xfrm flipH="1">
            <a:off x="1482725" y="2349500"/>
            <a:ext cx="430213" cy="44291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y</a:t>
            </a:r>
          </a:p>
        </p:txBody>
      </p:sp>
      <p:cxnSp>
        <p:nvCxnSpPr>
          <p:cNvPr id="31761" name="AutoShape 35"/>
          <p:cNvCxnSpPr>
            <a:cxnSpLocks noChangeShapeType="1"/>
            <a:stCxn id="31760" idx="3"/>
            <a:endCxn id="31763" idx="0"/>
          </p:cNvCxnSpPr>
          <p:nvPr/>
        </p:nvCxnSpPr>
        <p:spPr bwMode="auto">
          <a:xfrm>
            <a:off x="1851025" y="2727325"/>
            <a:ext cx="452438" cy="341313"/>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1762" name="AutoShape 36"/>
          <p:cNvCxnSpPr>
            <a:cxnSpLocks noChangeShapeType="1"/>
            <a:stCxn id="31760" idx="5"/>
            <a:endCxn id="31764" idx="0"/>
          </p:cNvCxnSpPr>
          <p:nvPr/>
        </p:nvCxnSpPr>
        <p:spPr bwMode="auto">
          <a:xfrm flipH="1">
            <a:off x="1119188" y="2727325"/>
            <a:ext cx="427037" cy="341313"/>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1763" name="AutoShape 37"/>
          <p:cNvSpPr>
            <a:spLocks noChangeArrowheads="1"/>
          </p:cNvSpPr>
          <p:nvPr/>
        </p:nvSpPr>
        <p:spPr bwMode="auto">
          <a:xfrm flipH="1">
            <a:off x="1939925" y="3068638"/>
            <a:ext cx="725488" cy="995362"/>
          </a:xfrm>
          <a:prstGeom prst="flowChartExtra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T</a:t>
            </a:r>
            <a:r>
              <a:rPr lang="en-US" altLang="en-US" b="0" baseline="-25000">
                <a:latin typeface="Times New Roman" pitchFamily="18" charset="0"/>
              </a:rPr>
              <a:t>3</a:t>
            </a:r>
          </a:p>
        </p:txBody>
      </p:sp>
      <p:sp>
        <p:nvSpPr>
          <p:cNvPr id="31764" name="AutoShape 38"/>
          <p:cNvSpPr>
            <a:spLocks noChangeArrowheads="1"/>
          </p:cNvSpPr>
          <p:nvPr/>
        </p:nvSpPr>
        <p:spPr bwMode="auto">
          <a:xfrm flipH="1">
            <a:off x="755650" y="3068638"/>
            <a:ext cx="725488" cy="995362"/>
          </a:xfrm>
          <a:prstGeom prst="flowChartExtra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T</a:t>
            </a:r>
            <a:r>
              <a:rPr lang="en-US" altLang="en-US" b="0" baseline="-25000">
                <a:latin typeface="Times New Roman" pitchFamily="18" charset="0"/>
              </a:rPr>
              <a:t>2</a:t>
            </a:r>
          </a:p>
        </p:txBody>
      </p:sp>
      <p:sp>
        <p:nvSpPr>
          <p:cNvPr id="31765" name="Oval 39"/>
          <p:cNvSpPr>
            <a:spLocks noChangeArrowheads="1"/>
          </p:cNvSpPr>
          <p:nvPr/>
        </p:nvSpPr>
        <p:spPr bwMode="auto">
          <a:xfrm flipH="1">
            <a:off x="2165350" y="1771650"/>
            <a:ext cx="430213" cy="44291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z</a:t>
            </a:r>
          </a:p>
        </p:txBody>
      </p:sp>
      <p:cxnSp>
        <p:nvCxnSpPr>
          <p:cNvPr id="31766" name="AutoShape 40"/>
          <p:cNvCxnSpPr>
            <a:cxnSpLocks noChangeShapeType="1"/>
            <a:stCxn id="31765" idx="3"/>
            <a:endCxn id="31768" idx="0"/>
          </p:cNvCxnSpPr>
          <p:nvPr/>
        </p:nvCxnSpPr>
        <p:spPr bwMode="auto">
          <a:xfrm>
            <a:off x="2533650" y="2149475"/>
            <a:ext cx="523875" cy="271463"/>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1767" name="AutoShape 41"/>
          <p:cNvCxnSpPr>
            <a:cxnSpLocks noChangeShapeType="1"/>
            <a:stCxn id="31765" idx="5"/>
            <a:endCxn id="31760" idx="0"/>
          </p:cNvCxnSpPr>
          <p:nvPr/>
        </p:nvCxnSpPr>
        <p:spPr bwMode="auto">
          <a:xfrm flipH="1">
            <a:off x="1698625" y="2149475"/>
            <a:ext cx="530225" cy="20002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1768" name="AutoShape 42"/>
          <p:cNvSpPr>
            <a:spLocks noChangeArrowheads="1"/>
          </p:cNvSpPr>
          <p:nvPr/>
        </p:nvSpPr>
        <p:spPr bwMode="auto">
          <a:xfrm flipH="1">
            <a:off x="2693988" y="2420938"/>
            <a:ext cx="725487" cy="995362"/>
          </a:xfrm>
          <a:prstGeom prst="flowChartExtra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T</a:t>
            </a:r>
            <a:r>
              <a:rPr lang="en-US" altLang="en-US" b="0" baseline="-25000">
                <a:latin typeface="Times New Roman" pitchFamily="18" charset="0"/>
              </a:rPr>
              <a:t>4</a:t>
            </a:r>
            <a:endParaRPr lang="en-US" altLang="en-US" b="0">
              <a:latin typeface="Times New Roman" pitchFamily="18" charset="0"/>
            </a:endParaRPr>
          </a:p>
        </p:txBody>
      </p:sp>
      <p:sp>
        <p:nvSpPr>
          <p:cNvPr id="31769" name="Oval 43"/>
          <p:cNvSpPr>
            <a:spLocks noChangeArrowheads="1"/>
          </p:cNvSpPr>
          <p:nvPr/>
        </p:nvSpPr>
        <p:spPr bwMode="auto">
          <a:xfrm flipH="1">
            <a:off x="1258888" y="1125538"/>
            <a:ext cx="430212" cy="44291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x</a:t>
            </a:r>
          </a:p>
        </p:txBody>
      </p:sp>
      <p:cxnSp>
        <p:nvCxnSpPr>
          <p:cNvPr id="31770" name="AutoShape 44"/>
          <p:cNvCxnSpPr>
            <a:cxnSpLocks noChangeShapeType="1"/>
            <a:stCxn id="31769" idx="5"/>
            <a:endCxn id="31771" idx="0"/>
          </p:cNvCxnSpPr>
          <p:nvPr/>
        </p:nvCxnSpPr>
        <p:spPr bwMode="auto">
          <a:xfrm flipH="1">
            <a:off x="542925" y="1503363"/>
            <a:ext cx="779463" cy="41275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1771" name="AutoShape 45"/>
          <p:cNvSpPr>
            <a:spLocks noChangeArrowheads="1"/>
          </p:cNvSpPr>
          <p:nvPr/>
        </p:nvSpPr>
        <p:spPr bwMode="auto">
          <a:xfrm flipH="1">
            <a:off x="179388" y="1916113"/>
            <a:ext cx="725487" cy="995362"/>
          </a:xfrm>
          <a:prstGeom prst="flowChartExtra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T</a:t>
            </a:r>
            <a:r>
              <a:rPr lang="en-US" altLang="en-US" b="0" baseline="-25000">
                <a:latin typeface="Times New Roman" pitchFamily="18" charset="0"/>
              </a:rPr>
              <a:t>1</a:t>
            </a:r>
            <a:endParaRPr lang="en-US" altLang="en-US" b="0">
              <a:latin typeface="Times New Roman" pitchFamily="18" charset="0"/>
            </a:endParaRPr>
          </a:p>
        </p:txBody>
      </p:sp>
      <p:cxnSp>
        <p:nvCxnSpPr>
          <p:cNvPr id="31772" name="AutoShape 46"/>
          <p:cNvCxnSpPr>
            <a:cxnSpLocks noChangeShapeType="1"/>
            <a:stCxn id="31769" idx="3"/>
            <a:endCxn id="31765" idx="7"/>
          </p:cNvCxnSpPr>
          <p:nvPr/>
        </p:nvCxnSpPr>
        <p:spPr bwMode="auto">
          <a:xfrm>
            <a:off x="1627188" y="1503363"/>
            <a:ext cx="601662" cy="331787"/>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1773" name="Arc 47"/>
          <p:cNvSpPr>
            <a:spLocks/>
          </p:cNvSpPr>
          <p:nvPr/>
        </p:nvSpPr>
        <p:spPr bwMode="auto">
          <a:xfrm rot="-5400000">
            <a:off x="2147887" y="2301876"/>
            <a:ext cx="542925" cy="558800"/>
          </a:xfrm>
          <a:custGeom>
            <a:avLst/>
            <a:gdLst>
              <a:gd name="T0" fmla="*/ 2147483647 w 21600"/>
              <a:gd name="T1" fmla="*/ 0 h 41964"/>
              <a:gd name="T2" fmla="*/ 2147483647 w 21600"/>
              <a:gd name="T3" fmla="*/ 2147483647 h 41964"/>
              <a:gd name="T4" fmla="*/ 0 w 21600"/>
              <a:gd name="T5" fmla="*/ 2147483647 h 41964"/>
              <a:gd name="T6" fmla="*/ 0 60000 65536"/>
              <a:gd name="T7" fmla="*/ 0 60000 65536"/>
              <a:gd name="T8" fmla="*/ 0 60000 65536"/>
              <a:gd name="T9" fmla="*/ 0 w 21600"/>
              <a:gd name="T10" fmla="*/ 0 h 41964"/>
              <a:gd name="T11" fmla="*/ 21600 w 21600"/>
              <a:gd name="T12" fmla="*/ 41964 h 41964"/>
            </a:gdLst>
            <a:ahLst/>
            <a:cxnLst>
              <a:cxn ang="T6">
                <a:pos x="T0" y="T1"/>
              </a:cxn>
              <a:cxn ang="T7">
                <a:pos x="T2" y="T3"/>
              </a:cxn>
              <a:cxn ang="T8">
                <a:pos x="T4" y="T5"/>
              </a:cxn>
            </a:cxnLst>
            <a:rect l="T9" t="T10" r="T11" b="T12"/>
            <a:pathLst>
              <a:path w="21600" h="41964" fill="none" extrusionOk="0">
                <a:moveTo>
                  <a:pt x="5534" y="-1"/>
                </a:moveTo>
                <a:cubicBezTo>
                  <a:pt x="15004" y="2510"/>
                  <a:pt x="21600" y="11080"/>
                  <a:pt x="21600" y="20879"/>
                </a:cubicBezTo>
                <a:cubicBezTo>
                  <a:pt x="21600" y="31001"/>
                  <a:pt x="14569" y="39767"/>
                  <a:pt x="4688" y="41964"/>
                </a:cubicBezTo>
              </a:path>
              <a:path w="21600" h="41964" stroke="0" extrusionOk="0">
                <a:moveTo>
                  <a:pt x="5534" y="-1"/>
                </a:moveTo>
                <a:cubicBezTo>
                  <a:pt x="15004" y="2510"/>
                  <a:pt x="21600" y="11080"/>
                  <a:pt x="21600" y="20879"/>
                </a:cubicBezTo>
                <a:cubicBezTo>
                  <a:pt x="21600" y="31001"/>
                  <a:pt x="14569" y="39767"/>
                  <a:pt x="4688" y="41964"/>
                </a:cubicBezTo>
                <a:lnTo>
                  <a:pt x="0" y="20879"/>
                </a:lnTo>
                <a:lnTo>
                  <a:pt x="5534" y="-1"/>
                </a:lnTo>
                <a:close/>
              </a:path>
            </a:pathLst>
          </a:custGeom>
          <a:noFill/>
          <a:ln w="5715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1774" name="Arc 48"/>
          <p:cNvSpPr>
            <a:spLocks/>
          </p:cNvSpPr>
          <p:nvPr/>
        </p:nvSpPr>
        <p:spPr bwMode="auto">
          <a:xfrm rot="5400000" flipH="1">
            <a:off x="6380162" y="1692276"/>
            <a:ext cx="542925" cy="558800"/>
          </a:xfrm>
          <a:custGeom>
            <a:avLst/>
            <a:gdLst>
              <a:gd name="T0" fmla="*/ 2147483647 w 21600"/>
              <a:gd name="T1" fmla="*/ 0 h 41964"/>
              <a:gd name="T2" fmla="*/ 2147483647 w 21600"/>
              <a:gd name="T3" fmla="*/ 2147483647 h 41964"/>
              <a:gd name="T4" fmla="*/ 0 w 21600"/>
              <a:gd name="T5" fmla="*/ 2147483647 h 41964"/>
              <a:gd name="T6" fmla="*/ 0 60000 65536"/>
              <a:gd name="T7" fmla="*/ 0 60000 65536"/>
              <a:gd name="T8" fmla="*/ 0 60000 65536"/>
              <a:gd name="T9" fmla="*/ 0 w 21600"/>
              <a:gd name="T10" fmla="*/ 0 h 41964"/>
              <a:gd name="T11" fmla="*/ 21600 w 21600"/>
              <a:gd name="T12" fmla="*/ 41964 h 41964"/>
            </a:gdLst>
            <a:ahLst/>
            <a:cxnLst>
              <a:cxn ang="T6">
                <a:pos x="T0" y="T1"/>
              </a:cxn>
              <a:cxn ang="T7">
                <a:pos x="T2" y="T3"/>
              </a:cxn>
              <a:cxn ang="T8">
                <a:pos x="T4" y="T5"/>
              </a:cxn>
            </a:cxnLst>
            <a:rect l="T9" t="T10" r="T11" b="T12"/>
            <a:pathLst>
              <a:path w="21600" h="41964" fill="none" extrusionOk="0">
                <a:moveTo>
                  <a:pt x="5534" y="-1"/>
                </a:moveTo>
                <a:cubicBezTo>
                  <a:pt x="15004" y="2510"/>
                  <a:pt x="21600" y="11080"/>
                  <a:pt x="21600" y="20879"/>
                </a:cubicBezTo>
                <a:cubicBezTo>
                  <a:pt x="21600" y="31001"/>
                  <a:pt x="14569" y="39767"/>
                  <a:pt x="4688" y="41964"/>
                </a:cubicBezTo>
              </a:path>
              <a:path w="21600" h="41964" stroke="0" extrusionOk="0">
                <a:moveTo>
                  <a:pt x="5534" y="-1"/>
                </a:moveTo>
                <a:cubicBezTo>
                  <a:pt x="15004" y="2510"/>
                  <a:pt x="21600" y="11080"/>
                  <a:pt x="21600" y="20879"/>
                </a:cubicBezTo>
                <a:cubicBezTo>
                  <a:pt x="21600" y="31001"/>
                  <a:pt x="14569" y="39767"/>
                  <a:pt x="4688" y="41964"/>
                </a:cubicBezTo>
                <a:lnTo>
                  <a:pt x="0" y="20879"/>
                </a:lnTo>
                <a:lnTo>
                  <a:pt x="5534" y="-1"/>
                </a:lnTo>
                <a:close/>
              </a:path>
            </a:pathLst>
          </a:custGeom>
          <a:noFill/>
          <a:ln w="5715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1775" name="Oval 49"/>
          <p:cNvSpPr>
            <a:spLocks noChangeArrowheads="1"/>
          </p:cNvSpPr>
          <p:nvPr/>
        </p:nvSpPr>
        <p:spPr bwMode="auto">
          <a:xfrm flipH="1">
            <a:off x="6126163" y="4954588"/>
            <a:ext cx="430212" cy="44291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z</a:t>
            </a:r>
          </a:p>
        </p:txBody>
      </p:sp>
      <p:cxnSp>
        <p:nvCxnSpPr>
          <p:cNvPr id="31776" name="AutoShape 50"/>
          <p:cNvCxnSpPr>
            <a:cxnSpLocks noChangeShapeType="1"/>
            <a:stCxn id="31775" idx="3"/>
            <a:endCxn id="31778" idx="0"/>
          </p:cNvCxnSpPr>
          <p:nvPr/>
        </p:nvCxnSpPr>
        <p:spPr bwMode="auto">
          <a:xfrm>
            <a:off x="6494463" y="5332413"/>
            <a:ext cx="452437" cy="34131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1777" name="AutoShape 51"/>
          <p:cNvCxnSpPr>
            <a:cxnSpLocks noChangeShapeType="1"/>
            <a:stCxn id="31775" idx="5"/>
            <a:endCxn id="31779" idx="0"/>
          </p:cNvCxnSpPr>
          <p:nvPr/>
        </p:nvCxnSpPr>
        <p:spPr bwMode="auto">
          <a:xfrm flipH="1">
            <a:off x="5762625" y="5332413"/>
            <a:ext cx="427038" cy="34131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1778" name="AutoShape 52"/>
          <p:cNvSpPr>
            <a:spLocks noChangeArrowheads="1"/>
          </p:cNvSpPr>
          <p:nvPr/>
        </p:nvSpPr>
        <p:spPr bwMode="auto">
          <a:xfrm flipH="1">
            <a:off x="6583363" y="5673725"/>
            <a:ext cx="725487" cy="995363"/>
          </a:xfrm>
          <a:prstGeom prst="flowChartExtra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T</a:t>
            </a:r>
            <a:r>
              <a:rPr lang="en-US" altLang="en-US" b="0" baseline="-25000">
                <a:latin typeface="Times New Roman" pitchFamily="18" charset="0"/>
              </a:rPr>
              <a:t>4</a:t>
            </a:r>
          </a:p>
        </p:txBody>
      </p:sp>
      <p:sp>
        <p:nvSpPr>
          <p:cNvPr id="31779" name="AutoShape 53"/>
          <p:cNvSpPr>
            <a:spLocks noChangeArrowheads="1"/>
          </p:cNvSpPr>
          <p:nvPr/>
        </p:nvSpPr>
        <p:spPr bwMode="auto">
          <a:xfrm flipH="1">
            <a:off x="5399088" y="5673725"/>
            <a:ext cx="725487" cy="995363"/>
          </a:xfrm>
          <a:prstGeom prst="flowChartExtra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T</a:t>
            </a:r>
            <a:r>
              <a:rPr lang="en-US" altLang="en-US" b="0" baseline="-25000">
                <a:latin typeface="Times New Roman" pitchFamily="18" charset="0"/>
              </a:rPr>
              <a:t>3</a:t>
            </a:r>
          </a:p>
        </p:txBody>
      </p:sp>
      <p:sp>
        <p:nvSpPr>
          <p:cNvPr id="31780" name="Oval 54"/>
          <p:cNvSpPr>
            <a:spLocks noChangeArrowheads="1"/>
          </p:cNvSpPr>
          <p:nvPr/>
        </p:nvSpPr>
        <p:spPr bwMode="auto">
          <a:xfrm flipH="1">
            <a:off x="2628900" y="4941888"/>
            <a:ext cx="430213" cy="44291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x</a:t>
            </a:r>
          </a:p>
        </p:txBody>
      </p:sp>
      <p:cxnSp>
        <p:nvCxnSpPr>
          <p:cNvPr id="31781" name="AutoShape 55"/>
          <p:cNvCxnSpPr>
            <a:cxnSpLocks noChangeShapeType="1"/>
            <a:stCxn id="31780" idx="3"/>
            <a:endCxn id="31786" idx="0"/>
          </p:cNvCxnSpPr>
          <p:nvPr/>
        </p:nvCxnSpPr>
        <p:spPr bwMode="auto">
          <a:xfrm>
            <a:off x="2997200" y="5319713"/>
            <a:ext cx="420688" cy="34131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1782" name="AutoShape 56"/>
          <p:cNvCxnSpPr>
            <a:cxnSpLocks noChangeShapeType="1"/>
            <a:stCxn id="31780" idx="5"/>
            <a:endCxn id="31783" idx="0"/>
          </p:cNvCxnSpPr>
          <p:nvPr/>
        </p:nvCxnSpPr>
        <p:spPr bwMode="auto">
          <a:xfrm flipH="1">
            <a:off x="2265363" y="5319713"/>
            <a:ext cx="427037" cy="34131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1783" name="AutoShape 57"/>
          <p:cNvSpPr>
            <a:spLocks noChangeArrowheads="1"/>
          </p:cNvSpPr>
          <p:nvPr/>
        </p:nvSpPr>
        <p:spPr bwMode="auto">
          <a:xfrm flipH="1">
            <a:off x="1901825" y="5661025"/>
            <a:ext cx="725488" cy="995363"/>
          </a:xfrm>
          <a:prstGeom prst="flowChartExtra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T</a:t>
            </a:r>
            <a:r>
              <a:rPr lang="en-US" altLang="en-US" b="0" baseline="-25000">
                <a:latin typeface="Times New Roman" pitchFamily="18" charset="0"/>
              </a:rPr>
              <a:t>1</a:t>
            </a:r>
            <a:endParaRPr lang="en-US" altLang="en-US" b="0">
              <a:latin typeface="Times New Roman" pitchFamily="18" charset="0"/>
            </a:endParaRPr>
          </a:p>
        </p:txBody>
      </p:sp>
      <p:sp>
        <p:nvSpPr>
          <p:cNvPr id="31784" name="Oval 58"/>
          <p:cNvSpPr>
            <a:spLocks noChangeArrowheads="1"/>
          </p:cNvSpPr>
          <p:nvPr/>
        </p:nvSpPr>
        <p:spPr bwMode="auto">
          <a:xfrm flipH="1">
            <a:off x="4435475" y="4149725"/>
            <a:ext cx="430213" cy="44291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y</a:t>
            </a:r>
          </a:p>
        </p:txBody>
      </p:sp>
      <p:cxnSp>
        <p:nvCxnSpPr>
          <p:cNvPr id="31785" name="AutoShape 59"/>
          <p:cNvCxnSpPr>
            <a:cxnSpLocks noChangeShapeType="1"/>
            <a:stCxn id="31784" idx="5"/>
            <a:endCxn id="31780" idx="0"/>
          </p:cNvCxnSpPr>
          <p:nvPr/>
        </p:nvCxnSpPr>
        <p:spPr bwMode="auto">
          <a:xfrm flipH="1">
            <a:off x="2844800" y="4527550"/>
            <a:ext cx="1654175" cy="414338"/>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1786" name="AutoShape 60"/>
          <p:cNvSpPr>
            <a:spLocks noChangeArrowheads="1"/>
          </p:cNvSpPr>
          <p:nvPr/>
        </p:nvSpPr>
        <p:spPr bwMode="auto">
          <a:xfrm flipH="1">
            <a:off x="3054350" y="5661025"/>
            <a:ext cx="725488" cy="995363"/>
          </a:xfrm>
          <a:prstGeom prst="flowChartExtra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T</a:t>
            </a:r>
            <a:r>
              <a:rPr lang="en-US" altLang="en-US" b="0" baseline="-25000">
                <a:latin typeface="Times New Roman" pitchFamily="18" charset="0"/>
              </a:rPr>
              <a:t>2</a:t>
            </a:r>
            <a:endParaRPr lang="en-US" altLang="en-US" b="0">
              <a:latin typeface="Times New Roman" pitchFamily="18" charset="0"/>
            </a:endParaRPr>
          </a:p>
        </p:txBody>
      </p:sp>
      <p:cxnSp>
        <p:nvCxnSpPr>
          <p:cNvPr id="31787" name="AutoShape 61"/>
          <p:cNvCxnSpPr>
            <a:cxnSpLocks noChangeShapeType="1"/>
            <a:stCxn id="31784" idx="3"/>
            <a:endCxn id="31775" idx="0"/>
          </p:cNvCxnSpPr>
          <p:nvPr/>
        </p:nvCxnSpPr>
        <p:spPr bwMode="auto">
          <a:xfrm>
            <a:off x="4803775" y="4527550"/>
            <a:ext cx="1538288" cy="427038"/>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1788" name="Line 62"/>
          <p:cNvSpPr>
            <a:spLocks noChangeShapeType="1"/>
          </p:cNvSpPr>
          <p:nvPr/>
        </p:nvSpPr>
        <p:spPr bwMode="auto">
          <a:xfrm>
            <a:off x="2989263" y="2139950"/>
            <a:ext cx="2736850" cy="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1789" name="Text Box 63"/>
          <p:cNvSpPr txBox="1">
            <a:spLocks noChangeArrowheads="1"/>
          </p:cNvSpPr>
          <p:nvPr/>
        </p:nvSpPr>
        <p:spPr bwMode="auto">
          <a:xfrm>
            <a:off x="2916238" y="1773238"/>
            <a:ext cx="28082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a:cs typeface="Arial" pitchFamily="34" charset="0"/>
              </a:rPr>
              <a:t>right rotation of y about z</a:t>
            </a:r>
          </a:p>
        </p:txBody>
      </p:sp>
      <p:sp>
        <p:nvSpPr>
          <p:cNvPr id="31790" name="Text Box 66"/>
          <p:cNvSpPr txBox="1">
            <a:spLocks noChangeArrowheads="1"/>
          </p:cNvSpPr>
          <p:nvPr/>
        </p:nvSpPr>
        <p:spPr bwMode="auto">
          <a:xfrm>
            <a:off x="2411413" y="1125538"/>
            <a:ext cx="32400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a:cs typeface="Arial" pitchFamily="34" charset="0"/>
              </a:rPr>
              <a:t>deepest unbalanced node</a:t>
            </a:r>
          </a:p>
        </p:txBody>
      </p:sp>
      <p:sp>
        <p:nvSpPr>
          <p:cNvPr id="31791" name="Line 67"/>
          <p:cNvSpPr>
            <a:spLocks noChangeShapeType="1"/>
          </p:cNvSpPr>
          <p:nvPr/>
        </p:nvSpPr>
        <p:spPr bwMode="auto">
          <a:xfrm flipH="1" flipV="1">
            <a:off x="1835150" y="1341438"/>
            <a:ext cx="503238"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1792" name="Line 68"/>
          <p:cNvSpPr>
            <a:spLocks noChangeShapeType="1"/>
          </p:cNvSpPr>
          <p:nvPr/>
        </p:nvSpPr>
        <p:spPr bwMode="auto">
          <a:xfrm flipH="1">
            <a:off x="5508625" y="3789363"/>
            <a:ext cx="1079500" cy="6477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1793" name="Text Box 69"/>
          <p:cNvSpPr txBox="1">
            <a:spLocks noChangeArrowheads="1"/>
          </p:cNvSpPr>
          <p:nvPr/>
        </p:nvSpPr>
        <p:spPr bwMode="auto">
          <a:xfrm>
            <a:off x="5867400" y="4214813"/>
            <a:ext cx="28082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a:cs typeface="Arial" pitchFamily="34" charset="0"/>
              </a:rPr>
              <a:t>left rotation of Y about X</a:t>
            </a:r>
          </a:p>
        </p:txBody>
      </p:sp>
      <p:sp>
        <p:nvSpPr>
          <p:cNvPr id="31794" name="Text Box 70"/>
          <p:cNvSpPr txBox="1">
            <a:spLocks noChangeArrowheads="1"/>
          </p:cNvSpPr>
          <p:nvPr/>
        </p:nvSpPr>
        <p:spPr bwMode="auto">
          <a:xfrm>
            <a:off x="179388" y="4508500"/>
            <a:ext cx="1584325" cy="200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sz="1400">
                <a:solidFill>
                  <a:schemeClr val="accent2"/>
                </a:solidFill>
                <a:cs typeface="Arial" pitchFamily="34" charset="0"/>
              </a:rPr>
              <a:t>Note: First pivot is the right child of the deepest unbalanced node; second pivot is the deepest unbalanced node</a:t>
            </a:r>
          </a:p>
        </p:txBody>
      </p:sp>
    </p:spTree>
    <p:extLst>
      <p:ext uri="{BB962C8B-B14F-4D97-AF65-F5344CB8AC3E}">
        <p14:creationId xmlns:p14="http://schemas.microsoft.com/office/powerpoint/2010/main" val="25962825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altLang="en-US" smtClean="0"/>
              <a:t>Double Left-Right Rotation</a:t>
            </a:r>
          </a:p>
        </p:txBody>
      </p:sp>
      <p:sp>
        <p:nvSpPr>
          <p:cNvPr id="32771" name="Oval 17"/>
          <p:cNvSpPr>
            <a:spLocks noChangeArrowheads="1"/>
          </p:cNvSpPr>
          <p:nvPr/>
        </p:nvSpPr>
        <p:spPr bwMode="auto">
          <a:xfrm>
            <a:off x="1685925" y="2349500"/>
            <a:ext cx="430213" cy="44291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w</a:t>
            </a:r>
          </a:p>
        </p:txBody>
      </p:sp>
      <p:cxnSp>
        <p:nvCxnSpPr>
          <p:cNvPr id="32772" name="AutoShape 18"/>
          <p:cNvCxnSpPr>
            <a:cxnSpLocks noChangeShapeType="1"/>
            <a:stCxn id="32771" idx="3"/>
            <a:endCxn id="32774" idx="0"/>
          </p:cNvCxnSpPr>
          <p:nvPr/>
        </p:nvCxnSpPr>
        <p:spPr bwMode="auto">
          <a:xfrm flipH="1">
            <a:off x="1296988" y="2727325"/>
            <a:ext cx="452437" cy="341313"/>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2773" name="AutoShape 19"/>
          <p:cNvCxnSpPr>
            <a:cxnSpLocks noChangeShapeType="1"/>
            <a:stCxn id="32771" idx="5"/>
            <a:endCxn id="32775" idx="0"/>
          </p:cNvCxnSpPr>
          <p:nvPr/>
        </p:nvCxnSpPr>
        <p:spPr bwMode="auto">
          <a:xfrm>
            <a:off x="2052638" y="2727325"/>
            <a:ext cx="428625" cy="341313"/>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2774" name="AutoShape 20"/>
          <p:cNvSpPr>
            <a:spLocks noChangeArrowheads="1"/>
          </p:cNvSpPr>
          <p:nvPr/>
        </p:nvSpPr>
        <p:spPr bwMode="auto">
          <a:xfrm>
            <a:off x="933450" y="3068638"/>
            <a:ext cx="725488" cy="995362"/>
          </a:xfrm>
          <a:prstGeom prst="flowChartExtra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T</a:t>
            </a:r>
            <a:r>
              <a:rPr lang="en-US" altLang="en-US" b="0" baseline="-25000">
                <a:latin typeface="Times New Roman" pitchFamily="18" charset="0"/>
              </a:rPr>
              <a:t>2</a:t>
            </a:r>
          </a:p>
        </p:txBody>
      </p:sp>
      <p:sp>
        <p:nvSpPr>
          <p:cNvPr id="32775" name="AutoShape 21"/>
          <p:cNvSpPr>
            <a:spLocks noChangeArrowheads="1"/>
          </p:cNvSpPr>
          <p:nvPr/>
        </p:nvSpPr>
        <p:spPr bwMode="auto">
          <a:xfrm>
            <a:off x="2117725" y="3068638"/>
            <a:ext cx="725488" cy="995362"/>
          </a:xfrm>
          <a:prstGeom prst="flowChartExtra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T</a:t>
            </a:r>
            <a:r>
              <a:rPr lang="en-US" altLang="en-US" b="0" baseline="-25000">
                <a:latin typeface="Times New Roman" pitchFamily="18" charset="0"/>
              </a:rPr>
              <a:t>3</a:t>
            </a:r>
          </a:p>
        </p:txBody>
      </p:sp>
      <p:sp>
        <p:nvSpPr>
          <p:cNvPr id="32776" name="Oval 22"/>
          <p:cNvSpPr>
            <a:spLocks noChangeArrowheads="1"/>
          </p:cNvSpPr>
          <p:nvPr/>
        </p:nvSpPr>
        <p:spPr bwMode="auto">
          <a:xfrm>
            <a:off x="1003300" y="1771650"/>
            <a:ext cx="430213" cy="44291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v</a:t>
            </a:r>
          </a:p>
        </p:txBody>
      </p:sp>
      <p:cxnSp>
        <p:nvCxnSpPr>
          <p:cNvPr id="32777" name="AutoShape 23"/>
          <p:cNvCxnSpPr>
            <a:cxnSpLocks noChangeShapeType="1"/>
            <a:stCxn id="32776" idx="3"/>
            <a:endCxn id="32779" idx="0"/>
          </p:cNvCxnSpPr>
          <p:nvPr/>
        </p:nvCxnSpPr>
        <p:spPr bwMode="auto">
          <a:xfrm flipH="1">
            <a:off x="542925" y="2149475"/>
            <a:ext cx="523875" cy="271463"/>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2778" name="AutoShape 24"/>
          <p:cNvCxnSpPr>
            <a:cxnSpLocks noChangeShapeType="1"/>
            <a:stCxn id="32776" idx="5"/>
            <a:endCxn id="32771" idx="0"/>
          </p:cNvCxnSpPr>
          <p:nvPr/>
        </p:nvCxnSpPr>
        <p:spPr bwMode="auto">
          <a:xfrm>
            <a:off x="1370013" y="2149475"/>
            <a:ext cx="531812" cy="20002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2779" name="AutoShape 25"/>
          <p:cNvSpPr>
            <a:spLocks noChangeArrowheads="1"/>
          </p:cNvSpPr>
          <p:nvPr/>
        </p:nvSpPr>
        <p:spPr bwMode="auto">
          <a:xfrm>
            <a:off x="179388" y="2420938"/>
            <a:ext cx="725487" cy="995362"/>
          </a:xfrm>
          <a:prstGeom prst="flowChartExtra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T</a:t>
            </a:r>
            <a:r>
              <a:rPr lang="en-US" altLang="en-US" b="0" baseline="-25000">
                <a:latin typeface="Times New Roman" pitchFamily="18" charset="0"/>
              </a:rPr>
              <a:t>1</a:t>
            </a:r>
            <a:endParaRPr lang="en-US" altLang="en-US" b="0">
              <a:latin typeface="Times New Roman" pitchFamily="18" charset="0"/>
            </a:endParaRPr>
          </a:p>
        </p:txBody>
      </p:sp>
      <p:sp>
        <p:nvSpPr>
          <p:cNvPr id="32780" name="Oval 26"/>
          <p:cNvSpPr>
            <a:spLocks noChangeArrowheads="1"/>
          </p:cNvSpPr>
          <p:nvPr/>
        </p:nvSpPr>
        <p:spPr bwMode="auto">
          <a:xfrm>
            <a:off x="1909763" y="1125538"/>
            <a:ext cx="430212" cy="44291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x</a:t>
            </a:r>
          </a:p>
        </p:txBody>
      </p:sp>
      <p:cxnSp>
        <p:nvCxnSpPr>
          <p:cNvPr id="32781" name="AutoShape 27"/>
          <p:cNvCxnSpPr>
            <a:cxnSpLocks noChangeShapeType="1"/>
            <a:stCxn id="32780" idx="5"/>
            <a:endCxn id="32782" idx="0"/>
          </p:cNvCxnSpPr>
          <p:nvPr/>
        </p:nvCxnSpPr>
        <p:spPr bwMode="auto">
          <a:xfrm>
            <a:off x="2276475" y="1503363"/>
            <a:ext cx="781050" cy="41275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2782" name="AutoShape 28"/>
          <p:cNvSpPr>
            <a:spLocks noChangeArrowheads="1"/>
          </p:cNvSpPr>
          <p:nvPr/>
        </p:nvSpPr>
        <p:spPr bwMode="auto">
          <a:xfrm>
            <a:off x="2693988" y="1916113"/>
            <a:ext cx="725487" cy="995362"/>
          </a:xfrm>
          <a:prstGeom prst="flowChartExtra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T</a:t>
            </a:r>
            <a:r>
              <a:rPr lang="en-US" altLang="en-US" b="0" baseline="-25000">
                <a:latin typeface="Times New Roman" pitchFamily="18" charset="0"/>
              </a:rPr>
              <a:t>4</a:t>
            </a:r>
            <a:endParaRPr lang="en-US" altLang="en-US" b="0">
              <a:latin typeface="Times New Roman" pitchFamily="18" charset="0"/>
            </a:endParaRPr>
          </a:p>
        </p:txBody>
      </p:sp>
      <p:cxnSp>
        <p:nvCxnSpPr>
          <p:cNvPr id="32783" name="AutoShape 29"/>
          <p:cNvCxnSpPr>
            <a:cxnSpLocks noChangeShapeType="1"/>
            <a:stCxn id="32780" idx="3"/>
            <a:endCxn id="32776" idx="7"/>
          </p:cNvCxnSpPr>
          <p:nvPr/>
        </p:nvCxnSpPr>
        <p:spPr bwMode="auto">
          <a:xfrm flipH="1">
            <a:off x="1370013" y="1503363"/>
            <a:ext cx="603250" cy="33337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2784" name="Arc 30"/>
          <p:cNvSpPr>
            <a:spLocks/>
          </p:cNvSpPr>
          <p:nvPr/>
        </p:nvSpPr>
        <p:spPr bwMode="auto">
          <a:xfrm rot="5400000" flipH="1">
            <a:off x="908050" y="2301876"/>
            <a:ext cx="542925" cy="558800"/>
          </a:xfrm>
          <a:custGeom>
            <a:avLst/>
            <a:gdLst>
              <a:gd name="T0" fmla="*/ 2147483647 w 21600"/>
              <a:gd name="T1" fmla="*/ 0 h 41964"/>
              <a:gd name="T2" fmla="*/ 2147483647 w 21600"/>
              <a:gd name="T3" fmla="*/ 2147483647 h 41964"/>
              <a:gd name="T4" fmla="*/ 0 w 21600"/>
              <a:gd name="T5" fmla="*/ 2147483647 h 41964"/>
              <a:gd name="T6" fmla="*/ 0 60000 65536"/>
              <a:gd name="T7" fmla="*/ 0 60000 65536"/>
              <a:gd name="T8" fmla="*/ 0 60000 65536"/>
              <a:gd name="T9" fmla="*/ 0 w 21600"/>
              <a:gd name="T10" fmla="*/ 0 h 41964"/>
              <a:gd name="T11" fmla="*/ 21600 w 21600"/>
              <a:gd name="T12" fmla="*/ 41964 h 41964"/>
            </a:gdLst>
            <a:ahLst/>
            <a:cxnLst>
              <a:cxn ang="T6">
                <a:pos x="T0" y="T1"/>
              </a:cxn>
              <a:cxn ang="T7">
                <a:pos x="T2" y="T3"/>
              </a:cxn>
              <a:cxn ang="T8">
                <a:pos x="T4" y="T5"/>
              </a:cxn>
            </a:cxnLst>
            <a:rect l="T9" t="T10" r="T11" b="T12"/>
            <a:pathLst>
              <a:path w="21600" h="41964" fill="none" extrusionOk="0">
                <a:moveTo>
                  <a:pt x="5534" y="-1"/>
                </a:moveTo>
                <a:cubicBezTo>
                  <a:pt x="15004" y="2510"/>
                  <a:pt x="21600" y="11080"/>
                  <a:pt x="21600" y="20879"/>
                </a:cubicBezTo>
                <a:cubicBezTo>
                  <a:pt x="21600" y="31001"/>
                  <a:pt x="14569" y="39767"/>
                  <a:pt x="4688" y="41964"/>
                </a:cubicBezTo>
              </a:path>
              <a:path w="21600" h="41964" stroke="0" extrusionOk="0">
                <a:moveTo>
                  <a:pt x="5534" y="-1"/>
                </a:moveTo>
                <a:cubicBezTo>
                  <a:pt x="15004" y="2510"/>
                  <a:pt x="21600" y="11080"/>
                  <a:pt x="21600" y="20879"/>
                </a:cubicBezTo>
                <a:cubicBezTo>
                  <a:pt x="21600" y="31001"/>
                  <a:pt x="14569" y="39767"/>
                  <a:pt x="4688" y="41964"/>
                </a:cubicBezTo>
                <a:lnTo>
                  <a:pt x="0" y="20879"/>
                </a:lnTo>
                <a:lnTo>
                  <a:pt x="5534" y="-1"/>
                </a:lnTo>
                <a:close/>
              </a:path>
            </a:pathLst>
          </a:custGeom>
          <a:noFill/>
          <a:ln w="5715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32785" name="Group 51"/>
          <p:cNvGrpSpPr>
            <a:grpSpLocks/>
          </p:cNvGrpSpPr>
          <p:nvPr/>
        </p:nvGrpSpPr>
        <p:grpSpPr bwMode="auto">
          <a:xfrm flipH="1">
            <a:off x="5653088" y="1125538"/>
            <a:ext cx="3311525" cy="2951162"/>
            <a:chOff x="3561" y="709"/>
            <a:chExt cx="2086" cy="1859"/>
          </a:xfrm>
        </p:grpSpPr>
        <p:sp>
          <p:nvSpPr>
            <p:cNvPr id="32806" name="Oval 4"/>
            <p:cNvSpPr>
              <a:spLocks noChangeArrowheads="1"/>
            </p:cNvSpPr>
            <p:nvPr/>
          </p:nvSpPr>
          <p:spPr bwMode="auto">
            <a:xfrm flipH="1">
              <a:off x="4902" y="1488"/>
              <a:ext cx="271" cy="27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v</a:t>
              </a:r>
            </a:p>
          </p:txBody>
        </p:sp>
        <p:cxnSp>
          <p:nvCxnSpPr>
            <p:cNvPr id="32807" name="AutoShape 5"/>
            <p:cNvCxnSpPr>
              <a:cxnSpLocks noChangeShapeType="1"/>
              <a:stCxn id="32806" idx="3"/>
              <a:endCxn id="32809" idx="0"/>
            </p:cNvCxnSpPr>
            <p:nvPr/>
          </p:nvCxnSpPr>
          <p:spPr bwMode="auto">
            <a:xfrm>
              <a:off x="5134" y="1726"/>
              <a:ext cx="285" cy="21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2808" name="AutoShape 6"/>
            <p:cNvCxnSpPr>
              <a:cxnSpLocks noChangeShapeType="1"/>
              <a:stCxn id="32806" idx="5"/>
              <a:endCxn id="32810" idx="0"/>
            </p:cNvCxnSpPr>
            <p:nvPr/>
          </p:nvCxnSpPr>
          <p:spPr bwMode="auto">
            <a:xfrm flipH="1">
              <a:off x="4673" y="1726"/>
              <a:ext cx="269" cy="21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2809" name="AutoShape 7"/>
            <p:cNvSpPr>
              <a:spLocks noChangeArrowheads="1"/>
            </p:cNvSpPr>
            <p:nvPr/>
          </p:nvSpPr>
          <p:spPr bwMode="auto">
            <a:xfrm flipH="1">
              <a:off x="5190" y="1941"/>
              <a:ext cx="457" cy="627"/>
            </a:xfrm>
            <a:prstGeom prst="flowChartExtra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T</a:t>
              </a:r>
              <a:r>
                <a:rPr lang="en-US" altLang="en-US" b="0" baseline="-25000">
                  <a:latin typeface="Times New Roman" pitchFamily="18" charset="0"/>
                </a:rPr>
                <a:t>1</a:t>
              </a:r>
            </a:p>
          </p:txBody>
        </p:sp>
        <p:sp>
          <p:nvSpPr>
            <p:cNvPr id="32810" name="AutoShape 8"/>
            <p:cNvSpPr>
              <a:spLocks noChangeArrowheads="1"/>
            </p:cNvSpPr>
            <p:nvPr/>
          </p:nvSpPr>
          <p:spPr bwMode="auto">
            <a:xfrm flipH="1">
              <a:off x="4444" y="1941"/>
              <a:ext cx="457" cy="627"/>
            </a:xfrm>
            <a:prstGeom prst="flowChartExtra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T</a:t>
              </a:r>
              <a:r>
                <a:rPr lang="en-US" altLang="en-US" b="0" baseline="-25000">
                  <a:latin typeface="Times New Roman" pitchFamily="18" charset="0"/>
                </a:rPr>
                <a:t>2</a:t>
              </a:r>
            </a:p>
          </p:txBody>
        </p:sp>
        <p:sp>
          <p:nvSpPr>
            <p:cNvPr id="32811" name="Oval 9"/>
            <p:cNvSpPr>
              <a:spLocks noChangeArrowheads="1"/>
            </p:cNvSpPr>
            <p:nvPr/>
          </p:nvSpPr>
          <p:spPr bwMode="auto">
            <a:xfrm flipH="1">
              <a:off x="4495" y="1071"/>
              <a:ext cx="271" cy="27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w</a:t>
              </a:r>
            </a:p>
          </p:txBody>
        </p:sp>
        <p:cxnSp>
          <p:nvCxnSpPr>
            <p:cNvPr id="32812" name="AutoShape 10"/>
            <p:cNvCxnSpPr>
              <a:cxnSpLocks noChangeShapeType="1"/>
              <a:stCxn id="32811" idx="3"/>
              <a:endCxn id="32806" idx="0"/>
            </p:cNvCxnSpPr>
            <p:nvPr/>
          </p:nvCxnSpPr>
          <p:spPr bwMode="auto">
            <a:xfrm>
              <a:off x="4727" y="1309"/>
              <a:ext cx="311" cy="179"/>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2813" name="AutoShape 11"/>
            <p:cNvCxnSpPr>
              <a:cxnSpLocks noChangeShapeType="1"/>
              <a:stCxn id="32811" idx="5"/>
              <a:endCxn id="32814" idx="0"/>
            </p:cNvCxnSpPr>
            <p:nvPr/>
          </p:nvCxnSpPr>
          <p:spPr bwMode="auto">
            <a:xfrm flipH="1">
              <a:off x="4266" y="1309"/>
              <a:ext cx="269" cy="21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2814" name="AutoShape 12"/>
            <p:cNvSpPr>
              <a:spLocks noChangeArrowheads="1"/>
            </p:cNvSpPr>
            <p:nvPr/>
          </p:nvSpPr>
          <p:spPr bwMode="auto">
            <a:xfrm flipH="1">
              <a:off x="4037" y="1524"/>
              <a:ext cx="457" cy="627"/>
            </a:xfrm>
            <a:prstGeom prst="flowChartExtra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T</a:t>
              </a:r>
              <a:r>
                <a:rPr lang="en-US" altLang="en-US" b="0" baseline="-25000">
                  <a:latin typeface="Times New Roman" pitchFamily="18" charset="0"/>
                </a:rPr>
                <a:t>3</a:t>
              </a:r>
              <a:endParaRPr lang="en-US" altLang="en-US" b="0">
                <a:latin typeface="Times New Roman" pitchFamily="18" charset="0"/>
              </a:endParaRPr>
            </a:p>
          </p:txBody>
        </p:sp>
        <p:sp>
          <p:nvSpPr>
            <p:cNvPr id="32815" name="Oval 13"/>
            <p:cNvSpPr>
              <a:spLocks noChangeArrowheads="1"/>
            </p:cNvSpPr>
            <p:nvPr/>
          </p:nvSpPr>
          <p:spPr bwMode="auto">
            <a:xfrm flipH="1">
              <a:off x="4019" y="709"/>
              <a:ext cx="271" cy="27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x</a:t>
              </a:r>
            </a:p>
          </p:txBody>
        </p:sp>
        <p:cxnSp>
          <p:nvCxnSpPr>
            <p:cNvPr id="32816" name="AutoShape 14"/>
            <p:cNvCxnSpPr>
              <a:cxnSpLocks noChangeShapeType="1"/>
              <a:stCxn id="32815" idx="5"/>
              <a:endCxn id="32817" idx="0"/>
            </p:cNvCxnSpPr>
            <p:nvPr/>
          </p:nvCxnSpPr>
          <p:spPr bwMode="auto">
            <a:xfrm flipH="1">
              <a:off x="3790" y="947"/>
              <a:ext cx="269" cy="21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2817" name="AutoShape 15"/>
            <p:cNvSpPr>
              <a:spLocks noChangeArrowheads="1"/>
            </p:cNvSpPr>
            <p:nvPr/>
          </p:nvSpPr>
          <p:spPr bwMode="auto">
            <a:xfrm flipH="1">
              <a:off x="3561" y="1162"/>
              <a:ext cx="457" cy="627"/>
            </a:xfrm>
            <a:prstGeom prst="flowChartExtra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T</a:t>
              </a:r>
              <a:r>
                <a:rPr lang="en-US" altLang="en-US" b="0" baseline="-25000">
                  <a:latin typeface="Times New Roman" pitchFamily="18" charset="0"/>
                </a:rPr>
                <a:t>4</a:t>
              </a:r>
              <a:endParaRPr lang="en-US" altLang="en-US" b="0">
                <a:latin typeface="Times New Roman" pitchFamily="18" charset="0"/>
              </a:endParaRPr>
            </a:p>
          </p:txBody>
        </p:sp>
        <p:cxnSp>
          <p:nvCxnSpPr>
            <p:cNvPr id="32818" name="AutoShape 16"/>
            <p:cNvCxnSpPr>
              <a:cxnSpLocks noChangeShapeType="1"/>
              <a:stCxn id="32815" idx="3"/>
              <a:endCxn id="32811" idx="7"/>
            </p:cNvCxnSpPr>
            <p:nvPr/>
          </p:nvCxnSpPr>
          <p:spPr bwMode="auto">
            <a:xfrm>
              <a:off x="4251" y="947"/>
              <a:ext cx="284" cy="164"/>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2819" name="Arc 31"/>
            <p:cNvSpPr>
              <a:spLocks/>
            </p:cNvSpPr>
            <p:nvPr/>
          </p:nvSpPr>
          <p:spPr bwMode="auto">
            <a:xfrm rot="5400000" flipH="1">
              <a:off x="4019" y="1066"/>
              <a:ext cx="342" cy="352"/>
            </a:xfrm>
            <a:custGeom>
              <a:avLst/>
              <a:gdLst>
                <a:gd name="T0" fmla="*/ 0 w 21600"/>
                <a:gd name="T1" fmla="*/ 0 h 41964"/>
                <a:gd name="T2" fmla="*/ 0 w 21600"/>
                <a:gd name="T3" fmla="*/ 0 h 41964"/>
                <a:gd name="T4" fmla="*/ 0 w 21600"/>
                <a:gd name="T5" fmla="*/ 0 h 41964"/>
                <a:gd name="T6" fmla="*/ 0 60000 65536"/>
                <a:gd name="T7" fmla="*/ 0 60000 65536"/>
                <a:gd name="T8" fmla="*/ 0 60000 65536"/>
                <a:gd name="T9" fmla="*/ 0 w 21600"/>
                <a:gd name="T10" fmla="*/ 0 h 41964"/>
                <a:gd name="T11" fmla="*/ 21600 w 21600"/>
                <a:gd name="T12" fmla="*/ 41964 h 41964"/>
              </a:gdLst>
              <a:ahLst/>
              <a:cxnLst>
                <a:cxn ang="T6">
                  <a:pos x="T0" y="T1"/>
                </a:cxn>
                <a:cxn ang="T7">
                  <a:pos x="T2" y="T3"/>
                </a:cxn>
                <a:cxn ang="T8">
                  <a:pos x="T4" y="T5"/>
                </a:cxn>
              </a:cxnLst>
              <a:rect l="T9" t="T10" r="T11" b="T12"/>
              <a:pathLst>
                <a:path w="21600" h="41964" fill="none" extrusionOk="0">
                  <a:moveTo>
                    <a:pt x="5534" y="-1"/>
                  </a:moveTo>
                  <a:cubicBezTo>
                    <a:pt x="15004" y="2510"/>
                    <a:pt x="21600" y="11080"/>
                    <a:pt x="21600" y="20879"/>
                  </a:cubicBezTo>
                  <a:cubicBezTo>
                    <a:pt x="21600" y="31001"/>
                    <a:pt x="14569" y="39767"/>
                    <a:pt x="4688" y="41964"/>
                  </a:cubicBezTo>
                </a:path>
                <a:path w="21600" h="41964" stroke="0" extrusionOk="0">
                  <a:moveTo>
                    <a:pt x="5534" y="-1"/>
                  </a:moveTo>
                  <a:cubicBezTo>
                    <a:pt x="15004" y="2510"/>
                    <a:pt x="21600" y="11080"/>
                    <a:pt x="21600" y="20879"/>
                  </a:cubicBezTo>
                  <a:cubicBezTo>
                    <a:pt x="21600" y="31001"/>
                    <a:pt x="14569" y="39767"/>
                    <a:pt x="4688" y="41964"/>
                  </a:cubicBezTo>
                  <a:lnTo>
                    <a:pt x="0" y="20879"/>
                  </a:lnTo>
                  <a:lnTo>
                    <a:pt x="5534" y="-1"/>
                  </a:lnTo>
                  <a:close/>
                </a:path>
              </a:pathLst>
            </a:custGeom>
            <a:noFill/>
            <a:ln w="5715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32786" name="Oval 32"/>
          <p:cNvSpPr>
            <a:spLocks noChangeArrowheads="1"/>
          </p:cNvSpPr>
          <p:nvPr/>
        </p:nvSpPr>
        <p:spPr bwMode="auto">
          <a:xfrm flipH="1">
            <a:off x="6126163" y="4954588"/>
            <a:ext cx="430212" cy="44291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x</a:t>
            </a:r>
          </a:p>
        </p:txBody>
      </p:sp>
      <p:cxnSp>
        <p:nvCxnSpPr>
          <p:cNvPr id="32787" name="AutoShape 33"/>
          <p:cNvCxnSpPr>
            <a:cxnSpLocks noChangeShapeType="1"/>
            <a:stCxn id="32786" idx="3"/>
            <a:endCxn id="32789" idx="0"/>
          </p:cNvCxnSpPr>
          <p:nvPr/>
        </p:nvCxnSpPr>
        <p:spPr bwMode="auto">
          <a:xfrm>
            <a:off x="6494463" y="5332413"/>
            <a:ext cx="452437" cy="34131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2788" name="AutoShape 34"/>
          <p:cNvCxnSpPr>
            <a:cxnSpLocks noChangeShapeType="1"/>
            <a:stCxn id="32786" idx="5"/>
            <a:endCxn id="32790" idx="0"/>
          </p:cNvCxnSpPr>
          <p:nvPr/>
        </p:nvCxnSpPr>
        <p:spPr bwMode="auto">
          <a:xfrm flipH="1">
            <a:off x="5762625" y="5332413"/>
            <a:ext cx="427038" cy="34131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2789" name="AutoShape 35"/>
          <p:cNvSpPr>
            <a:spLocks noChangeArrowheads="1"/>
          </p:cNvSpPr>
          <p:nvPr/>
        </p:nvSpPr>
        <p:spPr bwMode="auto">
          <a:xfrm flipH="1">
            <a:off x="6583363" y="5673725"/>
            <a:ext cx="725487" cy="995363"/>
          </a:xfrm>
          <a:prstGeom prst="flowChartExtra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T</a:t>
            </a:r>
            <a:r>
              <a:rPr lang="en-US" altLang="en-US" b="0" baseline="-25000">
                <a:latin typeface="Times New Roman" pitchFamily="18" charset="0"/>
              </a:rPr>
              <a:t>4</a:t>
            </a:r>
          </a:p>
        </p:txBody>
      </p:sp>
      <p:sp>
        <p:nvSpPr>
          <p:cNvPr id="32790" name="AutoShape 36"/>
          <p:cNvSpPr>
            <a:spLocks noChangeArrowheads="1"/>
          </p:cNvSpPr>
          <p:nvPr/>
        </p:nvSpPr>
        <p:spPr bwMode="auto">
          <a:xfrm flipH="1">
            <a:off x="5399088" y="5673725"/>
            <a:ext cx="725487" cy="995363"/>
          </a:xfrm>
          <a:prstGeom prst="flowChartExtra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T</a:t>
            </a:r>
            <a:r>
              <a:rPr lang="en-US" altLang="en-US" b="0" baseline="-25000">
                <a:latin typeface="Times New Roman" pitchFamily="18" charset="0"/>
              </a:rPr>
              <a:t>3</a:t>
            </a:r>
          </a:p>
        </p:txBody>
      </p:sp>
      <p:sp>
        <p:nvSpPr>
          <p:cNvPr id="32791" name="Oval 37"/>
          <p:cNvSpPr>
            <a:spLocks noChangeArrowheads="1"/>
          </p:cNvSpPr>
          <p:nvPr/>
        </p:nvSpPr>
        <p:spPr bwMode="auto">
          <a:xfrm flipH="1">
            <a:off x="2628900" y="4941888"/>
            <a:ext cx="430213" cy="44291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v</a:t>
            </a:r>
          </a:p>
        </p:txBody>
      </p:sp>
      <p:cxnSp>
        <p:nvCxnSpPr>
          <p:cNvPr id="32792" name="AutoShape 38"/>
          <p:cNvCxnSpPr>
            <a:cxnSpLocks noChangeShapeType="1"/>
            <a:stCxn id="32791" idx="3"/>
            <a:endCxn id="32797" idx="0"/>
          </p:cNvCxnSpPr>
          <p:nvPr/>
        </p:nvCxnSpPr>
        <p:spPr bwMode="auto">
          <a:xfrm>
            <a:off x="2997200" y="5319713"/>
            <a:ext cx="420688" cy="34131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2793" name="AutoShape 39"/>
          <p:cNvCxnSpPr>
            <a:cxnSpLocks noChangeShapeType="1"/>
            <a:stCxn id="32791" idx="5"/>
            <a:endCxn id="32794" idx="0"/>
          </p:cNvCxnSpPr>
          <p:nvPr/>
        </p:nvCxnSpPr>
        <p:spPr bwMode="auto">
          <a:xfrm flipH="1">
            <a:off x="2265363" y="5319713"/>
            <a:ext cx="427037" cy="34131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2794" name="AutoShape 40"/>
          <p:cNvSpPr>
            <a:spLocks noChangeArrowheads="1"/>
          </p:cNvSpPr>
          <p:nvPr/>
        </p:nvSpPr>
        <p:spPr bwMode="auto">
          <a:xfrm flipH="1">
            <a:off x="1901825" y="5661025"/>
            <a:ext cx="725488" cy="995363"/>
          </a:xfrm>
          <a:prstGeom prst="flowChartExtra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T</a:t>
            </a:r>
            <a:r>
              <a:rPr lang="en-US" altLang="en-US" b="0" baseline="-25000">
                <a:latin typeface="Times New Roman" pitchFamily="18" charset="0"/>
              </a:rPr>
              <a:t>1</a:t>
            </a:r>
            <a:endParaRPr lang="en-US" altLang="en-US" b="0">
              <a:latin typeface="Times New Roman" pitchFamily="18" charset="0"/>
            </a:endParaRPr>
          </a:p>
        </p:txBody>
      </p:sp>
      <p:sp>
        <p:nvSpPr>
          <p:cNvPr id="32795" name="Oval 41"/>
          <p:cNvSpPr>
            <a:spLocks noChangeArrowheads="1"/>
          </p:cNvSpPr>
          <p:nvPr/>
        </p:nvSpPr>
        <p:spPr bwMode="auto">
          <a:xfrm flipH="1">
            <a:off x="4435475" y="4149725"/>
            <a:ext cx="430213" cy="44291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w</a:t>
            </a:r>
          </a:p>
        </p:txBody>
      </p:sp>
      <p:cxnSp>
        <p:nvCxnSpPr>
          <p:cNvPr id="32796" name="AutoShape 42"/>
          <p:cNvCxnSpPr>
            <a:cxnSpLocks noChangeShapeType="1"/>
            <a:stCxn id="32795" idx="5"/>
            <a:endCxn id="32791" idx="0"/>
          </p:cNvCxnSpPr>
          <p:nvPr/>
        </p:nvCxnSpPr>
        <p:spPr bwMode="auto">
          <a:xfrm flipH="1">
            <a:off x="2844800" y="4527550"/>
            <a:ext cx="1654175" cy="414338"/>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2797" name="AutoShape 43"/>
          <p:cNvSpPr>
            <a:spLocks noChangeArrowheads="1"/>
          </p:cNvSpPr>
          <p:nvPr/>
        </p:nvSpPr>
        <p:spPr bwMode="auto">
          <a:xfrm flipH="1">
            <a:off x="3054350" y="5661025"/>
            <a:ext cx="725488" cy="995363"/>
          </a:xfrm>
          <a:prstGeom prst="flowChartExtra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algn="ctr">
              <a:spcBef>
                <a:spcPct val="0"/>
              </a:spcBef>
              <a:buSzTx/>
              <a:buFontTx/>
              <a:buNone/>
            </a:pPr>
            <a:r>
              <a:rPr lang="en-US" altLang="en-US" b="0">
                <a:latin typeface="Times New Roman" pitchFamily="18" charset="0"/>
              </a:rPr>
              <a:t>T</a:t>
            </a:r>
            <a:r>
              <a:rPr lang="en-US" altLang="en-US" b="0" baseline="-25000">
                <a:latin typeface="Times New Roman" pitchFamily="18" charset="0"/>
              </a:rPr>
              <a:t>2</a:t>
            </a:r>
            <a:endParaRPr lang="en-US" altLang="en-US" b="0">
              <a:latin typeface="Times New Roman" pitchFamily="18" charset="0"/>
            </a:endParaRPr>
          </a:p>
        </p:txBody>
      </p:sp>
      <p:cxnSp>
        <p:nvCxnSpPr>
          <p:cNvPr id="32798" name="AutoShape 44"/>
          <p:cNvCxnSpPr>
            <a:cxnSpLocks noChangeShapeType="1"/>
            <a:stCxn id="32795" idx="3"/>
            <a:endCxn id="32786" idx="0"/>
          </p:cNvCxnSpPr>
          <p:nvPr/>
        </p:nvCxnSpPr>
        <p:spPr bwMode="auto">
          <a:xfrm>
            <a:off x="4803775" y="4527550"/>
            <a:ext cx="1538288" cy="427038"/>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2799" name="Line 53"/>
          <p:cNvSpPr>
            <a:spLocks noChangeShapeType="1"/>
          </p:cNvSpPr>
          <p:nvPr/>
        </p:nvSpPr>
        <p:spPr bwMode="auto">
          <a:xfrm flipV="1">
            <a:off x="3421063" y="2211388"/>
            <a:ext cx="2879725" cy="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2800" name="Line 54"/>
          <p:cNvSpPr>
            <a:spLocks noChangeShapeType="1"/>
          </p:cNvSpPr>
          <p:nvPr/>
        </p:nvSpPr>
        <p:spPr bwMode="auto">
          <a:xfrm flipH="1">
            <a:off x="6011863" y="3789363"/>
            <a:ext cx="719137" cy="1008062"/>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2801" name="Text Box 56"/>
          <p:cNvSpPr txBox="1">
            <a:spLocks noChangeArrowheads="1"/>
          </p:cNvSpPr>
          <p:nvPr/>
        </p:nvSpPr>
        <p:spPr bwMode="auto">
          <a:xfrm>
            <a:off x="3348038" y="1844675"/>
            <a:ext cx="30241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a:cs typeface="Arial" pitchFamily="34" charset="0"/>
              </a:rPr>
              <a:t>left rotation of w about v</a:t>
            </a:r>
          </a:p>
        </p:txBody>
      </p:sp>
      <p:sp>
        <p:nvSpPr>
          <p:cNvPr id="32802" name="Text Box 57"/>
          <p:cNvSpPr txBox="1">
            <a:spLocks noChangeArrowheads="1"/>
          </p:cNvSpPr>
          <p:nvPr/>
        </p:nvSpPr>
        <p:spPr bwMode="auto">
          <a:xfrm>
            <a:off x="2987675" y="1125538"/>
            <a:ext cx="32400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a:cs typeface="Arial" pitchFamily="34" charset="0"/>
              </a:rPr>
              <a:t>deepest unbalanced node</a:t>
            </a:r>
          </a:p>
        </p:txBody>
      </p:sp>
      <p:sp>
        <p:nvSpPr>
          <p:cNvPr id="32803" name="Line 58"/>
          <p:cNvSpPr>
            <a:spLocks noChangeShapeType="1"/>
          </p:cNvSpPr>
          <p:nvPr/>
        </p:nvSpPr>
        <p:spPr bwMode="auto">
          <a:xfrm flipH="1" flipV="1">
            <a:off x="2411413" y="1341438"/>
            <a:ext cx="50323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2804" name="Text Box 59"/>
          <p:cNvSpPr txBox="1">
            <a:spLocks noChangeArrowheads="1"/>
          </p:cNvSpPr>
          <p:nvPr/>
        </p:nvSpPr>
        <p:spPr bwMode="auto">
          <a:xfrm>
            <a:off x="6443663" y="4214813"/>
            <a:ext cx="27003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b="0">
                <a:cs typeface="Arial" pitchFamily="34" charset="0"/>
              </a:rPr>
              <a:t>left rotation of W about X</a:t>
            </a:r>
          </a:p>
        </p:txBody>
      </p:sp>
      <p:sp>
        <p:nvSpPr>
          <p:cNvPr id="32805" name="Text Box 60"/>
          <p:cNvSpPr txBox="1">
            <a:spLocks noChangeArrowheads="1"/>
          </p:cNvSpPr>
          <p:nvPr/>
        </p:nvSpPr>
        <p:spPr bwMode="auto">
          <a:xfrm>
            <a:off x="179388" y="4508500"/>
            <a:ext cx="1584325" cy="200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50000"/>
              </a:spcBef>
              <a:buSzTx/>
              <a:buFontTx/>
              <a:buNone/>
            </a:pPr>
            <a:r>
              <a:rPr lang="en-US" altLang="en-US" sz="1400">
                <a:solidFill>
                  <a:schemeClr val="accent2"/>
                </a:solidFill>
                <a:cs typeface="Arial" pitchFamily="34" charset="0"/>
              </a:rPr>
              <a:t>Note: First pivot is the left child of the deepest unbalanced node; second pivot is the deepest unbalanced node</a:t>
            </a:r>
          </a:p>
        </p:txBody>
      </p:sp>
    </p:spTree>
    <p:extLst>
      <p:ext uri="{BB962C8B-B14F-4D97-AF65-F5344CB8AC3E}">
        <p14:creationId xmlns:p14="http://schemas.microsoft.com/office/powerpoint/2010/main" val="231870470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pPr eaLnBrk="1" hangingPunct="1"/>
            <a:endParaRPr lang="en-US" altLang="en-US" smtClean="0"/>
          </a:p>
        </p:txBody>
      </p:sp>
      <p:sp>
        <p:nvSpPr>
          <p:cNvPr id="34819" name="Content Placeholder 2"/>
          <p:cNvSpPr>
            <a:spLocks noGrp="1"/>
          </p:cNvSpPr>
          <p:nvPr>
            <p:ph idx="1"/>
          </p:nvPr>
        </p:nvSpPr>
        <p:spPr/>
        <p:txBody>
          <a:bodyPr/>
          <a:lstStyle/>
          <a:p>
            <a:pPr eaLnBrk="1" hangingPunct="1"/>
            <a:endParaRPr lang="en-US" altLang="en-US" smtClean="0"/>
          </a:p>
        </p:txBody>
      </p:sp>
      <p:pic>
        <p:nvPicPr>
          <p:cNvPr id="34820" name="Picture 2"/>
          <p:cNvPicPr>
            <a:picLocks noChangeAspect="1" noChangeArrowheads="1"/>
          </p:cNvPicPr>
          <p:nvPr/>
        </p:nvPicPr>
        <p:blipFill>
          <a:blip r:embed="rId2">
            <a:extLst>
              <a:ext uri="{28A0092B-C50C-407E-A947-70E740481C1C}">
                <a14:useLocalDpi xmlns:a14="http://schemas.microsoft.com/office/drawing/2010/main" val="0"/>
              </a:ext>
            </a:extLst>
          </a:blip>
          <a:srcRect l="19209" t="30417" r="11450" b="8505"/>
          <a:stretch>
            <a:fillRect/>
          </a:stretch>
        </p:blipFill>
        <p:spPr bwMode="auto">
          <a:xfrm>
            <a:off x="250825" y="333375"/>
            <a:ext cx="8521700" cy="597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0140346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pPr eaLnBrk="1" hangingPunct="1"/>
            <a:endParaRPr lang="en-US" altLang="en-US" smtClean="0"/>
          </a:p>
        </p:txBody>
      </p:sp>
      <p:sp>
        <p:nvSpPr>
          <p:cNvPr id="35843" name="Content Placeholder 2"/>
          <p:cNvSpPr>
            <a:spLocks noGrp="1"/>
          </p:cNvSpPr>
          <p:nvPr>
            <p:ph idx="1"/>
          </p:nvPr>
        </p:nvSpPr>
        <p:spPr/>
        <p:txBody>
          <a:bodyPr/>
          <a:lstStyle/>
          <a:p>
            <a:pPr eaLnBrk="1" hangingPunct="1"/>
            <a:endParaRPr lang="en-US" altLang="en-US" smtClean="0"/>
          </a:p>
        </p:txBody>
      </p:sp>
      <p:pic>
        <p:nvPicPr>
          <p:cNvPr id="35844" name="Picture 2"/>
          <p:cNvPicPr>
            <a:picLocks noChangeAspect="1" noChangeArrowheads="1"/>
          </p:cNvPicPr>
          <p:nvPr/>
        </p:nvPicPr>
        <p:blipFill>
          <a:blip r:embed="rId2">
            <a:extLst>
              <a:ext uri="{28A0092B-C50C-407E-A947-70E740481C1C}">
                <a14:useLocalDpi xmlns:a14="http://schemas.microsoft.com/office/drawing/2010/main" val="0"/>
              </a:ext>
            </a:extLst>
          </a:blip>
          <a:srcRect l="13704" t="13750" r="5945" b="36250"/>
          <a:stretch>
            <a:fillRect/>
          </a:stretch>
        </p:blipFill>
        <p:spPr bwMode="auto">
          <a:xfrm>
            <a:off x="-33338" y="6350"/>
            <a:ext cx="9069388" cy="543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1871272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pPr eaLnBrk="1" hangingPunct="1"/>
            <a:endParaRPr lang="en-US" altLang="en-US" smtClean="0"/>
          </a:p>
        </p:txBody>
      </p:sp>
      <p:sp>
        <p:nvSpPr>
          <p:cNvPr id="36867" name="Content Placeholder 2"/>
          <p:cNvSpPr>
            <a:spLocks noGrp="1"/>
          </p:cNvSpPr>
          <p:nvPr>
            <p:ph idx="1"/>
          </p:nvPr>
        </p:nvSpPr>
        <p:spPr/>
        <p:txBody>
          <a:bodyPr/>
          <a:lstStyle/>
          <a:p>
            <a:pPr eaLnBrk="1" hangingPunct="1"/>
            <a:endParaRPr lang="en-US" altLang="en-US" smtClean="0"/>
          </a:p>
        </p:txBody>
      </p:sp>
      <p:pic>
        <p:nvPicPr>
          <p:cNvPr id="36868" name="Picture 2"/>
          <p:cNvPicPr>
            <a:picLocks noChangeAspect="1" noChangeArrowheads="1"/>
          </p:cNvPicPr>
          <p:nvPr/>
        </p:nvPicPr>
        <p:blipFill>
          <a:blip r:embed="rId2">
            <a:extLst>
              <a:ext uri="{28A0092B-C50C-407E-A947-70E740481C1C}">
                <a14:useLocalDpi xmlns:a14="http://schemas.microsoft.com/office/drawing/2010/main" val="0"/>
              </a:ext>
            </a:extLst>
          </a:blip>
          <a:srcRect l="13235" t="37502" r="4187" b="11552"/>
          <a:stretch>
            <a:fillRect/>
          </a:stretch>
        </p:blipFill>
        <p:spPr bwMode="auto">
          <a:xfrm>
            <a:off x="0" y="549275"/>
            <a:ext cx="9144000" cy="489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6978982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pPr eaLnBrk="1" hangingPunct="1"/>
            <a:endParaRPr lang="en-US" altLang="en-US" smtClean="0"/>
          </a:p>
        </p:txBody>
      </p:sp>
      <p:sp>
        <p:nvSpPr>
          <p:cNvPr id="37891" name="Content Placeholder 2"/>
          <p:cNvSpPr>
            <a:spLocks noGrp="1"/>
          </p:cNvSpPr>
          <p:nvPr>
            <p:ph idx="1"/>
          </p:nvPr>
        </p:nvSpPr>
        <p:spPr/>
        <p:txBody>
          <a:bodyPr/>
          <a:lstStyle/>
          <a:p>
            <a:pPr eaLnBrk="1" hangingPunct="1"/>
            <a:endParaRPr lang="en-US" altLang="en-US" smtClean="0"/>
          </a:p>
        </p:txBody>
      </p:sp>
      <p:pic>
        <p:nvPicPr>
          <p:cNvPr id="37892" name="Picture 2"/>
          <p:cNvPicPr>
            <a:picLocks noChangeAspect="1" noChangeArrowheads="1"/>
          </p:cNvPicPr>
          <p:nvPr/>
        </p:nvPicPr>
        <p:blipFill>
          <a:blip r:embed="rId2">
            <a:extLst>
              <a:ext uri="{28A0092B-C50C-407E-A947-70E740481C1C}">
                <a14:useLocalDpi xmlns:a14="http://schemas.microsoft.com/office/drawing/2010/main" val="0"/>
              </a:ext>
            </a:extLst>
          </a:blip>
          <a:srcRect l="4791" t="20265" r="3419" b="16666"/>
          <a:stretch>
            <a:fillRect/>
          </a:stretch>
        </p:blipFill>
        <p:spPr bwMode="auto">
          <a:xfrm>
            <a:off x="0" y="258763"/>
            <a:ext cx="8964613" cy="511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4640413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pPr eaLnBrk="1" hangingPunct="1"/>
            <a:endParaRPr lang="en-US" altLang="en-US" smtClean="0"/>
          </a:p>
        </p:txBody>
      </p:sp>
      <p:sp>
        <p:nvSpPr>
          <p:cNvPr id="38915" name="Content Placeholder 2"/>
          <p:cNvSpPr>
            <a:spLocks noGrp="1"/>
          </p:cNvSpPr>
          <p:nvPr>
            <p:ph idx="1"/>
          </p:nvPr>
        </p:nvSpPr>
        <p:spPr/>
        <p:txBody>
          <a:bodyPr/>
          <a:lstStyle/>
          <a:p>
            <a:pPr eaLnBrk="1" hangingPunct="1"/>
            <a:endParaRPr lang="en-US" altLang="en-US" smtClean="0"/>
          </a:p>
        </p:txBody>
      </p:sp>
      <p:pic>
        <p:nvPicPr>
          <p:cNvPr id="38916" name="Picture 2"/>
          <p:cNvPicPr>
            <a:picLocks noChangeAspect="1" noChangeArrowheads="1"/>
          </p:cNvPicPr>
          <p:nvPr/>
        </p:nvPicPr>
        <p:blipFill>
          <a:blip r:embed="rId2">
            <a:extLst>
              <a:ext uri="{28A0092B-C50C-407E-A947-70E740481C1C}">
                <a14:useLocalDpi xmlns:a14="http://schemas.microsoft.com/office/drawing/2010/main" val="0"/>
              </a:ext>
            </a:extLst>
          </a:blip>
          <a:srcRect l="5750" t="11552" r="14388" b="27939"/>
          <a:stretch>
            <a:fillRect/>
          </a:stretch>
        </p:blipFill>
        <p:spPr bwMode="auto">
          <a:xfrm>
            <a:off x="0" y="188913"/>
            <a:ext cx="8893175" cy="547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9501514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lstStyle/>
          <a:p>
            <a:pPr eaLnBrk="1" hangingPunct="1"/>
            <a:endParaRPr lang="en-US" altLang="en-US" smtClean="0"/>
          </a:p>
        </p:txBody>
      </p:sp>
      <p:sp>
        <p:nvSpPr>
          <p:cNvPr id="39939" name="Content Placeholder 2"/>
          <p:cNvSpPr>
            <a:spLocks noGrp="1"/>
          </p:cNvSpPr>
          <p:nvPr>
            <p:ph idx="1"/>
          </p:nvPr>
        </p:nvSpPr>
        <p:spPr/>
        <p:txBody>
          <a:bodyPr/>
          <a:lstStyle/>
          <a:p>
            <a:pPr eaLnBrk="1" hangingPunct="1"/>
            <a:endParaRPr lang="en-US" altLang="en-US" smtClean="0"/>
          </a:p>
        </p:txBody>
      </p:sp>
      <p:pic>
        <p:nvPicPr>
          <p:cNvPr id="39940" name="Picture 2"/>
          <p:cNvPicPr>
            <a:picLocks noChangeAspect="1" noChangeArrowheads="1"/>
          </p:cNvPicPr>
          <p:nvPr/>
        </p:nvPicPr>
        <p:blipFill>
          <a:blip r:embed="rId2">
            <a:extLst>
              <a:ext uri="{28A0092B-C50C-407E-A947-70E740481C1C}">
                <a14:useLocalDpi xmlns:a14="http://schemas.microsoft.com/office/drawing/2010/main" val="0"/>
              </a:ext>
            </a:extLst>
          </a:blip>
          <a:srcRect l="6175" t="10985" r="5019" b="25189"/>
          <a:stretch>
            <a:fillRect/>
          </a:stretch>
        </p:blipFill>
        <p:spPr bwMode="auto">
          <a:xfrm>
            <a:off x="323850" y="188913"/>
            <a:ext cx="8820150" cy="604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4504316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0" name="Text Box 28"/>
          <p:cNvSpPr txBox="1">
            <a:spLocks noChangeArrowheads="1"/>
          </p:cNvSpPr>
          <p:nvPr/>
        </p:nvSpPr>
        <p:spPr bwMode="auto">
          <a:xfrm>
            <a:off x="76200" y="76200"/>
            <a:ext cx="6248400" cy="369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dirty="0"/>
              <a:t>Another </a:t>
            </a:r>
            <a:r>
              <a:rPr lang="en-US" dirty="0" smtClean="0"/>
              <a:t>example:        </a:t>
            </a:r>
            <a:r>
              <a:rPr lang="en-US" altLang="en-US" b="0" i="0" dirty="0" smtClean="0"/>
              <a:t>Initial </a:t>
            </a:r>
            <a:r>
              <a:rPr lang="en-US" altLang="en-US" b="0" i="0" dirty="0"/>
              <a:t>AVL tree with balance factors:</a:t>
            </a:r>
          </a:p>
        </p:txBody>
      </p:sp>
      <p:sp>
        <p:nvSpPr>
          <p:cNvPr id="3102" name="Text Box 30"/>
          <p:cNvSpPr txBox="1">
            <a:spLocks noChangeArrowheads="1"/>
          </p:cNvSpPr>
          <p:nvPr/>
        </p:nvSpPr>
        <p:spPr bwMode="auto">
          <a:xfrm>
            <a:off x="5867400" y="6324600"/>
            <a:ext cx="32004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b="0" i="0"/>
              <a:t>Next step: insert 1 --&gt;  </a:t>
            </a:r>
          </a:p>
        </p:txBody>
      </p:sp>
      <p:sp>
        <p:nvSpPr>
          <p:cNvPr id="3103" name="Text Box 31"/>
          <p:cNvSpPr txBox="1">
            <a:spLocks noChangeArrowheads="1"/>
          </p:cNvSpPr>
          <p:nvPr/>
        </p:nvSpPr>
        <p:spPr bwMode="auto">
          <a:xfrm>
            <a:off x="6705600" y="0"/>
            <a:ext cx="24384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2000" b="0" i="0">
                <a:solidFill>
                  <a:srgbClr val="134A8B"/>
                </a:solidFill>
              </a:rPr>
              <a:t>Balance ok</a:t>
            </a:r>
            <a:r>
              <a:rPr lang="en-US" altLang="en-US" sz="2000" b="0" i="0"/>
              <a:t> </a:t>
            </a:r>
          </a:p>
        </p:txBody>
      </p:sp>
      <p:grpSp>
        <p:nvGrpSpPr>
          <p:cNvPr id="3143" name="Group 71"/>
          <p:cNvGrpSpPr>
            <a:grpSpLocks/>
          </p:cNvGrpSpPr>
          <p:nvPr/>
        </p:nvGrpSpPr>
        <p:grpSpPr bwMode="auto">
          <a:xfrm>
            <a:off x="1371600" y="914400"/>
            <a:ext cx="5527675" cy="2443163"/>
            <a:chOff x="864" y="576"/>
            <a:chExt cx="3482" cy="1539"/>
          </a:xfrm>
        </p:grpSpPr>
        <p:cxnSp>
          <p:nvCxnSpPr>
            <p:cNvPr id="3090" name="AutoShape 18"/>
            <p:cNvCxnSpPr>
              <a:cxnSpLocks noChangeShapeType="1"/>
              <a:stCxn id="3118" idx="3"/>
              <a:endCxn id="3115" idx="7"/>
            </p:cNvCxnSpPr>
            <p:nvPr/>
          </p:nvCxnSpPr>
          <p:spPr bwMode="auto">
            <a:xfrm flipH="1">
              <a:off x="1962" y="787"/>
              <a:ext cx="806" cy="23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091" name="AutoShape 19"/>
            <p:cNvCxnSpPr>
              <a:cxnSpLocks noChangeShapeType="1"/>
              <a:stCxn id="3118" idx="5"/>
              <a:endCxn id="3121" idx="1"/>
            </p:cNvCxnSpPr>
            <p:nvPr/>
          </p:nvCxnSpPr>
          <p:spPr bwMode="auto">
            <a:xfrm>
              <a:off x="2922" y="787"/>
              <a:ext cx="806" cy="23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092" name="AutoShape 20"/>
            <p:cNvCxnSpPr>
              <a:cxnSpLocks noChangeShapeType="1"/>
              <a:stCxn id="3121" idx="5"/>
              <a:endCxn id="3124" idx="1"/>
            </p:cNvCxnSpPr>
            <p:nvPr/>
          </p:nvCxnSpPr>
          <p:spPr bwMode="auto">
            <a:xfrm>
              <a:off x="3882" y="1171"/>
              <a:ext cx="278" cy="32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093" name="AutoShape 21"/>
            <p:cNvCxnSpPr>
              <a:cxnSpLocks noChangeShapeType="1"/>
              <a:stCxn id="3115" idx="5"/>
              <a:endCxn id="3139" idx="1"/>
            </p:cNvCxnSpPr>
            <p:nvPr/>
          </p:nvCxnSpPr>
          <p:spPr bwMode="auto">
            <a:xfrm>
              <a:off x="1962" y="1171"/>
              <a:ext cx="374" cy="32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094" name="AutoShape 22"/>
            <p:cNvCxnSpPr>
              <a:cxnSpLocks noChangeShapeType="1"/>
              <a:stCxn id="3139" idx="5"/>
              <a:endCxn id="3136" idx="1"/>
            </p:cNvCxnSpPr>
            <p:nvPr/>
          </p:nvCxnSpPr>
          <p:spPr bwMode="auto">
            <a:xfrm>
              <a:off x="2490" y="1651"/>
              <a:ext cx="182" cy="278"/>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095" name="AutoShape 23"/>
            <p:cNvCxnSpPr>
              <a:cxnSpLocks noChangeShapeType="1"/>
              <a:stCxn id="3115" idx="3"/>
              <a:endCxn id="3112" idx="7"/>
            </p:cNvCxnSpPr>
            <p:nvPr/>
          </p:nvCxnSpPr>
          <p:spPr bwMode="auto">
            <a:xfrm flipH="1">
              <a:off x="1530" y="1171"/>
              <a:ext cx="278" cy="278"/>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096" name="AutoShape 24"/>
            <p:cNvCxnSpPr>
              <a:cxnSpLocks noChangeShapeType="1"/>
              <a:stCxn id="3112" idx="3"/>
              <a:endCxn id="3084" idx="7"/>
            </p:cNvCxnSpPr>
            <p:nvPr/>
          </p:nvCxnSpPr>
          <p:spPr bwMode="auto">
            <a:xfrm flipH="1">
              <a:off x="1194" y="1603"/>
              <a:ext cx="182" cy="23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097" name="AutoShape 25"/>
            <p:cNvCxnSpPr>
              <a:cxnSpLocks noChangeShapeType="1"/>
              <a:endCxn id="3133" idx="7"/>
            </p:cNvCxnSpPr>
            <p:nvPr/>
          </p:nvCxnSpPr>
          <p:spPr bwMode="auto">
            <a:xfrm flipH="1">
              <a:off x="2154" y="1645"/>
              <a:ext cx="192" cy="23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098" name="AutoShape 26"/>
            <p:cNvCxnSpPr>
              <a:cxnSpLocks noChangeShapeType="1"/>
              <a:stCxn id="3121" idx="3"/>
              <a:endCxn id="3130" idx="7"/>
            </p:cNvCxnSpPr>
            <p:nvPr/>
          </p:nvCxnSpPr>
          <p:spPr bwMode="auto">
            <a:xfrm flipH="1">
              <a:off x="3402" y="1171"/>
              <a:ext cx="326" cy="32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099" name="AutoShape 27"/>
            <p:cNvCxnSpPr>
              <a:cxnSpLocks noChangeShapeType="1"/>
              <a:stCxn id="3124" idx="3"/>
              <a:endCxn id="3127" idx="7"/>
            </p:cNvCxnSpPr>
            <p:nvPr/>
          </p:nvCxnSpPr>
          <p:spPr bwMode="auto">
            <a:xfrm flipH="1">
              <a:off x="3952" y="1651"/>
              <a:ext cx="208" cy="278"/>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nvGrpSpPr>
            <p:cNvPr id="3106" name="Group 34"/>
            <p:cNvGrpSpPr>
              <a:grpSpLocks/>
            </p:cNvGrpSpPr>
            <p:nvPr/>
          </p:nvGrpSpPr>
          <p:grpSpPr bwMode="auto">
            <a:xfrm>
              <a:off x="864" y="1776"/>
              <a:ext cx="362" cy="243"/>
              <a:chOff x="864" y="1776"/>
              <a:chExt cx="362" cy="243"/>
            </a:xfrm>
          </p:grpSpPr>
          <p:sp>
            <p:nvSpPr>
              <p:cNvPr id="3084" name="Oval 12"/>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a:t>
                </a:r>
              </a:p>
            </p:txBody>
          </p:sp>
          <p:sp>
            <p:nvSpPr>
              <p:cNvPr id="3104" name="Text Box 32"/>
              <p:cNvSpPr txBox="1">
                <a:spLocks noChangeArrowheads="1"/>
              </p:cNvSpPr>
              <p:nvPr/>
            </p:nvSpPr>
            <p:spPr bwMode="auto">
              <a:xfrm>
                <a:off x="864" y="1776"/>
                <a:ext cx="14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sz="1400" b="0" i="0"/>
                  <a:t>0</a:t>
                </a:r>
              </a:p>
            </p:txBody>
          </p:sp>
        </p:grpSp>
        <p:grpSp>
          <p:nvGrpSpPr>
            <p:cNvPr id="3141" name="Group 69"/>
            <p:cNvGrpSpPr>
              <a:grpSpLocks/>
            </p:cNvGrpSpPr>
            <p:nvPr/>
          </p:nvGrpSpPr>
          <p:grpSpPr bwMode="auto">
            <a:xfrm>
              <a:off x="1104" y="1392"/>
              <a:ext cx="458" cy="243"/>
              <a:chOff x="1104" y="1392"/>
              <a:chExt cx="458" cy="243"/>
            </a:xfrm>
          </p:grpSpPr>
          <p:sp>
            <p:nvSpPr>
              <p:cNvPr id="3112" name="Oval 40"/>
              <p:cNvSpPr>
                <a:spLocks noChangeArrowheads="1"/>
              </p:cNvSpPr>
              <p:nvPr/>
            </p:nvSpPr>
            <p:spPr bwMode="auto">
              <a:xfrm>
                <a:off x="1344" y="1417"/>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25</a:t>
                </a:r>
              </a:p>
            </p:txBody>
          </p:sp>
          <p:sp>
            <p:nvSpPr>
              <p:cNvPr id="3113" name="Text Box 41"/>
              <p:cNvSpPr txBox="1">
                <a:spLocks noChangeArrowheads="1"/>
              </p:cNvSpPr>
              <p:nvPr/>
            </p:nvSpPr>
            <p:spPr bwMode="auto">
              <a:xfrm>
                <a:off x="1104" y="1392"/>
                <a:ext cx="240"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grpSp>
          <p:nvGrpSpPr>
            <p:cNvPr id="3114" name="Group 42"/>
            <p:cNvGrpSpPr>
              <a:grpSpLocks/>
            </p:cNvGrpSpPr>
            <p:nvPr/>
          </p:nvGrpSpPr>
          <p:grpSpPr bwMode="auto">
            <a:xfrm>
              <a:off x="1632" y="960"/>
              <a:ext cx="362" cy="243"/>
              <a:chOff x="864" y="1776"/>
              <a:chExt cx="362" cy="243"/>
            </a:xfrm>
          </p:grpSpPr>
          <p:sp>
            <p:nvSpPr>
              <p:cNvPr id="3115" name="Oval 43"/>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26</a:t>
                </a:r>
              </a:p>
            </p:txBody>
          </p:sp>
          <p:sp>
            <p:nvSpPr>
              <p:cNvPr id="3116" name="Text Box 44"/>
              <p:cNvSpPr txBox="1">
                <a:spLocks noChangeArrowheads="1"/>
              </p:cNvSpPr>
              <p:nvPr/>
            </p:nvSpPr>
            <p:spPr bwMode="auto">
              <a:xfrm>
                <a:off x="864" y="1776"/>
                <a:ext cx="14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sz="1400" b="0" i="0"/>
                  <a:t>0</a:t>
                </a:r>
              </a:p>
            </p:txBody>
          </p:sp>
        </p:grpSp>
        <p:grpSp>
          <p:nvGrpSpPr>
            <p:cNvPr id="3117" name="Group 45"/>
            <p:cNvGrpSpPr>
              <a:grpSpLocks/>
            </p:cNvGrpSpPr>
            <p:nvPr/>
          </p:nvGrpSpPr>
          <p:grpSpPr bwMode="auto">
            <a:xfrm>
              <a:off x="2592" y="576"/>
              <a:ext cx="362" cy="243"/>
              <a:chOff x="864" y="1776"/>
              <a:chExt cx="362" cy="243"/>
            </a:xfrm>
          </p:grpSpPr>
          <p:sp>
            <p:nvSpPr>
              <p:cNvPr id="3118" name="Oval 46"/>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57</a:t>
                </a:r>
              </a:p>
            </p:txBody>
          </p:sp>
          <p:sp>
            <p:nvSpPr>
              <p:cNvPr id="3119" name="Text Box 47"/>
              <p:cNvSpPr txBox="1">
                <a:spLocks noChangeArrowheads="1"/>
              </p:cNvSpPr>
              <p:nvPr/>
            </p:nvSpPr>
            <p:spPr bwMode="auto">
              <a:xfrm>
                <a:off x="864" y="1776"/>
                <a:ext cx="14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sz="1400" b="0" i="0"/>
                  <a:t>0</a:t>
                </a:r>
              </a:p>
            </p:txBody>
          </p:sp>
        </p:grpSp>
        <p:grpSp>
          <p:nvGrpSpPr>
            <p:cNvPr id="3142" name="Group 70"/>
            <p:cNvGrpSpPr>
              <a:grpSpLocks/>
            </p:cNvGrpSpPr>
            <p:nvPr/>
          </p:nvGrpSpPr>
          <p:grpSpPr bwMode="auto">
            <a:xfrm>
              <a:off x="3312" y="960"/>
              <a:ext cx="602" cy="243"/>
              <a:chOff x="3312" y="960"/>
              <a:chExt cx="602" cy="243"/>
            </a:xfrm>
          </p:grpSpPr>
          <p:sp>
            <p:nvSpPr>
              <p:cNvPr id="3121" name="Oval 49"/>
              <p:cNvSpPr>
                <a:spLocks noChangeArrowheads="1"/>
              </p:cNvSpPr>
              <p:nvPr/>
            </p:nvSpPr>
            <p:spPr bwMode="auto">
              <a:xfrm>
                <a:off x="3696" y="985"/>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72</a:t>
                </a:r>
              </a:p>
            </p:txBody>
          </p:sp>
          <p:sp>
            <p:nvSpPr>
              <p:cNvPr id="3122" name="Text Box 50"/>
              <p:cNvSpPr txBox="1">
                <a:spLocks noChangeArrowheads="1"/>
              </p:cNvSpPr>
              <p:nvPr/>
            </p:nvSpPr>
            <p:spPr bwMode="auto">
              <a:xfrm>
                <a:off x="3312" y="960"/>
                <a:ext cx="38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sp>
          <p:nvSpPr>
            <p:cNvPr id="3124" name="Oval 52"/>
            <p:cNvSpPr>
              <a:spLocks noChangeArrowheads="1"/>
            </p:cNvSpPr>
            <p:nvPr/>
          </p:nvSpPr>
          <p:spPr bwMode="auto">
            <a:xfrm>
              <a:off x="4128" y="1465"/>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94</a:t>
              </a:r>
            </a:p>
          </p:txBody>
        </p:sp>
        <p:sp>
          <p:nvSpPr>
            <p:cNvPr id="3125" name="Text Box 53"/>
            <p:cNvSpPr txBox="1">
              <a:spLocks noChangeArrowheads="1"/>
            </p:cNvSpPr>
            <p:nvPr/>
          </p:nvSpPr>
          <p:spPr bwMode="auto">
            <a:xfrm>
              <a:off x="3792" y="1440"/>
              <a:ext cx="336"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nvGrpSpPr>
            <p:cNvPr id="3126" name="Group 54"/>
            <p:cNvGrpSpPr>
              <a:grpSpLocks/>
            </p:cNvGrpSpPr>
            <p:nvPr/>
          </p:nvGrpSpPr>
          <p:grpSpPr bwMode="auto">
            <a:xfrm>
              <a:off x="3622" y="1872"/>
              <a:ext cx="362" cy="243"/>
              <a:chOff x="864" y="1776"/>
              <a:chExt cx="362" cy="243"/>
            </a:xfrm>
          </p:grpSpPr>
          <p:sp>
            <p:nvSpPr>
              <p:cNvPr id="3127" name="Oval 55"/>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78</a:t>
                </a:r>
              </a:p>
            </p:txBody>
          </p:sp>
          <p:sp>
            <p:nvSpPr>
              <p:cNvPr id="3128" name="Text Box 56"/>
              <p:cNvSpPr txBox="1">
                <a:spLocks noChangeArrowheads="1"/>
              </p:cNvSpPr>
              <p:nvPr/>
            </p:nvSpPr>
            <p:spPr bwMode="auto">
              <a:xfrm>
                <a:off x="864" y="1776"/>
                <a:ext cx="14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sz="1400" b="0" i="0"/>
                  <a:t>0</a:t>
                </a:r>
              </a:p>
            </p:txBody>
          </p:sp>
        </p:grpSp>
        <p:grpSp>
          <p:nvGrpSpPr>
            <p:cNvPr id="3129" name="Group 57"/>
            <p:cNvGrpSpPr>
              <a:grpSpLocks/>
            </p:cNvGrpSpPr>
            <p:nvPr/>
          </p:nvGrpSpPr>
          <p:grpSpPr bwMode="auto">
            <a:xfrm>
              <a:off x="3072" y="1440"/>
              <a:ext cx="362" cy="243"/>
              <a:chOff x="864" y="1776"/>
              <a:chExt cx="362" cy="243"/>
            </a:xfrm>
          </p:grpSpPr>
          <p:sp>
            <p:nvSpPr>
              <p:cNvPr id="3130" name="Oval 58"/>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63</a:t>
                </a:r>
              </a:p>
            </p:txBody>
          </p:sp>
          <p:sp>
            <p:nvSpPr>
              <p:cNvPr id="3131" name="Text Box 59"/>
              <p:cNvSpPr txBox="1">
                <a:spLocks noChangeArrowheads="1"/>
              </p:cNvSpPr>
              <p:nvPr/>
            </p:nvSpPr>
            <p:spPr bwMode="auto">
              <a:xfrm>
                <a:off x="864" y="1776"/>
                <a:ext cx="14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sz="1400" b="0" i="0"/>
                  <a:t>0</a:t>
                </a:r>
              </a:p>
            </p:txBody>
          </p:sp>
        </p:grpSp>
        <p:grpSp>
          <p:nvGrpSpPr>
            <p:cNvPr id="3132" name="Group 60"/>
            <p:cNvGrpSpPr>
              <a:grpSpLocks/>
            </p:cNvGrpSpPr>
            <p:nvPr/>
          </p:nvGrpSpPr>
          <p:grpSpPr bwMode="auto">
            <a:xfrm>
              <a:off x="1824" y="1824"/>
              <a:ext cx="362" cy="243"/>
              <a:chOff x="864" y="1776"/>
              <a:chExt cx="362" cy="243"/>
            </a:xfrm>
          </p:grpSpPr>
          <p:sp>
            <p:nvSpPr>
              <p:cNvPr id="3133" name="Oval 61"/>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37</a:t>
                </a:r>
              </a:p>
            </p:txBody>
          </p:sp>
          <p:sp>
            <p:nvSpPr>
              <p:cNvPr id="3134" name="Text Box 62"/>
              <p:cNvSpPr txBox="1">
                <a:spLocks noChangeArrowheads="1"/>
              </p:cNvSpPr>
              <p:nvPr/>
            </p:nvSpPr>
            <p:spPr bwMode="auto">
              <a:xfrm>
                <a:off x="864" y="1776"/>
                <a:ext cx="14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sz="1400" b="0" i="0"/>
                  <a:t>0</a:t>
                </a:r>
              </a:p>
            </p:txBody>
          </p:sp>
        </p:grpSp>
        <p:grpSp>
          <p:nvGrpSpPr>
            <p:cNvPr id="3135" name="Group 63"/>
            <p:cNvGrpSpPr>
              <a:grpSpLocks/>
            </p:cNvGrpSpPr>
            <p:nvPr/>
          </p:nvGrpSpPr>
          <p:grpSpPr bwMode="auto">
            <a:xfrm>
              <a:off x="2496" y="1872"/>
              <a:ext cx="362" cy="243"/>
              <a:chOff x="864" y="1776"/>
              <a:chExt cx="362" cy="243"/>
            </a:xfrm>
          </p:grpSpPr>
          <p:sp>
            <p:nvSpPr>
              <p:cNvPr id="3136" name="Oval 64"/>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47</a:t>
                </a:r>
              </a:p>
            </p:txBody>
          </p:sp>
          <p:sp>
            <p:nvSpPr>
              <p:cNvPr id="3137" name="Text Box 65"/>
              <p:cNvSpPr txBox="1">
                <a:spLocks noChangeArrowheads="1"/>
              </p:cNvSpPr>
              <p:nvPr/>
            </p:nvSpPr>
            <p:spPr bwMode="auto">
              <a:xfrm>
                <a:off x="864" y="1776"/>
                <a:ext cx="14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sz="1400" b="0" i="0"/>
                  <a:t>0</a:t>
                </a:r>
              </a:p>
            </p:txBody>
          </p:sp>
        </p:grpSp>
        <p:grpSp>
          <p:nvGrpSpPr>
            <p:cNvPr id="3138" name="Group 66"/>
            <p:cNvGrpSpPr>
              <a:grpSpLocks/>
            </p:cNvGrpSpPr>
            <p:nvPr/>
          </p:nvGrpSpPr>
          <p:grpSpPr bwMode="auto">
            <a:xfrm>
              <a:off x="2160" y="1440"/>
              <a:ext cx="362" cy="243"/>
              <a:chOff x="864" y="1776"/>
              <a:chExt cx="362" cy="243"/>
            </a:xfrm>
          </p:grpSpPr>
          <p:sp>
            <p:nvSpPr>
              <p:cNvPr id="3139" name="Oval 67"/>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38</a:t>
                </a:r>
              </a:p>
            </p:txBody>
          </p:sp>
          <p:sp>
            <p:nvSpPr>
              <p:cNvPr id="3140" name="Text Box 68"/>
              <p:cNvSpPr txBox="1">
                <a:spLocks noChangeArrowheads="1"/>
              </p:cNvSpPr>
              <p:nvPr/>
            </p:nvSpPr>
            <p:spPr bwMode="auto">
              <a:xfrm>
                <a:off x="864" y="1776"/>
                <a:ext cx="14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sz="1400" b="0" i="0"/>
                  <a:t>0</a:t>
                </a:r>
              </a:p>
            </p:txBody>
          </p:sp>
        </p:grpSp>
      </p:grpSp>
    </p:spTree>
    <p:extLst>
      <p:ext uri="{BB962C8B-B14F-4D97-AF65-F5344CB8AC3E}">
        <p14:creationId xmlns:p14="http://schemas.microsoft.com/office/powerpoint/2010/main" val="206613224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0" name="Text Box 24"/>
          <p:cNvSpPr txBox="1">
            <a:spLocks noChangeArrowheads="1"/>
          </p:cNvSpPr>
          <p:nvPr/>
        </p:nvSpPr>
        <p:spPr bwMode="auto">
          <a:xfrm>
            <a:off x="76200" y="76200"/>
            <a:ext cx="62484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b="0" i="0"/>
              <a:t>Insert 1 and recalculate balance factors</a:t>
            </a:r>
          </a:p>
        </p:txBody>
      </p:sp>
      <p:sp>
        <p:nvSpPr>
          <p:cNvPr id="4124" name="Text Box 28"/>
          <p:cNvSpPr txBox="1">
            <a:spLocks noChangeArrowheads="1"/>
          </p:cNvSpPr>
          <p:nvPr/>
        </p:nvSpPr>
        <p:spPr bwMode="auto">
          <a:xfrm>
            <a:off x="0" y="6324600"/>
            <a:ext cx="9067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b="0" i="0"/>
              <a:t>Next step: Find rebalancing case --&gt;  </a:t>
            </a:r>
          </a:p>
        </p:txBody>
      </p:sp>
      <p:sp>
        <p:nvSpPr>
          <p:cNvPr id="4125" name="Text Box 29"/>
          <p:cNvSpPr txBox="1">
            <a:spLocks noChangeArrowheads="1"/>
          </p:cNvSpPr>
          <p:nvPr/>
        </p:nvSpPr>
        <p:spPr bwMode="auto">
          <a:xfrm>
            <a:off x="6705600" y="0"/>
            <a:ext cx="2438400" cy="1158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2000" b="0" i="0">
                <a:solidFill>
                  <a:srgbClr val="FF0000"/>
                </a:solidFill>
              </a:rPr>
              <a:t>Balance not ok</a:t>
            </a:r>
          </a:p>
          <a:p>
            <a:pPr algn="r">
              <a:spcBef>
                <a:spcPct val="50000"/>
              </a:spcBef>
            </a:pPr>
            <a:r>
              <a:rPr lang="en-US" altLang="en-US" sz="2000" b="0" i="0"/>
              <a:t>(Balance factor of   -2 is not allowed)</a:t>
            </a:r>
            <a:endParaRPr lang="en-US" altLang="en-US" sz="2000" b="0" i="0">
              <a:solidFill>
                <a:srgbClr val="FF0000"/>
              </a:solidFill>
            </a:endParaRPr>
          </a:p>
        </p:txBody>
      </p:sp>
      <p:grpSp>
        <p:nvGrpSpPr>
          <p:cNvPr id="4221" name="Group 125"/>
          <p:cNvGrpSpPr>
            <a:grpSpLocks/>
          </p:cNvGrpSpPr>
          <p:nvPr/>
        </p:nvGrpSpPr>
        <p:grpSpPr bwMode="auto">
          <a:xfrm>
            <a:off x="568325" y="914400"/>
            <a:ext cx="6330950" cy="2976563"/>
            <a:chOff x="358" y="576"/>
            <a:chExt cx="3988" cy="1875"/>
          </a:xfrm>
        </p:grpSpPr>
        <p:cxnSp>
          <p:nvCxnSpPr>
            <p:cNvPr id="4122" name="AutoShape 26"/>
            <p:cNvCxnSpPr>
              <a:cxnSpLocks noChangeShapeType="1"/>
              <a:stCxn id="4182" idx="3"/>
              <a:endCxn id="4215" idx="7"/>
            </p:cNvCxnSpPr>
            <p:nvPr/>
          </p:nvCxnSpPr>
          <p:spPr bwMode="auto">
            <a:xfrm flipH="1">
              <a:off x="832" y="1987"/>
              <a:ext cx="208" cy="278"/>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4171" name="AutoShape 75"/>
            <p:cNvCxnSpPr>
              <a:cxnSpLocks noChangeShapeType="1"/>
              <a:stCxn id="4191" idx="3"/>
              <a:endCxn id="4188" idx="7"/>
            </p:cNvCxnSpPr>
            <p:nvPr/>
          </p:nvCxnSpPr>
          <p:spPr bwMode="auto">
            <a:xfrm flipH="1">
              <a:off x="1962" y="787"/>
              <a:ext cx="806" cy="23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4172" name="AutoShape 76"/>
            <p:cNvCxnSpPr>
              <a:cxnSpLocks noChangeShapeType="1"/>
              <a:stCxn id="4191" idx="5"/>
              <a:endCxn id="4194" idx="1"/>
            </p:cNvCxnSpPr>
            <p:nvPr/>
          </p:nvCxnSpPr>
          <p:spPr bwMode="auto">
            <a:xfrm>
              <a:off x="2922" y="787"/>
              <a:ext cx="806" cy="23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4173" name="AutoShape 77"/>
            <p:cNvCxnSpPr>
              <a:cxnSpLocks noChangeShapeType="1"/>
              <a:stCxn id="4194" idx="5"/>
              <a:endCxn id="4196" idx="1"/>
            </p:cNvCxnSpPr>
            <p:nvPr/>
          </p:nvCxnSpPr>
          <p:spPr bwMode="auto">
            <a:xfrm>
              <a:off x="3882" y="1171"/>
              <a:ext cx="278" cy="32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4174" name="AutoShape 78"/>
            <p:cNvCxnSpPr>
              <a:cxnSpLocks noChangeShapeType="1"/>
              <a:stCxn id="4188" idx="5"/>
              <a:endCxn id="4211" idx="1"/>
            </p:cNvCxnSpPr>
            <p:nvPr/>
          </p:nvCxnSpPr>
          <p:spPr bwMode="auto">
            <a:xfrm>
              <a:off x="1962" y="1171"/>
              <a:ext cx="374" cy="32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4175" name="AutoShape 79"/>
            <p:cNvCxnSpPr>
              <a:cxnSpLocks noChangeShapeType="1"/>
              <a:stCxn id="4211" idx="5"/>
              <a:endCxn id="4208" idx="1"/>
            </p:cNvCxnSpPr>
            <p:nvPr/>
          </p:nvCxnSpPr>
          <p:spPr bwMode="auto">
            <a:xfrm>
              <a:off x="2490" y="1651"/>
              <a:ext cx="182" cy="278"/>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4176" name="AutoShape 80"/>
            <p:cNvCxnSpPr>
              <a:cxnSpLocks noChangeShapeType="1"/>
              <a:stCxn id="4188" idx="3"/>
              <a:endCxn id="4185" idx="7"/>
            </p:cNvCxnSpPr>
            <p:nvPr/>
          </p:nvCxnSpPr>
          <p:spPr bwMode="auto">
            <a:xfrm flipH="1">
              <a:off x="1530" y="1171"/>
              <a:ext cx="278" cy="278"/>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4177" name="AutoShape 81"/>
            <p:cNvCxnSpPr>
              <a:cxnSpLocks noChangeShapeType="1"/>
              <a:stCxn id="4185" idx="3"/>
              <a:endCxn id="4182" idx="7"/>
            </p:cNvCxnSpPr>
            <p:nvPr/>
          </p:nvCxnSpPr>
          <p:spPr bwMode="auto">
            <a:xfrm flipH="1">
              <a:off x="1194" y="1603"/>
              <a:ext cx="182" cy="23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4178" name="AutoShape 82"/>
            <p:cNvCxnSpPr>
              <a:cxnSpLocks noChangeShapeType="1"/>
              <a:endCxn id="4205" idx="7"/>
            </p:cNvCxnSpPr>
            <p:nvPr/>
          </p:nvCxnSpPr>
          <p:spPr bwMode="auto">
            <a:xfrm flipH="1">
              <a:off x="2154" y="1645"/>
              <a:ext cx="192" cy="23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4179" name="AutoShape 83"/>
            <p:cNvCxnSpPr>
              <a:cxnSpLocks noChangeShapeType="1"/>
              <a:stCxn id="4194" idx="3"/>
              <a:endCxn id="4202" idx="7"/>
            </p:cNvCxnSpPr>
            <p:nvPr/>
          </p:nvCxnSpPr>
          <p:spPr bwMode="auto">
            <a:xfrm flipH="1">
              <a:off x="3402" y="1171"/>
              <a:ext cx="326" cy="32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4180" name="AutoShape 84"/>
            <p:cNvCxnSpPr>
              <a:cxnSpLocks noChangeShapeType="1"/>
              <a:stCxn id="4196" idx="3"/>
              <a:endCxn id="4199" idx="7"/>
            </p:cNvCxnSpPr>
            <p:nvPr/>
          </p:nvCxnSpPr>
          <p:spPr bwMode="auto">
            <a:xfrm flipH="1">
              <a:off x="3952" y="1651"/>
              <a:ext cx="208" cy="278"/>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nvGrpSpPr>
            <p:cNvPr id="4213" name="Group 117"/>
            <p:cNvGrpSpPr>
              <a:grpSpLocks/>
            </p:cNvGrpSpPr>
            <p:nvPr/>
          </p:nvGrpSpPr>
          <p:grpSpPr bwMode="auto">
            <a:xfrm>
              <a:off x="720" y="1776"/>
              <a:ext cx="506" cy="243"/>
              <a:chOff x="720" y="1776"/>
              <a:chExt cx="506" cy="243"/>
            </a:xfrm>
          </p:grpSpPr>
          <p:sp>
            <p:nvSpPr>
              <p:cNvPr id="4182" name="Oval 86"/>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a:t>
                </a:r>
              </a:p>
            </p:txBody>
          </p:sp>
          <p:sp>
            <p:nvSpPr>
              <p:cNvPr id="4183" name="Text Box 87"/>
              <p:cNvSpPr txBox="1">
                <a:spLocks noChangeArrowheads="1"/>
              </p:cNvSpPr>
              <p:nvPr/>
            </p:nvSpPr>
            <p:spPr bwMode="auto">
              <a:xfrm>
                <a:off x="720" y="1776"/>
                <a:ext cx="288"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grpSp>
          <p:nvGrpSpPr>
            <p:cNvPr id="4184" name="Group 88"/>
            <p:cNvGrpSpPr>
              <a:grpSpLocks/>
            </p:cNvGrpSpPr>
            <p:nvPr/>
          </p:nvGrpSpPr>
          <p:grpSpPr bwMode="auto">
            <a:xfrm>
              <a:off x="1104" y="1392"/>
              <a:ext cx="458" cy="243"/>
              <a:chOff x="1104" y="1392"/>
              <a:chExt cx="458" cy="243"/>
            </a:xfrm>
          </p:grpSpPr>
          <p:sp>
            <p:nvSpPr>
              <p:cNvPr id="4185" name="Oval 89"/>
              <p:cNvSpPr>
                <a:spLocks noChangeArrowheads="1"/>
              </p:cNvSpPr>
              <p:nvPr/>
            </p:nvSpPr>
            <p:spPr bwMode="auto">
              <a:xfrm>
                <a:off x="1344" y="1417"/>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25</a:t>
                </a:r>
              </a:p>
            </p:txBody>
          </p:sp>
          <p:sp>
            <p:nvSpPr>
              <p:cNvPr id="4186" name="Text Box 90"/>
              <p:cNvSpPr txBox="1">
                <a:spLocks noChangeArrowheads="1"/>
              </p:cNvSpPr>
              <p:nvPr/>
            </p:nvSpPr>
            <p:spPr bwMode="auto">
              <a:xfrm>
                <a:off x="1104" y="1392"/>
                <a:ext cx="240"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solidFill>
                      <a:srgbClr val="FF0000"/>
                    </a:solidFill>
                  </a:rPr>
                  <a:t>-2</a:t>
                </a:r>
                <a:endParaRPr lang="en-US" altLang="en-US" sz="1400" b="0" i="0"/>
              </a:p>
            </p:txBody>
          </p:sp>
        </p:grpSp>
        <p:grpSp>
          <p:nvGrpSpPr>
            <p:cNvPr id="4218" name="Group 122"/>
            <p:cNvGrpSpPr>
              <a:grpSpLocks/>
            </p:cNvGrpSpPr>
            <p:nvPr/>
          </p:nvGrpSpPr>
          <p:grpSpPr bwMode="auto">
            <a:xfrm>
              <a:off x="1248" y="960"/>
              <a:ext cx="746" cy="243"/>
              <a:chOff x="1248" y="960"/>
              <a:chExt cx="746" cy="243"/>
            </a:xfrm>
          </p:grpSpPr>
          <p:sp>
            <p:nvSpPr>
              <p:cNvPr id="4188" name="Oval 92"/>
              <p:cNvSpPr>
                <a:spLocks noChangeArrowheads="1"/>
              </p:cNvSpPr>
              <p:nvPr/>
            </p:nvSpPr>
            <p:spPr bwMode="auto">
              <a:xfrm>
                <a:off x="1776" y="985"/>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26</a:t>
                </a:r>
              </a:p>
            </p:txBody>
          </p:sp>
          <p:sp>
            <p:nvSpPr>
              <p:cNvPr id="4189" name="Text Box 93"/>
              <p:cNvSpPr txBox="1">
                <a:spLocks noChangeArrowheads="1"/>
              </p:cNvSpPr>
              <p:nvPr/>
            </p:nvSpPr>
            <p:spPr bwMode="auto">
              <a:xfrm>
                <a:off x="1248" y="960"/>
                <a:ext cx="528"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grpSp>
          <p:nvGrpSpPr>
            <p:cNvPr id="4220" name="Group 124"/>
            <p:cNvGrpSpPr>
              <a:grpSpLocks/>
            </p:cNvGrpSpPr>
            <p:nvPr/>
          </p:nvGrpSpPr>
          <p:grpSpPr bwMode="auto">
            <a:xfrm>
              <a:off x="2064" y="576"/>
              <a:ext cx="890" cy="243"/>
              <a:chOff x="2064" y="576"/>
              <a:chExt cx="890" cy="243"/>
            </a:xfrm>
          </p:grpSpPr>
          <p:sp>
            <p:nvSpPr>
              <p:cNvPr id="4191" name="Oval 95"/>
              <p:cNvSpPr>
                <a:spLocks noChangeArrowheads="1"/>
              </p:cNvSpPr>
              <p:nvPr/>
            </p:nvSpPr>
            <p:spPr bwMode="auto">
              <a:xfrm>
                <a:off x="2736" y="6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57</a:t>
                </a:r>
              </a:p>
            </p:txBody>
          </p:sp>
          <p:sp>
            <p:nvSpPr>
              <p:cNvPr id="4192" name="Text Box 96"/>
              <p:cNvSpPr txBox="1">
                <a:spLocks noChangeArrowheads="1"/>
              </p:cNvSpPr>
              <p:nvPr/>
            </p:nvSpPr>
            <p:spPr bwMode="auto">
              <a:xfrm>
                <a:off x="2064" y="576"/>
                <a:ext cx="67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grpSp>
          <p:nvGrpSpPr>
            <p:cNvPr id="4193" name="Group 97"/>
            <p:cNvGrpSpPr>
              <a:grpSpLocks/>
            </p:cNvGrpSpPr>
            <p:nvPr/>
          </p:nvGrpSpPr>
          <p:grpSpPr bwMode="auto">
            <a:xfrm>
              <a:off x="3312" y="960"/>
              <a:ext cx="602" cy="243"/>
              <a:chOff x="3312" y="960"/>
              <a:chExt cx="602" cy="243"/>
            </a:xfrm>
          </p:grpSpPr>
          <p:sp>
            <p:nvSpPr>
              <p:cNvPr id="4194" name="Oval 98"/>
              <p:cNvSpPr>
                <a:spLocks noChangeArrowheads="1"/>
              </p:cNvSpPr>
              <p:nvPr/>
            </p:nvSpPr>
            <p:spPr bwMode="auto">
              <a:xfrm>
                <a:off x="3696" y="985"/>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72</a:t>
                </a:r>
              </a:p>
            </p:txBody>
          </p:sp>
          <p:sp>
            <p:nvSpPr>
              <p:cNvPr id="4195" name="Text Box 99"/>
              <p:cNvSpPr txBox="1">
                <a:spLocks noChangeArrowheads="1"/>
              </p:cNvSpPr>
              <p:nvPr/>
            </p:nvSpPr>
            <p:spPr bwMode="auto">
              <a:xfrm>
                <a:off x="3312" y="960"/>
                <a:ext cx="38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sp>
          <p:nvSpPr>
            <p:cNvPr id="4196" name="Oval 100"/>
            <p:cNvSpPr>
              <a:spLocks noChangeArrowheads="1"/>
            </p:cNvSpPr>
            <p:nvPr/>
          </p:nvSpPr>
          <p:spPr bwMode="auto">
            <a:xfrm>
              <a:off x="4128" y="1465"/>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94</a:t>
              </a:r>
            </a:p>
          </p:txBody>
        </p:sp>
        <p:sp>
          <p:nvSpPr>
            <p:cNvPr id="4197" name="Text Box 101"/>
            <p:cNvSpPr txBox="1">
              <a:spLocks noChangeArrowheads="1"/>
            </p:cNvSpPr>
            <p:nvPr/>
          </p:nvSpPr>
          <p:spPr bwMode="auto">
            <a:xfrm>
              <a:off x="3792" y="1440"/>
              <a:ext cx="336"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nvGrpSpPr>
            <p:cNvPr id="4198" name="Group 102"/>
            <p:cNvGrpSpPr>
              <a:grpSpLocks/>
            </p:cNvGrpSpPr>
            <p:nvPr/>
          </p:nvGrpSpPr>
          <p:grpSpPr bwMode="auto">
            <a:xfrm>
              <a:off x="3622" y="1872"/>
              <a:ext cx="362" cy="243"/>
              <a:chOff x="864" y="1776"/>
              <a:chExt cx="362" cy="243"/>
            </a:xfrm>
          </p:grpSpPr>
          <p:sp>
            <p:nvSpPr>
              <p:cNvPr id="4199" name="Oval 103"/>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78</a:t>
                </a:r>
              </a:p>
            </p:txBody>
          </p:sp>
          <p:sp>
            <p:nvSpPr>
              <p:cNvPr id="4200" name="Text Box 104"/>
              <p:cNvSpPr txBox="1">
                <a:spLocks noChangeArrowheads="1"/>
              </p:cNvSpPr>
              <p:nvPr/>
            </p:nvSpPr>
            <p:spPr bwMode="auto">
              <a:xfrm>
                <a:off x="864" y="1776"/>
                <a:ext cx="14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sz="1400" b="0" i="0"/>
                  <a:t>0</a:t>
                </a:r>
              </a:p>
            </p:txBody>
          </p:sp>
        </p:grpSp>
        <p:grpSp>
          <p:nvGrpSpPr>
            <p:cNvPr id="4201" name="Group 105"/>
            <p:cNvGrpSpPr>
              <a:grpSpLocks/>
            </p:cNvGrpSpPr>
            <p:nvPr/>
          </p:nvGrpSpPr>
          <p:grpSpPr bwMode="auto">
            <a:xfrm>
              <a:off x="3072" y="1440"/>
              <a:ext cx="362" cy="243"/>
              <a:chOff x="864" y="1776"/>
              <a:chExt cx="362" cy="243"/>
            </a:xfrm>
          </p:grpSpPr>
          <p:sp>
            <p:nvSpPr>
              <p:cNvPr id="4202" name="Oval 106"/>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63</a:t>
                </a:r>
              </a:p>
            </p:txBody>
          </p:sp>
          <p:sp>
            <p:nvSpPr>
              <p:cNvPr id="4203" name="Text Box 107"/>
              <p:cNvSpPr txBox="1">
                <a:spLocks noChangeArrowheads="1"/>
              </p:cNvSpPr>
              <p:nvPr/>
            </p:nvSpPr>
            <p:spPr bwMode="auto">
              <a:xfrm>
                <a:off x="864" y="1776"/>
                <a:ext cx="14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sz="1400" b="0" i="0"/>
                  <a:t>0</a:t>
                </a:r>
              </a:p>
            </p:txBody>
          </p:sp>
        </p:grpSp>
        <p:grpSp>
          <p:nvGrpSpPr>
            <p:cNvPr id="4204" name="Group 108"/>
            <p:cNvGrpSpPr>
              <a:grpSpLocks/>
            </p:cNvGrpSpPr>
            <p:nvPr/>
          </p:nvGrpSpPr>
          <p:grpSpPr bwMode="auto">
            <a:xfrm>
              <a:off x="1824" y="1824"/>
              <a:ext cx="362" cy="243"/>
              <a:chOff x="864" y="1776"/>
              <a:chExt cx="362" cy="243"/>
            </a:xfrm>
          </p:grpSpPr>
          <p:sp>
            <p:nvSpPr>
              <p:cNvPr id="4205" name="Oval 109"/>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37</a:t>
                </a:r>
              </a:p>
            </p:txBody>
          </p:sp>
          <p:sp>
            <p:nvSpPr>
              <p:cNvPr id="4206" name="Text Box 110"/>
              <p:cNvSpPr txBox="1">
                <a:spLocks noChangeArrowheads="1"/>
              </p:cNvSpPr>
              <p:nvPr/>
            </p:nvSpPr>
            <p:spPr bwMode="auto">
              <a:xfrm>
                <a:off x="864" y="1776"/>
                <a:ext cx="14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sz="1400" b="0" i="0"/>
                  <a:t>0</a:t>
                </a:r>
              </a:p>
            </p:txBody>
          </p:sp>
        </p:grpSp>
        <p:grpSp>
          <p:nvGrpSpPr>
            <p:cNvPr id="4207" name="Group 111"/>
            <p:cNvGrpSpPr>
              <a:grpSpLocks/>
            </p:cNvGrpSpPr>
            <p:nvPr/>
          </p:nvGrpSpPr>
          <p:grpSpPr bwMode="auto">
            <a:xfrm>
              <a:off x="2496" y="1872"/>
              <a:ext cx="362" cy="243"/>
              <a:chOff x="864" y="1776"/>
              <a:chExt cx="362" cy="243"/>
            </a:xfrm>
          </p:grpSpPr>
          <p:sp>
            <p:nvSpPr>
              <p:cNvPr id="4208" name="Oval 112"/>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47</a:t>
                </a:r>
              </a:p>
            </p:txBody>
          </p:sp>
          <p:sp>
            <p:nvSpPr>
              <p:cNvPr id="4209" name="Text Box 113"/>
              <p:cNvSpPr txBox="1">
                <a:spLocks noChangeArrowheads="1"/>
              </p:cNvSpPr>
              <p:nvPr/>
            </p:nvSpPr>
            <p:spPr bwMode="auto">
              <a:xfrm>
                <a:off x="864" y="1776"/>
                <a:ext cx="14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sz="1400" b="0" i="0"/>
                  <a:t>0</a:t>
                </a:r>
              </a:p>
            </p:txBody>
          </p:sp>
        </p:grpSp>
        <p:grpSp>
          <p:nvGrpSpPr>
            <p:cNvPr id="4210" name="Group 114"/>
            <p:cNvGrpSpPr>
              <a:grpSpLocks/>
            </p:cNvGrpSpPr>
            <p:nvPr/>
          </p:nvGrpSpPr>
          <p:grpSpPr bwMode="auto">
            <a:xfrm>
              <a:off x="2160" y="1440"/>
              <a:ext cx="362" cy="243"/>
              <a:chOff x="864" y="1776"/>
              <a:chExt cx="362" cy="243"/>
            </a:xfrm>
          </p:grpSpPr>
          <p:sp>
            <p:nvSpPr>
              <p:cNvPr id="4211" name="Oval 115"/>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38</a:t>
                </a:r>
              </a:p>
            </p:txBody>
          </p:sp>
          <p:sp>
            <p:nvSpPr>
              <p:cNvPr id="4212" name="Text Box 116"/>
              <p:cNvSpPr txBox="1">
                <a:spLocks noChangeArrowheads="1"/>
              </p:cNvSpPr>
              <p:nvPr/>
            </p:nvSpPr>
            <p:spPr bwMode="auto">
              <a:xfrm>
                <a:off x="864" y="1776"/>
                <a:ext cx="14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sz="1400" b="0" i="0"/>
                  <a:t>0</a:t>
                </a:r>
              </a:p>
            </p:txBody>
          </p:sp>
        </p:grpSp>
        <p:grpSp>
          <p:nvGrpSpPr>
            <p:cNvPr id="4217" name="Group 121"/>
            <p:cNvGrpSpPr>
              <a:grpSpLocks/>
            </p:cNvGrpSpPr>
            <p:nvPr/>
          </p:nvGrpSpPr>
          <p:grpSpPr bwMode="auto">
            <a:xfrm>
              <a:off x="358" y="2208"/>
              <a:ext cx="506" cy="243"/>
              <a:chOff x="432" y="2208"/>
              <a:chExt cx="506" cy="243"/>
            </a:xfrm>
          </p:grpSpPr>
          <p:sp>
            <p:nvSpPr>
              <p:cNvPr id="4215" name="Oval 119"/>
              <p:cNvSpPr>
                <a:spLocks noChangeArrowheads="1"/>
              </p:cNvSpPr>
              <p:nvPr/>
            </p:nvSpPr>
            <p:spPr bwMode="auto">
              <a:xfrm>
                <a:off x="720" y="2233"/>
                <a:ext cx="218" cy="218"/>
              </a:xfrm>
              <a:prstGeom prst="ellipse">
                <a:avLst/>
              </a:prstGeom>
              <a:solidFill>
                <a:srgbClr val="FFFF00">
                  <a:alpha val="53999"/>
                </a:srgbClr>
              </a:solidFill>
              <a:ln w="9525">
                <a:solidFill>
                  <a:schemeClr val="tx1"/>
                </a:solidFill>
                <a:round/>
                <a:headEnd/>
                <a:tailEnd/>
              </a:ln>
            </p:spPr>
            <p:txBody>
              <a:bodyPr wrap="none" anchor="ctr"/>
              <a:lstStyle/>
              <a:p>
                <a:pPr algn="ctr"/>
                <a:r>
                  <a:rPr lang="en-US" altLang="en-US" sz="1600" b="0" i="0"/>
                  <a:t>1</a:t>
                </a:r>
              </a:p>
            </p:txBody>
          </p:sp>
          <p:sp>
            <p:nvSpPr>
              <p:cNvPr id="4216" name="Text Box 120"/>
              <p:cNvSpPr txBox="1">
                <a:spLocks noChangeArrowheads="1"/>
              </p:cNvSpPr>
              <p:nvPr/>
            </p:nvSpPr>
            <p:spPr bwMode="auto">
              <a:xfrm>
                <a:off x="432" y="2208"/>
                <a:ext cx="288"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grpSp>
    </p:spTree>
    <p:extLst>
      <p:ext uri="{BB962C8B-B14F-4D97-AF65-F5344CB8AC3E}">
        <p14:creationId xmlns:p14="http://schemas.microsoft.com/office/powerpoint/2010/main" val="209420076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39" name="Oval 51"/>
          <p:cNvSpPr>
            <a:spLocks noChangeArrowheads="1"/>
          </p:cNvSpPr>
          <p:nvPr/>
        </p:nvSpPr>
        <p:spPr bwMode="auto">
          <a:xfrm rot="2420340">
            <a:off x="1316038" y="1993900"/>
            <a:ext cx="1143000" cy="2398713"/>
          </a:xfrm>
          <a:prstGeom prst="ellipse">
            <a:avLst/>
          </a:prstGeom>
          <a:solidFill>
            <a:srgbClr val="FFFF00">
              <a:alpha val="20000"/>
            </a:srgbClr>
          </a:solidFill>
          <a:ln w="9525">
            <a:solidFill>
              <a:schemeClr val="tx1"/>
            </a:solidFill>
            <a:round/>
            <a:headEnd/>
            <a:tailEnd/>
          </a:ln>
        </p:spPr>
        <p:txBody>
          <a:bodyPr wrap="none" anchor="ctr"/>
          <a:lstStyle/>
          <a:p>
            <a:endParaRPr lang="en-US"/>
          </a:p>
        </p:txBody>
      </p:sp>
      <p:sp>
        <p:nvSpPr>
          <p:cNvPr id="12311" name="Text Box 23"/>
          <p:cNvSpPr txBox="1">
            <a:spLocks noChangeArrowheads="1"/>
          </p:cNvSpPr>
          <p:nvPr/>
        </p:nvSpPr>
        <p:spPr bwMode="auto">
          <a:xfrm>
            <a:off x="76200" y="76200"/>
            <a:ext cx="9067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b="0" i="0"/>
              <a:t>Find rebalancing case</a:t>
            </a:r>
          </a:p>
        </p:txBody>
      </p:sp>
      <p:sp>
        <p:nvSpPr>
          <p:cNvPr id="12314" name="Text Box 26"/>
          <p:cNvSpPr txBox="1">
            <a:spLocks noChangeArrowheads="1"/>
          </p:cNvSpPr>
          <p:nvPr/>
        </p:nvSpPr>
        <p:spPr bwMode="auto">
          <a:xfrm>
            <a:off x="0" y="6324600"/>
            <a:ext cx="9067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b="0" i="0"/>
              <a:t>Next step: apply Left Left rebalancing --&gt;  </a:t>
            </a:r>
          </a:p>
        </p:txBody>
      </p:sp>
      <p:sp>
        <p:nvSpPr>
          <p:cNvPr id="12338" name="Text Box 50"/>
          <p:cNvSpPr txBox="1">
            <a:spLocks noChangeArrowheads="1"/>
          </p:cNvSpPr>
          <p:nvPr/>
        </p:nvSpPr>
        <p:spPr bwMode="auto">
          <a:xfrm>
            <a:off x="6705600" y="0"/>
            <a:ext cx="24384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2000" b="0" i="0">
                <a:solidFill>
                  <a:srgbClr val="FF0000"/>
                </a:solidFill>
              </a:rPr>
              <a:t>Balance not ok</a:t>
            </a:r>
          </a:p>
        </p:txBody>
      </p:sp>
      <p:sp>
        <p:nvSpPr>
          <p:cNvPr id="12340" name="Text Box 52"/>
          <p:cNvSpPr txBox="1">
            <a:spLocks noChangeArrowheads="1"/>
          </p:cNvSpPr>
          <p:nvPr/>
        </p:nvSpPr>
        <p:spPr bwMode="auto">
          <a:xfrm>
            <a:off x="228600" y="2057400"/>
            <a:ext cx="1981200" cy="366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sz="1800" b="0" i="0"/>
              <a:t>Left Left Case</a:t>
            </a:r>
          </a:p>
        </p:txBody>
      </p:sp>
      <p:cxnSp>
        <p:nvCxnSpPr>
          <p:cNvPr id="12343" name="AutoShape 55"/>
          <p:cNvCxnSpPr>
            <a:cxnSpLocks noChangeShapeType="1"/>
            <a:stCxn id="12344" idx="3"/>
            <a:endCxn id="12405" idx="1"/>
          </p:cNvCxnSpPr>
          <p:nvPr/>
        </p:nvCxnSpPr>
        <p:spPr bwMode="auto">
          <a:xfrm>
            <a:off x="990600" y="2781300"/>
            <a:ext cx="847725" cy="27622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2344" name="Rectangle 56"/>
          <p:cNvSpPr>
            <a:spLocks noChangeArrowheads="1"/>
          </p:cNvSpPr>
          <p:nvPr/>
        </p:nvSpPr>
        <p:spPr bwMode="auto">
          <a:xfrm>
            <a:off x="304800" y="2667000"/>
            <a:ext cx="685800" cy="228600"/>
          </a:xfrm>
          <a:prstGeom prst="rect">
            <a:avLst/>
          </a:prstGeom>
          <a:solidFill>
            <a:srgbClr val="FF00FF">
              <a:alpha val="17000"/>
            </a:srgbClr>
          </a:solidFill>
          <a:ln w="9525">
            <a:solidFill>
              <a:schemeClr val="tx1"/>
            </a:solidFill>
            <a:miter lim="800000"/>
            <a:headEnd/>
            <a:tailEnd/>
          </a:ln>
        </p:spPr>
        <p:txBody>
          <a:bodyPr wrap="none" anchor="ctr"/>
          <a:lstStyle/>
          <a:p>
            <a:pPr algn="ctr"/>
            <a:r>
              <a:rPr lang="en-US" altLang="en-US" sz="1200" b="0" i="0"/>
              <a:t>Pivot</a:t>
            </a:r>
          </a:p>
        </p:txBody>
      </p:sp>
      <p:cxnSp>
        <p:nvCxnSpPr>
          <p:cNvPr id="12393" name="AutoShape 105"/>
          <p:cNvCxnSpPr>
            <a:cxnSpLocks noChangeShapeType="1"/>
            <a:stCxn id="12405" idx="3"/>
            <a:endCxn id="12437" idx="7"/>
          </p:cNvCxnSpPr>
          <p:nvPr/>
        </p:nvCxnSpPr>
        <p:spPr bwMode="auto">
          <a:xfrm flipH="1">
            <a:off x="1508125" y="3302000"/>
            <a:ext cx="330200" cy="4413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2394" name="AutoShape 106"/>
          <p:cNvCxnSpPr>
            <a:cxnSpLocks noChangeShapeType="1"/>
            <a:stCxn id="12414" idx="3"/>
            <a:endCxn id="12411" idx="7"/>
          </p:cNvCxnSpPr>
          <p:nvPr/>
        </p:nvCxnSpPr>
        <p:spPr bwMode="auto">
          <a:xfrm flipH="1">
            <a:off x="3302000" y="1397000"/>
            <a:ext cx="1279525" cy="3651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2395" name="AutoShape 107"/>
          <p:cNvCxnSpPr>
            <a:cxnSpLocks noChangeShapeType="1"/>
            <a:stCxn id="12414" idx="5"/>
            <a:endCxn id="12417" idx="1"/>
          </p:cNvCxnSpPr>
          <p:nvPr/>
        </p:nvCxnSpPr>
        <p:spPr bwMode="auto">
          <a:xfrm>
            <a:off x="4826000" y="1397000"/>
            <a:ext cx="1279525" cy="3651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2396" name="AutoShape 108"/>
          <p:cNvCxnSpPr>
            <a:cxnSpLocks noChangeShapeType="1"/>
            <a:stCxn id="12417" idx="5"/>
            <a:endCxn id="12419" idx="1"/>
          </p:cNvCxnSpPr>
          <p:nvPr/>
        </p:nvCxnSpPr>
        <p:spPr bwMode="auto">
          <a:xfrm>
            <a:off x="6350000" y="2006600"/>
            <a:ext cx="441325" cy="5175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2397" name="AutoShape 109"/>
          <p:cNvCxnSpPr>
            <a:cxnSpLocks noChangeShapeType="1"/>
            <a:stCxn id="12411" idx="5"/>
            <a:endCxn id="12434" idx="1"/>
          </p:cNvCxnSpPr>
          <p:nvPr/>
        </p:nvCxnSpPr>
        <p:spPr bwMode="auto">
          <a:xfrm>
            <a:off x="3302000" y="2006600"/>
            <a:ext cx="593725" cy="5175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2398" name="AutoShape 110"/>
          <p:cNvCxnSpPr>
            <a:cxnSpLocks noChangeShapeType="1"/>
            <a:stCxn id="12434" idx="5"/>
            <a:endCxn id="12431" idx="1"/>
          </p:cNvCxnSpPr>
          <p:nvPr/>
        </p:nvCxnSpPr>
        <p:spPr bwMode="auto">
          <a:xfrm>
            <a:off x="4140200" y="2768600"/>
            <a:ext cx="288925" cy="4413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2399" name="AutoShape 111"/>
          <p:cNvCxnSpPr>
            <a:cxnSpLocks noChangeShapeType="1"/>
            <a:stCxn id="12411" idx="3"/>
            <a:endCxn id="12408" idx="7"/>
          </p:cNvCxnSpPr>
          <p:nvPr/>
        </p:nvCxnSpPr>
        <p:spPr bwMode="auto">
          <a:xfrm flipH="1">
            <a:off x="2616200" y="2006600"/>
            <a:ext cx="441325" cy="4413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2400" name="AutoShape 112"/>
          <p:cNvCxnSpPr>
            <a:cxnSpLocks noChangeShapeType="1"/>
            <a:stCxn id="12408" idx="3"/>
            <a:endCxn id="12405" idx="7"/>
          </p:cNvCxnSpPr>
          <p:nvPr/>
        </p:nvCxnSpPr>
        <p:spPr bwMode="auto">
          <a:xfrm flipH="1">
            <a:off x="2082800" y="2692400"/>
            <a:ext cx="288925" cy="3651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2401" name="AutoShape 113"/>
          <p:cNvCxnSpPr>
            <a:cxnSpLocks noChangeShapeType="1"/>
            <a:endCxn id="12428" idx="7"/>
          </p:cNvCxnSpPr>
          <p:nvPr/>
        </p:nvCxnSpPr>
        <p:spPr bwMode="auto">
          <a:xfrm flipH="1">
            <a:off x="3606800" y="2759075"/>
            <a:ext cx="304800" cy="37465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2402" name="AutoShape 114"/>
          <p:cNvCxnSpPr>
            <a:cxnSpLocks noChangeShapeType="1"/>
            <a:stCxn id="12417" idx="3"/>
            <a:endCxn id="12425" idx="7"/>
          </p:cNvCxnSpPr>
          <p:nvPr/>
        </p:nvCxnSpPr>
        <p:spPr bwMode="auto">
          <a:xfrm flipH="1">
            <a:off x="5588000" y="2006600"/>
            <a:ext cx="517525" cy="5175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2403" name="AutoShape 115"/>
          <p:cNvCxnSpPr>
            <a:cxnSpLocks noChangeShapeType="1"/>
            <a:stCxn id="12419" idx="3"/>
            <a:endCxn id="12422" idx="7"/>
          </p:cNvCxnSpPr>
          <p:nvPr/>
        </p:nvCxnSpPr>
        <p:spPr bwMode="auto">
          <a:xfrm flipH="1">
            <a:off x="6461125" y="2768600"/>
            <a:ext cx="330200" cy="4413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nvGrpSpPr>
          <p:cNvPr id="12439" name="Group 151"/>
          <p:cNvGrpSpPr>
            <a:grpSpLocks/>
          </p:cNvGrpSpPr>
          <p:nvPr/>
        </p:nvGrpSpPr>
        <p:grpSpPr bwMode="auto">
          <a:xfrm>
            <a:off x="1330325" y="2967038"/>
            <a:ext cx="803275" cy="385762"/>
            <a:chOff x="838" y="1869"/>
            <a:chExt cx="506" cy="243"/>
          </a:xfrm>
        </p:grpSpPr>
        <p:sp>
          <p:nvSpPr>
            <p:cNvPr id="12405" name="Oval 117"/>
            <p:cNvSpPr>
              <a:spLocks noChangeArrowheads="1"/>
            </p:cNvSpPr>
            <p:nvPr/>
          </p:nvSpPr>
          <p:spPr bwMode="auto">
            <a:xfrm>
              <a:off x="1126" y="1894"/>
              <a:ext cx="218" cy="218"/>
            </a:xfrm>
            <a:prstGeom prst="ellipse">
              <a:avLst/>
            </a:prstGeom>
            <a:solidFill>
              <a:srgbClr val="FF00FF">
                <a:alpha val="53999"/>
              </a:srgbClr>
            </a:solidFill>
            <a:ln w="9525">
              <a:solidFill>
                <a:schemeClr val="tx1"/>
              </a:solidFill>
              <a:round/>
              <a:headEnd/>
              <a:tailEnd/>
            </a:ln>
          </p:spPr>
          <p:txBody>
            <a:bodyPr wrap="none" anchor="ctr"/>
            <a:lstStyle/>
            <a:p>
              <a:pPr algn="ctr"/>
              <a:r>
                <a:rPr lang="en-US" altLang="en-US" sz="1600" b="0" i="0"/>
                <a:t>3</a:t>
              </a:r>
            </a:p>
          </p:txBody>
        </p:sp>
        <p:sp>
          <p:nvSpPr>
            <p:cNvPr id="12406" name="Text Box 118"/>
            <p:cNvSpPr txBox="1">
              <a:spLocks noChangeArrowheads="1"/>
            </p:cNvSpPr>
            <p:nvPr/>
          </p:nvSpPr>
          <p:spPr bwMode="auto">
            <a:xfrm>
              <a:off x="838" y="1869"/>
              <a:ext cx="288"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grpSp>
        <p:nvGrpSpPr>
          <p:cNvPr id="12407" name="Group 119"/>
          <p:cNvGrpSpPr>
            <a:grpSpLocks/>
          </p:cNvGrpSpPr>
          <p:nvPr/>
        </p:nvGrpSpPr>
        <p:grpSpPr bwMode="auto">
          <a:xfrm>
            <a:off x="1939925" y="2357438"/>
            <a:ext cx="727075" cy="385762"/>
            <a:chOff x="1104" y="1392"/>
            <a:chExt cx="458" cy="243"/>
          </a:xfrm>
        </p:grpSpPr>
        <p:sp>
          <p:nvSpPr>
            <p:cNvPr id="12408" name="Oval 120"/>
            <p:cNvSpPr>
              <a:spLocks noChangeArrowheads="1"/>
            </p:cNvSpPr>
            <p:nvPr/>
          </p:nvSpPr>
          <p:spPr bwMode="auto">
            <a:xfrm>
              <a:off x="1344" y="1417"/>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25</a:t>
              </a:r>
            </a:p>
          </p:txBody>
        </p:sp>
        <p:sp>
          <p:nvSpPr>
            <p:cNvPr id="12409" name="Text Box 121"/>
            <p:cNvSpPr txBox="1">
              <a:spLocks noChangeArrowheads="1"/>
            </p:cNvSpPr>
            <p:nvPr/>
          </p:nvSpPr>
          <p:spPr bwMode="auto">
            <a:xfrm>
              <a:off x="1104" y="1392"/>
              <a:ext cx="240"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solidFill>
                    <a:srgbClr val="FF0000"/>
                  </a:solidFill>
                </a:rPr>
                <a:t>-2</a:t>
              </a:r>
              <a:endParaRPr lang="en-US" altLang="en-US" sz="1400" b="0" i="0"/>
            </a:p>
          </p:txBody>
        </p:sp>
      </p:grpSp>
      <p:grpSp>
        <p:nvGrpSpPr>
          <p:cNvPr id="12410" name="Group 122"/>
          <p:cNvGrpSpPr>
            <a:grpSpLocks/>
          </p:cNvGrpSpPr>
          <p:nvPr/>
        </p:nvGrpSpPr>
        <p:grpSpPr bwMode="auto">
          <a:xfrm>
            <a:off x="2168525" y="1671638"/>
            <a:ext cx="1184275" cy="385762"/>
            <a:chOff x="1248" y="960"/>
            <a:chExt cx="746" cy="243"/>
          </a:xfrm>
        </p:grpSpPr>
        <p:sp>
          <p:nvSpPr>
            <p:cNvPr id="12411" name="Oval 123"/>
            <p:cNvSpPr>
              <a:spLocks noChangeArrowheads="1"/>
            </p:cNvSpPr>
            <p:nvPr/>
          </p:nvSpPr>
          <p:spPr bwMode="auto">
            <a:xfrm>
              <a:off x="1776" y="985"/>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26</a:t>
              </a:r>
            </a:p>
          </p:txBody>
        </p:sp>
        <p:sp>
          <p:nvSpPr>
            <p:cNvPr id="12412" name="Text Box 124"/>
            <p:cNvSpPr txBox="1">
              <a:spLocks noChangeArrowheads="1"/>
            </p:cNvSpPr>
            <p:nvPr/>
          </p:nvSpPr>
          <p:spPr bwMode="auto">
            <a:xfrm>
              <a:off x="1248" y="960"/>
              <a:ext cx="528"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grpSp>
        <p:nvGrpSpPr>
          <p:cNvPr id="12413" name="Group 125"/>
          <p:cNvGrpSpPr>
            <a:grpSpLocks/>
          </p:cNvGrpSpPr>
          <p:nvPr/>
        </p:nvGrpSpPr>
        <p:grpSpPr bwMode="auto">
          <a:xfrm>
            <a:off x="3463925" y="1062038"/>
            <a:ext cx="1412875" cy="385762"/>
            <a:chOff x="2064" y="576"/>
            <a:chExt cx="890" cy="243"/>
          </a:xfrm>
        </p:grpSpPr>
        <p:sp>
          <p:nvSpPr>
            <p:cNvPr id="12414" name="Oval 126"/>
            <p:cNvSpPr>
              <a:spLocks noChangeArrowheads="1"/>
            </p:cNvSpPr>
            <p:nvPr/>
          </p:nvSpPr>
          <p:spPr bwMode="auto">
            <a:xfrm>
              <a:off x="2736" y="6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57</a:t>
              </a:r>
            </a:p>
          </p:txBody>
        </p:sp>
        <p:sp>
          <p:nvSpPr>
            <p:cNvPr id="12415" name="Text Box 127"/>
            <p:cNvSpPr txBox="1">
              <a:spLocks noChangeArrowheads="1"/>
            </p:cNvSpPr>
            <p:nvPr/>
          </p:nvSpPr>
          <p:spPr bwMode="auto">
            <a:xfrm>
              <a:off x="2064" y="576"/>
              <a:ext cx="67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grpSp>
        <p:nvGrpSpPr>
          <p:cNvPr id="12416" name="Group 128"/>
          <p:cNvGrpSpPr>
            <a:grpSpLocks/>
          </p:cNvGrpSpPr>
          <p:nvPr/>
        </p:nvGrpSpPr>
        <p:grpSpPr bwMode="auto">
          <a:xfrm>
            <a:off x="5445125" y="1671638"/>
            <a:ext cx="955675" cy="385762"/>
            <a:chOff x="3312" y="960"/>
            <a:chExt cx="602" cy="243"/>
          </a:xfrm>
        </p:grpSpPr>
        <p:sp>
          <p:nvSpPr>
            <p:cNvPr id="12417" name="Oval 129"/>
            <p:cNvSpPr>
              <a:spLocks noChangeArrowheads="1"/>
            </p:cNvSpPr>
            <p:nvPr/>
          </p:nvSpPr>
          <p:spPr bwMode="auto">
            <a:xfrm>
              <a:off x="3696" y="985"/>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72</a:t>
              </a:r>
            </a:p>
          </p:txBody>
        </p:sp>
        <p:sp>
          <p:nvSpPr>
            <p:cNvPr id="12418" name="Text Box 130"/>
            <p:cNvSpPr txBox="1">
              <a:spLocks noChangeArrowheads="1"/>
            </p:cNvSpPr>
            <p:nvPr/>
          </p:nvSpPr>
          <p:spPr bwMode="auto">
            <a:xfrm>
              <a:off x="3312" y="960"/>
              <a:ext cx="38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sp>
        <p:nvSpPr>
          <p:cNvPr id="12419" name="Oval 131"/>
          <p:cNvSpPr>
            <a:spLocks noChangeArrowheads="1"/>
          </p:cNvSpPr>
          <p:nvPr/>
        </p:nvSpPr>
        <p:spPr bwMode="auto">
          <a:xfrm>
            <a:off x="6740525" y="2473325"/>
            <a:ext cx="346075" cy="346075"/>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94</a:t>
            </a:r>
          </a:p>
        </p:txBody>
      </p:sp>
      <p:sp>
        <p:nvSpPr>
          <p:cNvPr id="12420" name="Text Box 132"/>
          <p:cNvSpPr txBox="1">
            <a:spLocks noChangeArrowheads="1"/>
          </p:cNvSpPr>
          <p:nvPr/>
        </p:nvSpPr>
        <p:spPr bwMode="auto">
          <a:xfrm>
            <a:off x="6207125" y="2433638"/>
            <a:ext cx="533400" cy="30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nvGrpSpPr>
          <p:cNvPr id="12421" name="Group 133"/>
          <p:cNvGrpSpPr>
            <a:grpSpLocks/>
          </p:cNvGrpSpPr>
          <p:nvPr/>
        </p:nvGrpSpPr>
        <p:grpSpPr bwMode="auto">
          <a:xfrm>
            <a:off x="5937250" y="3119438"/>
            <a:ext cx="574675" cy="385762"/>
            <a:chOff x="864" y="1776"/>
            <a:chExt cx="362" cy="243"/>
          </a:xfrm>
        </p:grpSpPr>
        <p:sp>
          <p:nvSpPr>
            <p:cNvPr id="12422" name="Oval 134"/>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78</a:t>
              </a:r>
            </a:p>
          </p:txBody>
        </p:sp>
        <p:sp>
          <p:nvSpPr>
            <p:cNvPr id="12423" name="Text Box 135"/>
            <p:cNvSpPr txBox="1">
              <a:spLocks noChangeArrowheads="1"/>
            </p:cNvSpPr>
            <p:nvPr/>
          </p:nvSpPr>
          <p:spPr bwMode="auto">
            <a:xfrm>
              <a:off x="864" y="1776"/>
              <a:ext cx="14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sz="1400" b="0" i="0"/>
                <a:t>0</a:t>
              </a:r>
            </a:p>
          </p:txBody>
        </p:sp>
      </p:grpSp>
      <p:grpSp>
        <p:nvGrpSpPr>
          <p:cNvPr id="12424" name="Group 136"/>
          <p:cNvGrpSpPr>
            <a:grpSpLocks/>
          </p:cNvGrpSpPr>
          <p:nvPr/>
        </p:nvGrpSpPr>
        <p:grpSpPr bwMode="auto">
          <a:xfrm>
            <a:off x="5064125" y="2433638"/>
            <a:ext cx="574675" cy="385762"/>
            <a:chOff x="864" y="1776"/>
            <a:chExt cx="362" cy="243"/>
          </a:xfrm>
        </p:grpSpPr>
        <p:sp>
          <p:nvSpPr>
            <p:cNvPr id="12425" name="Oval 137"/>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63</a:t>
              </a:r>
            </a:p>
          </p:txBody>
        </p:sp>
        <p:sp>
          <p:nvSpPr>
            <p:cNvPr id="12426" name="Text Box 138"/>
            <p:cNvSpPr txBox="1">
              <a:spLocks noChangeArrowheads="1"/>
            </p:cNvSpPr>
            <p:nvPr/>
          </p:nvSpPr>
          <p:spPr bwMode="auto">
            <a:xfrm>
              <a:off x="864" y="1776"/>
              <a:ext cx="14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sz="1400" b="0" i="0"/>
                <a:t>0</a:t>
              </a:r>
            </a:p>
          </p:txBody>
        </p:sp>
      </p:grpSp>
      <p:grpSp>
        <p:nvGrpSpPr>
          <p:cNvPr id="12427" name="Group 139"/>
          <p:cNvGrpSpPr>
            <a:grpSpLocks/>
          </p:cNvGrpSpPr>
          <p:nvPr/>
        </p:nvGrpSpPr>
        <p:grpSpPr bwMode="auto">
          <a:xfrm>
            <a:off x="3082925" y="3043238"/>
            <a:ext cx="574675" cy="385762"/>
            <a:chOff x="864" y="1776"/>
            <a:chExt cx="362" cy="243"/>
          </a:xfrm>
        </p:grpSpPr>
        <p:sp>
          <p:nvSpPr>
            <p:cNvPr id="12428" name="Oval 140"/>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37</a:t>
              </a:r>
            </a:p>
          </p:txBody>
        </p:sp>
        <p:sp>
          <p:nvSpPr>
            <p:cNvPr id="12429" name="Text Box 141"/>
            <p:cNvSpPr txBox="1">
              <a:spLocks noChangeArrowheads="1"/>
            </p:cNvSpPr>
            <p:nvPr/>
          </p:nvSpPr>
          <p:spPr bwMode="auto">
            <a:xfrm>
              <a:off x="864" y="1776"/>
              <a:ext cx="14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sz="1400" b="0" i="0"/>
                <a:t>0</a:t>
              </a:r>
            </a:p>
          </p:txBody>
        </p:sp>
      </p:grpSp>
      <p:grpSp>
        <p:nvGrpSpPr>
          <p:cNvPr id="12430" name="Group 142"/>
          <p:cNvGrpSpPr>
            <a:grpSpLocks/>
          </p:cNvGrpSpPr>
          <p:nvPr/>
        </p:nvGrpSpPr>
        <p:grpSpPr bwMode="auto">
          <a:xfrm>
            <a:off x="4149725" y="3119438"/>
            <a:ext cx="574675" cy="385762"/>
            <a:chOff x="864" y="1776"/>
            <a:chExt cx="362" cy="243"/>
          </a:xfrm>
        </p:grpSpPr>
        <p:sp>
          <p:nvSpPr>
            <p:cNvPr id="12431" name="Oval 143"/>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47</a:t>
              </a:r>
            </a:p>
          </p:txBody>
        </p:sp>
        <p:sp>
          <p:nvSpPr>
            <p:cNvPr id="12432" name="Text Box 144"/>
            <p:cNvSpPr txBox="1">
              <a:spLocks noChangeArrowheads="1"/>
            </p:cNvSpPr>
            <p:nvPr/>
          </p:nvSpPr>
          <p:spPr bwMode="auto">
            <a:xfrm>
              <a:off x="864" y="1776"/>
              <a:ext cx="14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sz="1400" b="0" i="0"/>
                <a:t>0</a:t>
              </a:r>
            </a:p>
          </p:txBody>
        </p:sp>
      </p:grpSp>
      <p:grpSp>
        <p:nvGrpSpPr>
          <p:cNvPr id="12433" name="Group 145"/>
          <p:cNvGrpSpPr>
            <a:grpSpLocks/>
          </p:cNvGrpSpPr>
          <p:nvPr/>
        </p:nvGrpSpPr>
        <p:grpSpPr bwMode="auto">
          <a:xfrm>
            <a:off x="3616325" y="2433638"/>
            <a:ext cx="574675" cy="385762"/>
            <a:chOff x="864" y="1776"/>
            <a:chExt cx="362" cy="243"/>
          </a:xfrm>
        </p:grpSpPr>
        <p:sp>
          <p:nvSpPr>
            <p:cNvPr id="12434" name="Oval 146"/>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38</a:t>
              </a:r>
            </a:p>
          </p:txBody>
        </p:sp>
        <p:sp>
          <p:nvSpPr>
            <p:cNvPr id="12435" name="Text Box 147"/>
            <p:cNvSpPr txBox="1">
              <a:spLocks noChangeArrowheads="1"/>
            </p:cNvSpPr>
            <p:nvPr/>
          </p:nvSpPr>
          <p:spPr bwMode="auto">
            <a:xfrm>
              <a:off x="864" y="1776"/>
              <a:ext cx="14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sz="1400" b="0" i="0"/>
                <a:t>0</a:t>
              </a:r>
            </a:p>
          </p:txBody>
        </p:sp>
      </p:grpSp>
      <p:grpSp>
        <p:nvGrpSpPr>
          <p:cNvPr id="12440" name="Group 152"/>
          <p:cNvGrpSpPr>
            <a:grpSpLocks/>
          </p:cNvGrpSpPr>
          <p:nvPr/>
        </p:nvGrpSpPr>
        <p:grpSpPr bwMode="auto">
          <a:xfrm>
            <a:off x="755650" y="3652838"/>
            <a:ext cx="803275" cy="385762"/>
            <a:chOff x="476" y="2301"/>
            <a:chExt cx="506" cy="243"/>
          </a:xfrm>
        </p:grpSpPr>
        <p:sp>
          <p:nvSpPr>
            <p:cNvPr id="12437" name="Oval 149"/>
            <p:cNvSpPr>
              <a:spLocks noChangeArrowheads="1"/>
            </p:cNvSpPr>
            <p:nvPr/>
          </p:nvSpPr>
          <p:spPr bwMode="auto">
            <a:xfrm>
              <a:off x="764" y="2326"/>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1</a:t>
              </a:r>
            </a:p>
          </p:txBody>
        </p:sp>
        <p:sp>
          <p:nvSpPr>
            <p:cNvPr id="12438" name="Text Box 150"/>
            <p:cNvSpPr txBox="1">
              <a:spLocks noChangeArrowheads="1"/>
            </p:cNvSpPr>
            <p:nvPr/>
          </p:nvSpPr>
          <p:spPr bwMode="auto">
            <a:xfrm>
              <a:off x="476" y="2301"/>
              <a:ext cx="288"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spTree>
    <p:extLst>
      <p:ext uri="{BB962C8B-B14F-4D97-AF65-F5344CB8AC3E}">
        <p14:creationId xmlns:p14="http://schemas.microsoft.com/office/powerpoint/2010/main" val="90303801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ext Box 3"/>
          <p:cNvSpPr txBox="1">
            <a:spLocks noChangeArrowheads="1"/>
          </p:cNvSpPr>
          <p:nvPr/>
        </p:nvSpPr>
        <p:spPr bwMode="auto">
          <a:xfrm>
            <a:off x="76200" y="76200"/>
            <a:ext cx="9067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b="0" i="0"/>
              <a:t>Rebalance and recalculate balance factors</a:t>
            </a:r>
          </a:p>
        </p:txBody>
      </p:sp>
      <p:sp>
        <p:nvSpPr>
          <p:cNvPr id="14340" name="Text Box 4"/>
          <p:cNvSpPr txBox="1">
            <a:spLocks noChangeArrowheads="1"/>
          </p:cNvSpPr>
          <p:nvPr/>
        </p:nvSpPr>
        <p:spPr bwMode="auto">
          <a:xfrm>
            <a:off x="0" y="6324600"/>
            <a:ext cx="9067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b="0" i="0"/>
              <a:t>Next step: insert 30 --&gt;  </a:t>
            </a:r>
          </a:p>
        </p:txBody>
      </p:sp>
      <p:sp>
        <p:nvSpPr>
          <p:cNvPr id="14364" name="Text Box 28"/>
          <p:cNvSpPr txBox="1">
            <a:spLocks noChangeArrowheads="1"/>
          </p:cNvSpPr>
          <p:nvPr/>
        </p:nvSpPr>
        <p:spPr bwMode="auto">
          <a:xfrm>
            <a:off x="6705600" y="0"/>
            <a:ext cx="24384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2000" b="0" i="0">
                <a:solidFill>
                  <a:srgbClr val="134A8B"/>
                </a:solidFill>
              </a:rPr>
              <a:t>Balance ok</a:t>
            </a:r>
            <a:endParaRPr lang="en-US" altLang="en-US" sz="2000" b="0" i="0">
              <a:solidFill>
                <a:srgbClr val="FF0000"/>
              </a:solidFill>
            </a:endParaRPr>
          </a:p>
        </p:txBody>
      </p:sp>
      <p:grpSp>
        <p:nvGrpSpPr>
          <p:cNvPr id="14420" name="Group 84"/>
          <p:cNvGrpSpPr>
            <a:grpSpLocks/>
          </p:cNvGrpSpPr>
          <p:nvPr/>
        </p:nvGrpSpPr>
        <p:grpSpPr bwMode="auto">
          <a:xfrm>
            <a:off x="1219200" y="990600"/>
            <a:ext cx="6102350" cy="2443163"/>
            <a:chOff x="768" y="624"/>
            <a:chExt cx="3844" cy="1539"/>
          </a:xfrm>
        </p:grpSpPr>
        <p:cxnSp>
          <p:nvCxnSpPr>
            <p:cNvPr id="14371" name="AutoShape 35"/>
            <p:cNvCxnSpPr>
              <a:cxnSpLocks noChangeShapeType="1"/>
              <a:stCxn id="14383" idx="3"/>
              <a:endCxn id="14415" idx="7"/>
            </p:cNvCxnSpPr>
            <p:nvPr/>
          </p:nvCxnSpPr>
          <p:spPr bwMode="auto">
            <a:xfrm flipH="1">
              <a:off x="1242" y="1696"/>
              <a:ext cx="182" cy="233"/>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4372" name="AutoShape 36"/>
            <p:cNvCxnSpPr>
              <a:cxnSpLocks noChangeShapeType="1"/>
              <a:stCxn id="14392" idx="3"/>
              <a:endCxn id="14389" idx="7"/>
            </p:cNvCxnSpPr>
            <p:nvPr/>
          </p:nvCxnSpPr>
          <p:spPr bwMode="auto">
            <a:xfrm flipH="1">
              <a:off x="2128" y="835"/>
              <a:ext cx="906" cy="23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4373" name="AutoShape 37"/>
            <p:cNvCxnSpPr>
              <a:cxnSpLocks noChangeShapeType="1"/>
              <a:stCxn id="14392" idx="5"/>
              <a:endCxn id="14395" idx="1"/>
            </p:cNvCxnSpPr>
            <p:nvPr/>
          </p:nvCxnSpPr>
          <p:spPr bwMode="auto">
            <a:xfrm>
              <a:off x="3188" y="835"/>
              <a:ext cx="806" cy="23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4374" name="AutoShape 38"/>
            <p:cNvCxnSpPr>
              <a:cxnSpLocks noChangeShapeType="1"/>
              <a:stCxn id="14395" idx="5"/>
              <a:endCxn id="14397" idx="1"/>
            </p:cNvCxnSpPr>
            <p:nvPr/>
          </p:nvCxnSpPr>
          <p:spPr bwMode="auto">
            <a:xfrm>
              <a:off x="4148" y="1219"/>
              <a:ext cx="278" cy="32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4375" name="AutoShape 39"/>
            <p:cNvCxnSpPr>
              <a:cxnSpLocks noChangeShapeType="1"/>
              <a:stCxn id="14389" idx="5"/>
              <a:endCxn id="14412" idx="1"/>
            </p:cNvCxnSpPr>
            <p:nvPr/>
          </p:nvCxnSpPr>
          <p:spPr bwMode="auto">
            <a:xfrm>
              <a:off x="2128" y="1219"/>
              <a:ext cx="474" cy="32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4376" name="AutoShape 40"/>
            <p:cNvCxnSpPr>
              <a:cxnSpLocks noChangeShapeType="1"/>
              <a:stCxn id="14412" idx="5"/>
              <a:endCxn id="14409" idx="1"/>
            </p:cNvCxnSpPr>
            <p:nvPr/>
          </p:nvCxnSpPr>
          <p:spPr bwMode="auto">
            <a:xfrm>
              <a:off x="2756" y="1699"/>
              <a:ext cx="182" cy="278"/>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4377" name="AutoShape 41"/>
            <p:cNvCxnSpPr>
              <a:cxnSpLocks noChangeShapeType="1"/>
              <a:stCxn id="14389" idx="3"/>
              <a:endCxn id="14383" idx="7"/>
            </p:cNvCxnSpPr>
            <p:nvPr/>
          </p:nvCxnSpPr>
          <p:spPr bwMode="auto">
            <a:xfrm flipH="1">
              <a:off x="1578" y="1219"/>
              <a:ext cx="396" cy="323"/>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4378" name="AutoShape 42"/>
            <p:cNvCxnSpPr>
              <a:cxnSpLocks noChangeShapeType="1"/>
              <a:stCxn id="14386" idx="1"/>
              <a:endCxn id="14383" idx="5"/>
            </p:cNvCxnSpPr>
            <p:nvPr/>
          </p:nvCxnSpPr>
          <p:spPr bwMode="auto">
            <a:xfrm flipH="1" flipV="1">
              <a:off x="1578" y="1696"/>
              <a:ext cx="230" cy="233"/>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4379" name="AutoShape 43"/>
            <p:cNvCxnSpPr>
              <a:cxnSpLocks noChangeShapeType="1"/>
              <a:endCxn id="14406" idx="7"/>
            </p:cNvCxnSpPr>
            <p:nvPr/>
          </p:nvCxnSpPr>
          <p:spPr bwMode="auto">
            <a:xfrm flipH="1">
              <a:off x="2420" y="1693"/>
              <a:ext cx="192" cy="23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4380" name="AutoShape 44"/>
            <p:cNvCxnSpPr>
              <a:cxnSpLocks noChangeShapeType="1"/>
              <a:stCxn id="14395" idx="3"/>
              <a:endCxn id="14403" idx="7"/>
            </p:cNvCxnSpPr>
            <p:nvPr/>
          </p:nvCxnSpPr>
          <p:spPr bwMode="auto">
            <a:xfrm flipH="1">
              <a:off x="3668" y="1219"/>
              <a:ext cx="326" cy="32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4381" name="AutoShape 45"/>
            <p:cNvCxnSpPr>
              <a:cxnSpLocks noChangeShapeType="1"/>
              <a:stCxn id="14397" idx="3"/>
              <a:endCxn id="14400" idx="7"/>
            </p:cNvCxnSpPr>
            <p:nvPr/>
          </p:nvCxnSpPr>
          <p:spPr bwMode="auto">
            <a:xfrm flipH="1">
              <a:off x="4218" y="1699"/>
              <a:ext cx="208" cy="278"/>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nvGrpSpPr>
            <p:cNvPr id="14419" name="Group 83"/>
            <p:cNvGrpSpPr>
              <a:grpSpLocks/>
            </p:cNvGrpSpPr>
            <p:nvPr/>
          </p:nvGrpSpPr>
          <p:grpSpPr bwMode="auto">
            <a:xfrm>
              <a:off x="1104" y="1485"/>
              <a:ext cx="506" cy="243"/>
              <a:chOff x="1104" y="1485"/>
              <a:chExt cx="506" cy="243"/>
            </a:xfrm>
          </p:grpSpPr>
          <p:sp>
            <p:nvSpPr>
              <p:cNvPr id="14383" name="Oval 47"/>
              <p:cNvSpPr>
                <a:spLocks noChangeArrowheads="1"/>
              </p:cNvSpPr>
              <p:nvPr/>
            </p:nvSpPr>
            <p:spPr bwMode="auto">
              <a:xfrm>
                <a:off x="1392" y="1510"/>
                <a:ext cx="218" cy="218"/>
              </a:xfrm>
              <a:prstGeom prst="ellipse">
                <a:avLst/>
              </a:prstGeom>
              <a:solidFill>
                <a:srgbClr val="FF00FF">
                  <a:alpha val="53999"/>
                </a:srgbClr>
              </a:solidFill>
              <a:ln w="9525">
                <a:solidFill>
                  <a:schemeClr val="tx1"/>
                </a:solidFill>
                <a:round/>
                <a:headEnd/>
                <a:tailEnd/>
              </a:ln>
            </p:spPr>
            <p:txBody>
              <a:bodyPr wrap="none" anchor="ctr"/>
              <a:lstStyle/>
              <a:p>
                <a:pPr algn="ctr"/>
                <a:r>
                  <a:rPr lang="en-US" altLang="en-US" sz="1600" b="0" i="0"/>
                  <a:t>3</a:t>
                </a:r>
              </a:p>
            </p:txBody>
          </p:sp>
          <p:sp>
            <p:nvSpPr>
              <p:cNvPr id="14384" name="Text Box 48"/>
              <p:cNvSpPr txBox="1">
                <a:spLocks noChangeArrowheads="1"/>
              </p:cNvSpPr>
              <p:nvPr/>
            </p:nvSpPr>
            <p:spPr bwMode="auto">
              <a:xfrm>
                <a:off x="1104" y="1485"/>
                <a:ext cx="288"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grpSp>
          <p:nvGrpSpPr>
            <p:cNvPr id="14385" name="Group 49"/>
            <p:cNvGrpSpPr>
              <a:grpSpLocks/>
            </p:cNvGrpSpPr>
            <p:nvPr/>
          </p:nvGrpSpPr>
          <p:grpSpPr bwMode="auto">
            <a:xfrm>
              <a:off x="1536" y="1872"/>
              <a:ext cx="458" cy="243"/>
              <a:chOff x="1104" y="1392"/>
              <a:chExt cx="458" cy="243"/>
            </a:xfrm>
          </p:grpSpPr>
          <p:sp>
            <p:nvSpPr>
              <p:cNvPr id="14386" name="Oval 50"/>
              <p:cNvSpPr>
                <a:spLocks noChangeArrowheads="1"/>
              </p:cNvSpPr>
              <p:nvPr/>
            </p:nvSpPr>
            <p:spPr bwMode="auto">
              <a:xfrm>
                <a:off x="1344" y="1417"/>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25</a:t>
                </a:r>
              </a:p>
            </p:txBody>
          </p:sp>
          <p:sp>
            <p:nvSpPr>
              <p:cNvPr id="14387" name="Text Box 51"/>
              <p:cNvSpPr txBox="1">
                <a:spLocks noChangeArrowheads="1"/>
              </p:cNvSpPr>
              <p:nvPr/>
            </p:nvSpPr>
            <p:spPr bwMode="auto">
              <a:xfrm>
                <a:off x="1104" y="1392"/>
                <a:ext cx="240"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grpSp>
          <p:nvGrpSpPr>
            <p:cNvPr id="14388" name="Group 52"/>
            <p:cNvGrpSpPr>
              <a:grpSpLocks/>
            </p:cNvGrpSpPr>
            <p:nvPr/>
          </p:nvGrpSpPr>
          <p:grpSpPr bwMode="auto">
            <a:xfrm>
              <a:off x="1414" y="1008"/>
              <a:ext cx="746" cy="243"/>
              <a:chOff x="1248" y="960"/>
              <a:chExt cx="746" cy="243"/>
            </a:xfrm>
          </p:grpSpPr>
          <p:sp>
            <p:nvSpPr>
              <p:cNvPr id="14389" name="Oval 53"/>
              <p:cNvSpPr>
                <a:spLocks noChangeArrowheads="1"/>
              </p:cNvSpPr>
              <p:nvPr/>
            </p:nvSpPr>
            <p:spPr bwMode="auto">
              <a:xfrm>
                <a:off x="1776" y="985"/>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26</a:t>
                </a:r>
              </a:p>
            </p:txBody>
          </p:sp>
          <p:sp>
            <p:nvSpPr>
              <p:cNvPr id="14390" name="Text Box 54"/>
              <p:cNvSpPr txBox="1">
                <a:spLocks noChangeArrowheads="1"/>
              </p:cNvSpPr>
              <p:nvPr/>
            </p:nvSpPr>
            <p:spPr bwMode="auto">
              <a:xfrm>
                <a:off x="1248" y="960"/>
                <a:ext cx="528"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grpSp>
          <p:nvGrpSpPr>
            <p:cNvPr id="14391" name="Group 55"/>
            <p:cNvGrpSpPr>
              <a:grpSpLocks/>
            </p:cNvGrpSpPr>
            <p:nvPr/>
          </p:nvGrpSpPr>
          <p:grpSpPr bwMode="auto">
            <a:xfrm>
              <a:off x="2330" y="624"/>
              <a:ext cx="890" cy="243"/>
              <a:chOff x="2064" y="576"/>
              <a:chExt cx="890" cy="243"/>
            </a:xfrm>
          </p:grpSpPr>
          <p:sp>
            <p:nvSpPr>
              <p:cNvPr id="14392" name="Oval 56"/>
              <p:cNvSpPr>
                <a:spLocks noChangeArrowheads="1"/>
              </p:cNvSpPr>
              <p:nvPr/>
            </p:nvSpPr>
            <p:spPr bwMode="auto">
              <a:xfrm>
                <a:off x="2736" y="6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57</a:t>
                </a:r>
              </a:p>
            </p:txBody>
          </p:sp>
          <p:sp>
            <p:nvSpPr>
              <p:cNvPr id="14393" name="Text Box 57"/>
              <p:cNvSpPr txBox="1">
                <a:spLocks noChangeArrowheads="1"/>
              </p:cNvSpPr>
              <p:nvPr/>
            </p:nvSpPr>
            <p:spPr bwMode="auto">
              <a:xfrm>
                <a:off x="2064" y="576"/>
                <a:ext cx="67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grpSp>
          <p:nvGrpSpPr>
            <p:cNvPr id="14394" name="Group 58"/>
            <p:cNvGrpSpPr>
              <a:grpSpLocks/>
            </p:cNvGrpSpPr>
            <p:nvPr/>
          </p:nvGrpSpPr>
          <p:grpSpPr bwMode="auto">
            <a:xfrm>
              <a:off x="3578" y="1008"/>
              <a:ext cx="602" cy="243"/>
              <a:chOff x="3312" y="960"/>
              <a:chExt cx="602" cy="243"/>
            </a:xfrm>
          </p:grpSpPr>
          <p:sp>
            <p:nvSpPr>
              <p:cNvPr id="14395" name="Oval 59"/>
              <p:cNvSpPr>
                <a:spLocks noChangeArrowheads="1"/>
              </p:cNvSpPr>
              <p:nvPr/>
            </p:nvSpPr>
            <p:spPr bwMode="auto">
              <a:xfrm>
                <a:off x="3696" y="985"/>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72</a:t>
                </a:r>
              </a:p>
            </p:txBody>
          </p:sp>
          <p:sp>
            <p:nvSpPr>
              <p:cNvPr id="14396" name="Text Box 60"/>
              <p:cNvSpPr txBox="1">
                <a:spLocks noChangeArrowheads="1"/>
              </p:cNvSpPr>
              <p:nvPr/>
            </p:nvSpPr>
            <p:spPr bwMode="auto">
              <a:xfrm>
                <a:off x="3312" y="960"/>
                <a:ext cx="38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sp>
          <p:nvSpPr>
            <p:cNvPr id="14397" name="Oval 61"/>
            <p:cNvSpPr>
              <a:spLocks noChangeArrowheads="1"/>
            </p:cNvSpPr>
            <p:nvPr/>
          </p:nvSpPr>
          <p:spPr bwMode="auto">
            <a:xfrm>
              <a:off x="4394" y="1513"/>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94</a:t>
              </a:r>
            </a:p>
          </p:txBody>
        </p:sp>
        <p:sp>
          <p:nvSpPr>
            <p:cNvPr id="14398" name="Text Box 62"/>
            <p:cNvSpPr txBox="1">
              <a:spLocks noChangeArrowheads="1"/>
            </p:cNvSpPr>
            <p:nvPr/>
          </p:nvSpPr>
          <p:spPr bwMode="auto">
            <a:xfrm>
              <a:off x="4058" y="1488"/>
              <a:ext cx="336"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nvGrpSpPr>
            <p:cNvPr id="14399" name="Group 63"/>
            <p:cNvGrpSpPr>
              <a:grpSpLocks/>
            </p:cNvGrpSpPr>
            <p:nvPr/>
          </p:nvGrpSpPr>
          <p:grpSpPr bwMode="auto">
            <a:xfrm>
              <a:off x="3888" y="1920"/>
              <a:ext cx="362" cy="243"/>
              <a:chOff x="864" y="1776"/>
              <a:chExt cx="362" cy="243"/>
            </a:xfrm>
          </p:grpSpPr>
          <p:sp>
            <p:nvSpPr>
              <p:cNvPr id="14400" name="Oval 64"/>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78</a:t>
                </a:r>
              </a:p>
            </p:txBody>
          </p:sp>
          <p:sp>
            <p:nvSpPr>
              <p:cNvPr id="14401" name="Text Box 65"/>
              <p:cNvSpPr txBox="1">
                <a:spLocks noChangeArrowheads="1"/>
              </p:cNvSpPr>
              <p:nvPr/>
            </p:nvSpPr>
            <p:spPr bwMode="auto">
              <a:xfrm>
                <a:off x="864" y="1776"/>
                <a:ext cx="14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sz="1400" b="0" i="0"/>
                  <a:t>0</a:t>
                </a:r>
              </a:p>
            </p:txBody>
          </p:sp>
        </p:grpSp>
        <p:grpSp>
          <p:nvGrpSpPr>
            <p:cNvPr id="14402" name="Group 66"/>
            <p:cNvGrpSpPr>
              <a:grpSpLocks/>
            </p:cNvGrpSpPr>
            <p:nvPr/>
          </p:nvGrpSpPr>
          <p:grpSpPr bwMode="auto">
            <a:xfrm>
              <a:off x="3338" y="1488"/>
              <a:ext cx="362" cy="243"/>
              <a:chOff x="864" y="1776"/>
              <a:chExt cx="362" cy="243"/>
            </a:xfrm>
          </p:grpSpPr>
          <p:sp>
            <p:nvSpPr>
              <p:cNvPr id="14403" name="Oval 67"/>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63</a:t>
                </a:r>
              </a:p>
            </p:txBody>
          </p:sp>
          <p:sp>
            <p:nvSpPr>
              <p:cNvPr id="14404" name="Text Box 68"/>
              <p:cNvSpPr txBox="1">
                <a:spLocks noChangeArrowheads="1"/>
              </p:cNvSpPr>
              <p:nvPr/>
            </p:nvSpPr>
            <p:spPr bwMode="auto">
              <a:xfrm>
                <a:off x="864" y="1776"/>
                <a:ext cx="14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sz="1400" b="0" i="0"/>
                  <a:t>0</a:t>
                </a:r>
              </a:p>
            </p:txBody>
          </p:sp>
        </p:grpSp>
        <p:grpSp>
          <p:nvGrpSpPr>
            <p:cNvPr id="14405" name="Group 69"/>
            <p:cNvGrpSpPr>
              <a:grpSpLocks/>
            </p:cNvGrpSpPr>
            <p:nvPr/>
          </p:nvGrpSpPr>
          <p:grpSpPr bwMode="auto">
            <a:xfrm>
              <a:off x="2090" y="1872"/>
              <a:ext cx="362" cy="243"/>
              <a:chOff x="864" y="1776"/>
              <a:chExt cx="362" cy="243"/>
            </a:xfrm>
          </p:grpSpPr>
          <p:sp>
            <p:nvSpPr>
              <p:cNvPr id="14406" name="Oval 70"/>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37</a:t>
                </a:r>
              </a:p>
            </p:txBody>
          </p:sp>
          <p:sp>
            <p:nvSpPr>
              <p:cNvPr id="14407" name="Text Box 71"/>
              <p:cNvSpPr txBox="1">
                <a:spLocks noChangeArrowheads="1"/>
              </p:cNvSpPr>
              <p:nvPr/>
            </p:nvSpPr>
            <p:spPr bwMode="auto">
              <a:xfrm>
                <a:off x="864" y="1776"/>
                <a:ext cx="14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sz="1400" b="0" i="0"/>
                  <a:t>0</a:t>
                </a:r>
              </a:p>
            </p:txBody>
          </p:sp>
        </p:grpSp>
        <p:grpSp>
          <p:nvGrpSpPr>
            <p:cNvPr id="14408" name="Group 72"/>
            <p:cNvGrpSpPr>
              <a:grpSpLocks/>
            </p:cNvGrpSpPr>
            <p:nvPr/>
          </p:nvGrpSpPr>
          <p:grpSpPr bwMode="auto">
            <a:xfrm>
              <a:off x="2762" y="1920"/>
              <a:ext cx="362" cy="243"/>
              <a:chOff x="864" y="1776"/>
              <a:chExt cx="362" cy="243"/>
            </a:xfrm>
          </p:grpSpPr>
          <p:sp>
            <p:nvSpPr>
              <p:cNvPr id="14409" name="Oval 73"/>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47</a:t>
                </a:r>
              </a:p>
            </p:txBody>
          </p:sp>
          <p:sp>
            <p:nvSpPr>
              <p:cNvPr id="14410" name="Text Box 74"/>
              <p:cNvSpPr txBox="1">
                <a:spLocks noChangeArrowheads="1"/>
              </p:cNvSpPr>
              <p:nvPr/>
            </p:nvSpPr>
            <p:spPr bwMode="auto">
              <a:xfrm>
                <a:off x="864" y="1776"/>
                <a:ext cx="14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sz="1400" b="0" i="0"/>
                  <a:t>0</a:t>
                </a:r>
              </a:p>
            </p:txBody>
          </p:sp>
        </p:grpSp>
        <p:grpSp>
          <p:nvGrpSpPr>
            <p:cNvPr id="14411" name="Group 75"/>
            <p:cNvGrpSpPr>
              <a:grpSpLocks/>
            </p:cNvGrpSpPr>
            <p:nvPr/>
          </p:nvGrpSpPr>
          <p:grpSpPr bwMode="auto">
            <a:xfrm>
              <a:off x="2426" y="1488"/>
              <a:ext cx="362" cy="243"/>
              <a:chOff x="864" y="1776"/>
              <a:chExt cx="362" cy="243"/>
            </a:xfrm>
          </p:grpSpPr>
          <p:sp>
            <p:nvSpPr>
              <p:cNvPr id="14412" name="Oval 76"/>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38</a:t>
                </a:r>
              </a:p>
            </p:txBody>
          </p:sp>
          <p:sp>
            <p:nvSpPr>
              <p:cNvPr id="14413" name="Text Box 77"/>
              <p:cNvSpPr txBox="1">
                <a:spLocks noChangeArrowheads="1"/>
              </p:cNvSpPr>
              <p:nvPr/>
            </p:nvSpPr>
            <p:spPr bwMode="auto">
              <a:xfrm>
                <a:off x="864" y="1776"/>
                <a:ext cx="14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sz="1400" b="0" i="0"/>
                  <a:t>0</a:t>
                </a:r>
              </a:p>
            </p:txBody>
          </p:sp>
        </p:grpSp>
        <p:grpSp>
          <p:nvGrpSpPr>
            <p:cNvPr id="14417" name="Group 81"/>
            <p:cNvGrpSpPr>
              <a:grpSpLocks/>
            </p:cNvGrpSpPr>
            <p:nvPr/>
          </p:nvGrpSpPr>
          <p:grpSpPr bwMode="auto">
            <a:xfrm>
              <a:off x="768" y="1872"/>
              <a:ext cx="506" cy="243"/>
              <a:chOff x="768" y="1872"/>
              <a:chExt cx="506" cy="243"/>
            </a:xfrm>
          </p:grpSpPr>
          <p:sp>
            <p:nvSpPr>
              <p:cNvPr id="14415" name="Oval 79"/>
              <p:cNvSpPr>
                <a:spLocks noChangeArrowheads="1"/>
              </p:cNvSpPr>
              <p:nvPr/>
            </p:nvSpPr>
            <p:spPr bwMode="auto">
              <a:xfrm>
                <a:off x="1056" y="1897"/>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1</a:t>
                </a:r>
              </a:p>
            </p:txBody>
          </p:sp>
          <p:sp>
            <p:nvSpPr>
              <p:cNvPr id="14416" name="Text Box 80"/>
              <p:cNvSpPr txBox="1">
                <a:spLocks noChangeArrowheads="1"/>
              </p:cNvSpPr>
              <p:nvPr/>
            </p:nvSpPr>
            <p:spPr bwMode="auto">
              <a:xfrm>
                <a:off x="768" y="1872"/>
                <a:ext cx="288"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grpSp>
    </p:spTree>
    <p:extLst>
      <p:ext uri="{BB962C8B-B14F-4D97-AF65-F5344CB8AC3E}">
        <p14:creationId xmlns:p14="http://schemas.microsoft.com/office/powerpoint/2010/main" val="170348039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p:cNvSpPr txBox="1">
            <a:spLocks noChangeArrowheads="1"/>
          </p:cNvSpPr>
          <p:nvPr/>
        </p:nvSpPr>
        <p:spPr bwMode="auto">
          <a:xfrm>
            <a:off x="76200" y="76200"/>
            <a:ext cx="9067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b="0" i="0"/>
              <a:t>Insert 30 and recalculate balance factors</a:t>
            </a:r>
          </a:p>
        </p:txBody>
      </p:sp>
      <p:sp>
        <p:nvSpPr>
          <p:cNvPr id="16387" name="Text Box 3"/>
          <p:cNvSpPr txBox="1">
            <a:spLocks noChangeArrowheads="1"/>
          </p:cNvSpPr>
          <p:nvPr/>
        </p:nvSpPr>
        <p:spPr bwMode="auto">
          <a:xfrm>
            <a:off x="0" y="6324600"/>
            <a:ext cx="9067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b="0" i="0"/>
              <a:t>Next step: Insert 32 --&gt;  </a:t>
            </a:r>
          </a:p>
        </p:txBody>
      </p:sp>
      <p:sp>
        <p:nvSpPr>
          <p:cNvPr id="16411" name="Text Box 27"/>
          <p:cNvSpPr txBox="1">
            <a:spLocks noChangeArrowheads="1"/>
          </p:cNvSpPr>
          <p:nvPr/>
        </p:nvSpPr>
        <p:spPr bwMode="auto">
          <a:xfrm>
            <a:off x="6705600" y="0"/>
            <a:ext cx="24384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2000" b="0" i="0">
                <a:solidFill>
                  <a:srgbClr val="134A8B"/>
                </a:solidFill>
              </a:rPr>
              <a:t>Balance ok</a:t>
            </a:r>
            <a:endParaRPr lang="en-US" altLang="en-US" sz="2000" b="0" i="0">
              <a:solidFill>
                <a:srgbClr val="FF0000"/>
              </a:solidFill>
            </a:endParaRPr>
          </a:p>
        </p:txBody>
      </p:sp>
      <p:cxnSp>
        <p:nvCxnSpPr>
          <p:cNvPr id="16416" name="AutoShape 32"/>
          <p:cNvCxnSpPr>
            <a:cxnSpLocks noChangeShapeType="1"/>
            <a:stCxn id="16428" idx="3"/>
            <a:endCxn id="16460" idx="7"/>
          </p:cNvCxnSpPr>
          <p:nvPr/>
        </p:nvCxnSpPr>
        <p:spPr bwMode="auto">
          <a:xfrm flipH="1">
            <a:off x="1362075" y="3073400"/>
            <a:ext cx="288925" cy="369888"/>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6417" name="AutoShape 33"/>
          <p:cNvCxnSpPr>
            <a:cxnSpLocks noChangeShapeType="1"/>
            <a:stCxn id="16437" idx="3"/>
            <a:endCxn id="16434" idx="7"/>
          </p:cNvCxnSpPr>
          <p:nvPr/>
        </p:nvCxnSpPr>
        <p:spPr bwMode="auto">
          <a:xfrm flipH="1">
            <a:off x="3038475" y="1706563"/>
            <a:ext cx="1701800" cy="3651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6418" name="AutoShape 34"/>
          <p:cNvCxnSpPr>
            <a:cxnSpLocks noChangeShapeType="1"/>
            <a:stCxn id="16437" idx="5"/>
            <a:endCxn id="16440" idx="1"/>
          </p:cNvCxnSpPr>
          <p:nvPr/>
        </p:nvCxnSpPr>
        <p:spPr bwMode="auto">
          <a:xfrm>
            <a:off x="4984750" y="1706563"/>
            <a:ext cx="1279525" cy="3651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6419" name="AutoShape 35"/>
          <p:cNvCxnSpPr>
            <a:cxnSpLocks noChangeShapeType="1"/>
            <a:stCxn id="16440" idx="5"/>
            <a:endCxn id="16442" idx="1"/>
          </p:cNvCxnSpPr>
          <p:nvPr/>
        </p:nvCxnSpPr>
        <p:spPr bwMode="auto">
          <a:xfrm>
            <a:off x="6508750" y="2316163"/>
            <a:ext cx="441325" cy="5175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6420" name="AutoShape 36"/>
          <p:cNvCxnSpPr>
            <a:cxnSpLocks noChangeShapeType="1"/>
            <a:stCxn id="16434" idx="5"/>
            <a:endCxn id="16457" idx="1"/>
          </p:cNvCxnSpPr>
          <p:nvPr/>
        </p:nvCxnSpPr>
        <p:spPr bwMode="auto">
          <a:xfrm>
            <a:off x="3038475" y="2316163"/>
            <a:ext cx="1016000" cy="5175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6421" name="AutoShape 37"/>
          <p:cNvCxnSpPr>
            <a:cxnSpLocks noChangeShapeType="1"/>
            <a:stCxn id="16457" idx="5"/>
            <a:endCxn id="16454" idx="1"/>
          </p:cNvCxnSpPr>
          <p:nvPr/>
        </p:nvCxnSpPr>
        <p:spPr bwMode="auto">
          <a:xfrm>
            <a:off x="4298950" y="3078163"/>
            <a:ext cx="288925" cy="4413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6422" name="AutoShape 38"/>
          <p:cNvCxnSpPr>
            <a:cxnSpLocks noChangeShapeType="1"/>
            <a:stCxn id="16434" idx="3"/>
            <a:endCxn id="16428" idx="7"/>
          </p:cNvCxnSpPr>
          <p:nvPr/>
        </p:nvCxnSpPr>
        <p:spPr bwMode="auto">
          <a:xfrm flipH="1">
            <a:off x="1895475" y="2316163"/>
            <a:ext cx="898525" cy="512762"/>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6423" name="AutoShape 39"/>
          <p:cNvCxnSpPr>
            <a:cxnSpLocks noChangeShapeType="1"/>
            <a:stCxn id="16431" idx="1"/>
            <a:endCxn id="16428" idx="5"/>
          </p:cNvCxnSpPr>
          <p:nvPr/>
        </p:nvCxnSpPr>
        <p:spPr bwMode="auto">
          <a:xfrm flipH="1" flipV="1">
            <a:off x="1895475" y="3073400"/>
            <a:ext cx="365125" cy="369888"/>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6424" name="AutoShape 40"/>
          <p:cNvCxnSpPr>
            <a:cxnSpLocks noChangeShapeType="1"/>
            <a:endCxn id="16451" idx="7"/>
          </p:cNvCxnSpPr>
          <p:nvPr/>
        </p:nvCxnSpPr>
        <p:spPr bwMode="auto">
          <a:xfrm flipH="1">
            <a:off x="3765550" y="3068638"/>
            <a:ext cx="304800" cy="37465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6425" name="AutoShape 41"/>
          <p:cNvCxnSpPr>
            <a:cxnSpLocks noChangeShapeType="1"/>
            <a:stCxn id="16440" idx="3"/>
            <a:endCxn id="16448" idx="7"/>
          </p:cNvCxnSpPr>
          <p:nvPr/>
        </p:nvCxnSpPr>
        <p:spPr bwMode="auto">
          <a:xfrm flipH="1">
            <a:off x="5746750" y="2316163"/>
            <a:ext cx="517525" cy="5175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6426" name="AutoShape 42"/>
          <p:cNvCxnSpPr>
            <a:cxnSpLocks noChangeShapeType="1"/>
            <a:stCxn id="16442" idx="3"/>
            <a:endCxn id="16445" idx="7"/>
          </p:cNvCxnSpPr>
          <p:nvPr/>
        </p:nvCxnSpPr>
        <p:spPr bwMode="auto">
          <a:xfrm flipH="1">
            <a:off x="6619875" y="3078163"/>
            <a:ext cx="330200" cy="4413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nvGrpSpPr>
          <p:cNvPr id="16427" name="Group 43"/>
          <p:cNvGrpSpPr>
            <a:grpSpLocks/>
          </p:cNvGrpSpPr>
          <p:nvPr/>
        </p:nvGrpSpPr>
        <p:grpSpPr bwMode="auto">
          <a:xfrm>
            <a:off x="1143000" y="2738438"/>
            <a:ext cx="803275" cy="385762"/>
            <a:chOff x="720" y="1776"/>
            <a:chExt cx="506" cy="243"/>
          </a:xfrm>
        </p:grpSpPr>
        <p:sp>
          <p:nvSpPr>
            <p:cNvPr id="16428" name="Oval 44"/>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a:t>
              </a:r>
            </a:p>
          </p:txBody>
        </p:sp>
        <p:sp>
          <p:nvSpPr>
            <p:cNvPr id="16429" name="Text Box 45"/>
            <p:cNvSpPr txBox="1">
              <a:spLocks noChangeArrowheads="1"/>
            </p:cNvSpPr>
            <p:nvPr/>
          </p:nvSpPr>
          <p:spPr bwMode="auto">
            <a:xfrm>
              <a:off x="720" y="1776"/>
              <a:ext cx="288"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grpSp>
        <p:nvGrpSpPr>
          <p:cNvPr id="16430" name="Group 46"/>
          <p:cNvGrpSpPr>
            <a:grpSpLocks/>
          </p:cNvGrpSpPr>
          <p:nvPr/>
        </p:nvGrpSpPr>
        <p:grpSpPr bwMode="auto">
          <a:xfrm>
            <a:off x="1828800" y="3352800"/>
            <a:ext cx="727075" cy="385763"/>
            <a:chOff x="1104" y="1392"/>
            <a:chExt cx="458" cy="243"/>
          </a:xfrm>
        </p:grpSpPr>
        <p:sp>
          <p:nvSpPr>
            <p:cNvPr id="16431" name="Oval 47"/>
            <p:cNvSpPr>
              <a:spLocks noChangeArrowheads="1"/>
            </p:cNvSpPr>
            <p:nvPr/>
          </p:nvSpPr>
          <p:spPr bwMode="auto">
            <a:xfrm>
              <a:off x="1344" y="1417"/>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25</a:t>
              </a:r>
            </a:p>
          </p:txBody>
        </p:sp>
        <p:sp>
          <p:nvSpPr>
            <p:cNvPr id="16432" name="Text Box 48"/>
            <p:cNvSpPr txBox="1">
              <a:spLocks noChangeArrowheads="1"/>
            </p:cNvSpPr>
            <p:nvPr/>
          </p:nvSpPr>
          <p:spPr bwMode="auto">
            <a:xfrm>
              <a:off x="1104" y="1392"/>
              <a:ext cx="240"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grpSp>
        <p:nvGrpSpPr>
          <p:cNvPr id="16433" name="Group 49"/>
          <p:cNvGrpSpPr>
            <a:grpSpLocks/>
          </p:cNvGrpSpPr>
          <p:nvPr/>
        </p:nvGrpSpPr>
        <p:grpSpPr bwMode="auto">
          <a:xfrm>
            <a:off x="1905000" y="1981200"/>
            <a:ext cx="1184275" cy="385763"/>
            <a:chOff x="1248" y="960"/>
            <a:chExt cx="746" cy="243"/>
          </a:xfrm>
        </p:grpSpPr>
        <p:sp>
          <p:nvSpPr>
            <p:cNvPr id="16434" name="Oval 50"/>
            <p:cNvSpPr>
              <a:spLocks noChangeArrowheads="1"/>
            </p:cNvSpPr>
            <p:nvPr/>
          </p:nvSpPr>
          <p:spPr bwMode="auto">
            <a:xfrm>
              <a:off x="1776" y="985"/>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26</a:t>
              </a:r>
            </a:p>
          </p:txBody>
        </p:sp>
        <p:sp>
          <p:nvSpPr>
            <p:cNvPr id="16435" name="Text Box 51"/>
            <p:cNvSpPr txBox="1">
              <a:spLocks noChangeArrowheads="1"/>
            </p:cNvSpPr>
            <p:nvPr/>
          </p:nvSpPr>
          <p:spPr bwMode="auto">
            <a:xfrm>
              <a:off x="1248" y="960"/>
              <a:ext cx="528"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grpSp>
        <p:nvGrpSpPr>
          <p:cNvPr id="16436" name="Group 52"/>
          <p:cNvGrpSpPr>
            <a:grpSpLocks/>
          </p:cNvGrpSpPr>
          <p:nvPr/>
        </p:nvGrpSpPr>
        <p:grpSpPr bwMode="auto">
          <a:xfrm>
            <a:off x="3622675" y="1371600"/>
            <a:ext cx="1412875" cy="385763"/>
            <a:chOff x="2064" y="576"/>
            <a:chExt cx="890" cy="243"/>
          </a:xfrm>
        </p:grpSpPr>
        <p:sp>
          <p:nvSpPr>
            <p:cNvPr id="16437" name="Oval 53"/>
            <p:cNvSpPr>
              <a:spLocks noChangeArrowheads="1"/>
            </p:cNvSpPr>
            <p:nvPr/>
          </p:nvSpPr>
          <p:spPr bwMode="auto">
            <a:xfrm>
              <a:off x="2736" y="6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57</a:t>
              </a:r>
            </a:p>
          </p:txBody>
        </p:sp>
        <p:sp>
          <p:nvSpPr>
            <p:cNvPr id="16438" name="Text Box 54"/>
            <p:cNvSpPr txBox="1">
              <a:spLocks noChangeArrowheads="1"/>
            </p:cNvSpPr>
            <p:nvPr/>
          </p:nvSpPr>
          <p:spPr bwMode="auto">
            <a:xfrm>
              <a:off x="2064" y="576"/>
              <a:ext cx="67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grpSp>
        <p:nvGrpSpPr>
          <p:cNvPr id="16439" name="Group 55"/>
          <p:cNvGrpSpPr>
            <a:grpSpLocks/>
          </p:cNvGrpSpPr>
          <p:nvPr/>
        </p:nvGrpSpPr>
        <p:grpSpPr bwMode="auto">
          <a:xfrm>
            <a:off x="5603875" y="1981200"/>
            <a:ext cx="955675" cy="385763"/>
            <a:chOff x="3312" y="960"/>
            <a:chExt cx="602" cy="243"/>
          </a:xfrm>
        </p:grpSpPr>
        <p:sp>
          <p:nvSpPr>
            <p:cNvPr id="16440" name="Oval 56"/>
            <p:cNvSpPr>
              <a:spLocks noChangeArrowheads="1"/>
            </p:cNvSpPr>
            <p:nvPr/>
          </p:nvSpPr>
          <p:spPr bwMode="auto">
            <a:xfrm>
              <a:off x="3696" y="985"/>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72</a:t>
              </a:r>
            </a:p>
          </p:txBody>
        </p:sp>
        <p:sp>
          <p:nvSpPr>
            <p:cNvPr id="16441" name="Text Box 57"/>
            <p:cNvSpPr txBox="1">
              <a:spLocks noChangeArrowheads="1"/>
            </p:cNvSpPr>
            <p:nvPr/>
          </p:nvSpPr>
          <p:spPr bwMode="auto">
            <a:xfrm>
              <a:off x="3312" y="960"/>
              <a:ext cx="38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sp>
        <p:nvSpPr>
          <p:cNvPr id="16442" name="Oval 58"/>
          <p:cNvSpPr>
            <a:spLocks noChangeArrowheads="1"/>
          </p:cNvSpPr>
          <p:nvPr/>
        </p:nvSpPr>
        <p:spPr bwMode="auto">
          <a:xfrm>
            <a:off x="6899275" y="2782888"/>
            <a:ext cx="346075" cy="346075"/>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94</a:t>
            </a:r>
          </a:p>
        </p:txBody>
      </p:sp>
      <p:sp>
        <p:nvSpPr>
          <p:cNvPr id="16443" name="Text Box 59"/>
          <p:cNvSpPr txBox="1">
            <a:spLocks noChangeArrowheads="1"/>
          </p:cNvSpPr>
          <p:nvPr/>
        </p:nvSpPr>
        <p:spPr bwMode="auto">
          <a:xfrm>
            <a:off x="6365875" y="2743200"/>
            <a:ext cx="533400" cy="30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nvGrpSpPr>
          <p:cNvPr id="16444" name="Group 60"/>
          <p:cNvGrpSpPr>
            <a:grpSpLocks/>
          </p:cNvGrpSpPr>
          <p:nvPr/>
        </p:nvGrpSpPr>
        <p:grpSpPr bwMode="auto">
          <a:xfrm>
            <a:off x="6096000" y="3429000"/>
            <a:ext cx="574675" cy="385763"/>
            <a:chOff x="864" y="1776"/>
            <a:chExt cx="362" cy="243"/>
          </a:xfrm>
        </p:grpSpPr>
        <p:sp>
          <p:nvSpPr>
            <p:cNvPr id="16445" name="Oval 61"/>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78</a:t>
              </a:r>
            </a:p>
          </p:txBody>
        </p:sp>
        <p:sp>
          <p:nvSpPr>
            <p:cNvPr id="16446" name="Text Box 62"/>
            <p:cNvSpPr txBox="1">
              <a:spLocks noChangeArrowheads="1"/>
            </p:cNvSpPr>
            <p:nvPr/>
          </p:nvSpPr>
          <p:spPr bwMode="auto">
            <a:xfrm>
              <a:off x="864" y="1776"/>
              <a:ext cx="14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sz="1400" b="0" i="0"/>
                <a:t>0</a:t>
              </a:r>
            </a:p>
          </p:txBody>
        </p:sp>
      </p:grpSp>
      <p:grpSp>
        <p:nvGrpSpPr>
          <p:cNvPr id="16447" name="Group 63"/>
          <p:cNvGrpSpPr>
            <a:grpSpLocks/>
          </p:cNvGrpSpPr>
          <p:nvPr/>
        </p:nvGrpSpPr>
        <p:grpSpPr bwMode="auto">
          <a:xfrm>
            <a:off x="5222875" y="2743200"/>
            <a:ext cx="574675" cy="385763"/>
            <a:chOff x="864" y="1776"/>
            <a:chExt cx="362" cy="243"/>
          </a:xfrm>
        </p:grpSpPr>
        <p:sp>
          <p:nvSpPr>
            <p:cNvPr id="16448" name="Oval 64"/>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63</a:t>
              </a:r>
            </a:p>
          </p:txBody>
        </p:sp>
        <p:sp>
          <p:nvSpPr>
            <p:cNvPr id="16449" name="Text Box 65"/>
            <p:cNvSpPr txBox="1">
              <a:spLocks noChangeArrowheads="1"/>
            </p:cNvSpPr>
            <p:nvPr/>
          </p:nvSpPr>
          <p:spPr bwMode="auto">
            <a:xfrm>
              <a:off x="864" y="1776"/>
              <a:ext cx="14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sz="1400" b="0" i="0"/>
                <a:t>0</a:t>
              </a:r>
            </a:p>
          </p:txBody>
        </p:sp>
      </p:grpSp>
      <p:grpSp>
        <p:nvGrpSpPr>
          <p:cNvPr id="16468" name="Group 84"/>
          <p:cNvGrpSpPr>
            <a:grpSpLocks/>
          </p:cNvGrpSpPr>
          <p:nvPr/>
        </p:nvGrpSpPr>
        <p:grpSpPr bwMode="auto">
          <a:xfrm>
            <a:off x="2895600" y="3352800"/>
            <a:ext cx="920750" cy="385763"/>
            <a:chOff x="1824" y="2112"/>
            <a:chExt cx="580" cy="243"/>
          </a:xfrm>
        </p:grpSpPr>
        <p:sp>
          <p:nvSpPr>
            <p:cNvPr id="16451" name="Oval 67"/>
            <p:cNvSpPr>
              <a:spLocks noChangeArrowheads="1"/>
            </p:cNvSpPr>
            <p:nvPr/>
          </p:nvSpPr>
          <p:spPr bwMode="auto">
            <a:xfrm>
              <a:off x="2186" y="2137"/>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37</a:t>
              </a:r>
            </a:p>
          </p:txBody>
        </p:sp>
        <p:sp>
          <p:nvSpPr>
            <p:cNvPr id="16452" name="Text Box 68"/>
            <p:cNvSpPr txBox="1">
              <a:spLocks noChangeArrowheads="1"/>
            </p:cNvSpPr>
            <p:nvPr/>
          </p:nvSpPr>
          <p:spPr bwMode="auto">
            <a:xfrm>
              <a:off x="1824" y="2112"/>
              <a:ext cx="36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grpSp>
        <p:nvGrpSpPr>
          <p:cNvPr id="16471" name="Group 87"/>
          <p:cNvGrpSpPr>
            <a:grpSpLocks/>
          </p:cNvGrpSpPr>
          <p:nvPr/>
        </p:nvGrpSpPr>
        <p:grpSpPr bwMode="auto">
          <a:xfrm>
            <a:off x="3962400" y="3429000"/>
            <a:ext cx="920750" cy="385763"/>
            <a:chOff x="2496" y="2160"/>
            <a:chExt cx="580" cy="243"/>
          </a:xfrm>
        </p:grpSpPr>
        <p:sp>
          <p:nvSpPr>
            <p:cNvPr id="16454" name="Oval 70"/>
            <p:cNvSpPr>
              <a:spLocks noChangeArrowheads="1"/>
            </p:cNvSpPr>
            <p:nvPr/>
          </p:nvSpPr>
          <p:spPr bwMode="auto">
            <a:xfrm>
              <a:off x="2858" y="2185"/>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47</a:t>
              </a:r>
            </a:p>
          </p:txBody>
        </p:sp>
        <p:sp>
          <p:nvSpPr>
            <p:cNvPr id="16455" name="Text Box 71"/>
            <p:cNvSpPr txBox="1">
              <a:spLocks noChangeArrowheads="1"/>
            </p:cNvSpPr>
            <p:nvPr/>
          </p:nvSpPr>
          <p:spPr bwMode="auto">
            <a:xfrm>
              <a:off x="2496" y="2160"/>
              <a:ext cx="36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grpSp>
        <p:nvGrpSpPr>
          <p:cNvPr id="16470" name="Group 86"/>
          <p:cNvGrpSpPr>
            <a:grpSpLocks/>
          </p:cNvGrpSpPr>
          <p:nvPr/>
        </p:nvGrpSpPr>
        <p:grpSpPr bwMode="auto">
          <a:xfrm>
            <a:off x="3352800" y="2743200"/>
            <a:ext cx="996950" cy="385763"/>
            <a:chOff x="2112" y="1728"/>
            <a:chExt cx="628" cy="243"/>
          </a:xfrm>
        </p:grpSpPr>
        <p:sp>
          <p:nvSpPr>
            <p:cNvPr id="16457" name="Oval 73"/>
            <p:cNvSpPr>
              <a:spLocks noChangeArrowheads="1"/>
            </p:cNvSpPr>
            <p:nvPr/>
          </p:nvSpPr>
          <p:spPr bwMode="auto">
            <a:xfrm>
              <a:off x="2522" y="1753"/>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38</a:t>
              </a:r>
            </a:p>
          </p:txBody>
        </p:sp>
        <p:sp>
          <p:nvSpPr>
            <p:cNvPr id="16458" name="Text Box 74"/>
            <p:cNvSpPr txBox="1">
              <a:spLocks noChangeArrowheads="1"/>
            </p:cNvSpPr>
            <p:nvPr/>
          </p:nvSpPr>
          <p:spPr bwMode="auto">
            <a:xfrm>
              <a:off x="2112" y="1728"/>
              <a:ext cx="410"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grpSp>
        <p:nvGrpSpPr>
          <p:cNvPr id="16459" name="Group 75"/>
          <p:cNvGrpSpPr>
            <a:grpSpLocks/>
          </p:cNvGrpSpPr>
          <p:nvPr/>
        </p:nvGrpSpPr>
        <p:grpSpPr bwMode="auto">
          <a:xfrm>
            <a:off x="609600" y="3352800"/>
            <a:ext cx="803275" cy="385763"/>
            <a:chOff x="768" y="1872"/>
            <a:chExt cx="506" cy="243"/>
          </a:xfrm>
        </p:grpSpPr>
        <p:sp>
          <p:nvSpPr>
            <p:cNvPr id="16460" name="Oval 76"/>
            <p:cNvSpPr>
              <a:spLocks noChangeArrowheads="1"/>
            </p:cNvSpPr>
            <p:nvPr/>
          </p:nvSpPr>
          <p:spPr bwMode="auto">
            <a:xfrm>
              <a:off x="1056" y="1897"/>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1</a:t>
              </a:r>
            </a:p>
          </p:txBody>
        </p:sp>
        <p:sp>
          <p:nvSpPr>
            <p:cNvPr id="16461" name="Text Box 77"/>
            <p:cNvSpPr txBox="1">
              <a:spLocks noChangeArrowheads="1"/>
            </p:cNvSpPr>
            <p:nvPr/>
          </p:nvSpPr>
          <p:spPr bwMode="auto">
            <a:xfrm>
              <a:off x="768" y="1872"/>
              <a:ext cx="288"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grpSp>
        <p:nvGrpSpPr>
          <p:cNvPr id="16469" name="Group 85"/>
          <p:cNvGrpSpPr>
            <a:grpSpLocks/>
          </p:cNvGrpSpPr>
          <p:nvPr/>
        </p:nvGrpSpPr>
        <p:grpSpPr bwMode="auto">
          <a:xfrm>
            <a:off x="2590800" y="3886200"/>
            <a:ext cx="762000" cy="385763"/>
            <a:chOff x="1632" y="2496"/>
            <a:chExt cx="480" cy="243"/>
          </a:xfrm>
        </p:grpSpPr>
        <p:sp>
          <p:nvSpPr>
            <p:cNvPr id="16464" name="Oval 80"/>
            <p:cNvSpPr>
              <a:spLocks noChangeArrowheads="1"/>
            </p:cNvSpPr>
            <p:nvPr/>
          </p:nvSpPr>
          <p:spPr bwMode="auto">
            <a:xfrm>
              <a:off x="1894" y="2521"/>
              <a:ext cx="218" cy="218"/>
            </a:xfrm>
            <a:prstGeom prst="ellipse">
              <a:avLst/>
            </a:prstGeom>
            <a:solidFill>
              <a:srgbClr val="FFFF00">
                <a:alpha val="53999"/>
              </a:srgbClr>
            </a:solidFill>
            <a:ln w="9525">
              <a:solidFill>
                <a:schemeClr val="tx1"/>
              </a:solidFill>
              <a:round/>
              <a:headEnd/>
              <a:tailEnd/>
            </a:ln>
          </p:spPr>
          <p:txBody>
            <a:bodyPr wrap="none" anchor="ctr"/>
            <a:lstStyle/>
            <a:p>
              <a:pPr algn="ctr"/>
              <a:r>
                <a:rPr lang="en-US" altLang="en-US" sz="1600" b="0" i="0"/>
                <a:t>30</a:t>
              </a:r>
            </a:p>
          </p:txBody>
        </p:sp>
        <p:sp>
          <p:nvSpPr>
            <p:cNvPr id="16465" name="Text Box 81"/>
            <p:cNvSpPr txBox="1">
              <a:spLocks noChangeArrowheads="1"/>
            </p:cNvSpPr>
            <p:nvPr/>
          </p:nvSpPr>
          <p:spPr bwMode="auto">
            <a:xfrm>
              <a:off x="1632" y="2496"/>
              <a:ext cx="26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cxnSp>
        <p:nvCxnSpPr>
          <p:cNvPr id="16467" name="AutoShape 83"/>
          <p:cNvCxnSpPr>
            <a:cxnSpLocks noChangeShapeType="1"/>
            <a:stCxn id="16451" idx="3"/>
            <a:endCxn id="16464" idx="7"/>
          </p:cNvCxnSpPr>
          <p:nvPr/>
        </p:nvCxnSpPr>
        <p:spPr bwMode="auto">
          <a:xfrm flipH="1">
            <a:off x="3302000" y="3687763"/>
            <a:ext cx="219075" cy="2889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92104927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p:cNvSpPr txBox="1">
            <a:spLocks noChangeArrowheads="1"/>
          </p:cNvSpPr>
          <p:nvPr/>
        </p:nvSpPr>
        <p:spPr bwMode="auto">
          <a:xfrm>
            <a:off x="76200" y="76200"/>
            <a:ext cx="9067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b="0" i="0"/>
              <a:t>Insert 32 and recalculate balance factors</a:t>
            </a:r>
          </a:p>
        </p:txBody>
      </p:sp>
      <p:sp>
        <p:nvSpPr>
          <p:cNvPr id="21507" name="Text Box 3"/>
          <p:cNvSpPr txBox="1">
            <a:spLocks noChangeArrowheads="1"/>
          </p:cNvSpPr>
          <p:nvPr/>
        </p:nvSpPr>
        <p:spPr bwMode="auto">
          <a:xfrm>
            <a:off x="0" y="6324600"/>
            <a:ext cx="9067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b="0" i="0"/>
              <a:t>Next step: Find rebalancing case --&gt;  </a:t>
            </a:r>
          </a:p>
        </p:txBody>
      </p:sp>
      <p:sp>
        <p:nvSpPr>
          <p:cNvPr id="21508" name="Text Box 4"/>
          <p:cNvSpPr txBox="1">
            <a:spLocks noChangeArrowheads="1"/>
          </p:cNvSpPr>
          <p:nvPr/>
        </p:nvSpPr>
        <p:spPr bwMode="auto">
          <a:xfrm>
            <a:off x="6705600" y="0"/>
            <a:ext cx="24384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2000" b="0" i="0">
                <a:solidFill>
                  <a:srgbClr val="FF0000"/>
                </a:solidFill>
              </a:rPr>
              <a:t>Balance not ok</a:t>
            </a:r>
          </a:p>
        </p:txBody>
      </p:sp>
      <p:cxnSp>
        <p:nvCxnSpPr>
          <p:cNvPr id="21509" name="AutoShape 5"/>
          <p:cNvCxnSpPr>
            <a:cxnSpLocks noChangeShapeType="1"/>
            <a:stCxn id="21521" idx="3"/>
            <a:endCxn id="21554" idx="7"/>
          </p:cNvCxnSpPr>
          <p:nvPr/>
        </p:nvCxnSpPr>
        <p:spPr bwMode="auto">
          <a:xfrm flipH="1">
            <a:off x="752475" y="3073400"/>
            <a:ext cx="288925" cy="369888"/>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1510" name="AutoShape 6"/>
          <p:cNvCxnSpPr>
            <a:cxnSpLocks noChangeShapeType="1"/>
            <a:stCxn id="21530" idx="3"/>
            <a:endCxn id="21527" idx="7"/>
          </p:cNvCxnSpPr>
          <p:nvPr/>
        </p:nvCxnSpPr>
        <p:spPr bwMode="auto">
          <a:xfrm flipH="1">
            <a:off x="2809875" y="1249363"/>
            <a:ext cx="2041525" cy="741362"/>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1511" name="AutoShape 7"/>
          <p:cNvCxnSpPr>
            <a:cxnSpLocks noChangeShapeType="1"/>
            <a:stCxn id="21530" idx="5"/>
            <a:endCxn id="21533" idx="1"/>
          </p:cNvCxnSpPr>
          <p:nvPr/>
        </p:nvCxnSpPr>
        <p:spPr bwMode="auto">
          <a:xfrm>
            <a:off x="5095875" y="1249363"/>
            <a:ext cx="2076450" cy="8223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1512" name="AutoShape 8"/>
          <p:cNvCxnSpPr>
            <a:cxnSpLocks noChangeShapeType="1"/>
            <a:stCxn id="21533" idx="5"/>
            <a:endCxn id="21536" idx="1"/>
          </p:cNvCxnSpPr>
          <p:nvPr/>
        </p:nvCxnSpPr>
        <p:spPr bwMode="auto">
          <a:xfrm>
            <a:off x="7416800" y="2316163"/>
            <a:ext cx="441325" cy="5175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1513" name="AutoShape 9"/>
          <p:cNvCxnSpPr>
            <a:cxnSpLocks noChangeShapeType="1"/>
            <a:stCxn id="21527" idx="5"/>
            <a:endCxn id="21551" idx="1"/>
          </p:cNvCxnSpPr>
          <p:nvPr/>
        </p:nvCxnSpPr>
        <p:spPr bwMode="auto">
          <a:xfrm>
            <a:off x="2809875" y="2235200"/>
            <a:ext cx="1473200" cy="598488"/>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1514" name="AutoShape 10"/>
          <p:cNvCxnSpPr>
            <a:cxnSpLocks noChangeShapeType="1"/>
            <a:stCxn id="21551" idx="5"/>
            <a:endCxn id="21548" idx="1"/>
          </p:cNvCxnSpPr>
          <p:nvPr/>
        </p:nvCxnSpPr>
        <p:spPr bwMode="auto">
          <a:xfrm>
            <a:off x="4527550" y="3078163"/>
            <a:ext cx="434975" cy="4413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1515" name="AutoShape 11"/>
          <p:cNvCxnSpPr>
            <a:cxnSpLocks noChangeShapeType="1"/>
            <a:stCxn id="21527" idx="3"/>
            <a:endCxn id="21521" idx="7"/>
          </p:cNvCxnSpPr>
          <p:nvPr/>
        </p:nvCxnSpPr>
        <p:spPr bwMode="auto">
          <a:xfrm flipH="1">
            <a:off x="1285875" y="2235200"/>
            <a:ext cx="1279525" cy="5937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1516" name="AutoShape 12"/>
          <p:cNvCxnSpPr>
            <a:cxnSpLocks noChangeShapeType="1"/>
            <a:stCxn id="21524" idx="1"/>
            <a:endCxn id="21521" idx="5"/>
          </p:cNvCxnSpPr>
          <p:nvPr/>
        </p:nvCxnSpPr>
        <p:spPr bwMode="auto">
          <a:xfrm flipH="1" flipV="1">
            <a:off x="1285875" y="3073400"/>
            <a:ext cx="365125" cy="369888"/>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1517" name="AutoShape 13"/>
          <p:cNvCxnSpPr>
            <a:cxnSpLocks noChangeShapeType="1"/>
            <a:stCxn id="21551" idx="3"/>
            <a:endCxn id="21545" idx="7"/>
          </p:cNvCxnSpPr>
          <p:nvPr/>
        </p:nvCxnSpPr>
        <p:spPr bwMode="auto">
          <a:xfrm flipH="1">
            <a:off x="3994150" y="3078163"/>
            <a:ext cx="288925" cy="3651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1518" name="AutoShape 14"/>
          <p:cNvCxnSpPr>
            <a:cxnSpLocks noChangeShapeType="1"/>
            <a:stCxn id="21533" idx="3"/>
            <a:endCxn id="21542" idx="7"/>
          </p:cNvCxnSpPr>
          <p:nvPr/>
        </p:nvCxnSpPr>
        <p:spPr bwMode="auto">
          <a:xfrm flipH="1">
            <a:off x="6654800" y="2316163"/>
            <a:ext cx="517525" cy="5175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1519" name="AutoShape 15"/>
          <p:cNvCxnSpPr>
            <a:cxnSpLocks noChangeShapeType="1"/>
            <a:stCxn id="21536" idx="3"/>
            <a:endCxn id="21539" idx="7"/>
          </p:cNvCxnSpPr>
          <p:nvPr/>
        </p:nvCxnSpPr>
        <p:spPr bwMode="auto">
          <a:xfrm flipH="1">
            <a:off x="7527925" y="3078163"/>
            <a:ext cx="330200" cy="4413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nvGrpSpPr>
          <p:cNvPr id="21520" name="Group 16"/>
          <p:cNvGrpSpPr>
            <a:grpSpLocks/>
          </p:cNvGrpSpPr>
          <p:nvPr/>
        </p:nvGrpSpPr>
        <p:grpSpPr bwMode="auto">
          <a:xfrm>
            <a:off x="533400" y="2738438"/>
            <a:ext cx="803275" cy="385762"/>
            <a:chOff x="720" y="1776"/>
            <a:chExt cx="506" cy="243"/>
          </a:xfrm>
        </p:grpSpPr>
        <p:sp>
          <p:nvSpPr>
            <p:cNvPr id="21521" name="Oval 17"/>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a:t>
              </a:r>
            </a:p>
          </p:txBody>
        </p:sp>
        <p:sp>
          <p:nvSpPr>
            <p:cNvPr id="21522" name="Text Box 18"/>
            <p:cNvSpPr txBox="1">
              <a:spLocks noChangeArrowheads="1"/>
            </p:cNvSpPr>
            <p:nvPr/>
          </p:nvSpPr>
          <p:spPr bwMode="auto">
            <a:xfrm>
              <a:off x="720" y="1776"/>
              <a:ext cx="288"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grpSp>
        <p:nvGrpSpPr>
          <p:cNvPr id="21523" name="Group 19"/>
          <p:cNvGrpSpPr>
            <a:grpSpLocks/>
          </p:cNvGrpSpPr>
          <p:nvPr/>
        </p:nvGrpSpPr>
        <p:grpSpPr bwMode="auto">
          <a:xfrm>
            <a:off x="1219200" y="3352800"/>
            <a:ext cx="727075" cy="385763"/>
            <a:chOff x="1104" y="1392"/>
            <a:chExt cx="458" cy="243"/>
          </a:xfrm>
        </p:grpSpPr>
        <p:sp>
          <p:nvSpPr>
            <p:cNvPr id="21524" name="Oval 20"/>
            <p:cNvSpPr>
              <a:spLocks noChangeArrowheads="1"/>
            </p:cNvSpPr>
            <p:nvPr/>
          </p:nvSpPr>
          <p:spPr bwMode="auto">
            <a:xfrm>
              <a:off x="1344" y="1417"/>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25</a:t>
              </a:r>
            </a:p>
          </p:txBody>
        </p:sp>
        <p:sp>
          <p:nvSpPr>
            <p:cNvPr id="21525" name="Text Box 21"/>
            <p:cNvSpPr txBox="1">
              <a:spLocks noChangeArrowheads="1"/>
            </p:cNvSpPr>
            <p:nvPr/>
          </p:nvSpPr>
          <p:spPr bwMode="auto">
            <a:xfrm>
              <a:off x="1104" y="1392"/>
              <a:ext cx="240"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grpSp>
        <p:nvGrpSpPr>
          <p:cNvPr id="21526" name="Group 22"/>
          <p:cNvGrpSpPr>
            <a:grpSpLocks/>
          </p:cNvGrpSpPr>
          <p:nvPr/>
        </p:nvGrpSpPr>
        <p:grpSpPr bwMode="auto">
          <a:xfrm>
            <a:off x="1676400" y="1900238"/>
            <a:ext cx="1184275" cy="385762"/>
            <a:chOff x="1248" y="960"/>
            <a:chExt cx="746" cy="243"/>
          </a:xfrm>
        </p:grpSpPr>
        <p:sp>
          <p:nvSpPr>
            <p:cNvPr id="21527" name="Oval 23"/>
            <p:cNvSpPr>
              <a:spLocks noChangeArrowheads="1"/>
            </p:cNvSpPr>
            <p:nvPr/>
          </p:nvSpPr>
          <p:spPr bwMode="auto">
            <a:xfrm>
              <a:off x="1776" y="985"/>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26</a:t>
              </a:r>
            </a:p>
          </p:txBody>
        </p:sp>
        <p:sp>
          <p:nvSpPr>
            <p:cNvPr id="21528" name="Text Box 24"/>
            <p:cNvSpPr txBox="1">
              <a:spLocks noChangeArrowheads="1"/>
            </p:cNvSpPr>
            <p:nvPr/>
          </p:nvSpPr>
          <p:spPr bwMode="auto">
            <a:xfrm>
              <a:off x="1248" y="960"/>
              <a:ext cx="528"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solidFill>
                    <a:srgbClr val="FF0000"/>
                  </a:solidFill>
                </a:rPr>
                <a:t>+2</a:t>
              </a:r>
              <a:endParaRPr lang="en-US" altLang="en-US" sz="1400" b="0" i="0"/>
            </a:p>
          </p:txBody>
        </p:sp>
      </p:grpSp>
      <p:grpSp>
        <p:nvGrpSpPr>
          <p:cNvPr id="21529" name="Group 25"/>
          <p:cNvGrpSpPr>
            <a:grpSpLocks/>
          </p:cNvGrpSpPr>
          <p:nvPr/>
        </p:nvGrpSpPr>
        <p:grpSpPr bwMode="auto">
          <a:xfrm>
            <a:off x="3733800" y="914400"/>
            <a:ext cx="1412875" cy="385763"/>
            <a:chOff x="2064" y="576"/>
            <a:chExt cx="890" cy="243"/>
          </a:xfrm>
        </p:grpSpPr>
        <p:sp>
          <p:nvSpPr>
            <p:cNvPr id="21530" name="Oval 26"/>
            <p:cNvSpPr>
              <a:spLocks noChangeArrowheads="1"/>
            </p:cNvSpPr>
            <p:nvPr/>
          </p:nvSpPr>
          <p:spPr bwMode="auto">
            <a:xfrm>
              <a:off x="2736" y="6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57</a:t>
              </a:r>
            </a:p>
          </p:txBody>
        </p:sp>
        <p:sp>
          <p:nvSpPr>
            <p:cNvPr id="21531" name="Text Box 27"/>
            <p:cNvSpPr txBox="1">
              <a:spLocks noChangeArrowheads="1"/>
            </p:cNvSpPr>
            <p:nvPr/>
          </p:nvSpPr>
          <p:spPr bwMode="auto">
            <a:xfrm>
              <a:off x="2064" y="576"/>
              <a:ext cx="67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solidFill>
                    <a:srgbClr val="FF0000"/>
                  </a:solidFill>
                </a:rPr>
                <a:t>-2</a:t>
              </a:r>
              <a:endParaRPr lang="en-US" altLang="en-US" sz="1400" b="0" i="0"/>
            </a:p>
          </p:txBody>
        </p:sp>
      </p:grpSp>
      <p:grpSp>
        <p:nvGrpSpPr>
          <p:cNvPr id="21532" name="Group 28"/>
          <p:cNvGrpSpPr>
            <a:grpSpLocks/>
          </p:cNvGrpSpPr>
          <p:nvPr/>
        </p:nvGrpSpPr>
        <p:grpSpPr bwMode="auto">
          <a:xfrm>
            <a:off x="6511925" y="1981200"/>
            <a:ext cx="955675" cy="385763"/>
            <a:chOff x="3312" y="960"/>
            <a:chExt cx="602" cy="243"/>
          </a:xfrm>
        </p:grpSpPr>
        <p:sp>
          <p:nvSpPr>
            <p:cNvPr id="21533" name="Oval 29"/>
            <p:cNvSpPr>
              <a:spLocks noChangeArrowheads="1"/>
            </p:cNvSpPr>
            <p:nvPr/>
          </p:nvSpPr>
          <p:spPr bwMode="auto">
            <a:xfrm>
              <a:off x="3696" y="985"/>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72</a:t>
              </a:r>
            </a:p>
          </p:txBody>
        </p:sp>
        <p:sp>
          <p:nvSpPr>
            <p:cNvPr id="21534" name="Text Box 30"/>
            <p:cNvSpPr txBox="1">
              <a:spLocks noChangeArrowheads="1"/>
            </p:cNvSpPr>
            <p:nvPr/>
          </p:nvSpPr>
          <p:spPr bwMode="auto">
            <a:xfrm>
              <a:off x="3312" y="960"/>
              <a:ext cx="38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grpSp>
        <p:nvGrpSpPr>
          <p:cNvPr id="21535" name="Group 31"/>
          <p:cNvGrpSpPr>
            <a:grpSpLocks/>
          </p:cNvGrpSpPr>
          <p:nvPr/>
        </p:nvGrpSpPr>
        <p:grpSpPr bwMode="auto">
          <a:xfrm>
            <a:off x="7273925" y="2743200"/>
            <a:ext cx="879475" cy="385763"/>
            <a:chOff x="4246" y="1728"/>
            <a:chExt cx="554" cy="243"/>
          </a:xfrm>
        </p:grpSpPr>
        <p:sp>
          <p:nvSpPr>
            <p:cNvPr id="21536" name="Oval 32"/>
            <p:cNvSpPr>
              <a:spLocks noChangeArrowheads="1"/>
            </p:cNvSpPr>
            <p:nvPr/>
          </p:nvSpPr>
          <p:spPr bwMode="auto">
            <a:xfrm>
              <a:off x="4582" y="1753"/>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94</a:t>
              </a:r>
            </a:p>
          </p:txBody>
        </p:sp>
        <p:sp>
          <p:nvSpPr>
            <p:cNvPr id="21537" name="Text Box 33"/>
            <p:cNvSpPr txBox="1">
              <a:spLocks noChangeArrowheads="1"/>
            </p:cNvSpPr>
            <p:nvPr/>
          </p:nvSpPr>
          <p:spPr bwMode="auto">
            <a:xfrm>
              <a:off x="4246" y="1728"/>
              <a:ext cx="336"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grpSp>
        <p:nvGrpSpPr>
          <p:cNvPr id="21538" name="Group 34"/>
          <p:cNvGrpSpPr>
            <a:grpSpLocks/>
          </p:cNvGrpSpPr>
          <p:nvPr/>
        </p:nvGrpSpPr>
        <p:grpSpPr bwMode="auto">
          <a:xfrm>
            <a:off x="7004050" y="3429000"/>
            <a:ext cx="574675" cy="385763"/>
            <a:chOff x="864" y="1776"/>
            <a:chExt cx="362" cy="243"/>
          </a:xfrm>
        </p:grpSpPr>
        <p:sp>
          <p:nvSpPr>
            <p:cNvPr id="21539" name="Oval 35"/>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78</a:t>
              </a:r>
            </a:p>
          </p:txBody>
        </p:sp>
        <p:sp>
          <p:nvSpPr>
            <p:cNvPr id="21540" name="Text Box 36"/>
            <p:cNvSpPr txBox="1">
              <a:spLocks noChangeArrowheads="1"/>
            </p:cNvSpPr>
            <p:nvPr/>
          </p:nvSpPr>
          <p:spPr bwMode="auto">
            <a:xfrm>
              <a:off x="864" y="1776"/>
              <a:ext cx="14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sz="1400" b="0" i="0"/>
                <a:t>0</a:t>
              </a:r>
            </a:p>
          </p:txBody>
        </p:sp>
      </p:grpSp>
      <p:grpSp>
        <p:nvGrpSpPr>
          <p:cNvPr id="21541" name="Group 37"/>
          <p:cNvGrpSpPr>
            <a:grpSpLocks/>
          </p:cNvGrpSpPr>
          <p:nvPr/>
        </p:nvGrpSpPr>
        <p:grpSpPr bwMode="auto">
          <a:xfrm>
            <a:off x="6130925" y="2743200"/>
            <a:ext cx="574675" cy="385763"/>
            <a:chOff x="864" y="1776"/>
            <a:chExt cx="362" cy="243"/>
          </a:xfrm>
        </p:grpSpPr>
        <p:sp>
          <p:nvSpPr>
            <p:cNvPr id="21542" name="Oval 38"/>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63</a:t>
              </a:r>
            </a:p>
          </p:txBody>
        </p:sp>
        <p:sp>
          <p:nvSpPr>
            <p:cNvPr id="21543" name="Text Box 39"/>
            <p:cNvSpPr txBox="1">
              <a:spLocks noChangeArrowheads="1"/>
            </p:cNvSpPr>
            <p:nvPr/>
          </p:nvSpPr>
          <p:spPr bwMode="auto">
            <a:xfrm>
              <a:off x="864" y="1776"/>
              <a:ext cx="14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sz="1400" b="0" i="0"/>
                <a:t>0</a:t>
              </a:r>
            </a:p>
          </p:txBody>
        </p:sp>
      </p:grpSp>
      <p:grpSp>
        <p:nvGrpSpPr>
          <p:cNvPr id="21544" name="Group 40"/>
          <p:cNvGrpSpPr>
            <a:grpSpLocks/>
          </p:cNvGrpSpPr>
          <p:nvPr/>
        </p:nvGrpSpPr>
        <p:grpSpPr bwMode="auto">
          <a:xfrm>
            <a:off x="3124200" y="3352800"/>
            <a:ext cx="920750" cy="385763"/>
            <a:chOff x="1824" y="2112"/>
            <a:chExt cx="580" cy="243"/>
          </a:xfrm>
        </p:grpSpPr>
        <p:sp>
          <p:nvSpPr>
            <p:cNvPr id="21545" name="Oval 41"/>
            <p:cNvSpPr>
              <a:spLocks noChangeArrowheads="1"/>
            </p:cNvSpPr>
            <p:nvPr/>
          </p:nvSpPr>
          <p:spPr bwMode="auto">
            <a:xfrm>
              <a:off x="2186" y="2137"/>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37</a:t>
              </a:r>
            </a:p>
          </p:txBody>
        </p:sp>
        <p:sp>
          <p:nvSpPr>
            <p:cNvPr id="21546" name="Text Box 42"/>
            <p:cNvSpPr txBox="1">
              <a:spLocks noChangeArrowheads="1"/>
            </p:cNvSpPr>
            <p:nvPr/>
          </p:nvSpPr>
          <p:spPr bwMode="auto">
            <a:xfrm>
              <a:off x="1824" y="2112"/>
              <a:ext cx="36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solidFill>
                    <a:srgbClr val="FF0000"/>
                  </a:solidFill>
                </a:rPr>
                <a:t>-2</a:t>
              </a:r>
              <a:endParaRPr lang="en-US" altLang="en-US" sz="1400" b="0" i="0"/>
            </a:p>
          </p:txBody>
        </p:sp>
      </p:grpSp>
      <p:grpSp>
        <p:nvGrpSpPr>
          <p:cNvPr id="21547" name="Group 43"/>
          <p:cNvGrpSpPr>
            <a:grpSpLocks/>
          </p:cNvGrpSpPr>
          <p:nvPr/>
        </p:nvGrpSpPr>
        <p:grpSpPr bwMode="auto">
          <a:xfrm>
            <a:off x="4337050" y="3429000"/>
            <a:ext cx="920750" cy="385763"/>
            <a:chOff x="2496" y="2160"/>
            <a:chExt cx="580" cy="243"/>
          </a:xfrm>
        </p:grpSpPr>
        <p:sp>
          <p:nvSpPr>
            <p:cNvPr id="21548" name="Oval 44"/>
            <p:cNvSpPr>
              <a:spLocks noChangeArrowheads="1"/>
            </p:cNvSpPr>
            <p:nvPr/>
          </p:nvSpPr>
          <p:spPr bwMode="auto">
            <a:xfrm>
              <a:off x="2858" y="2185"/>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47</a:t>
              </a:r>
            </a:p>
          </p:txBody>
        </p:sp>
        <p:sp>
          <p:nvSpPr>
            <p:cNvPr id="21549" name="Text Box 45"/>
            <p:cNvSpPr txBox="1">
              <a:spLocks noChangeArrowheads="1"/>
            </p:cNvSpPr>
            <p:nvPr/>
          </p:nvSpPr>
          <p:spPr bwMode="auto">
            <a:xfrm>
              <a:off x="2496" y="2160"/>
              <a:ext cx="36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grpSp>
        <p:nvGrpSpPr>
          <p:cNvPr id="21550" name="Group 46"/>
          <p:cNvGrpSpPr>
            <a:grpSpLocks/>
          </p:cNvGrpSpPr>
          <p:nvPr/>
        </p:nvGrpSpPr>
        <p:grpSpPr bwMode="auto">
          <a:xfrm>
            <a:off x="3581400" y="2743200"/>
            <a:ext cx="996950" cy="385763"/>
            <a:chOff x="2112" y="1728"/>
            <a:chExt cx="628" cy="243"/>
          </a:xfrm>
        </p:grpSpPr>
        <p:sp>
          <p:nvSpPr>
            <p:cNvPr id="21551" name="Oval 47"/>
            <p:cNvSpPr>
              <a:spLocks noChangeArrowheads="1"/>
            </p:cNvSpPr>
            <p:nvPr/>
          </p:nvSpPr>
          <p:spPr bwMode="auto">
            <a:xfrm>
              <a:off x="2522" y="1753"/>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38</a:t>
              </a:r>
            </a:p>
          </p:txBody>
        </p:sp>
        <p:sp>
          <p:nvSpPr>
            <p:cNvPr id="21552" name="Text Box 48"/>
            <p:cNvSpPr txBox="1">
              <a:spLocks noChangeArrowheads="1"/>
            </p:cNvSpPr>
            <p:nvPr/>
          </p:nvSpPr>
          <p:spPr bwMode="auto">
            <a:xfrm>
              <a:off x="2112" y="1728"/>
              <a:ext cx="410"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solidFill>
                    <a:srgbClr val="FF0000"/>
                  </a:solidFill>
                </a:rPr>
                <a:t>-2</a:t>
              </a:r>
              <a:endParaRPr lang="en-US" altLang="en-US" sz="1400" b="0" i="0"/>
            </a:p>
          </p:txBody>
        </p:sp>
      </p:grpSp>
      <p:grpSp>
        <p:nvGrpSpPr>
          <p:cNvPr id="21553" name="Group 49"/>
          <p:cNvGrpSpPr>
            <a:grpSpLocks/>
          </p:cNvGrpSpPr>
          <p:nvPr/>
        </p:nvGrpSpPr>
        <p:grpSpPr bwMode="auto">
          <a:xfrm>
            <a:off x="0" y="3352800"/>
            <a:ext cx="803275" cy="385763"/>
            <a:chOff x="768" y="1872"/>
            <a:chExt cx="506" cy="243"/>
          </a:xfrm>
        </p:grpSpPr>
        <p:sp>
          <p:nvSpPr>
            <p:cNvPr id="21554" name="Oval 50"/>
            <p:cNvSpPr>
              <a:spLocks noChangeArrowheads="1"/>
            </p:cNvSpPr>
            <p:nvPr/>
          </p:nvSpPr>
          <p:spPr bwMode="auto">
            <a:xfrm>
              <a:off x="1056" y="1897"/>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1</a:t>
              </a:r>
            </a:p>
          </p:txBody>
        </p:sp>
        <p:sp>
          <p:nvSpPr>
            <p:cNvPr id="21555" name="Text Box 51"/>
            <p:cNvSpPr txBox="1">
              <a:spLocks noChangeArrowheads="1"/>
            </p:cNvSpPr>
            <p:nvPr/>
          </p:nvSpPr>
          <p:spPr bwMode="auto">
            <a:xfrm>
              <a:off x="768" y="1872"/>
              <a:ext cx="288"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grpSp>
        <p:nvGrpSpPr>
          <p:cNvPr id="21556" name="Group 52"/>
          <p:cNvGrpSpPr>
            <a:grpSpLocks/>
          </p:cNvGrpSpPr>
          <p:nvPr/>
        </p:nvGrpSpPr>
        <p:grpSpPr bwMode="auto">
          <a:xfrm>
            <a:off x="2667000" y="4033838"/>
            <a:ext cx="762000" cy="385762"/>
            <a:chOff x="1868" y="2448"/>
            <a:chExt cx="480" cy="243"/>
          </a:xfrm>
        </p:grpSpPr>
        <p:sp>
          <p:nvSpPr>
            <p:cNvPr id="21557" name="Oval 53"/>
            <p:cNvSpPr>
              <a:spLocks noChangeArrowheads="1"/>
            </p:cNvSpPr>
            <p:nvPr/>
          </p:nvSpPr>
          <p:spPr bwMode="auto">
            <a:xfrm>
              <a:off x="2130" y="2473"/>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30</a:t>
              </a:r>
            </a:p>
          </p:txBody>
        </p:sp>
        <p:sp>
          <p:nvSpPr>
            <p:cNvPr id="21558" name="Text Box 54"/>
            <p:cNvSpPr txBox="1">
              <a:spLocks noChangeArrowheads="1"/>
            </p:cNvSpPr>
            <p:nvPr/>
          </p:nvSpPr>
          <p:spPr bwMode="auto">
            <a:xfrm>
              <a:off x="1868" y="2448"/>
              <a:ext cx="26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cxnSp>
        <p:nvCxnSpPr>
          <p:cNvPr id="21559" name="AutoShape 55"/>
          <p:cNvCxnSpPr>
            <a:cxnSpLocks noChangeShapeType="1"/>
            <a:stCxn id="21545" idx="3"/>
            <a:endCxn id="21557" idx="7"/>
          </p:cNvCxnSpPr>
          <p:nvPr/>
        </p:nvCxnSpPr>
        <p:spPr bwMode="auto">
          <a:xfrm flipH="1">
            <a:off x="3378200" y="3687763"/>
            <a:ext cx="371475" cy="436562"/>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nvGrpSpPr>
          <p:cNvPr id="21560" name="Group 56"/>
          <p:cNvGrpSpPr>
            <a:grpSpLocks/>
          </p:cNvGrpSpPr>
          <p:nvPr/>
        </p:nvGrpSpPr>
        <p:grpSpPr bwMode="auto">
          <a:xfrm>
            <a:off x="3124200" y="4567238"/>
            <a:ext cx="762000" cy="385762"/>
            <a:chOff x="1632" y="2496"/>
            <a:chExt cx="480" cy="243"/>
          </a:xfrm>
        </p:grpSpPr>
        <p:sp>
          <p:nvSpPr>
            <p:cNvPr id="21561" name="Oval 57"/>
            <p:cNvSpPr>
              <a:spLocks noChangeArrowheads="1"/>
            </p:cNvSpPr>
            <p:nvPr/>
          </p:nvSpPr>
          <p:spPr bwMode="auto">
            <a:xfrm>
              <a:off x="1894" y="2521"/>
              <a:ext cx="218" cy="218"/>
            </a:xfrm>
            <a:prstGeom prst="ellipse">
              <a:avLst/>
            </a:prstGeom>
            <a:solidFill>
              <a:srgbClr val="FFFF00">
                <a:alpha val="53999"/>
              </a:srgbClr>
            </a:solidFill>
            <a:ln w="9525">
              <a:solidFill>
                <a:schemeClr val="tx1"/>
              </a:solidFill>
              <a:round/>
              <a:headEnd/>
              <a:tailEnd/>
            </a:ln>
          </p:spPr>
          <p:txBody>
            <a:bodyPr wrap="none" anchor="ctr"/>
            <a:lstStyle/>
            <a:p>
              <a:pPr algn="ctr"/>
              <a:r>
                <a:rPr lang="en-US" altLang="en-US" sz="1600" b="0" i="0"/>
                <a:t>32</a:t>
              </a:r>
            </a:p>
          </p:txBody>
        </p:sp>
        <p:sp>
          <p:nvSpPr>
            <p:cNvPr id="21562" name="Text Box 58"/>
            <p:cNvSpPr txBox="1">
              <a:spLocks noChangeArrowheads="1"/>
            </p:cNvSpPr>
            <p:nvPr/>
          </p:nvSpPr>
          <p:spPr bwMode="auto">
            <a:xfrm>
              <a:off x="1632" y="2496"/>
              <a:ext cx="26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cxnSp>
        <p:nvCxnSpPr>
          <p:cNvPr id="21563" name="AutoShape 59"/>
          <p:cNvCxnSpPr>
            <a:cxnSpLocks noChangeShapeType="1"/>
            <a:stCxn id="21557" idx="5"/>
            <a:endCxn id="21561" idx="1"/>
          </p:cNvCxnSpPr>
          <p:nvPr/>
        </p:nvCxnSpPr>
        <p:spPr bwMode="auto">
          <a:xfrm>
            <a:off x="3378200" y="4368800"/>
            <a:ext cx="212725" cy="2889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93572093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19" name="Oval 87"/>
          <p:cNvSpPr>
            <a:spLocks noChangeArrowheads="1"/>
          </p:cNvSpPr>
          <p:nvPr/>
        </p:nvSpPr>
        <p:spPr bwMode="auto">
          <a:xfrm rot="2420340">
            <a:off x="2819400" y="3211513"/>
            <a:ext cx="1524000" cy="2057400"/>
          </a:xfrm>
          <a:prstGeom prst="ellipse">
            <a:avLst/>
          </a:prstGeom>
          <a:solidFill>
            <a:srgbClr val="FFFF00">
              <a:alpha val="20000"/>
            </a:srgbClr>
          </a:solidFill>
          <a:ln w="9525">
            <a:solidFill>
              <a:schemeClr val="tx1"/>
            </a:solidFill>
            <a:round/>
            <a:headEnd/>
            <a:tailEnd/>
          </a:ln>
        </p:spPr>
        <p:txBody>
          <a:bodyPr wrap="none" anchor="ctr"/>
          <a:lstStyle/>
          <a:p>
            <a:endParaRPr lang="en-US"/>
          </a:p>
        </p:txBody>
      </p:sp>
      <p:sp>
        <p:nvSpPr>
          <p:cNvPr id="18434" name="Text Box 2"/>
          <p:cNvSpPr txBox="1">
            <a:spLocks noChangeArrowheads="1"/>
          </p:cNvSpPr>
          <p:nvPr/>
        </p:nvSpPr>
        <p:spPr bwMode="auto">
          <a:xfrm>
            <a:off x="76200" y="76200"/>
            <a:ext cx="9067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b="0" i="0"/>
              <a:t>Find rebalancing case</a:t>
            </a:r>
          </a:p>
        </p:txBody>
      </p:sp>
      <p:sp>
        <p:nvSpPr>
          <p:cNvPr id="18435" name="Text Box 3"/>
          <p:cNvSpPr txBox="1">
            <a:spLocks noChangeArrowheads="1"/>
          </p:cNvSpPr>
          <p:nvPr/>
        </p:nvSpPr>
        <p:spPr bwMode="auto">
          <a:xfrm>
            <a:off x="0" y="6324600"/>
            <a:ext cx="9067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b="0" i="0"/>
              <a:t>Next step: Rebalance (Step 1) --&gt;  </a:t>
            </a:r>
          </a:p>
        </p:txBody>
      </p:sp>
      <p:sp>
        <p:nvSpPr>
          <p:cNvPr id="18459" name="Text Box 27"/>
          <p:cNvSpPr txBox="1">
            <a:spLocks noChangeArrowheads="1"/>
          </p:cNvSpPr>
          <p:nvPr/>
        </p:nvSpPr>
        <p:spPr bwMode="auto">
          <a:xfrm>
            <a:off x="6705600" y="0"/>
            <a:ext cx="24384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2000" b="0" i="0">
                <a:solidFill>
                  <a:srgbClr val="FF0000"/>
                </a:solidFill>
              </a:rPr>
              <a:t>Balance not ok</a:t>
            </a:r>
          </a:p>
        </p:txBody>
      </p:sp>
      <p:cxnSp>
        <p:nvCxnSpPr>
          <p:cNvPr id="18462" name="AutoShape 30"/>
          <p:cNvCxnSpPr>
            <a:cxnSpLocks noChangeShapeType="1"/>
            <a:stCxn id="18474" idx="3"/>
            <a:endCxn id="18506" idx="7"/>
          </p:cNvCxnSpPr>
          <p:nvPr/>
        </p:nvCxnSpPr>
        <p:spPr bwMode="auto">
          <a:xfrm flipH="1">
            <a:off x="981075" y="3073400"/>
            <a:ext cx="212725" cy="369888"/>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8463" name="AutoShape 31"/>
          <p:cNvCxnSpPr>
            <a:cxnSpLocks noChangeShapeType="1"/>
            <a:stCxn id="18483" idx="3"/>
            <a:endCxn id="18480" idx="7"/>
          </p:cNvCxnSpPr>
          <p:nvPr/>
        </p:nvCxnSpPr>
        <p:spPr bwMode="auto">
          <a:xfrm flipH="1">
            <a:off x="2962275" y="1249363"/>
            <a:ext cx="1889125" cy="7461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8464" name="AutoShape 32"/>
          <p:cNvCxnSpPr>
            <a:cxnSpLocks noChangeShapeType="1"/>
            <a:stCxn id="18483" idx="5"/>
            <a:endCxn id="18486" idx="1"/>
          </p:cNvCxnSpPr>
          <p:nvPr/>
        </p:nvCxnSpPr>
        <p:spPr bwMode="auto">
          <a:xfrm>
            <a:off x="5095875" y="1249363"/>
            <a:ext cx="2076450" cy="8223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8465" name="AutoShape 33"/>
          <p:cNvCxnSpPr>
            <a:cxnSpLocks noChangeShapeType="1"/>
            <a:stCxn id="18486" idx="5"/>
            <a:endCxn id="18488" idx="1"/>
          </p:cNvCxnSpPr>
          <p:nvPr/>
        </p:nvCxnSpPr>
        <p:spPr bwMode="auto">
          <a:xfrm>
            <a:off x="7416800" y="2316163"/>
            <a:ext cx="441325" cy="5175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8466" name="AutoShape 34"/>
          <p:cNvCxnSpPr>
            <a:cxnSpLocks noChangeShapeType="1"/>
            <a:stCxn id="18480" idx="5"/>
            <a:endCxn id="18503" idx="1"/>
          </p:cNvCxnSpPr>
          <p:nvPr/>
        </p:nvCxnSpPr>
        <p:spPr bwMode="auto">
          <a:xfrm>
            <a:off x="2962275" y="2239963"/>
            <a:ext cx="1320800" cy="5937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8467" name="AutoShape 35"/>
          <p:cNvCxnSpPr>
            <a:cxnSpLocks noChangeShapeType="1"/>
            <a:stCxn id="18503" idx="5"/>
            <a:endCxn id="18500" idx="1"/>
          </p:cNvCxnSpPr>
          <p:nvPr/>
        </p:nvCxnSpPr>
        <p:spPr bwMode="auto">
          <a:xfrm>
            <a:off x="4527550" y="3078163"/>
            <a:ext cx="434975" cy="4413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8468" name="AutoShape 36"/>
          <p:cNvCxnSpPr>
            <a:cxnSpLocks noChangeShapeType="1"/>
            <a:stCxn id="18480" idx="3"/>
            <a:endCxn id="18474" idx="7"/>
          </p:cNvCxnSpPr>
          <p:nvPr/>
        </p:nvCxnSpPr>
        <p:spPr bwMode="auto">
          <a:xfrm flipH="1">
            <a:off x="1438275" y="2239963"/>
            <a:ext cx="1279525" cy="588962"/>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8469" name="AutoShape 37"/>
          <p:cNvCxnSpPr>
            <a:cxnSpLocks noChangeShapeType="1"/>
            <a:stCxn id="18477" idx="1"/>
            <a:endCxn id="18474" idx="5"/>
          </p:cNvCxnSpPr>
          <p:nvPr/>
        </p:nvCxnSpPr>
        <p:spPr bwMode="auto">
          <a:xfrm flipH="1" flipV="1">
            <a:off x="1438275" y="3073400"/>
            <a:ext cx="365125" cy="369888"/>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8470" name="AutoShape 38"/>
          <p:cNvCxnSpPr>
            <a:cxnSpLocks noChangeShapeType="1"/>
            <a:stCxn id="18503" idx="3"/>
            <a:endCxn id="18497" idx="7"/>
          </p:cNvCxnSpPr>
          <p:nvPr/>
        </p:nvCxnSpPr>
        <p:spPr bwMode="auto">
          <a:xfrm flipH="1">
            <a:off x="3994150" y="3078163"/>
            <a:ext cx="288925" cy="3651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8471" name="AutoShape 39"/>
          <p:cNvCxnSpPr>
            <a:cxnSpLocks noChangeShapeType="1"/>
            <a:stCxn id="18486" idx="3"/>
            <a:endCxn id="18494" idx="7"/>
          </p:cNvCxnSpPr>
          <p:nvPr/>
        </p:nvCxnSpPr>
        <p:spPr bwMode="auto">
          <a:xfrm flipH="1">
            <a:off x="6654800" y="2316163"/>
            <a:ext cx="517525" cy="5175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8472" name="AutoShape 40"/>
          <p:cNvCxnSpPr>
            <a:cxnSpLocks noChangeShapeType="1"/>
            <a:stCxn id="18488" idx="3"/>
            <a:endCxn id="18491" idx="7"/>
          </p:cNvCxnSpPr>
          <p:nvPr/>
        </p:nvCxnSpPr>
        <p:spPr bwMode="auto">
          <a:xfrm flipH="1">
            <a:off x="7527925" y="3078163"/>
            <a:ext cx="330200" cy="4413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nvGrpSpPr>
          <p:cNvPr id="18473" name="Group 41"/>
          <p:cNvGrpSpPr>
            <a:grpSpLocks/>
          </p:cNvGrpSpPr>
          <p:nvPr/>
        </p:nvGrpSpPr>
        <p:grpSpPr bwMode="auto">
          <a:xfrm>
            <a:off x="685800" y="2738438"/>
            <a:ext cx="803275" cy="385762"/>
            <a:chOff x="720" y="1776"/>
            <a:chExt cx="506" cy="243"/>
          </a:xfrm>
        </p:grpSpPr>
        <p:sp>
          <p:nvSpPr>
            <p:cNvPr id="18474" name="Oval 42"/>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a:t>
              </a:r>
            </a:p>
          </p:txBody>
        </p:sp>
        <p:sp>
          <p:nvSpPr>
            <p:cNvPr id="18475" name="Text Box 43"/>
            <p:cNvSpPr txBox="1">
              <a:spLocks noChangeArrowheads="1"/>
            </p:cNvSpPr>
            <p:nvPr/>
          </p:nvSpPr>
          <p:spPr bwMode="auto">
            <a:xfrm>
              <a:off x="720" y="1776"/>
              <a:ext cx="288"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grpSp>
        <p:nvGrpSpPr>
          <p:cNvPr id="18476" name="Group 44"/>
          <p:cNvGrpSpPr>
            <a:grpSpLocks/>
          </p:cNvGrpSpPr>
          <p:nvPr/>
        </p:nvGrpSpPr>
        <p:grpSpPr bwMode="auto">
          <a:xfrm>
            <a:off x="1371600" y="3352800"/>
            <a:ext cx="727075" cy="385763"/>
            <a:chOff x="1104" y="1392"/>
            <a:chExt cx="458" cy="243"/>
          </a:xfrm>
        </p:grpSpPr>
        <p:sp>
          <p:nvSpPr>
            <p:cNvPr id="18477" name="Oval 45"/>
            <p:cNvSpPr>
              <a:spLocks noChangeArrowheads="1"/>
            </p:cNvSpPr>
            <p:nvPr/>
          </p:nvSpPr>
          <p:spPr bwMode="auto">
            <a:xfrm>
              <a:off x="1344" y="1417"/>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25</a:t>
              </a:r>
            </a:p>
          </p:txBody>
        </p:sp>
        <p:sp>
          <p:nvSpPr>
            <p:cNvPr id="18478" name="Text Box 46"/>
            <p:cNvSpPr txBox="1">
              <a:spLocks noChangeArrowheads="1"/>
            </p:cNvSpPr>
            <p:nvPr/>
          </p:nvSpPr>
          <p:spPr bwMode="auto">
            <a:xfrm>
              <a:off x="1104" y="1392"/>
              <a:ext cx="240"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grpSp>
        <p:nvGrpSpPr>
          <p:cNvPr id="18479" name="Group 47"/>
          <p:cNvGrpSpPr>
            <a:grpSpLocks/>
          </p:cNvGrpSpPr>
          <p:nvPr/>
        </p:nvGrpSpPr>
        <p:grpSpPr bwMode="auto">
          <a:xfrm>
            <a:off x="1828800" y="1905000"/>
            <a:ext cx="1184275" cy="385763"/>
            <a:chOff x="1248" y="960"/>
            <a:chExt cx="746" cy="243"/>
          </a:xfrm>
        </p:grpSpPr>
        <p:sp>
          <p:nvSpPr>
            <p:cNvPr id="18480" name="Oval 48"/>
            <p:cNvSpPr>
              <a:spLocks noChangeArrowheads="1"/>
            </p:cNvSpPr>
            <p:nvPr/>
          </p:nvSpPr>
          <p:spPr bwMode="auto">
            <a:xfrm>
              <a:off x="1776" y="985"/>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26</a:t>
              </a:r>
            </a:p>
          </p:txBody>
        </p:sp>
        <p:sp>
          <p:nvSpPr>
            <p:cNvPr id="18481" name="Text Box 49"/>
            <p:cNvSpPr txBox="1">
              <a:spLocks noChangeArrowheads="1"/>
            </p:cNvSpPr>
            <p:nvPr/>
          </p:nvSpPr>
          <p:spPr bwMode="auto">
            <a:xfrm>
              <a:off x="1248" y="960"/>
              <a:ext cx="528"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solidFill>
                    <a:srgbClr val="FF0000"/>
                  </a:solidFill>
                </a:rPr>
                <a:t>+2</a:t>
              </a:r>
              <a:endParaRPr lang="en-US" altLang="en-US" sz="1400" b="0" i="0"/>
            </a:p>
          </p:txBody>
        </p:sp>
      </p:grpSp>
      <p:grpSp>
        <p:nvGrpSpPr>
          <p:cNvPr id="18482" name="Group 50"/>
          <p:cNvGrpSpPr>
            <a:grpSpLocks/>
          </p:cNvGrpSpPr>
          <p:nvPr/>
        </p:nvGrpSpPr>
        <p:grpSpPr bwMode="auto">
          <a:xfrm>
            <a:off x="3733800" y="914400"/>
            <a:ext cx="1412875" cy="385763"/>
            <a:chOff x="2064" y="576"/>
            <a:chExt cx="890" cy="243"/>
          </a:xfrm>
        </p:grpSpPr>
        <p:sp>
          <p:nvSpPr>
            <p:cNvPr id="18483" name="Oval 51"/>
            <p:cNvSpPr>
              <a:spLocks noChangeArrowheads="1"/>
            </p:cNvSpPr>
            <p:nvPr/>
          </p:nvSpPr>
          <p:spPr bwMode="auto">
            <a:xfrm>
              <a:off x="2736" y="6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57</a:t>
              </a:r>
            </a:p>
          </p:txBody>
        </p:sp>
        <p:sp>
          <p:nvSpPr>
            <p:cNvPr id="18484" name="Text Box 52"/>
            <p:cNvSpPr txBox="1">
              <a:spLocks noChangeArrowheads="1"/>
            </p:cNvSpPr>
            <p:nvPr/>
          </p:nvSpPr>
          <p:spPr bwMode="auto">
            <a:xfrm>
              <a:off x="2064" y="576"/>
              <a:ext cx="67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solidFill>
                    <a:srgbClr val="FF0000"/>
                  </a:solidFill>
                </a:rPr>
                <a:t>-2</a:t>
              </a:r>
              <a:endParaRPr lang="en-US" altLang="en-US" sz="1400" b="0" i="0"/>
            </a:p>
          </p:txBody>
        </p:sp>
      </p:grpSp>
      <p:grpSp>
        <p:nvGrpSpPr>
          <p:cNvPr id="18485" name="Group 53"/>
          <p:cNvGrpSpPr>
            <a:grpSpLocks/>
          </p:cNvGrpSpPr>
          <p:nvPr/>
        </p:nvGrpSpPr>
        <p:grpSpPr bwMode="auto">
          <a:xfrm>
            <a:off x="6511925" y="1981200"/>
            <a:ext cx="955675" cy="385763"/>
            <a:chOff x="3312" y="960"/>
            <a:chExt cx="602" cy="243"/>
          </a:xfrm>
        </p:grpSpPr>
        <p:sp>
          <p:nvSpPr>
            <p:cNvPr id="18486" name="Oval 54"/>
            <p:cNvSpPr>
              <a:spLocks noChangeArrowheads="1"/>
            </p:cNvSpPr>
            <p:nvPr/>
          </p:nvSpPr>
          <p:spPr bwMode="auto">
            <a:xfrm>
              <a:off x="3696" y="985"/>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72</a:t>
              </a:r>
            </a:p>
          </p:txBody>
        </p:sp>
        <p:sp>
          <p:nvSpPr>
            <p:cNvPr id="18487" name="Text Box 55"/>
            <p:cNvSpPr txBox="1">
              <a:spLocks noChangeArrowheads="1"/>
            </p:cNvSpPr>
            <p:nvPr/>
          </p:nvSpPr>
          <p:spPr bwMode="auto">
            <a:xfrm>
              <a:off x="3312" y="960"/>
              <a:ext cx="38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grpSp>
        <p:nvGrpSpPr>
          <p:cNvPr id="18512" name="Group 80"/>
          <p:cNvGrpSpPr>
            <a:grpSpLocks/>
          </p:cNvGrpSpPr>
          <p:nvPr/>
        </p:nvGrpSpPr>
        <p:grpSpPr bwMode="auto">
          <a:xfrm>
            <a:off x="7273925" y="2743200"/>
            <a:ext cx="879475" cy="385763"/>
            <a:chOff x="4246" y="1728"/>
            <a:chExt cx="554" cy="243"/>
          </a:xfrm>
        </p:grpSpPr>
        <p:sp>
          <p:nvSpPr>
            <p:cNvPr id="18488" name="Oval 56"/>
            <p:cNvSpPr>
              <a:spLocks noChangeArrowheads="1"/>
            </p:cNvSpPr>
            <p:nvPr/>
          </p:nvSpPr>
          <p:spPr bwMode="auto">
            <a:xfrm>
              <a:off x="4582" y="1753"/>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94</a:t>
              </a:r>
            </a:p>
          </p:txBody>
        </p:sp>
        <p:sp>
          <p:nvSpPr>
            <p:cNvPr id="18489" name="Text Box 57"/>
            <p:cNvSpPr txBox="1">
              <a:spLocks noChangeArrowheads="1"/>
            </p:cNvSpPr>
            <p:nvPr/>
          </p:nvSpPr>
          <p:spPr bwMode="auto">
            <a:xfrm>
              <a:off x="4246" y="1728"/>
              <a:ext cx="336"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grpSp>
        <p:nvGrpSpPr>
          <p:cNvPr id="18490" name="Group 58"/>
          <p:cNvGrpSpPr>
            <a:grpSpLocks/>
          </p:cNvGrpSpPr>
          <p:nvPr/>
        </p:nvGrpSpPr>
        <p:grpSpPr bwMode="auto">
          <a:xfrm>
            <a:off x="7004050" y="3429000"/>
            <a:ext cx="574675" cy="385763"/>
            <a:chOff x="864" y="1776"/>
            <a:chExt cx="362" cy="243"/>
          </a:xfrm>
        </p:grpSpPr>
        <p:sp>
          <p:nvSpPr>
            <p:cNvPr id="18491" name="Oval 59"/>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78</a:t>
              </a:r>
            </a:p>
          </p:txBody>
        </p:sp>
        <p:sp>
          <p:nvSpPr>
            <p:cNvPr id="18492" name="Text Box 60"/>
            <p:cNvSpPr txBox="1">
              <a:spLocks noChangeArrowheads="1"/>
            </p:cNvSpPr>
            <p:nvPr/>
          </p:nvSpPr>
          <p:spPr bwMode="auto">
            <a:xfrm>
              <a:off x="864" y="1776"/>
              <a:ext cx="14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sz="1400" b="0" i="0"/>
                <a:t>0</a:t>
              </a:r>
            </a:p>
          </p:txBody>
        </p:sp>
      </p:grpSp>
      <p:grpSp>
        <p:nvGrpSpPr>
          <p:cNvPr id="18493" name="Group 61"/>
          <p:cNvGrpSpPr>
            <a:grpSpLocks/>
          </p:cNvGrpSpPr>
          <p:nvPr/>
        </p:nvGrpSpPr>
        <p:grpSpPr bwMode="auto">
          <a:xfrm>
            <a:off x="6130925" y="2743200"/>
            <a:ext cx="574675" cy="385763"/>
            <a:chOff x="864" y="1776"/>
            <a:chExt cx="362" cy="243"/>
          </a:xfrm>
        </p:grpSpPr>
        <p:sp>
          <p:nvSpPr>
            <p:cNvPr id="18494" name="Oval 62"/>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63</a:t>
              </a:r>
            </a:p>
          </p:txBody>
        </p:sp>
        <p:sp>
          <p:nvSpPr>
            <p:cNvPr id="18495" name="Text Box 63"/>
            <p:cNvSpPr txBox="1">
              <a:spLocks noChangeArrowheads="1"/>
            </p:cNvSpPr>
            <p:nvPr/>
          </p:nvSpPr>
          <p:spPr bwMode="auto">
            <a:xfrm>
              <a:off x="864" y="1776"/>
              <a:ext cx="14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sz="1400" b="0" i="0"/>
                <a:t>0</a:t>
              </a:r>
            </a:p>
          </p:txBody>
        </p:sp>
      </p:grpSp>
      <p:grpSp>
        <p:nvGrpSpPr>
          <p:cNvPr id="18496" name="Group 64"/>
          <p:cNvGrpSpPr>
            <a:grpSpLocks/>
          </p:cNvGrpSpPr>
          <p:nvPr/>
        </p:nvGrpSpPr>
        <p:grpSpPr bwMode="auto">
          <a:xfrm>
            <a:off x="3124200" y="3352800"/>
            <a:ext cx="920750" cy="385763"/>
            <a:chOff x="1824" y="2112"/>
            <a:chExt cx="580" cy="243"/>
          </a:xfrm>
        </p:grpSpPr>
        <p:sp>
          <p:nvSpPr>
            <p:cNvPr id="18497" name="Oval 65"/>
            <p:cNvSpPr>
              <a:spLocks noChangeArrowheads="1"/>
            </p:cNvSpPr>
            <p:nvPr/>
          </p:nvSpPr>
          <p:spPr bwMode="auto">
            <a:xfrm>
              <a:off x="2186" y="2137"/>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37</a:t>
              </a:r>
            </a:p>
          </p:txBody>
        </p:sp>
        <p:sp>
          <p:nvSpPr>
            <p:cNvPr id="18498" name="Text Box 66"/>
            <p:cNvSpPr txBox="1">
              <a:spLocks noChangeArrowheads="1"/>
            </p:cNvSpPr>
            <p:nvPr/>
          </p:nvSpPr>
          <p:spPr bwMode="auto">
            <a:xfrm>
              <a:off x="1824" y="2112"/>
              <a:ext cx="36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solidFill>
                    <a:srgbClr val="FF0000"/>
                  </a:solidFill>
                </a:rPr>
                <a:t>-2</a:t>
              </a:r>
              <a:endParaRPr lang="en-US" altLang="en-US" sz="1400" b="0" i="0"/>
            </a:p>
          </p:txBody>
        </p:sp>
      </p:grpSp>
      <p:grpSp>
        <p:nvGrpSpPr>
          <p:cNvPr id="18499" name="Group 67"/>
          <p:cNvGrpSpPr>
            <a:grpSpLocks/>
          </p:cNvGrpSpPr>
          <p:nvPr/>
        </p:nvGrpSpPr>
        <p:grpSpPr bwMode="auto">
          <a:xfrm>
            <a:off x="4337050" y="3429000"/>
            <a:ext cx="920750" cy="385763"/>
            <a:chOff x="2496" y="2160"/>
            <a:chExt cx="580" cy="243"/>
          </a:xfrm>
        </p:grpSpPr>
        <p:sp>
          <p:nvSpPr>
            <p:cNvPr id="18500" name="Oval 68"/>
            <p:cNvSpPr>
              <a:spLocks noChangeArrowheads="1"/>
            </p:cNvSpPr>
            <p:nvPr/>
          </p:nvSpPr>
          <p:spPr bwMode="auto">
            <a:xfrm>
              <a:off x="2858" y="2185"/>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47</a:t>
              </a:r>
            </a:p>
          </p:txBody>
        </p:sp>
        <p:sp>
          <p:nvSpPr>
            <p:cNvPr id="18501" name="Text Box 69"/>
            <p:cNvSpPr txBox="1">
              <a:spLocks noChangeArrowheads="1"/>
            </p:cNvSpPr>
            <p:nvPr/>
          </p:nvSpPr>
          <p:spPr bwMode="auto">
            <a:xfrm>
              <a:off x="2496" y="2160"/>
              <a:ext cx="36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grpSp>
        <p:nvGrpSpPr>
          <p:cNvPr id="18502" name="Group 70"/>
          <p:cNvGrpSpPr>
            <a:grpSpLocks/>
          </p:cNvGrpSpPr>
          <p:nvPr/>
        </p:nvGrpSpPr>
        <p:grpSpPr bwMode="auto">
          <a:xfrm>
            <a:off x="3581400" y="2743200"/>
            <a:ext cx="996950" cy="385763"/>
            <a:chOff x="2112" y="1728"/>
            <a:chExt cx="628" cy="243"/>
          </a:xfrm>
        </p:grpSpPr>
        <p:sp>
          <p:nvSpPr>
            <p:cNvPr id="18503" name="Oval 71"/>
            <p:cNvSpPr>
              <a:spLocks noChangeArrowheads="1"/>
            </p:cNvSpPr>
            <p:nvPr/>
          </p:nvSpPr>
          <p:spPr bwMode="auto">
            <a:xfrm>
              <a:off x="2522" y="1753"/>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38</a:t>
              </a:r>
            </a:p>
          </p:txBody>
        </p:sp>
        <p:sp>
          <p:nvSpPr>
            <p:cNvPr id="18504" name="Text Box 72"/>
            <p:cNvSpPr txBox="1">
              <a:spLocks noChangeArrowheads="1"/>
            </p:cNvSpPr>
            <p:nvPr/>
          </p:nvSpPr>
          <p:spPr bwMode="auto">
            <a:xfrm>
              <a:off x="2112" y="1728"/>
              <a:ext cx="410"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solidFill>
                    <a:srgbClr val="FF0000"/>
                  </a:solidFill>
                </a:rPr>
                <a:t>-2</a:t>
              </a:r>
              <a:endParaRPr lang="en-US" altLang="en-US" sz="1400" b="0" i="0"/>
            </a:p>
          </p:txBody>
        </p:sp>
      </p:grpSp>
      <p:grpSp>
        <p:nvGrpSpPr>
          <p:cNvPr id="18505" name="Group 73"/>
          <p:cNvGrpSpPr>
            <a:grpSpLocks/>
          </p:cNvGrpSpPr>
          <p:nvPr/>
        </p:nvGrpSpPr>
        <p:grpSpPr bwMode="auto">
          <a:xfrm>
            <a:off x="228600" y="3352800"/>
            <a:ext cx="803275" cy="385763"/>
            <a:chOff x="768" y="1872"/>
            <a:chExt cx="506" cy="243"/>
          </a:xfrm>
        </p:grpSpPr>
        <p:sp>
          <p:nvSpPr>
            <p:cNvPr id="18506" name="Oval 74"/>
            <p:cNvSpPr>
              <a:spLocks noChangeArrowheads="1"/>
            </p:cNvSpPr>
            <p:nvPr/>
          </p:nvSpPr>
          <p:spPr bwMode="auto">
            <a:xfrm>
              <a:off x="1056" y="1897"/>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1</a:t>
              </a:r>
            </a:p>
          </p:txBody>
        </p:sp>
        <p:sp>
          <p:nvSpPr>
            <p:cNvPr id="18507" name="Text Box 75"/>
            <p:cNvSpPr txBox="1">
              <a:spLocks noChangeArrowheads="1"/>
            </p:cNvSpPr>
            <p:nvPr/>
          </p:nvSpPr>
          <p:spPr bwMode="auto">
            <a:xfrm>
              <a:off x="768" y="1872"/>
              <a:ext cx="288"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sp>
        <p:nvSpPr>
          <p:cNvPr id="18509" name="Oval 77"/>
          <p:cNvSpPr>
            <a:spLocks noChangeArrowheads="1"/>
          </p:cNvSpPr>
          <p:nvPr/>
        </p:nvSpPr>
        <p:spPr bwMode="auto">
          <a:xfrm>
            <a:off x="3082925" y="4073525"/>
            <a:ext cx="346075" cy="346075"/>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30</a:t>
            </a:r>
          </a:p>
        </p:txBody>
      </p:sp>
      <p:sp>
        <p:nvSpPr>
          <p:cNvPr id="18510" name="Text Box 78"/>
          <p:cNvSpPr txBox="1">
            <a:spLocks noChangeArrowheads="1"/>
          </p:cNvSpPr>
          <p:nvPr/>
        </p:nvSpPr>
        <p:spPr bwMode="auto">
          <a:xfrm>
            <a:off x="2667000" y="4033838"/>
            <a:ext cx="415925" cy="30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cxnSp>
        <p:nvCxnSpPr>
          <p:cNvPr id="18511" name="AutoShape 79"/>
          <p:cNvCxnSpPr>
            <a:cxnSpLocks noChangeShapeType="1"/>
            <a:stCxn id="18497" idx="3"/>
            <a:endCxn id="18509" idx="7"/>
          </p:cNvCxnSpPr>
          <p:nvPr/>
        </p:nvCxnSpPr>
        <p:spPr bwMode="auto">
          <a:xfrm flipH="1">
            <a:off x="3378200" y="3687763"/>
            <a:ext cx="371475" cy="436562"/>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8514" name="Oval 82"/>
          <p:cNvSpPr>
            <a:spLocks noChangeArrowheads="1"/>
          </p:cNvSpPr>
          <p:nvPr/>
        </p:nvSpPr>
        <p:spPr bwMode="auto">
          <a:xfrm>
            <a:off x="3540125" y="4606925"/>
            <a:ext cx="346075" cy="346075"/>
          </a:xfrm>
          <a:prstGeom prst="ellipse">
            <a:avLst/>
          </a:prstGeom>
          <a:solidFill>
            <a:srgbClr val="FF00FF">
              <a:alpha val="53999"/>
            </a:srgbClr>
          </a:solidFill>
          <a:ln w="9525">
            <a:solidFill>
              <a:schemeClr val="tx1"/>
            </a:solidFill>
            <a:round/>
            <a:headEnd/>
            <a:tailEnd/>
          </a:ln>
        </p:spPr>
        <p:txBody>
          <a:bodyPr wrap="none" anchor="ctr"/>
          <a:lstStyle/>
          <a:p>
            <a:pPr algn="ctr"/>
            <a:r>
              <a:rPr lang="en-US" altLang="en-US" sz="1600" b="0" i="0"/>
              <a:t>32</a:t>
            </a:r>
          </a:p>
        </p:txBody>
      </p:sp>
      <p:sp>
        <p:nvSpPr>
          <p:cNvPr id="18515" name="Text Box 83"/>
          <p:cNvSpPr txBox="1">
            <a:spLocks noChangeArrowheads="1"/>
          </p:cNvSpPr>
          <p:nvPr/>
        </p:nvSpPr>
        <p:spPr bwMode="auto">
          <a:xfrm>
            <a:off x="3124200" y="4567238"/>
            <a:ext cx="415925" cy="30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cxnSp>
        <p:nvCxnSpPr>
          <p:cNvPr id="18518" name="AutoShape 86"/>
          <p:cNvCxnSpPr>
            <a:cxnSpLocks noChangeShapeType="1"/>
            <a:stCxn id="18509" idx="5"/>
            <a:endCxn id="18514" idx="1"/>
          </p:cNvCxnSpPr>
          <p:nvPr/>
        </p:nvCxnSpPr>
        <p:spPr bwMode="auto">
          <a:xfrm>
            <a:off x="3378200" y="4368800"/>
            <a:ext cx="212725" cy="2889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8520" name="Text Box 88"/>
          <p:cNvSpPr txBox="1">
            <a:spLocks noChangeArrowheads="1"/>
          </p:cNvSpPr>
          <p:nvPr/>
        </p:nvSpPr>
        <p:spPr bwMode="auto">
          <a:xfrm>
            <a:off x="762000" y="4191000"/>
            <a:ext cx="1981200" cy="366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800" b="0" i="0"/>
              <a:t>Left Right Case</a:t>
            </a:r>
          </a:p>
        </p:txBody>
      </p:sp>
    </p:spTree>
    <p:extLst>
      <p:ext uri="{BB962C8B-B14F-4D97-AF65-F5344CB8AC3E}">
        <p14:creationId xmlns:p14="http://schemas.microsoft.com/office/powerpoint/2010/main" val="23971277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Text Box 3"/>
          <p:cNvSpPr txBox="1">
            <a:spLocks noChangeArrowheads="1"/>
          </p:cNvSpPr>
          <p:nvPr/>
        </p:nvSpPr>
        <p:spPr bwMode="auto">
          <a:xfrm>
            <a:off x="76200" y="76200"/>
            <a:ext cx="9067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b="0" i="0"/>
              <a:t>Rebalance (Step 1)</a:t>
            </a:r>
          </a:p>
        </p:txBody>
      </p:sp>
      <p:sp>
        <p:nvSpPr>
          <p:cNvPr id="23556" name="Text Box 4"/>
          <p:cNvSpPr txBox="1">
            <a:spLocks noChangeArrowheads="1"/>
          </p:cNvSpPr>
          <p:nvPr/>
        </p:nvSpPr>
        <p:spPr bwMode="auto">
          <a:xfrm>
            <a:off x="0" y="6324600"/>
            <a:ext cx="9067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b="0" i="0"/>
              <a:t>Next step: Rebalance (Step 2) --&gt;  </a:t>
            </a:r>
          </a:p>
        </p:txBody>
      </p:sp>
      <p:sp>
        <p:nvSpPr>
          <p:cNvPr id="23557" name="Text Box 5"/>
          <p:cNvSpPr txBox="1">
            <a:spLocks noChangeArrowheads="1"/>
          </p:cNvSpPr>
          <p:nvPr/>
        </p:nvSpPr>
        <p:spPr bwMode="auto">
          <a:xfrm>
            <a:off x="6705600" y="0"/>
            <a:ext cx="24384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2000" b="0" i="0">
                <a:solidFill>
                  <a:srgbClr val="FF0000"/>
                </a:solidFill>
              </a:rPr>
              <a:t>Balance not ok</a:t>
            </a:r>
          </a:p>
        </p:txBody>
      </p:sp>
      <p:cxnSp>
        <p:nvCxnSpPr>
          <p:cNvPr id="23558" name="AutoShape 6"/>
          <p:cNvCxnSpPr>
            <a:cxnSpLocks noChangeShapeType="1"/>
            <a:stCxn id="23570" idx="3"/>
            <a:endCxn id="23603" idx="7"/>
          </p:cNvCxnSpPr>
          <p:nvPr/>
        </p:nvCxnSpPr>
        <p:spPr bwMode="auto">
          <a:xfrm flipH="1">
            <a:off x="676275" y="3149600"/>
            <a:ext cx="365125" cy="369888"/>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3559" name="AutoShape 7"/>
          <p:cNvCxnSpPr>
            <a:cxnSpLocks noChangeShapeType="1"/>
            <a:stCxn id="23579" idx="3"/>
            <a:endCxn id="23576" idx="7"/>
          </p:cNvCxnSpPr>
          <p:nvPr/>
        </p:nvCxnSpPr>
        <p:spPr bwMode="auto">
          <a:xfrm flipH="1">
            <a:off x="2886075" y="1249363"/>
            <a:ext cx="1965325" cy="817562"/>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3560" name="AutoShape 8"/>
          <p:cNvCxnSpPr>
            <a:cxnSpLocks noChangeShapeType="1"/>
            <a:stCxn id="23579" idx="5"/>
            <a:endCxn id="23582" idx="1"/>
          </p:cNvCxnSpPr>
          <p:nvPr/>
        </p:nvCxnSpPr>
        <p:spPr bwMode="auto">
          <a:xfrm>
            <a:off x="5095875" y="1249363"/>
            <a:ext cx="2076450" cy="8223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3561" name="AutoShape 9"/>
          <p:cNvCxnSpPr>
            <a:cxnSpLocks noChangeShapeType="1"/>
            <a:stCxn id="23582" idx="5"/>
            <a:endCxn id="23585" idx="1"/>
          </p:cNvCxnSpPr>
          <p:nvPr/>
        </p:nvCxnSpPr>
        <p:spPr bwMode="auto">
          <a:xfrm>
            <a:off x="7416800" y="2316163"/>
            <a:ext cx="441325" cy="588962"/>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3562" name="AutoShape 10"/>
          <p:cNvCxnSpPr>
            <a:cxnSpLocks noChangeShapeType="1"/>
            <a:stCxn id="23576" idx="5"/>
            <a:endCxn id="23600" idx="1"/>
          </p:cNvCxnSpPr>
          <p:nvPr/>
        </p:nvCxnSpPr>
        <p:spPr bwMode="auto">
          <a:xfrm>
            <a:off x="2886075" y="2311400"/>
            <a:ext cx="1397000" cy="6699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3563" name="AutoShape 11"/>
          <p:cNvCxnSpPr>
            <a:cxnSpLocks noChangeShapeType="1"/>
            <a:stCxn id="23600" idx="5"/>
            <a:endCxn id="23597" idx="1"/>
          </p:cNvCxnSpPr>
          <p:nvPr/>
        </p:nvCxnSpPr>
        <p:spPr bwMode="auto">
          <a:xfrm>
            <a:off x="4527550" y="3225800"/>
            <a:ext cx="434975" cy="4413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3564" name="AutoShape 12"/>
          <p:cNvCxnSpPr>
            <a:cxnSpLocks noChangeShapeType="1"/>
            <a:stCxn id="23576" idx="3"/>
            <a:endCxn id="23570" idx="7"/>
          </p:cNvCxnSpPr>
          <p:nvPr/>
        </p:nvCxnSpPr>
        <p:spPr bwMode="auto">
          <a:xfrm flipH="1">
            <a:off x="1285875" y="2311400"/>
            <a:ext cx="1355725" cy="5937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3565" name="AutoShape 13"/>
          <p:cNvCxnSpPr>
            <a:cxnSpLocks noChangeShapeType="1"/>
            <a:stCxn id="23573" idx="1"/>
            <a:endCxn id="23570" idx="5"/>
          </p:cNvCxnSpPr>
          <p:nvPr/>
        </p:nvCxnSpPr>
        <p:spPr bwMode="auto">
          <a:xfrm flipH="1" flipV="1">
            <a:off x="1285875" y="3149600"/>
            <a:ext cx="365125" cy="369888"/>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3566" name="AutoShape 14"/>
          <p:cNvCxnSpPr>
            <a:cxnSpLocks noChangeShapeType="1"/>
            <a:stCxn id="23600" idx="3"/>
            <a:endCxn id="23594" idx="7"/>
          </p:cNvCxnSpPr>
          <p:nvPr/>
        </p:nvCxnSpPr>
        <p:spPr bwMode="auto">
          <a:xfrm flipH="1">
            <a:off x="3994150" y="3225800"/>
            <a:ext cx="288925" cy="3651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3567" name="AutoShape 15"/>
          <p:cNvCxnSpPr>
            <a:cxnSpLocks noChangeShapeType="1"/>
            <a:stCxn id="23582" idx="3"/>
            <a:endCxn id="23591" idx="7"/>
          </p:cNvCxnSpPr>
          <p:nvPr/>
        </p:nvCxnSpPr>
        <p:spPr bwMode="auto">
          <a:xfrm flipH="1">
            <a:off x="6654800" y="2316163"/>
            <a:ext cx="517525" cy="588962"/>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3568" name="AutoShape 16"/>
          <p:cNvCxnSpPr>
            <a:cxnSpLocks noChangeShapeType="1"/>
            <a:stCxn id="23585" idx="3"/>
            <a:endCxn id="23588" idx="7"/>
          </p:cNvCxnSpPr>
          <p:nvPr/>
        </p:nvCxnSpPr>
        <p:spPr bwMode="auto">
          <a:xfrm flipH="1">
            <a:off x="7527925" y="3149600"/>
            <a:ext cx="330200" cy="4413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nvGrpSpPr>
          <p:cNvPr id="23569" name="Group 17"/>
          <p:cNvGrpSpPr>
            <a:grpSpLocks/>
          </p:cNvGrpSpPr>
          <p:nvPr/>
        </p:nvGrpSpPr>
        <p:grpSpPr bwMode="auto">
          <a:xfrm>
            <a:off x="533400" y="2814638"/>
            <a:ext cx="803275" cy="385762"/>
            <a:chOff x="720" y="1776"/>
            <a:chExt cx="506" cy="243"/>
          </a:xfrm>
        </p:grpSpPr>
        <p:sp>
          <p:nvSpPr>
            <p:cNvPr id="23570" name="Oval 18"/>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a:t>
              </a:r>
            </a:p>
          </p:txBody>
        </p:sp>
        <p:sp>
          <p:nvSpPr>
            <p:cNvPr id="23571" name="Text Box 19"/>
            <p:cNvSpPr txBox="1">
              <a:spLocks noChangeArrowheads="1"/>
            </p:cNvSpPr>
            <p:nvPr/>
          </p:nvSpPr>
          <p:spPr bwMode="auto">
            <a:xfrm>
              <a:off x="720" y="1776"/>
              <a:ext cx="288"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grpSp>
        <p:nvGrpSpPr>
          <p:cNvPr id="23572" name="Group 20"/>
          <p:cNvGrpSpPr>
            <a:grpSpLocks/>
          </p:cNvGrpSpPr>
          <p:nvPr/>
        </p:nvGrpSpPr>
        <p:grpSpPr bwMode="auto">
          <a:xfrm>
            <a:off x="1219200" y="3429000"/>
            <a:ext cx="727075" cy="385763"/>
            <a:chOff x="1104" y="1392"/>
            <a:chExt cx="458" cy="243"/>
          </a:xfrm>
        </p:grpSpPr>
        <p:sp>
          <p:nvSpPr>
            <p:cNvPr id="23573" name="Oval 21"/>
            <p:cNvSpPr>
              <a:spLocks noChangeArrowheads="1"/>
            </p:cNvSpPr>
            <p:nvPr/>
          </p:nvSpPr>
          <p:spPr bwMode="auto">
            <a:xfrm>
              <a:off x="1344" y="1417"/>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25</a:t>
              </a:r>
            </a:p>
          </p:txBody>
        </p:sp>
        <p:sp>
          <p:nvSpPr>
            <p:cNvPr id="23574" name="Text Box 22"/>
            <p:cNvSpPr txBox="1">
              <a:spLocks noChangeArrowheads="1"/>
            </p:cNvSpPr>
            <p:nvPr/>
          </p:nvSpPr>
          <p:spPr bwMode="auto">
            <a:xfrm>
              <a:off x="1104" y="1392"/>
              <a:ext cx="240"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grpSp>
        <p:nvGrpSpPr>
          <p:cNvPr id="23575" name="Group 23"/>
          <p:cNvGrpSpPr>
            <a:grpSpLocks/>
          </p:cNvGrpSpPr>
          <p:nvPr/>
        </p:nvGrpSpPr>
        <p:grpSpPr bwMode="auto">
          <a:xfrm>
            <a:off x="1752600" y="1976438"/>
            <a:ext cx="1184275" cy="385762"/>
            <a:chOff x="1248" y="960"/>
            <a:chExt cx="746" cy="243"/>
          </a:xfrm>
        </p:grpSpPr>
        <p:sp>
          <p:nvSpPr>
            <p:cNvPr id="23576" name="Oval 24"/>
            <p:cNvSpPr>
              <a:spLocks noChangeArrowheads="1"/>
            </p:cNvSpPr>
            <p:nvPr/>
          </p:nvSpPr>
          <p:spPr bwMode="auto">
            <a:xfrm>
              <a:off x="1776" y="985"/>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26</a:t>
              </a:r>
            </a:p>
          </p:txBody>
        </p:sp>
        <p:sp>
          <p:nvSpPr>
            <p:cNvPr id="23577" name="Text Box 25"/>
            <p:cNvSpPr txBox="1">
              <a:spLocks noChangeArrowheads="1"/>
            </p:cNvSpPr>
            <p:nvPr/>
          </p:nvSpPr>
          <p:spPr bwMode="auto">
            <a:xfrm>
              <a:off x="1248" y="960"/>
              <a:ext cx="528"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solidFill>
                    <a:srgbClr val="FF0000"/>
                  </a:solidFill>
                </a:rPr>
                <a:t>+2</a:t>
              </a:r>
              <a:endParaRPr lang="en-US" altLang="en-US" sz="1400" b="0" i="0"/>
            </a:p>
          </p:txBody>
        </p:sp>
      </p:grpSp>
      <p:grpSp>
        <p:nvGrpSpPr>
          <p:cNvPr id="23578" name="Group 26"/>
          <p:cNvGrpSpPr>
            <a:grpSpLocks/>
          </p:cNvGrpSpPr>
          <p:nvPr/>
        </p:nvGrpSpPr>
        <p:grpSpPr bwMode="auto">
          <a:xfrm>
            <a:off x="3733800" y="914400"/>
            <a:ext cx="1412875" cy="385763"/>
            <a:chOff x="2064" y="576"/>
            <a:chExt cx="890" cy="243"/>
          </a:xfrm>
        </p:grpSpPr>
        <p:sp>
          <p:nvSpPr>
            <p:cNvPr id="23579" name="Oval 27"/>
            <p:cNvSpPr>
              <a:spLocks noChangeArrowheads="1"/>
            </p:cNvSpPr>
            <p:nvPr/>
          </p:nvSpPr>
          <p:spPr bwMode="auto">
            <a:xfrm>
              <a:off x="2736" y="6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57</a:t>
              </a:r>
            </a:p>
          </p:txBody>
        </p:sp>
        <p:sp>
          <p:nvSpPr>
            <p:cNvPr id="23580" name="Text Box 28"/>
            <p:cNvSpPr txBox="1">
              <a:spLocks noChangeArrowheads="1"/>
            </p:cNvSpPr>
            <p:nvPr/>
          </p:nvSpPr>
          <p:spPr bwMode="auto">
            <a:xfrm>
              <a:off x="2064" y="576"/>
              <a:ext cx="67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solidFill>
                    <a:srgbClr val="FF0000"/>
                  </a:solidFill>
                </a:rPr>
                <a:t>-2</a:t>
              </a:r>
              <a:endParaRPr lang="en-US" altLang="en-US" sz="1400" b="0" i="0"/>
            </a:p>
          </p:txBody>
        </p:sp>
      </p:grpSp>
      <p:grpSp>
        <p:nvGrpSpPr>
          <p:cNvPr id="23581" name="Group 29"/>
          <p:cNvGrpSpPr>
            <a:grpSpLocks/>
          </p:cNvGrpSpPr>
          <p:nvPr/>
        </p:nvGrpSpPr>
        <p:grpSpPr bwMode="auto">
          <a:xfrm>
            <a:off x="6511925" y="1981200"/>
            <a:ext cx="955675" cy="385763"/>
            <a:chOff x="3312" y="960"/>
            <a:chExt cx="602" cy="243"/>
          </a:xfrm>
        </p:grpSpPr>
        <p:sp>
          <p:nvSpPr>
            <p:cNvPr id="23582" name="Oval 30"/>
            <p:cNvSpPr>
              <a:spLocks noChangeArrowheads="1"/>
            </p:cNvSpPr>
            <p:nvPr/>
          </p:nvSpPr>
          <p:spPr bwMode="auto">
            <a:xfrm>
              <a:off x="3696" y="985"/>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72</a:t>
              </a:r>
            </a:p>
          </p:txBody>
        </p:sp>
        <p:sp>
          <p:nvSpPr>
            <p:cNvPr id="23583" name="Text Box 31"/>
            <p:cNvSpPr txBox="1">
              <a:spLocks noChangeArrowheads="1"/>
            </p:cNvSpPr>
            <p:nvPr/>
          </p:nvSpPr>
          <p:spPr bwMode="auto">
            <a:xfrm>
              <a:off x="3312" y="960"/>
              <a:ext cx="38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grpSp>
        <p:nvGrpSpPr>
          <p:cNvPr id="23584" name="Group 32"/>
          <p:cNvGrpSpPr>
            <a:grpSpLocks/>
          </p:cNvGrpSpPr>
          <p:nvPr/>
        </p:nvGrpSpPr>
        <p:grpSpPr bwMode="auto">
          <a:xfrm>
            <a:off x="7273925" y="2814638"/>
            <a:ext cx="879475" cy="385762"/>
            <a:chOff x="4246" y="1728"/>
            <a:chExt cx="554" cy="243"/>
          </a:xfrm>
        </p:grpSpPr>
        <p:sp>
          <p:nvSpPr>
            <p:cNvPr id="23585" name="Oval 33"/>
            <p:cNvSpPr>
              <a:spLocks noChangeArrowheads="1"/>
            </p:cNvSpPr>
            <p:nvPr/>
          </p:nvSpPr>
          <p:spPr bwMode="auto">
            <a:xfrm>
              <a:off x="4582" y="1753"/>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94</a:t>
              </a:r>
            </a:p>
          </p:txBody>
        </p:sp>
        <p:sp>
          <p:nvSpPr>
            <p:cNvPr id="23586" name="Text Box 34"/>
            <p:cNvSpPr txBox="1">
              <a:spLocks noChangeArrowheads="1"/>
            </p:cNvSpPr>
            <p:nvPr/>
          </p:nvSpPr>
          <p:spPr bwMode="auto">
            <a:xfrm>
              <a:off x="4246" y="1728"/>
              <a:ext cx="336"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grpSp>
        <p:nvGrpSpPr>
          <p:cNvPr id="23587" name="Group 35"/>
          <p:cNvGrpSpPr>
            <a:grpSpLocks/>
          </p:cNvGrpSpPr>
          <p:nvPr/>
        </p:nvGrpSpPr>
        <p:grpSpPr bwMode="auto">
          <a:xfrm>
            <a:off x="7004050" y="3500438"/>
            <a:ext cx="574675" cy="385762"/>
            <a:chOff x="864" y="1776"/>
            <a:chExt cx="362" cy="243"/>
          </a:xfrm>
        </p:grpSpPr>
        <p:sp>
          <p:nvSpPr>
            <p:cNvPr id="23588" name="Oval 36"/>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78</a:t>
              </a:r>
            </a:p>
          </p:txBody>
        </p:sp>
        <p:sp>
          <p:nvSpPr>
            <p:cNvPr id="23589" name="Text Box 37"/>
            <p:cNvSpPr txBox="1">
              <a:spLocks noChangeArrowheads="1"/>
            </p:cNvSpPr>
            <p:nvPr/>
          </p:nvSpPr>
          <p:spPr bwMode="auto">
            <a:xfrm>
              <a:off x="864" y="1776"/>
              <a:ext cx="14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sz="1400" b="0" i="0"/>
                <a:t>0</a:t>
              </a:r>
            </a:p>
          </p:txBody>
        </p:sp>
      </p:grpSp>
      <p:grpSp>
        <p:nvGrpSpPr>
          <p:cNvPr id="23590" name="Group 38"/>
          <p:cNvGrpSpPr>
            <a:grpSpLocks/>
          </p:cNvGrpSpPr>
          <p:nvPr/>
        </p:nvGrpSpPr>
        <p:grpSpPr bwMode="auto">
          <a:xfrm>
            <a:off x="6130925" y="2814638"/>
            <a:ext cx="574675" cy="385762"/>
            <a:chOff x="864" y="1776"/>
            <a:chExt cx="362" cy="243"/>
          </a:xfrm>
        </p:grpSpPr>
        <p:sp>
          <p:nvSpPr>
            <p:cNvPr id="23591" name="Oval 39"/>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63</a:t>
              </a:r>
            </a:p>
          </p:txBody>
        </p:sp>
        <p:sp>
          <p:nvSpPr>
            <p:cNvPr id="23592" name="Text Box 40"/>
            <p:cNvSpPr txBox="1">
              <a:spLocks noChangeArrowheads="1"/>
            </p:cNvSpPr>
            <p:nvPr/>
          </p:nvSpPr>
          <p:spPr bwMode="auto">
            <a:xfrm>
              <a:off x="864" y="1776"/>
              <a:ext cx="14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sz="1400" b="0" i="0"/>
                <a:t>0</a:t>
              </a:r>
            </a:p>
          </p:txBody>
        </p:sp>
      </p:grpSp>
      <p:grpSp>
        <p:nvGrpSpPr>
          <p:cNvPr id="23593" name="Group 41"/>
          <p:cNvGrpSpPr>
            <a:grpSpLocks/>
          </p:cNvGrpSpPr>
          <p:nvPr/>
        </p:nvGrpSpPr>
        <p:grpSpPr bwMode="auto">
          <a:xfrm>
            <a:off x="3124200" y="3500438"/>
            <a:ext cx="920750" cy="385762"/>
            <a:chOff x="1824" y="2112"/>
            <a:chExt cx="580" cy="243"/>
          </a:xfrm>
        </p:grpSpPr>
        <p:sp>
          <p:nvSpPr>
            <p:cNvPr id="23594" name="Oval 42"/>
            <p:cNvSpPr>
              <a:spLocks noChangeArrowheads="1"/>
            </p:cNvSpPr>
            <p:nvPr/>
          </p:nvSpPr>
          <p:spPr bwMode="auto">
            <a:xfrm>
              <a:off x="2186" y="2137"/>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37</a:t>
              </a:r>
            </a:p>
          </p:txBody>
        </p:sp>
        <p:sp>
          <p:nvSpPr>
            <p:cNvPr id="23595" name="Text Box 43"/>
            <p:cNvSpPr txBox="1">
              <a:spLocks noChangeArrowheads="1"/>
            </p:cNvSpPr>
            <p:nvPr/>
          </p:nvSpPr>
          <p:spPr bwMode="auto">
            <a:xfrm>
              <a:off x="1824" y="2112"/>
              <a:ext cx="36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solidFill>
                    <a:srgbClr val="FF0000"/>
                  </a:solidFill>
                </a:rPr>
                <a:t>-2</a:t>
              </a:r>
              <a:endParaRPr lang="en-US" altLang="en-US" sz="1400" b="0" i="0"/>
            </a:p>
          </p:txBody>
        </p:sp>
      </p:grpSp>
      <p:grpSp>
        <p:nvGrpSpPr>
          <p:cNvPr id="23596" name="Group 44"/>
          <p:cNvGrpSpPr>
            <a:grpSpLocks/>
          </p:cNvGrpSpPr>
          <p:nvPr/>
        </p:nvGrpSpPr>
        <p:grpSpPr bwMode="auto">
          <a:xfrm>
            <a:off x="4337050" y="3576638"/>
            <a:ext cx="920750" cy="385762"/>
            <a:chOff x="2496" y="2160"/>
            <a:chExt cx="580" cy="243"/>
          </a:xfrm>
        </p:grpSpPr>
        <p:sp>
          <p:nvSpPr>
            <p:cNvPr id="23597" name="Oval 45"/>
            <p:cNvSpPr>
              <a:spLocks noChangeArrowheads="1"/>
            </p:cNvSpPr>
            <p:nvPr/>
          </p:nvSpPr>
          <p:spPr bwMode="auto">
            <a:xfrm>
              <a:off x="2858" y="2185"/>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47</a:t>
              </a:r>
            </a:p>
          </p:txBody>
        </p:sp>
        <p:sp>
          <p:nvSpPr>
            <p:cNvPr id="23598" name="Text Box 46"/>
            <p:cNvSpPr txBox="1">
              <a:spLocks noChangeArrowheads="1"/>
            </p:cNvSpPr>
            <p:nvPr/>
          </p:nvSpPr>
          <p:spPr bwMode="auto">
            <a:xfrm>
              <a:off x="2496" y="2160"/>
              <a:ext cx="36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grpSp>
        <p:nvGrpSpPr>
          <p:cNvPr id="23599" name="Group 47"/>
          <p:cNvGrpSpPr>
            <a:grpSpLocks/>
          </p:cNvGrpSpPr>
          <p:nvPr/>
        </p:nvGrpSpPr>
        <p:grpSpPr bwMode="auto">
          <a:xfrm>
            <a:off x="3581400" y="2890838"/>
            <a:ext cx="996950" cy="385762"/>
            <a:chOff x="2112" y="1728"/>
            <a:chExt cx="628" cy="243"/>
          </a:xfrm>
        </p:grpSpPr>
        <p:sp>
          <p:nvSpPr>
            <p:cNvPr id="23600" name="Oval 48"/>
            <p:cNvSpPr>
              <a:spLocks noChangeArrowheads="1"/>
            </p:cNvSpPr>
            <p:nvPr/>
          </p:nvSpPr>
          <p:spPr bwMode="auto">
            <a:xfrm>
              <a:off x="2522" y="1753"/>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38</a:t>
              </a:r>
            </a:p>
          </p:txBody>
        </p:sp>
        <p:sp>
          <p:nvSpPr>
            <p:cNvPr id="23601" name="Text Box 49"/>
            <p:cNvSpPr txBox="1">
              <a:spLocks noChangeArrowheads="1"/>
            </p:cNvSpPr>
            <p:nvPr/>
          </p:nvSpPr>
          <p:spPr bwMode="auto">
            <a:xfrm>
              <a:off x="2112" y="1728"/>
              <a:ext cx="410"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solidFill>
                    <a:srgbClr val="FF0000"/>
                  </a:solidFill>
                </a:rPr>
                <a:t>-2</a:t>
              </a:r>
              <a:endParaRPr lang="en-US" altLang="en-US" sz="1400" b="0" i="0"/>
            </a:p>
          </p:txBody>
        </p:sp>
      </p:grpSp>
      <p:grpSp>
        <p:nvGrpSpPr>
          <p:cNvPr id="23602" name="Group 50"/>
          <p:cNvGrpSpPr>
            <a:grpSpLocks/>
          </p:cNvGrpSpPr>
          <p:nvPr/>
        </p:nvGrpSpPr>
        <p:grpSpPr bwMode="auto">
          <a:xfrm>
            <a:off x="-76200" y="3429000"/>
            <a:ext cx="803275" cy="385763"/>
            <a:chOff x="768" y="1872"/>
            <a:chExt cx="506" cy="243"/>
          </a:xfrm>
        </p:grpSpPr>
        <p:sp>
          <p:nvSpPr>
            <p:cNvPr id="23603" name="Oval 51"/>
            <p:cNvSpPr>
              <a:spLocks noChangeArrowheads="1"/>
            </p:cNvSpPr>
            <p:nvPr/>
          </p:nvSpPr>
          <p:spPr bwMode="auto">
            <a:xfrm>
              <a:off x="1056" y="1897"/>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1</a:t>
              </a:r>
            </a:p>
          </p:txBody>
        </p:sp>
        <p:sp>
          <p:nvSpPr>
            <p:cNvPr id="23604" name="Text Box 52"/>
            <p:cNvSpPr txBox="1">
              <a:spLocks noChangeArrowheads="1"/>
            </p:cNvSpPr>
            <p:nvPr/>
          </p:nvSpPr>
          <p:spPr bwMode="auto">
            <a:xfrm>
              <a:off x="768" y="1872"/>
              <a:ext cx="288"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grpSp>
        <p:nvGrpSpPr>
          <p:cNvPr id="23614" name="Group 62"/>
          <p:cNvGrpSpPr>
            <a:grpSpLocks/>
          </p:cNvGrpSpPr>
          <p:nvPr/>
        </p:nvGrpSpPr>
        <p:grpSpPr bwMode="auto">
          <a:xfrm>
            <a:off x="2209800" y="4719638"/>
            <a:ext cx="762000" cy="385762"/>
            <a:chOff x="1680" y="2541"/>
            <a:chExt cx="480" cy="243"/>
          </a:xfrm>
        </p:grpSpPr>
        <p:sp>
          <p:nvSpPr>
            <p:cNvPr id="23606" name="Oval 54"/>
            <p:cNvSpPr>
              <a:spLocks noChangeArrowheads="1"/>
            </p:cNvSpPr>
            <p:nvPr/>
          </p:nvSpPr>
          <p:spPr bwMode="auto">
            <a:xfrm>
              <a:off x="1942" y="2566"/>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30</a:t>
              </a:r>
            </a:p>
          </p:txBody>
        </p:sp>
        <p:sp>
          <p:nvSpPr>
            <p:cNvPr id="23607" name="Text Box 55"/>
            <p:cNvSpPr txBox="1">
              <a:spLocks noChangeArrowheads="1"/>
            </p:cNvSpPr>
            <p:nvPr/>
          </p:nvSpPr>
          <p:spPr bwMode="auto">
            <a:xfrm>
              <a:off x="1680" y="2541"/>
              <a:ext cx="26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cxnSp>
        <p:nvCxnSpPr>
          <p:cNvPr id="23608" name="AutoShape 56"/>
          <p:cNvCxnSpPr>
            <a:cxnSpLocks noChangeShapeType="1"/>
            <a:stCxn id="23594" idx="3"/>
            <a:endCxn id="23610" idx="7"/>
          </p:cNvCxnSpPr>
          <p:nvPr/>
        </p:nvCxnSpPr>
        <p:spPr bwMode="auto">
          <a:xfrm flipH="1">
            <a:off x="3454400" y="3835400"/>
            <a:ext cx="295275" cy="3651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nvGrpSpPr>
          <p:cNvPr id="23615" name="Group 63"/>
          <p:cNvGrpSpPr>
            <a:grpSpLocks/>
          </p:cNvGrpSpPr>
          <p:nvPr/>
        </p:nvGrpSpPr>
        <p:grpSpPr bwMode="auto">
          <a:xfrm>
            <a:off x="2743200" y="4110038"/>
            <a:ext cx="762000" cy="385762"/>
            <a:chOff x="1968" y="2877"/>
            <a:chExt cx="480" cy="243"/>
          </a:xfrm>
        </p:grpSpPr>
        <p:sp>
          <p:nvSpPr>
            <p:cNvPr id="23610" name="Oval 58"/>
            <p:cNvSpPr>
              <a:spLocks noChangeArrowheads="1"/>
            </p:cNvSpPr>
            <p:nvPr/>
          </p:nvSpPr>
          <p:spPr bwMode="auto">
            <a:xfrm>
              <a:off x="2230" y="2902"/>
              <a:ext cx="218" cy="218"/>
            </a:xfrm>
            <a:prstGeom prst="ellipse">
              <a:avLst/>
            </a:prstGeom>
            <a:solidFill>
              <a:srgbClr val="FF00FF">
                <a:alpha val="53999"/>
              </a:srgbClr>
            </a:solidFill>
            <a:ln w="9525">
              <a:solidFill>
                <a:schemeClr val="tx1"/>
              </a:solidFill>
              <a:round/>
              <a:headEnd/>
              <a:tailEnd/>
            </a:ln>
          </p:spPr>
          <p:txBody>
            <a:bodyPr wrap="none" anchor="ctr"/>
            <a:lstStyle/>
            <a:p>
              <a:pPr algn="ctr"/>
              <a:r>
                <a:rPr lang="en-US" altLang="en-US" sz="1600" b="0" i="0"/>
                <a:t>32</a:t>
              </a:r>
            </a:p>
          </p:txBody>
        </p:sp>
        <p:sp>
          <p:nvSpPr>
            <p:cNvPr id="23611" name="Text Box 59"/>
            <p:cNvSpPr txBox="1">
              <a:spLocks noChangeArrowheads="1"/>
            </p:cNvSpPr>
            <p:nvPr/>
          </p:nvSpPr>
          <p:spPr bwMode="auto">
            <a:xfrm>
              <a:off x="1968" y="2877"/>
              <a:ext cx="26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cxnSp>
        <p:nvCxnSpPr>
          <p:cNvPr id="23612" name="AutoShape 60"/>
          <p:cNvCxnSpPr>
            <a:cxnSpLocks noChangeShapeType="1"/>
            <a:stCxn id="23606" idx="7"/>
            <a:endCxn id="23610" idx="3"/>
          </p:cNvCxnSpPr>
          <p:nvPr/>
        </p:nvCxnSpPr>
        <p:spPr bwMode="auto">
          <a:xfrm flipV="1">
            <a:off x="2921000" y="4445000"/>
            <a:ext cx="288925" cy="3651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1138666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Text Box 3"/>
          <p:cNvSpPr txBox="1">
            <a:spLocks noChangeArrowheads="1"/>
          </p:cNvSpPr>
          <p:nvPr/>
        </p:nvSpPr>
        <p:spPr bwMode="auto">
          <a:xfrm>
            <a:off x="76200" y="76200"/>
            <a:ext cx="9067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b="0" i="0"/>
              <a:t>Rebalance (Step 2) and recalculate balance factors</a:t>
            </a:r>
          </a:p>
        </p:txBody>
      </p:sp>
      <p:sp>
        <p:nvSpPr>
          <p:cNvPr id="27652" name="Text Box 4"/>
          <p:cNvSpPr txBox="1">
            <a:spLocks noChangeArrowheads="1"/>
          </p:cNvSpPr>
          <p:nvPr/>
        </p:nvSpPr>
        <p:spPr bwMode="auto">
          <a:xfrm>
            <a:off x="0" y="6324600"/>
            <a:ext cx="9067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b="0" i="0"/>
              <a:t>Next step: Insert 35 --&gt;  </a:t>
            </a:r>
          </a:p>
        </p:txBody>
      </p:sp>
      <p:sp>
        <p:nvSpPr>
          <p:cNvPr id="27653" name="Text Box 5"/>
          <p:cNvSpPr txBox="1">
            <a:spLocks noChangeArrowheads="1"/>
          </p:cNvSpPr>
          <p:nvPr/>
        </p:nvSpPr>
        <p:spPr bwMode="auto">
          <a:xfrm>
            <a:off x="6705600" y="0"/>
            <a:ext cx="24384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2000" b="0" i="0">
                <a:solidFill>
                  <a:srgbClr val="134A8B"/>
                </a:solidFill>
              </a:rPr>
              <a:t>Balance ok</a:t>
            </a:r>
            <a:endParaRPr lang="en-US" altLang="en-US" sz="2000" b="0" i="0">
              <a:solidFill>
                <a:srgbClr val="FF0000"/>
              </a:solidFill>
            </a:endParaRPr>
          </a:p>
        </p:txBody>
      </p:sp>
      <p:cxnSp>
        <p:nvCxnSpPr>
          <p:cNvPr id="27654" name="AutoShape 6"/>
          <p:cNvCxnSpPr>
            <a:cxnSpLocks noChangeShapeType="1"/>
            <a:stCxn id="27666" idx="3"/>
            <a:endCxn id="27699" idx="7"/>
          </p:cNvCxnSpPr>
          <p:nvPr/>
        </p:nvCxnSpPr>
        <p:spPr bwMode="auto">
          <a:xfrm flipH="1">
            <a:off x="981075" y="3073400"/>
            <a:ext cx="212725" cy="369888"/>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7655" name="AutoShape 7"/>
          <p:cNvCxnSpPr>
            <a:cxnSpLocks noChangeShapeType="1"/>
            <a:stCxn id="27675" idx="3"/>
            <a:endCxn id="27672" idx="7"/>
          </p:cNvCxnSpPr>
          <p:nvPr/>
        </p:nvCxnSpPr>
        <p:spPr bwMode="auto">
          <a:xfrm flipH="1">
            <a:off x="2886075" y="1249363"/>
            <a:ext cx="1965325" cy="7461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7656" name="AutoShape 8"/>
          <p:cNvCxnSpPr>
            <a:cxnSpLocks noChangeShapeType="1"/>
            <a:stCxn id="27675" idx="5"/>
            <a:endCxn id="27678" idx="1"/>
          </p:cNvCxnSpPr>
          <p:nvPr/>
        </p:nvCxnSpPr>
        <p:spPr bwMode="auto">
          <a:xfrm>
            <a:off x="5095875" y="1249363"/>
            <a:ext cx="2076450" cy="7461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7657" name="AutoShape 9"/>
          <p:cNvCxnSpPr>
            <a:cxnSpLocks noChangeShapeType="1"/>
            <a:stCxn id="27678" idx="5"/>
            <a:endCxn id="27681" idx="1"/>
          </p:cNvCxnSpPr>
          <p:nvPr/>
        </p:nvCxnSpPr>
        <p:spPr bwMode="auto">
          <a:xfrm>
            <a:off x="7416800" y="2239963"/>
            <a:ext cx="441325" cy="5937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7658" name="AutoShape 10"/>
          <p:cNvCxnSpPr>
            <a:cxnSpLocks noChangeShapeType="1"/>
            <a:stCxn id="27672" idx="5"/>
            <a:endCxn id="27696" idx="1"/>
          </p:cNvCxnSpPr>
          <p:nvPr/>
        </p:nvCxnSpPr>
        <p:spPr bwMode="auto">
          <a:xfrm>
            <a:off x="2886075" y="2239963"/>
            <a:ext cx="1397000" cy="5937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7659" name="AutoShape 11"/>
          <p:cNvCxnSpPr>
            <a:cxnSpLocks noChangeShapeType="1"/>
            <a:stCxn id="27696" idx="5"/>
            <a:endCxn id="27693" idx="1"/>
          </p:cNvCxnSpPr>
          <p:nvPr/>
        </p:nvCxnSpPr>
        <p:spPr bwMode="auto">
          <a:xfrm>
            <a:off x="4527550" y="3078163"/>
            <a:ext cx="434975" cy="4413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7660" name="AutoShape 12"/>
          <p:cNvCxnSpPr>
            <a:cxnSpLocks noChangeShapeType="1"/>
            <a:stCxn id="27672" idx="3"/>
            <a:endCxn id="27666" idx="7"/>
          </p:cNvCxnSpPr>
          <p:nvPr/>
        </p:nvCxnSpPr>
        <p:spPr bwMode="auto">
          <a:xfrm flipH="1">
            <a:off x="1438275" y="2239963"/>
            <a:ext cx="1203325" cy="588962"/>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7661" name="AutoShape 13"/>
          <p:cNvCxnSpPr>
            <a:cxnSpLocks noChangeShapeType="1"/>
            <a:stCxn id="27669" idx="1"/>
            <a:endCxn id="27666" idx="5"/>
          </p:cNvCxnSpPr>
          <p:nvPr/>
        </p:nvCxnSpPr>
        <p:spPr bwMode="auto">
          <a:xfrm flipH="1" flipV="1">
            <a:off x="1438275" y="3073400"/>
            <a:ext cx="365125" cy="369888"/>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7662" name="AutoShape 14"/>
          <p:cNvCxnSpPr>
            <a:cxnSpLocks noChangeShapeType="1"/>
            <a:stCxn id="27696" idx="3"/>
            <a:endCxn id="27706" idx="7"/>
          </p:cNvCxnSpPr>
          <p:nvPr/>
        </p:nvCxnSpPr>
        <p:spPr bwMode="auto">
          <a:xfrm flipH="1">
            <a:off x="3759200" y="3078163"/>
            <a:ext cx="523875" cy="4413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7663" name="AutoShape 15"/>
          <p:cNvCxnSpPr>
            <a:cxnSpLocks noChangeShapeType="1"/>
            <a:stCxn id="27678" idx="3"/>
            <a:endCxn id="27687" idx="7"/>
          </p:cNvCxnSpPr>
          <p:nvPr/>
        </p:nvCxnSpPr>
        <p:spPr bwMode="auto">
          <a:xfrm flipH="1">
            <a:off x="6654800" y="2239963"/>
            <a:ext cx="517525" cy="5937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7664" name="AutoShape 16"/>
          <p:cNvCxnSpPr>
            <a:cxnSpLocks noChangeShapeType="1"/>
            <a:stCxn id="27681" idx="3"/>
            <a:endCxn id="27684" idx="7"/>
          </p:cNvCxnSpPr>
          <p:nvPr/>
        </p:nvCxnSpPr>
        <p:spPr bwMode="auto">
          <a:xfrm flipH="1">
            <a:off x="7527925" y="3078163"/>
            <a:ext cx="330200" cy="4413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nvGrpSpPr>
          <p:cNvPr id="27665" name="Group 17"/>
          <p:cNvGrpSpPr>
            <a:grpSpLocks/>
          </p:cNvGrpSpPr>
          <p:nvPr/>
        </p:nvGrpSpPr>
        <p:grpSpPr bwMode="auto">
          <a:xfrm>
            <a:off x="685800" y="2738438"/>
            <a:ext cx="803275" cy="385762"/>
            <a:chOff x="720" y="1776"/>
            <a:chExt cx="506" cy="243"/>
          </a:xfrm>
        </p:grpSpPr>
        <p:sp>
          <p:nvSpPr>
            <p:cNvPr id="27666" name="Oval 18"/>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a:t>
              </a:r>
            </a:p>
          </p:txBody>
        </p:sp>
        <p:sp>
          <p:nvSpPr>
            <p:cNvPr id="27667" name="Text Box 19"/>
            <p:cNvSpPr txBox="1">
              <a:spLocks noChangeArrowheads="1"/>
            </p:cNvSpPr>
            <p:nvPr/>
          </p:nvSpPr>
          <p:spPr bwMode="auto">
            <a:xfrm>
              <a:off x="720" y="1776"/>
              <a:ext cx="288"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grpSp>
        <p:nvGrpSpPr>
          <p:cNvPr id="27668" name="Group 20"/>
          <p:cNvGrpSpPr>
            <a:grpSpLocks/>
          </p:cNvGrpSpPr>
          <p:nvPr/>
        </p:nvGrpSpPr>
        <p:grpSpPr bwMode="auto">
          <a:xfrm>
            <a:off x="1371600" y="3352800"/>
            <a:ext cx="727075" cy="385763"/>
            <a:chOff x="1104" y="1392"/>
            <a:chExt cx="458" cy="243"/>
          </a:xfrm>
        </p:grpSpPr>
        <p:sp>
          <p:nvSpPr>
            <p:cNvPr id="27669" name="Oval 21"/>
            <p:cNvSpPr>
              <a:spLocks noChangeArrowheads="1"/>
            </p:cNvSpPr>
            <p:nvPr/>
          </p:nvSpPr>
          <p:spPr bwMode="auto">
            <a:xfrm>
              <a:off x="1344" y="1417"/>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25</a:t>
              </a:r>
            </a:p>
          </p:txBody>
        </p:sp>
        <p:sp>
          <p:nvSpPr>
            <p:cNvPr id="27670" name="Text Box 22"/>
            <p:cNvSpPr txBox="1">
              <a:spLocks noChangeArrowheads="1"/>
            </p:cNvSpPr>
            <p:nvPr/>
          </p:nvSpPr>
          <p:spPr bwMode="auto">
            <a:xfrm>
              <a:off x="1104" y="1392"/>
              <a:ext cx="240"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grpSp>
        <p:nvGrpSpPr>
          <p:cNvPr id="27671" name="Group 23"/>
          <p:cNvGrpSpPr>
            <a:grpSpLocks/>
          </p:cNvGrpSpPr>
          <p:nvPr/>
        </p:nvGrpSpPr>
        <p:grpSpPr bwMode="auto">
          <a:xfrm>
            <a:off x="1752600" y="1905000"/>
            <a:ext cx="1184275" cy="385763"/>
            <a:chOff x="1248" y="960"/>
            <a:chExt cx="746" cy="243"/>
          </a:xfrm>
        </p:grpSpPr>
        <p:sp>
          <p:nvSpPr>
            <p:cNvPr id="27672" name="Oval 24"/>
            <p:cNvSpPr>
              <a:spLocks noChangeArrowheads="1"/>
            </p:cNvSpPr>
            <p:nvPr/>
          </p:nvSpPr>
          <p:spPr bwMode="auto">
            <a:xfrm>
              <a:off x="1776" y="985"/>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26</a:t>
              </a:r>
            </a:p>
          </p:txBody>
        </p:sp>
        <p:sp>
          <p:nvSpPr>
            <p:cNvPr id="27673" name="Text Box 25"/>
            <p:cNvSpPr txBox="1">
              <a:spLocks noChangeArrowheads="1"/>
            </p:cNvSpPr>
            <p:nvPr/>
          </p:nvSpPr>
          <p:spPr bwMode="auto">
            <a:xfrm>
              <a:off x="1248" y="960"/>
              <a:ext cx="528"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grpSp>
        <p:nvGrpSpPr>
          <p:cNvPr id="27674" name="Group 26"/>
          <p:cNvGrpSpPr>
            <a:grpSpLocks/>
          </p:cNvGrpSpPr>
          <p:nvPr/>
        </p:nvGrpSpPr>
        <p:grpSpPr bwMode="auto">
          <a:xfrm>
            <a:off x="3733800" y="914400"/>
            <a:ext cx="1412875" cy="385763"/>
            <a:chOff x="2064" y="576"/>
            <a:chExt cx="890" cy="243"/>
          </a:xfrm>
        </p:grpSpPr>
        <p:sp>
          <p:nvSpPr>
            <p:cNvPr id="27675" name="Oval 27"/>
            <p:cNvSpPr>
              <a:spLocks noChangeArrowheads="1"/>
            </p:cNvSpPr>
            <p:nvPr/>
          </p:nvSpPr>
          <p:spPr bwMode="auto">
            <a:xfrm>
              <a:off x="2736" y="6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57</a:t>
              </a:r>
            </a:p>
          </p:txBody>
        </p:sp>
        <p:sp>
          <p:nvSpPr>
            <p:cNvPr id="27676" name="Text Box 28"/>
            <p:cNvSpPr txBox="1">
              <a:spLocks noChangeArrowheads="1"/>
            </p:cNvSpPr>
            <p:nvPr/>
          </p:nvSpPr>
          <p:spPr bwMode="auto">
            <a:xfrm>
              <a:off x="2064" y="576"/>
              <a:ext cx="67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grpSp>
        <p:nvGrpSpPr>
          <p:cNvPr id="27677" name="Group 29"/>
          <p:cNvGrpSpPr>
            <a:grpSpLocks/>
          </p:cNvGrpSpPr>
          <p:nvPr/>
        </p:nvGrpSpPr>
        <p:grpSpPr bwMode="auto">
          <a:xfrm>
            <a:off x="6511925" y="1905000"/>
            <a:ext cx="955675" cy="385763"/>
            <a:chOff x="3312" y="960"/>
            <a:chExt cx="602" cy="243"/>
          </a:xfrm>
        </p:grpSpPr>
        <p:sp>
          <p:nvSpPr>
            <p:cNvPr id="27678" name="Oval 30"/>
            <p:cNvSpPr>
              <a:spLocks noChangeArrowheads="1"/>
            </p:cNvSpPr>
            <p:nvPr/>
          </p:nvSpPr>
          <p:spPr bwMode="auto">
            <a:xfrm>
              <a:off x="3696" y="985"/>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72</a:t>
              </a:r>
            </a:p>
          </p:txBody>
        </p:sp>
        <p:sp>
          <p:nvSpPr>
            <p:cNvPr id="27679" name="Text Box 31"/>
            <p:cNvSpPr txBox="1">
              <a:spLocks noChangeArrowheads="1"/>
            </p:cNvSpPr>
            <p:nvPr/>
          </p:nvSpPr>
          <p:spPr bwMode="auto">
            <a:xfrm>
              <a:off x="3312" y="960"/>
              <a:ext cx="38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grpSp>
        <p:nvGrpSpPr>
          <p:cNvPr id="27680" name="Group 32"/>
          <p:cNvGrpSpPr>
            <a:grpSpLocks/>
          </p:cNvGrpSpPr>
          <p:nvPr/>
        </p:nvGrpSpPr>
        <p:grpSpPr bwMode="auto">
          <a:xfrm>
            <a:off x="7273925" y="2743200"/>
            <a:ext cx="879475" cy="385763"/>
            <a:chOff x="4246" y="1728"/>
            <a:chExt cx="554" cy="243"/>
          </a:xfrm>
        </p:grpSpPr>
        <p:sp>
          <p:nvSpPr>
            <p:cNvPr id="27681" name="Oval 33"/>
            <p:cNvSpPr>
              <a:spLocks noChangeArrowheads="1"/>
            </p:cNvSpPr>
            <p:nvPr/>
          </p:nvSpPr>
          <p:spPr bwMode="auto">
            <a:xfrm>
              <a:off x="4582" y="1753"/>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94</a:t>
              </a:r>
            </a:p>
          </p:txBody>
        </p:sp>
        <p:sp>
          <p:nvSpPr>
            <p:cNvPr id="27682" name="Text Box 34"/>
            <p:cNvSpPr txBox="1">
              <a:spLocks noChangeArrowheads="1"/>
            </p:cNvSpPr>
            <p:nvPr/>
          </p:nvSpPr>
          <p:spPr bwMode="auto">
            <a:xfrm>
              <a:off x="4246" y="1728"/>
              <a:ext cx="336"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grpSp>
        <p:nvGrpSpPr>
          <p:cNvPr id="27683" name="Group 35"/>
          <p:cNvGrpSpPr>
            <a:grpSpLocks/>
          </p:cNvGrpSpPr>
          <p:nvPr/>
        </p:nvGrpSpPr>
        <p:grpSpPr bwMode="auto">
          <a:xfrm>
            <a:off x="7004050" y="3429000"/>
            <a:ext cx="574675" cy="385763"/>
            <a:chOff x="864" y="1776"/>
            <a:chExt cx="362" cy="243"/>
          </a:xfrm>
        </p:grpSpPr>
        <p:sp>
          <p:nvSpPr>
            <p:cNvPr id="27684" name="Oval 36"/>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78</a:t>
              </a:r>
            </a:p>
          </p:txBody>
        </p:sp>
        <p:sp>
          <p:nvSpPr>
            <p:cNvPr id="27685" name="Text Box 37"/>
            <p:cNvSpPr txBox="1">
              <a:spLocks noChangeArrowheads="1"/>
            </p:cNvSpPr>
            <p:nvPr/>
          </p:nvSpPr>
          <p:spPr bwMode="auto">
            <a:xfrm>
              <a:off x="864" y="1776"/>
              <a:ext cx="14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sz="1400" b="0" i="0"/>
                <a:t>0</a:t>
              </a:r>
            </a:p>
          </p:txBody>
        </p:sp>
      </p:grpSp>
      <p:grpSp>
        <p:nvGrpSpPr>
          <p:cNvPr id="27686" name="Group 38"/>
          <p:cNvGrpSpPr>
            <a:grpSpLocks/>
          </p:cNvGrpSpPr>
          <p:nvPr/>
        </p:nvGrpSpPr>
        <p:grpSpPr bwMode="auto">
          <a:xfrm>
            <a:off x="6130925" y="2743200"/>
            <a:ext cx="574675" cy="385763"/>
            <a:chOff x="864" y="1776"/>
            <a:chExt cx="362" cy="243"/>
          </a:xfrm>
        </p:grpSpPr>
        <p:sp>
          <p:nvSpPr>
            <p:cNvPr id="27687" name="Oval 39"/>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63</a:t>
              </a:r>
            </a:p>
          </p:txBody>
        </p:sp>
        <p:sp>
          <p:nvSpPr>
            <p:cNvPr id="27688" name="Text Box 40"/>
            <p:cNvSpPr txBox="1">
              <a:spLocks noChangeArrowheads="1"/>
            </p:cNvSpPr>
            <p:nvPr/>
          </p:nvSpPr>
          <p:spPr bwMode="auto">
            <a:xfrm>
              <a:off x="864" y="1776"/>
              <a:ext cx="14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sz="1400" b="0" i="0"/>
                <a:t>0</a:t>
              </a:r>
            </a:p>
          </p:txBody>
        </p:sp>
      </p:grpSp>
      <p:grpSp>
        <p:nvGrpSpPr>
          <p:cNvPr id="27689" name="Group 41"/>
          <p:cNvGrpSpPr>
            <a:grpSpLocks/>
          </p:cNvGrpSpPr>
          <p:nvPr/>
        </p:nvGrpSpPr>
        <p:grpSpPr bwMode="auto">
          <a:xfrm>
            <a:off x="3352800" y="4038600"/>
            <a:ext cx="920750" cy="385763"/>
            <a:chOff x="1824" y="2112"/>
            <a:chExt cx="580" cy="243"/>
          </a:xfrm>
        </p:grpSpPr>
        <p:sp>
          <p:nvSpPr>
            <p:cNvPr id="27690" name="Oval 42"/>
            <p:cNvSpPr>
              <a:spLocks noChangeArrowheads="1"/>
            </p:cNvSpPr>
            <p:nvPr/>
          </p:nvSpPr>
          <p:spPr bwMode="auto">
            <a:xfrm>
              <a:off x="2186" y="2137"/>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37</a:t>
              </a:r>
            </a:p>
          </p:txBody>
        </p:sp>
        <p:sp>
          <p:nvSpPr>
            <p:cNvPr id="27691" name="Text Box 43"/>
            <p:cNvSpPr txBox="1">
              <a:spLocks noChangeArrowheads="1"/>
            </p:cNvSpPr>
            <p:nvPr/>
          </p:nvSpPr>
          <p:spPr bwMode="auto">
            <a:xfrm>
              <a:off x="1824" y="2112"/>
              <a:ext cx="36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grpSp>
        <p:nvGrpSpPr>
          <p:cNvPr id="27692" name="Group 44"/>
          <p:cNvGrpSpPr>
            <a:grpSpLocks/>
          </p:cNvGrpSpPr>
          <p:nvPr/>
        </p:nvGrpSpPr>
        <p:grpSpPr bwMode="auto">
          <a:xfrm>
            <a:off x="4337050" y="3429000"/>
            <a:ext cx="920750" cy="385763"/>
            <a:chOff x="2496" y="2160"/>
            <a:chExt cx="580" cy="243"/>
          </a:xfrm>
        </p:grpSpPr>
        <p:sp>
          <p:nvSpPr>
            <p:cNvPr id="27693" name="Oval 45"/>
            <p:cNvSpPr>
              <a:spLocks noChangeArrowheads="1"/>
            </p:cNvSpPr>
            <p:nvPr/>
          </p:nvSpPr>
          <p:spPr bwMode="auto">
            <a:xfrm>
              <a:off x="2858" y="2185"/>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47</a:t>
              </a:r>
            </a:p>
          </p:txBody>
        </p:sp>
        <p:sp>
          <p:nvSpPr>
            <p:cNvPr id="27694" name="Text Box 46"/>
            <p:cNvSpPr txBox="1">
              <a:spLocks noChangeArrowheads="1"/>
            </p:cNvSpPr>
            <p:nvPr/>
          </p:nvSpPr>
          <p:spPr bwMode="auto">
            <a:xfrm>
              <a:off x="2496" y="2160"/>
              <a:ext cx="36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grpSp>
        <p:nvGrpSpPr>
          <p:cNvPr id="27695" name="Group 47"/>
          <p:cNvGrpSpPr>
            <a:grpSpLocks/>
          </p:cNvGrpSpPr>
          <p:nvPr/>
        </p:nvGrpSpPr>
        <p:grpSpPr bwMode="auto">
          <a:xfrm>
            <a:off x="3581400" y="2743200"/>
            <a:ext cx="996950" cy="385763"/>
            <a:chOff x="2112" y="1728"/>
            <a:chExt cx="628" cy="243"/>
          </a:xfrm>
        </p:grpSpPr>
        <p:sp>
          <p:nvSpPr>
            <p:cNvPr id="27696" name="Oval 48"/>
            <p:cNvSpPr>
              <a:spLocks noChangeArrowheads="1"/>
            </p:cNvSpPr>
            <p:nvPr/>
          </p:nvSpPr>
          <p:spPr bwMode="auto">
            <a:xfrm>
              <a:off x="2522" y="1753"/>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38</a:t>
              </a:r>
            </a:p>
          </p:txBody>
        </p:sp>
        <p:sp>
          <p:nvSpPr>
            <p:cNvPr id="27697" name="Text Box 49"/>
            <p:cNvSpPr txBox="1">
              <a:spLocks noChangeArrowheads="1"/>
            </p:cNvSpPr>
            <p:nvPr/>
          </p:nvSpPr>
          <p:spPr bwMode="auto">
            <a:xfrm>
              <a:off x="2112" y="1728"/>
              <a:ext cx="410"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grpSp>
        <p:nvGrpSpPr>
          <p:cNvPr id="27698" name="Group 50"/>
          <p:cNvGrpSpPr>
            <a:grpSpLocks/>
          </p:cNvGrpSpPr>
          <p:nvPr/>
        </p:nvGrpSpPr>
        <p:grpSpPr bwMode="auto">
          <a:xfrm>
            <a:off x="228600" y="3352800"/>
            <a:ext cx="803275" cy="385763"/>
            <a:chOff x="768" y="1872"/>
            <a:chExt cx="506" cy="243"/>
          </a:xfrm>
        </p:grpSpPr>
        <p:sp>
          <p:nvSpPr>
            <p:cNvPr id="27699" name="Oval 51"/>
            <p:cNvSpPr>
              <a:spLocks noChangeArrowheads="1"/>
            </p:cNvSpPr>
            <p:nvPr/>
          </p:nvSpPr>
          <p:spPr bwMode="auto">
            <a:xfrm>
              <a:off x="1056" y="1897"/>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1</a:t>
              </a:r>
            </a:p>
          </p:txBody>
        </p:sp>
        <p:sp>
          <p:nvSpPr>
            <p:cNvPr id="27700" name="Text Box 52"/>
            <p:cNvSpPr txBox="1">
              <a:spLocks noChangeArrowheads="1"/>
            </p:cNvSpPr>
            <p:nvPr/>
          </p:nvSpPr>
          <p:spPr bwMode="auto">
            <a:xfrm>
              <a:off x="768" y="1872"/>
              <a:ext cx="288"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grpSp>
        <p:nvGrpSpPr>
          <p:cNvPr id="27701" name="Group 53"/>
          <p:cNvGrpSpPr>
            <a:grpSpLocks/>
          </p:cNvGrpSpPr>
          <p:nvPr/>
        </p:nvGrpSpPr>
        <p:grpSpPr bwMode="auto">
          <a:xfrm>
            <a:off x="2590800" y="4033838"/>
            <a:ext cx="762000" cy="385762"/>
            <a:chOff x="1680" y="2541"/>
            <a:chExt cx="480" cy="243"/>
          </a:xfrm>
        </p:grpSpPr>
        <p:sp>
          <p:nvSpPr>
            <p:cNvPr id="27702" name="Oval 54"/>
            <p:cNvSpPr>
              <a:spLocks noChangeArrowheads="1"/>
            </p:cNvSpPr>
            <p:nvPr/>
          </p:nvSpPr>
          <p:spPr bwMode="auto">
            <a:xfrm>
              <a:off x="1942" y="2566"/>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30</a:t>
              </a:r>
            </a:p>
          </p:txBody>
        </p:sp>
        <p:sp>
          <p:nvSpPr>
            <p:cNvPr id="27703" name="Text Box 55"/>
            <p:cNvSpPr txBox="1">
              <a:spLocks noChangeArrowheads="1"/>
            </p:cNvSpPr>
            <p:nvPr/>
          </p:nvSpPr>
          <p:spPr bwMode="auto">
            <a:xfrm>
              <a:off x="1680" y="2541"/>
              <a:ext cx="26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cxnSp>
        <p:nvCxnSpPr>
          <p:cNvPr id="27704" name="AutoShape 56"/>
          <p:cNvCxnSpPr>
            <a:cxnSpLocks noChangeShapeType="1"/>
            <a:stCxn id="27690" idx="1"/>
            <a:endCxn id="27706" idx="5"/>
          </p:cNvCxnSpPr>
          <p:nvPr/>
        </p:nvCxnSpPr>
        <p:spPr bwMode="auto">
          <a:xfrm flipH="1" flipV="1">
            <a:off x="3759200" y="3763963"/>
            <a:ext cx="219075" cy="3651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nvGrpSpPr>
          <p:cNvPr id="27705" name="Group 57"/>
          <p:cNvGrpSpPr>
            <a:grpSpLocks/>
          </p:cNvGrpSpPr>
          <p:nvPr/>
        </p:nvGrpSpPr>
        <p:grpSpPr bwMode="auto">
          <a:xfrm>
            <a:off x="3048000" y="3429000"/>
            <a:ext cx="762000" cy="385763"/>
            <a:chOff x="1968" y="2877"/>
            <a:chExt cx="480" cy="243"/>
          </a:xfrm>
        </p:grpSpPr>
        <p:sp>
          <p:nvSpPr>
            <p:cNvPr id="27706" name="Oval 58"/>
            <p:cNvSpPr>
              <a:spLocks noChangeArrowheads="1"/>
            </p:cNvSpPr>
            <p:nvPr/>
          </p:nvSpPr>
          <p:spPr bwMode="auto">
            <a:xfrm>
              <a:off x="2230" y="2902"/>
              <a:ext cx="218" cy="218"/>
            </a:xfrm>
            <a:prstGeom prst="ellipse">
              <a:avLst/>
            </a:prstGeom>
            <a:solidFill>
              <a:srgbClr val="FF00FF">
                <a:alpha val="53999"/>
              </a:srgbClr>
            </a:solidFill>
            <a:ln w="9525">
              <a:solidFill>
                <a:schemeClr val="tx1"/>
              </a:solidFill>
              <a:round/>
              <a:headEnd/>
              <a:tailEnd/>
            </a:ln>
          </p:spPr>
          <p:txBody>
            <a:bodyPr wrap="none" anchor="ctr"/>
            <a:lstStyle/>
            <a:p>
              <a:pPr algn="ctr"/>
              <a:r>
                <a:rPr lang="en-US" altLang="en-US" sz="1600" b="0" i="0"/>
                <a:t>32</a:t>
              </a:r>
            </a:p>
          </p:txBody>
        </p:sp>
        <p:sp>
          <p:nvSpPr>
            <p:cNvPr id="27707" name="Text Box 59"/>
            <p:cNvSpPr txBox="1">
              <a:spLocks noChangeArrowheads="1"/>
            </p:cNvSpPr>
            <p:nvPr/>
          </p:nvSpPr>
          <p:spPr bwMode="auto">
            <a:xfrm>
              <a:off x="1968" y="2877"/>
              <a:ext cx="26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cxnSp>
        <p:nvCxnSpPr>
          <p:cNvPr id="27708" name="AutoShape 60"/>
          <p:cNvCxnSpPr>
            <a:cxnSpLocks noChangeShapeType="1"/>
            <a:stCxn id="27702" idx="7"/>
            <a:endCxn id="27706" idx="3"/>
          </p:cNvCxnSpPr>
          <p:nvPr/>
        </p:nvCxnSpPr>
        <p:spPr bwMode="auto">
          <a:xfrm flipV="1">
            <a:off x="3302000" y="3763963"/>
            <a:ext cx="212725" cy="360362"/>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3531051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
          <p:cNvSpPr txBox="1">
            <a:spLocks noChangeArrowheads="1"/>
          </p:cNvSpPr>
          <p:nvPr/>
        </p:nvSpPr>
        <p:spPr bwMode="auto">
          <a:xfrm>
            <a:off x="76200" y="76200"/>
            <a:ext cx="9067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b="0" i="0"/>
              <a:t>Insert 35 and recalculate balance factors</a:t>
            </a:r>
          </a:p>
        </p:txBody>
      </p:sp>
      <p:sp>
        <p:nvSpPr>
          <p:cNvPr id="30723" name="Text Box 3"/>
          <p:cNvSpPr txBox="1">
            <a:spLocks noChangeArrowheads="1"/>
          </p:cNvSpPr>
          <p:nvPr/>
        </p:nvSpPr>
        <p:spPr bwMode="auto">
          <a:xfrm>
            <a:off x="0" y="6324600"/>
            <a:ext cx="9067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b="0" i="0"/>
              <a:t>Next step: Find rebalancing case --&gt;  </a:t>
            </a:r>
          </a:p>
        </p:txBody>
      </p:sp>
      <p:sp>
        <p:nvSpPr>
          <p:cNvPr id="30724" name="Text Box 4"/>
          <p:cNvSpPr txBox="1">
            <a:spLocks noChangeArrowheads="1"/>
          </p:cNvSpPr>
          <p:nvPr/>
        </p:nvSpPr>
        <p:spPr bwMode="auto">
          <a:xfrm>
            <a:off x="6705600" y="0"/>
            <a:ext cx="24384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2000" b="0" i="0">
                <a:solidFill>
                  <a:srgbClr val="FF0000"/>
                </a:solidFill>
              </a:rPr>
              <a:t>Balance not ok</a:t>
            </a:r>
          </a:p>
        </p:txBody>
      </p:sp>
      <p:cxnSp>
        <p:nvCxnSpPr>
          <p:cNvPr id="30725" name="AutoShape 5"/>
          <p:cNvCxnSpPr>
            <a:cxnSpLocks noChangeShapeType="1"/>
            <a:stCxn id="30737" idx="3"/>
            <a:endCxn id="30770" idx="7"/>
          </p:cNvCxnSpPr>
          <p:nvPr/>
        </p:nvCxnSpPr>
        <p:spPr bwMode="auto">
          <a:xfrm flipH="1">
            <a:off x="676275" y="3073400"/>
            <a:ext cx="288925" cy="369888"/>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0726" name="AutoShape 6"/>
          <p:cNvCxnSpPr>
            <a:cxnSpLocks noChangeShapeType="1"/>
            <a:stCxn id="30746" idx="3"/>
            <a:endCxn id="30743" idx="7"/>
          </p:cNvCxnSpPr>
          <p:nvPr/>
        </p:nvCxnSpPr>
        <p:spPr bwMode="auto">
          <a:xfrm flipH="1">
            <a:off x="2886075" y="1249363"/>
            <a:ext cx="1965325" cy="7461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0727" name="AutoShape 7"/>
          <p:cNvCxnSpPr>
            <a:cxnSpLocks noChangeShapeType="1"/>
            <a:stCxn id="30746" idx="5"/>
            <a:endCxn id="30749" idx="1"/>
          </p:cNvCxnSpPr>
          <p:nvPr/>
        </p:nvCxnSpPr>
        <p:spPr bwMode="auto">
          <a:xfrm>
            <a:off x="5095875" y="1249363"/>
            <a:ext cx="2422525" cy="6699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0728" name="AutoShape 8"/>
          <p:cNvCxnSpPr>
            <a:cxnSpLocks noChangeShapeType="1"/>
            <a:stCxn id="30749" idx="5"/>
            <a:endCxn id="30752" idx="1"/>
          </p:cNvCxnSpPr>
          <p:nvPr/>
        </p:nvCxnSpPr>
        <p:spPr bwMode="auto">
          <a:xfrm>
            <a:off x="7762875" y="2163763"/>
            <a:ext cx="781050" cy="6699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0729" name="AutoShape 9"/>
          <p:cNvCxnSpPr>
            <a:cxnSpLocks noChangeShapeType="1"/>
            <a:stCxn id="30743" idx="5"/>
            <a:endCxn id="30767" idx="1"/>
          </p:cNvCxnSpPr>
          <p:nvPr/>
        </p:nvCxnSpPr>
        <p:spPr bwMode="auto">
          <a:xfrm>
            <a:off x="2886075" y="2239963"/>
            <a:ext cx="1092200" cy="5937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0730" name="AutoShape 10"/>
          <p:cNvCxnSpPr>
            <a:cxnSpLocks noChangeShapeType="1"/>
            <a:stCxn id="30767" idx="5"/>
            <a:endCxn id="30764" idx="1"/>
          </p:cNvCxnSpPr>
          <p:nvPr/>
        </p:nvCxnSpPr>
        <p:spPr bwMode="auto">
          <a:xfrm>
            <a:off x="4222750" y="3078163"/>
            <a:ext cx="739775" cy="4413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0731" name="AutoShape 11"/>
          <p:cNvCxnSpPr>
            <a:cxnSpLocks noChangeShapeType="1"/>
            <a:stCxn id="30743" idx="3"/>
            <a:endCxn id="30737" idx="7"/>
          </p:cNvCxnSpPr>
          <p:nvPr/>
        </p:nvCxnSpPr>
        <p:spPr bwMode="auto">
          <a:xfrm flipH="1">
            <a:off x="1209675" y="2239963"/>
            <a:ext cx="1431925" cy="588962"/>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0732" name="AutoShape 12"/>
          <p:cNvCxnSpPr>
            <a:cxnSpLocks noChangeShapeType="1"/>
            <a:stCxn id="30740" idx="1"/>
            <a:endCxn id="30737" idx="5"/>
          </p:cNvCxnSpPr>
          <p:nvPr/>
        </p:nvCxnSpPr>
        <p:spPr bwMode="auto">
          <a:xfrm flipH="1" flipV="1">
            <a:off x="1209675" y="3073400"/>
            <a:ext cx="323850" cy="369888"/>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0733" name="AutoShape 13"/>
          <p:cNvCxnSpPr>
            <a:cxnSpLocks noChangeShapeType="1"/>
            <a:stCxn id="30767" idx="3"/>
            <a:endCxn id="30777" idx="7"/>
          </p:cNvCxnSpPr>
          <p:nvPr/>
        </p:nvCxnSpPr>
        <p:spPr bwMode="auto">
          <a:xfrm flipH="1">
            <a:off x="3302000" y="3078163"/>
            <a:ext cx="676275" cy="4413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0734" name="AutoShape 14"/>
          <p:cNvCxnSpPr>
            <a:cxnSpLocks noChangeShapeType="1"/>
            <a:stCxn id="30749" idx="3"/>
            <a:endCxn id="30758" idx="7"/>
          </p:cNvCxnSpPr>
          <p:nvPr/>
        </p:nvCxnSpPr>
        <p:spPr bwMode="auto">
          <a:xfrm flipH="1">
            <a:off x="6807200" y="2163763"/>
            <a:ext cx="711200" cy="6699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0735" name="AutoShape 15"/>
          <p:cNvCxnSpPr>
            <a:cxnSpLocks noChangeShapeType="1"/>
            <a:stCxn id="30752" idx="3"/>
            <a:endCxn id="30755" idx="7"/>
          </p:cNvCxnSpPr>
          <p:nvPr/>
        </p:nvCxnSpPr>
        <p:spPr bwMode="auto">
          <a:xfrm flipH="1">
            <a:off x="8143875" y="3078163"/>
            <a:ext cx="400050" cy="4413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nvGrpSpPr>
          <p:cNvPr id="30736" name="Group 16"/>
          <p:cNvGrpSpPr>
            <a:grpSpLocks/>
          </p:cNvGrpSpPr>
          <p:nvPr/>
        </p:nvGrpSpPr>
        <p:grpSpPr bwMode="auto">
          <a:xfrm>
            <a:off x="457200" y="2738438"/>
            <a:ext cx="803275" cy="385762"/>
            <a:chOff x="720" y="1776"/>
            <a:chExt cx="506" cy="243"/>
          </a:xfrm>
        </p:grpSpPr>
        <p:sp>
          <p:nvSpPr>
            <p:cNvPr id="30737" name="Oval 17"/>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a:t>
              </a:r>
            </a:p>
          </p:txBody>
        </p:sp>
        <p:sp>
          <p:nvSpPr>
            <p:cNvPr id="30738" name="Text Box 18"/>
            <p:cNvSpPr txBox="1">
              <a:spLocks noChangeArrowheads="1"/>
            </p:cNvSpPr>
            <p:nvPr/>
          </p:nvSpPr>
          <p:spPr bwMode="auto">
            <a:xfrm>
              <a:off x="720" y="1776"/>
              <a:ext cx="288"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grpSp>
        <p:nvGrpSpPr>
          <p:cNvPr id="30739" name="Group 19"/>
          <p:cNvGrpSpPr>
            <a:grpSpLocks/>
          </p:cNvGrpSpPr>
          <p:nvPr/>
        </p:nvGrpSpPr>
        <p:grpSpPr bwMode="auto">
          <a:xfrm>
            <a:off x="1101725" y="3352800"/>
            <a:ext cx="727075" cy="385763"/>
            <a:chOff x="1104" y="1392"/>
            <a:chExt cx="458" cy="243"/>
          </a:xfrm>
        </p:grpSpPr>
        <p:sp>
          <p:nvSpPr>
            <p:cNvPr id="30740" name="Oval 20"/>
            <p:cNvSpPr>
              <a:spLocks noChangeArrowheads="1"/>
            </p:cNvSpPr>
            <p:nvPr/>
          </p:nvSpPr>
          <p:spPr bwMode="auto">
            <a:xfrm>
              <a:off x="1344" y="1417"/>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25</a:t>
              </a:r>
            </a:p>
          </p:txBody>
        </p:sp>
        <p:sp>
          <p:nvSpPr>
            <p:cNvPr id="30741" name="Text Box 21"/>
            <p:cNvSpPr txBox="1">
              <a:spLocks noChangeArrowheads="1"/>
            </p:cNvSpPr>
            <p:nvPr/>
          </p:nvSpPr>
          <p:spPr bwMode="auto">
            <a:xfrm>
              <a:off x="1104" y="1392"/>
              <a:ext cx="240"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grpSp>
        <p:nvGrpSpPr>
          <p:cNvPr id="30742" name="Group 22"/>
          <p:cNvGrpSpPr>
            <a:grpSpLocks/>
          </p:cNvGrpSpPr>
          <p:nvPr/>
        </p:nvGrpSpPr>
        <p:grpSpPr bwMode="auto">
          <a:xfrm>
            <a:off x="1752600" y="1905000"/>
            <a:ext cx="1184275" cy="385763"/>
            <a:chOff x="1248" y="960"/>
            <a:chExt cx="746" cy="243"/>
          </a:xfrm>
        </p:grpSpPr>
        <p:sp>
          <p:nvSpPr>
            <p:cNvPr id="30743" name="Oval 23"/>
            <p:cNvSpPr>
              <a:spLocks noChangeArrowheads="1"/>
            </p:cNvSpPr>
            <p:nvPr/>
          </p:nvSpPr>
          <p:spPr bwMode="auto">
            <a:xfrm>
              <a:off x="1776" y="985"/>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26</a:t>
              </a:r>
            </a:p>
          </p:txBody>
        </p:sp>
        <p:sp>
          <p:nvSpPr>
            <p:cNvPr id="30744" name="Text Box 24"/>
            <p:cNvSpPr txBox="1">
              <a:spLocks noChangeArrowheads="1"/>
            </p:cNvSpPr>
            <p:nvPr/>
          </p:nvSpPr>
          <p:spPr bwMode="auto">
            <a:xfrm>
              <a:off x="1248" y="960"/>
              <a:ext cx="528"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solidFill>
                    <a:srgbClr val="FF0000"/>
                  </a:solidFill>
                </a:rPr>
                <a:t>+2</a:t>
              </a:r>
              <a:endParaRPr lang="en-US" altLang="en-US" sz="1400" b="0" i="0"/>
            </a:p>
          </p:txBody>
        </p:sp>
      </p:grpSp>
      <p:grpSp>
        <p:nvGrpSpPr>
          <p:cNvPr id="30745" name="Group 25"/>
          <p:cNvGrpSpPr>
            <a:grpSpLocks/>
          </p:cNvGrpSpPr>
          <p:nvPr/>
        </p:nvGrpSpPr>
        <p:grpSpPr bwMode="auto">
          <a:xfrm>
            <a:off x="3733800" y="914400"/>
            <a:ext cx="1412875" cy="385763"/>
            <a:chOff x="2064" y="576"/>
            <a:chExt cx="890" cy="243"/>
          </a:xfrm>
        </p:grpSpPr>
        <p:sp>
          <p:nvSpPr>
            <p:cNvPr id="30746" name="Oval 26"/>
            <p:cNvSpPr>
              <a:spLocks noChangeArrowheads="1"/>
            </p:cNvSpPr>
            <p:nvPr/>
          </p:nvSpPr>
          <p:spPr bwMode="auto">
            <a:xfrm>
              <a:off x="2736" y="6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57</a:t>
              </a:r>
            </a:p>
          </p:txBody>
        </p:sp>
        <p:sp>
          <p:nvSpPr>
            <p:cNvPr id="30747" name="Text Box 27"/>
            <p:cNvSpPr txBox="1">
              <a:spLocks noChangeArrowheads="1"/>
            </p:cNvSpPr>
            <p:nvPr/>
          </p:nvSpPr>
          <p:spPr bwMode="auto">
            <a:xfrm>
              <a:off x="2064" y="576"/>
              <a:ext cx="67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solidFill>
                    <a:srgbClr val="FF0000"/>
                  </a:solidFill>
                </a:rPr>
                <a:t>-2</a:t>
              </a:r>
              <a:endParaRPr lang="en-US" altLang="en-US" sz="1400" b="0" i="0"/>
            </a:p>
          </p:txBody>
        </p:sp>
      </p:grpSp>
      <p:grpSp>
        <p:nvGrpSpPr>
          <p:cNvPr id="30748" name="Group 28"/>
          <p:cNvGrpSpPr>
            <a:grpSpLocks/>
          </p:cNvGrpSpPr>
          <p:nvPr/>
        </p:nvGrpSpPr>
        <p:grpSpPr bwMode="auto">
          <a:xfrm>
            <a:off x="6858000" y="1828800"/>
            <a:ext cx="955675" cy="385763"/>
            <a:chOff x="3312" y="960"/>
            <a:chExt cx="602" cy="243"/>
          </a:xfrm>
        </p:grpSpPr>
        <p:sp>
          <p:nvSpPr>
            <p:cNvPr id="30749" name="Oval 29"/>
            <p:cNvSpPr>
              <a:spLocks noChangeArrowheads="1"/>
            </p:cNvSpPr>
            <p:nvPr/>
          </p:nvSpPr>
          <p:spPr bwMode="auto">
            <a:xfrm>
              <a:off x="3696" y="985"/>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72</a:t>
              </a:r>
            </a:p>
          </p:txBody>
        </p:sp>
        <p:sp>
          <p:nvSpPr>
            <p:cNvPr id="30750" name="Text Box 30"/>
            <p:cNvSpPr txBox="1">
              <a:spLocks noChangeArrowheads="1"/>
            </p:cNvSpPr>
            <p:nvPr/>
          </p:nvSpPr>
          <p:spPr bwMode="auto">
            <a:xfrm>
              <a:off x="3312" y="960"/>
              <a:ext cx="38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grpSp>
        <p:nvGrpSpPr>
          <p:cNvPr id="30751" name="Group 31"/>
          <p:cNvGrpSpPr>
            <a:grpSpLocks/>
          </p:cNvGrpSpPr>
          <p:nvPr/>
        </p:nvGrpSpPr>
        <p:grpSpPr bwMode="auto">
          <a:xfrm>
            <a:off x="7959725" y="2743200"/>
            <a:ext cx="879475" cy="385763"/>
            <a:chOff x="4246" y="1728"/>
            <a:chExt cx="554" cy="243"/>
          </a:xfrm>
        </p:grpSpPr>
        <p:sp>
          <p:nvSpPr>
            <p:cNvPr id="30752" name="Oval 32"/>
            <p:cNvSpPr>
              <a:spLocks noChangeArrowheads="1"/>
            </p:cNvSpPr>
            <p:nvPr/>
          </p:nvSpPr>
          <p:spPr bwMode="auto">
            <a:xfrm>
              <a:off x="4582" y="1753"/>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94</a:t>
              </a:r>
            </a:p>
          </p:txBody>
        </p:sp>
        <p:sp>
          <p:nvSpPr>
            <p:cNvPr id="30753" name="Text Box 33"/>
            <p:cNvSpPr txBox="1">
              <a:spLocks noChangeArrowheads="1"/>
            </p:cNvSpPr>
            <p:nvPr/>
          </p:nvSpPr>
          <p:spPr bwMode="auto">
            <a:xfrm>
              <a:off x="4246" y="1728"/>
              <a:ext cx="336"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grpSp>
        <p:nvGrpSpPr>
          <p:cNvPr id="30754" name="Group 34"/>
          <p:cNvGrpSpPr>
            <a:grpSpLocks/>
          </p:cNvGrpSpPr>
          <p:nvPr/>
        </p:nvGrpSpPr>
        <p:grpSpPr bwMode="auto">
          <a:xfrm>
            <a:off x="7620000" y="3429000"/>
            <a:ext cx="574675" cy="385763"/>
            <a:chOff x="864" y="1776"/>
            <a:chExt cx="362" cy="243"/>
          </a:xfrm>
        </p:grpSpPr>
        <p:sp>
          <p:nvSpPr>
            <p:cNvPr id="30755" name="Oval 35"/>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78</a:t>
              </a:r>
            </a:p>
          </p:txBody>
        </p:sp>
        <p:sp>
          <p:nvSpPr>
            <p:cNvPr id="30756" name="Text Box 36"/>
            <p:cNvSpPr txBox="1">
              <a:spLocks noChangeArrowheads="1"/>
            </p:cNvSpPr>
            <p:nvPr/>
          </p:nvSpPr>
          <p:spPr bwMode="auto">
            <a:xfrm>
              <a:off x="864" y="1776"/>
              <a:ext cx="14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sz="1400" b="0" i="0"/>
                <a:t>0</a:t>
              </a:r>
            </a:p>
          </p:txBody>
        </p:sp>
      </p:grpSp>
      <p:grpSp>
        <p:nvGrpSpPr>
          <p:cNvPr id="30757" name="Group 37"/>
          <p:cNvGrpSpPr>
            <a:grpSpLocks/>
          </p:cNvGrpSpPr>
          <p:nvPr/>
        </p:nvGrpSpPr>
        <p:grpSpPr bwMode="auto">
          <a:xfrm>
            <a:off x="6283325" y="2743200"/>
            <a:ext cx="574675" cy="385763"/>
            <a:chOff x="864" y="1776"/>
            <a:chExt cx="362" cy="243"/>
          </a:xfrm>
        </p:grpSpPr>
        <p:sp>
          <p:nvSpPr>
            <p:cNvPr id="30758" name="Oval 38"/>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63</a:t>
              </a:r>
            </a:p>
          </p:txBody>
        </p:sp>
        <p:sp>
          <p:nvSpPr>
            <p:cNvPr id="30759" name="Text Box 39"/>
            <p:cNvSpPr txBox="1">
              <a:spLocks noChangeArrowheads="1"/>
            </p:cNvSpPr>
            <p:nvPr/>
          </p:nvSpPr>
          <p:spPr bwMode="auto">
            <a:xfrm>
              <a:off x="864" y="1776"/>
              <a:ext cx="14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sz="1400" b="0" i="0"/>
                <a:t>0</a:t>
              </a:r>
            </a:p>
          </p:txBody>
        </p:sp>
      </p:grpSp>
      <p:grpSp>
        <p:nvGrpSpPr>
          <p:cNvPr id="30760" name="Group 40"/>
          <p:cNvGrpSpPr>
            <a:grpSpLocks/>
          </p:cNvGrpSpPr>
          <p:nvPr/>
        </p:nvGrpSpPr>
        <p:grpSpPr bwMode="auto">
          <a:xfrm>
            <a:off x="3117850" y="4038600"/>
            <a:ext cx="920750" cy="385763"/>
            <a:chOff x="1824" y="2112"/>
            <a:chExt cx="580" cy="243"/>
          </a:xfrm>
        </p:grpSpPr>
        <p:sp>
          <p:nvSpPr>
            <p:cNvPr id="30761" name="Oval 41"/>
            <p:cNvSpPr>
              <a:spLocks noChangeArrowheads="1"/>
            </p:cNvSpPr>
            <p:nvPr/>
          </p:nvSpPr>
          <p:spPr bwMode="auto">
            <a:xfrm>
              <a:off x="2186" y="2137"/>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37</a:t>
              </a:r>
            </a:p>
          </p:txBody>
        </p:sp>
        <p:sp>
          <p:nvSpPr>
            <p:cNvPr id="30762" name="Text Box 42"/>
            <p:cNvSpPr txBox="1">
              <a:spLocks noChangeArrowheads="1"/>
            </p:cNvSpPr>
            <p:nvPr/>
          </p:nvSpPr>
          <p:spPr bwMode="auto">
            <a:xfrm>
              <a:off x="1824" y="2112"/>
              <a:ext cx="36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grpSp>
        <p:nvGrpSpPr>
          <p:cNvPr id="30763" name="Group 43"/>
          <p:cNvGrpSpPr>
            <a:grpSpLocks/>
          </p:cNvGrpSpPr>
          <p:nvPr/>
        </p:nvGrpSpPr>
        <p:grpSpPr bwMode="auto">
          <a:xfrm>
            <a:off x="4337050" y="3429000"/>
            <a:ext cx="920750" cy="385763"/>
            <a:chOff x="2496" y="2160"/>
            <a:chExt cx="580" cy="243"/>
          </a:xfrm>
        </p:grpSpPr>
        <p:sp>
          <p:nvSpPr>
            <p:cNvPr id="30764" name="Oval 44"/>
            <p:cNvSpPr>
              <a:spLocks noChangeArrowheads="1"/>
            </p:cNvSpPr>
            <p:nvPr/>
          </p:nvSpPr>
          <p:spPr bwMode="auto">
            <a:xfrm>
              <a:off x="2858" y="2185"/>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47</a:t>
              </a:r>
            </a:p>
          </p:txBody>
        </p:sp>
        <p:sp>
          <p:nvSpPr>
            <p:cNvPr id="30765" name="Text Box 45"/>
            <p:cNvSpPr txBox="1">
              <a:spLocks noChangeArrowheads="1"/>
            </p:cNvSpPr>
            <p:nvPr/>
          </p:nvSpPr>
          <p:spPr bwMode="auto">
            <a:xfrm>
              <a:off x="2496" y="2160"/>
              <a:ext cx="36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grpSp>
        <p:nvGrpSpPr>
          <p:cNvPr id="30766" name="Group 46"/>
          <p:cNvGrpSpPr>
            <a:grpSpLocks/>
          </p:cNvGrpSpPr>
          <p:nvPr/>
        </p:nvGrpSpPr>
        <p:grpSpPr bwMode="auto">
          <a:xfrm>
            <a:off x="3276600" y="2743200"/>
            <a:ext cx="996950" cy="385763"/>
            <a:chOff x="2112" y="1728"/>
            <a:chExt cx="628" cy="243"/>
          </a:xfrm>
        </p:grpSpPr>
        <p:sp>
          <p:nvSpPr>
            <p:cNvPr id="30767" name="Oval 47"/>
            <p:cNvSpPr>
              <a:spLocks noChangeArrowheads="1"/>
            </p:cNvSpPr>
            <p:nvPr/>
          </p:nvSpPr>
          <p:spPr bwMode="auto">
            <a:xfrm>
              <a:off x="2522" y="1753"/>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38</a:t>
              </a:r>
            </a:p>
          </p:txBody>
        </p:sp>
        <p:sp>
          <p:nvSpPr>
            <p:cNvPr id="30768" name="Text Box 48"/>
            <p:cNvSpPr txBox="1">
              <a:spLocks noChangeArrowheads="1"/>
            </p:cNvSpPr>
            <p:nvPr/>
          </p:nvSpPr>
          <p:spPr bwMode="auto">
            <a:xfrm>
              <a:off x="2112" y="1728"/>
              <a:ext cx="410"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solidFill>
                    <a:srgbClr val="FF0000"/>
                  </a:solidFill>
                </a:rPr>
                <a:t>-2</a:t>
              </a:r>
              <a:endParaRPr lang="en-US" altLang="en-US" sz="1400" b="0" i="0"/>
            </a:p>
          </p:txBody>
        </p:sp>
      </p:grpSp>
      <p:grpSp>
        <p:nvGrpSpPr>
          <p:cNvPr id="30769" name="Group 49"/>
          <p:cNvGrpSpPr>
            <a:grpSpLocks/>
          </p:cNvGrpSpPr>
          <p:nvPr/>
        </p:nvGrpSpPr>
        <p:grpSpPr bwMode="auto">
          <a:xfrm>
            <a:off x="-76200" y="3352800"/>
            <a:ext cx="803275" cy="385763"/>
            <a:chOff x="768" y="1872"/>
            <a:chExt cx="506" cy="243"/>
          </a:xfrm>
        </p:grpSpPr>
        <p:sp>
          <p:nvSpPr>
            <p:cNvPr id="30770" name="Oval 50"/>
            <p:cNvSpPr>
              <a:spLocks noChangeArrowheads="1"/>
            </p:cNvSpPr>
            <p:nvPr/>
          </p:nvSpPr>
          <p:spPr bwMode="auto">
            <a:xfrm>
              <a:off x="1056" y="1897"/>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1</a:t>
              </a:r>
            </a:p>
          </p:txBody>
        </p:sp>
        <p:sp>
          <p:nvSpPr>
            <p:cNvPr id="30771" name="Text Box 51"/>
            <p:cNvSpPr txBox="1">
              <a:spLocks noChangeArrowheads="1"/>
            </p:cNvSpPr>
            <p:nvPr/>
          </p:nvSpPr>
          <p:spPr bwMode="auto">
            <a:xfrm>
              <a:off x="768" y="1872"/>
              <a:ext cx="288"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grpSp>
        <p:nvGrpSpPr>
          <p:cNvPr id="30772" name="Group 52"/>
          <p:cNvGrpSpPr>
            <a:grpSpLocks/>
          </p:cNvGrpSpPr>
          <p:nvPr/>
        </p:nvGrpSpPr>
        <p:grpSpPr bwMode="auto">
          <a:xfrm>
            <a:off x="1981200" y="4033838"/>
            <a:ext cx="762000" cy="385762"/>
            <a:chOff x="1680" y="2541"/>
            <a:chExt cx="480" cy="243"/>
          </a:xfrm>
        </p:grpSpPr>
        <p:sp>
          <p:nvSpPr>
            <p:cNvPr id="30773" name="Oval 53"/>
            <p:cNvSpPr>
              <a:spLocks noChangeArrowheads="1"/>
            </p:cNvSpPr>
            <p:nvPr/>
          </p:nvSpPr>
          <p:spPr bwMode="auto">
            <a:xfrm>
              <a:off x="1942" y="2566"/>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30</a:t>
              </a:r>
            </a:p>
          </p:txBody>
        </p:sp>
        <p:sp>
          <p:nvSpPr>
            <p:cNvPr id="30774" name="Text Box 54"/>
            <p:cNvSpPr txBox="1">
              <a:spLocks noChangeArrowheads="1"/>
            </p:cNvSpPr>
            <p:nvPr/>
          </p:nvSpPr>
          <p:spPr bwMode="auto">
            <a:xfrm>
              <a:off x="1680" y="2541"/>
              <a:ext cx="26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cxnSp>
        <p:nvCxnSpPr>
          <p:cNvPr id="30775" name="AutoShape 55"/>
          <p:cNvCxnSpPr>
            <a:cxnSpLocks noChangeShapeType="1"/>
            <a:stCxn id="30761" idx="1"/>
            <a:endCxn id="30777" idx="5"/>
          </p:cNvCxnSpPr>
          <p:nvPr/>
        </p:nvCxnSpPr>
        <p:spPr bwMode="auto">
          <a:xfrm flipH="1" flipV="1">
            <a:off x="3302000" y="3763963"/>
            <a:ext cx="441325" cy="3651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nvGrpSpPr>
          <p:cNvPr id="30780" name="Group 60"/>
          <p:cNvGrpSpPr>
            <a:grpSpLocks/>
          </p:cNvGrpSpPr>
          <p:nvPr/>
        </p:nvGrpSpPr>
        <p:grpSpPr bwMode="auto">
          <a:xfrm>
            <a:off x="2590800" y="3429000"/>
            <a:ext cx="762000" cy="385763"/>
            <a:chOff x="1920" y="2160"/>
            <a:chExt cx="480" cy="243"/>
          </a:xfrm>
        </p:grpSpPr>
        <p:sp>
          <p:nvSpPr>
            <p:cNvPr id="30777" name="Oval 57"/>
            <p:cNvSpPr>
              <a:spLocks noChangeArrowheads="1"/>
            </p:cNvSpPr>
            <p:nvPr/>
          </p:nvSpPr>
          <p:spPr bwMode="auto">
            <a:xfrm>
              <a:off x="2182" y="2185"/>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32</a:t>
              </a:r>
            </a:p>
          </p:txBody>
        </p:sp>
        <p:sp>
          <p:nvSpPr>
            <p:cNvPr id="30778" name="Text Box 58"/>
            <p:cNvSpPr txBox="1">
              <a:spLocks noChangeArrowheads="1"/>
            </p:cNvSpPr>
            <p:nvPr/>
          </p:nvSpPr>
          <p:spPr bwMode="auto">
            <a:xfrm>
              <a:off x="1920" y="2160"/>
              <a:ext cx="26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cxnSp>
        <p:nvCxnSpPr>
          <p:cNvPr id="30779" name="AutoShape 59"/>
          <p:cNvCxnSpPr>
            <a:cxnSpLocks noChangeShapeType="1"/>
            <a:stCxn id="30773" idx="7"/>
            <a:endCxn id="30777" idx="3"/>
          </p:cNvCxnSpPr>
          <p:nvPr/>
        </p:nvCxnSpPr>
        <p:spPr bwMode="auto">
          <a:xfrm flipV="1">
            <a:off x="2692400" y="3763963"/>
            <a:ext cx="365125" cy="360362"/>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nvGrpSpPr>
          <p:cNvPr id="30785" name="Group 65"/>
          <p:cNvGrpSpPr>
            <a:grpSpLocks/>
          </p:cNvGrpSpPr>
          <p:nvPr/>
        </p:nvGrpSpPr>
        <p:grpSpPr bwMode="auto">
          <a:xfrm>
            <a:off x="2584450" y="4648200"/>
            <a:ext cx="920750" cy="385763"/>
            <a:chOff x="1968" y="3021"/>
            <a:chExt cx="580" cy="243"/>
          </a:xfrm>
        </p:grpSpPr>
        <p:sp>
          <p:nvSpPr>
            <p:cNvPr id="30782" name="Oval 62"/>
            <p:cNvSpPr>
              <a:spLocks noChangeArrowheads="1"/>
            </p:cNvSpPr>
            <p:nvPr/>
          </p:nvSpPr>
          <p:spPr bwMode="auto">
            <a:xfrm>
              <a:off x="2330" y="3046"/>
              <a:ext cx="218" cy="218"/>
            </a:xfrm>
            <a:prstGeom prst="ellipse">
              <a:avLst/>
            </a:prstGeom>
            <a:solidFill>
              <a:srgbClr val="FFFF00">
                <a:alpha val="53999"/>
              </a:srgbClr>
            </a:solidFill>
            <a:ln w="9525">
              <a:solidFill>
                <a:schemeClr val="tx1"/>
              </a:solidFill>
              <a:round/>
              <a:headEnd/>
              <a:tailEnd/>
            </a:ln>
          </p:spPr>
          <p:txBody>
            <a:bodyPr wrap="none" anchor="ctr"/>
            <a:lstStyle/>
            <a:p>
              <a:pPr algn="ctr"/>
              <a:r>
                <a:rPr lang="en-US" altLang="en-US" sz="1600" b="0" i="0"/>
                <a:t>35</a:t>
              </a:r>
            </a:p>
          </p:txBody>
        </p:sp>
        <p:sp>
          <p:nvSpPr>
            <p:cNvPr id="30783" name="Text Box 63"/>
            <p:cNvSpPr txBox="1">
              <a:spLocks noChangeArrowheads="1"/>
            </p:cNvSpPr>
            <p:nvPr/>
          </p:nvSpPr>
          <p:spPr bwMode="auto">
            <a:xfrm>
              <a:off x="1968" y="3021"/>
              <a:ext cx="36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cxnSp>
        <p:nvCxnSpPr>
          <p:cNvPr id="30786" name="AutoShape 66"/>
          <p:cNvCxnSpPr>
            <a:cxnSpLocks noChangeShapeType="1"/>
            <a:stCxn id="30782" idx="7"/>
            <a:endCxn id="30761" idx="3"/>
          </p:cNvCxnSpPr>
          <p:nvPr/>
        </p:nvCxnSpPr>
        <p:spPr bwMode="auto">
          <a:xfrm flipV="1">
            <a:off x="3454400" y="4373563"/>
            <a:ext cx="288925" cy="3651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27332542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Oval 2"/>
          <p:cNvSpPr>
            <a:spLocks noChangeArrowheads="1"/>
          </p:cNvSpPr>
          <p:nvPr/>
        </p:nvSpPr>
        <p:spPr bwMode="auto">
          <a:xfrm rot="2070363">
            <a:off x="2971800" y="2590800"/>
            <a:ext cx="1524000" cy="2057400"/>
          </a:xfrm>
          <a:prstGeom prst="ellipse">
            <a:avLst/>
          </a:prstGeom>
          <a:solidFill>
            <a:srgbClr val="FFFF00">
              <a:alpha val="20000"/>
            </a:srgbClr>
          </a:solidFill>
          <a:ln w="9525">
            <a:solidFill>
              <a:schemeClr val="tx1"/>
            </a:solidFill>
            <a:round/>
            <a:headEnd/>
            <a:tailEnd/>
          </a:ln>
        </p:spPr>
        <p:txBody>
          <a:bodyPr wrap="none" anchor="ctr"/>
          <a:lstStyle/>
          <a:p>
            <a:endParaRPr lang="en-US"/>
          </a:p>
        </p:txBody>
      </p:sp>
      <p:sp>
        <p:nvSpPr>
          <p:cNvPr id="32771" name="Text Box 3"/>
          <p:cNvSpPr txBox="1">
            <a:spLocks noChangeArrowheads="1"/>
          </p:cNvSpPr>
          <p:nvPr/>
        </p:nvSpPr>
        <p:spPr bwMode="auto">
          <a:xfrm>
            <a:off x="76200" y="76200"/>
            <a:ext cx="9067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b="0" i="0"/>
              <a:t>Insert 35</a:t>
            </a:r>
          </a:p>
        </p:txBody>
      </p:sp>
      <p:sp>
        <p:nvSpPr>
          <p:cNvPr id="32772" name="Text Box 4"/>
          <p:cNvSpPr txBox="1">
            <a:spLocks noChangeArrowheads="1"/>
          </p:cNvSpPr>
          <p:nvPr/>
        </p:nvSpPr>
        <p:spPr bwMode="auto">
          <a:xfrm>
            <a:off x="0" y="6324600"/>
            <a:ext cx="9067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b="0" i="0"/>
              <a:t>Next step: Rebalance (Step 1) --&gt;  </a:t>
            </a:r>
          </a:p>
        </p:txBody>
      </p:sp>
      <p:sp>
        <p:nvSpPr>
          <p:cNvPr id="32773" name="Text Box 5"/>
          <p:cNvSpPr txBox="1">
            <a:spLocks noChangeArrowheads="1"/>
          </p:cNvSpPr>
          <p:nvPr/>
        </p:nvSpPr>
        <p:spPr bwMode="auto">
          <a:xfrm>
            <a:off x="6705600" y="0"/>
            <a:ext cx="24384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2000" b="0" i="0">
                <a:solidFill>
                  <a:srgbClr val="FF0000"/>
                </a:solidFill>
              </a:rPr>
              <a:t>Balance not ok</a:t>
            </a:r>
          </a:p>
        </p:txBody>
      </p:sp>
      <p:cxnSp>
        <p:nvCxnSpPr>
          <p:cNvPr id="32774" name="AutoShape 6"/>
          <p:cNvCxnSpPr>
            <a:cxnSpLocks noChangeShapeType="1"/>
            <a:stCxn id="32786" idx="3"/>
            <a:endCxn id="32819" idx="7"/>
          </p:cNvCxnSpPr>
          <p:nvPr/>
        </p:nvCxnSpPr>
        <p:spPr bwMode="auto">
          <a:xfrm flipH="1">
            <a:off x="676275" y="3073400"/>
            <a:ext cx="288925" cy="369888"/>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2775" name="AutoShape 7"/>
          <p:cNvCxnSpPr>
            <a:cxnSpLocks noChangeShapeType="1"/>
            <a:stCxn id="32795" idx="3"/>
            <a:endCxn id="32792" idx="7"/>
          </p:cNvCxnSpPr>
          <p:nvPr/>
        </p:nvCxnSpPr>
        <p:spPr bwMode="auto">
          <a:xfrm flipH="1">
            <a:off x="2886075" y="1249363"/>
            <a:ext cx="1965325" cy="7461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2776" name="AutoShape 8"/>
          <p:cNvCxnSpPr>
            <a:cxnSpLocks noChangeShapeType="1"/>
            <a:stCxn id="32795" idx="5"/>
            <a:endCxn id="32798" idx="1"/>
          </p:cNvCxnSpPr>
          <p:nvPr/>
        </p:nvCxnSpPr>
        <p:spPr bwMode="auto">
          <a:xfrm>
            <a:off x="5095875" y="1249363"/>
            <a:ext cx="2422525" cy="6699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2777" name="AutoShape 9"/>
          <p:cNvCxnSpPr>
            <a:cxnSpLocks noChangeShapeType="1"/>
            <a:stCxn id="32798" idx="5"/>
            <a:endCxn id="32801" idx="1"/>
          </p:cNvCxnSpPr>
          <p:nvPr/>
        </p:nvCxnSpPr>
        <p:spPr bwMode="auto">
          <a:xfrm>
            <a:off x="7762875" y="2163763"/>
            <a:ext cx="781050" cy="6699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2778" name="AutoShape 10"/>
          <p:cNvCxnSpPr>
            <a:cxnSpLocks noChangeShapeType="1"/>
            <a:stCxn id="32792" idx="5"/>
            <a:endCxn id="32816" idx="1"/>
          </p:cNvCxnSpPr>
          <p:nvPr/>
        </p:nvCxnSpPr>
        <p:spPr bwMode="auto">
          <a:xfrm>
            <a:off x="2886075" y="2239963"/>
            <a:ext cx="1092200" cy="5937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2779" name="AutoShape 11"/>
          <p:cNvCxnSpPr>
            <a:cxnSpLocks noChangeShapeType="1"/>
            <a:stCxn id="32816" idx="5"/>
            <a:endCxn id="32813" idx="1"/>
          </p:cNvCxnSpPr>
          <p:nvPr/>
        </p:nvCxnSpPr>
        <p:spPr bwMode="auto">
          <a:xfrm>
            <a:off x="4222750" y="3078163"/>
            <a:ext cx="739775" cy="4413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2780" name="AutoShape 12"/>
          <p:cNvCxnSpPr>
            <a:cxnSpLocks noChangeShapeType="1"/>
            <a:stCxn id="32792" idx="3"/>
            <a:endCxn id="32786" idx="7"/>
          </p:cNvCxnSpPr>
          <p:nvPr/>
        </p:nvCxnSpPr>
        <p:spPr bwMode="auto">
          <a:xfrm flipH="1">
            <a:off x="1209675" y="2239963"/>
            <a:ext cx="1431925" cy="588962"/>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2781" name="AutoShape 13"/>
          <p:cNvCxnSpPr>
            <a:cxnSpLocks noChangeShapeType="1"/>
            <a:stCxn id="32789" idx="1"/>
            <a:endCxn id="32786" idx="5"/>
          </p:cNvCxnSpPr>
          <p:nvPr/>
        </p:nvCxnSpPr>
        <p:spPr bwMode="auto">
          <a:xfrm flipH="1" flipV="1">
            <a:off x="1209675" y="3073400"/>
            <a:ext cx="323850" cy="369888"/>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2782" name="AutoShape 14"/>
          <p:cNvCxnSpPr>
            <a:cxnSpLocks noChangeShapeType="1"/>
            <a:stCxn id="32816" idx="3"/>
            <a:endCxn id="32826" idx="7"/>
          </p:cNvCxnSpPr>
          <p:nvPr/>
        </p:nvCxnSpPr>
        <p:spPr bwMode="auto">
          <a:xfrm flipH="1">
            <a:off x="3302000" y="3078163"/>
            <a:ext cx="676275" cy="4413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2783" name="AutoShape 15"/>
          <p:cNvCxnSpPr>
            <a:cxnSpLocks noChangeShapeType="1"/>
            <a:stCxn id="32798" idx="3"/>
            <a:endCxn id="32807" idx="7"/>
          </p:cNvCxnSpPr>
          <p:nvPr/>
        </p:nvCxnSpPr>
        <p:spPr bwMode="auto">
          <a:xfrm flipH="1">
            <a:off x="6807200" y="2163763"/>
            <a:ext cx="711200" cy="6699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2784" name="AutoShape 16"/>
          <p:cNvCxnSpPr>
            <a:cxnSpLocks noChangeShapeType="1"/>
            <a:stCxn id="32801" idx="3"/>
            <a:endCxn id="32804" idx="7"/>
          </p:cNvCxnSpPr>
          <p:nvPr/>
        </p:nvCxnSpPr>
        <p:spPr bwMode="auto">
          <a:xfrm flipH="1">
            <a:off x="8143875" y="3078163"/>
            <a:ext cx="400050" cy="4413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nvGrpSpPr>
          <p:cNvPr id="32785" name="Group 17"/>
          <p:cNvGrpSpPr>
            <a:grpSpLocks/>
          </p:cNvGrpSpPr>
          <p:nvPr/>
        </p:nvGrpSpPr>
        <p:grpSpPr bwMode="auto">
          <a:xfrm>
            <a:off x="457200" y="2738438"/>
            <a:ext cx="803275" cy="385762"/>
            <a:chOff x="720" y="1776"/>
            <a:chExt cx="506" cy="243"/>
          </a:xfrm>
        </p:grpSpPr>
        <p:sp>
          <p:nvSpPr>
            <p:cNvPr id="32786" name="Oval 18"/>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a:t>
              </a:r>
            </a:p>
          </p:txBody>
        </p:sp>
        <p:sp>
          <p:nvSpPr>
            <p:cNvPr id="32787" name="Text Box 19"/>
            <p:cNvSpPr txBox="1">
              <a:spLocks noChangeArrowheads="1"/>
            </p:cNvSpPr>
            <p:nvPr/>
          </p:nvSpPr>
          <p:spPr bwMode="auto">
            <a:xfrm>
              <a:off x="720" y="1776"/>
              <a:ext cx="288"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grpSp>
        <p:nvGrpSpPr>
          <p:cNvPr id="32788" name="Group 20"/>
          <p:cNvGrpSpPr>
            <a:grpSpLocks/>
          </p:cNvGrpSpPr>
          <p:nvPr/>
        </p:nvGrpSpPr>
        <p:grpSpPr bwMode="auto">
          <a:xfrm>
            <a:off x="1101725" y="3352800"/>
            <a:ext cx="727075" cy="385763"/>
            <a:chOff x="1104" y="1392"/>
            <a:chExt cx="458" cy="243"/>
          </a:xfrm>
        </p:grpSpPr>
        <p:sp>
          <p:nvSpPr>
            <p:cNvPr id="32789" name="Oval 21"/>
            <p:cNvSpPr>
              <a:spLocks noChangeArrowheads="1"/>
            </p:cNvSpPr>
            <p:nvPr/>
          </p:nvSpPr>
          <p:spPr bwMode="auto">
            <a:xfrm>
              <a:off x="1344" y="1417"/>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25</a:t>
              </a:r>
            </a:p>
          </p:txBody>
        </p:sp>
        <p:sp>
          <p:nvSpPr>
            <p:cNvPr id="32790" name="Text Box 22"/>
            <p:cNvSpPr txBox="1">
              <a:spLocks noChangeArrowheads="1"/>
            </p:cNvSpPr>
            <p:nvPr/>
          </p:nvSpPr>
          <p:spPr bwMode="auto">
            <a:xfrm>
              <a:off x="1104" y="1392"/>
              <a:ext cx="240"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grpSp>
        <p:nvGrpSpPr>
          <p:cNvPr id="32791" name="Group 23"/>
          <p:cNvGrpSpPr>
            <a:grpSpLocks/>
          </p:cNvGrpSpPr>
          <p:nvPr/>
        </p:nvGrpSpPr>
        <p:grpSpPr bwMode="auto">
          <a:xfrm>
            <a:off x="1752600" y="1905000"/>
            <a:ext cx="1184275" cy="385763"/>
            <a:chOff x="1248" y="960"/>
            <a:chExt cx="746" cy="243"/>
          </a:xfrm>
        </p:grpSpPr>
        <p:sp>
          <p:nvSpPr>
            <p:cNvPr id="32792" name="Oval 24"/>
            <p:cNvSpPr>
              <a:spLocks noChangeArrowheads="1"/>
            </p:cNvSpPr>
            <p:nvPr/>
          </p:nvSpPr>
          <p:spPr bwMode="auto">
            <a:xfrm>
              <a:off x="1776" y="985"/>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26</a:t>
              </a:r>
            </a:p>
          </p:txBody>
        </p:sp>
        <p:sp>
          <p:nvSpPr>
            <p:cNvPr id="32793" name="Text Box 25"/>
            <p:cNvSpPr txBox="1">
              <a:spLocks noChangeArrowheads="1"/>
            </p:cNvSpPr>
            <p:nvPr/>
          </p:nvSpPr>
          <p:spPr bwMode="auto">
            <a:xfrm>
              <a:off x="1248" y="960"/>
              <a:ext cx="528"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solidFill>
                    <a:srgbClr val="FF0000"/>
                  </a:solidFill>
                </a:rPr>
                <a:t>+2</a:t>
              </a:r>
              <a:endParaRPr lang="en-US" altLang="en-US" sz="1400" b="0" i="0"/>
            </a:p>
          </p:txBody>
        </p:sp>
      </p:grpSp>
      <p:grpSp>
        <p:nvGrpSpPr>
          <p:cNvPr id="32794" name="Group 26"/>
          <p:cNvGrpSpPr>
            <a:grpSpLocks/>
          </p:cNvGrpSpPr>
          <p:nvPr/>
        </p:nvGrpSpPr>
        <p:grpSpPr bwMode="auto">
          <a:xfrm>
            <a:off x="3733800" y="914400"/>
            <a:ext cx="1412875" cy="385763"/>
            <a:chOff x="2064" y="576"/>
            <a:chExt cx="890" cy="243"/>
          </a:xfrm>
        </p:grpSpPr>
        <p:sp>
          <p:nvSpPr>
            <p:cNvPr id="32795" name="Oval 27"/>
            <p:cNvSpPr>
              <a:spLocks noChangeArrowheads="1"/>
            </p:cNvSpPr>
            <p:nvPr/>
          </p:nvSpPr>
          <p:spPr bwMode="auto">
            <a:xfrm>
              <a:off x="2736" y="6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57</a:t>
              </a:r>
            </a:p>
          </p:txBody>
        </p:sp>
        <p:sp>
          <p:nvSpPr>
            <p:cNvPr id="32796" name="Text Box 28"/>
            <p:cNvSpPr txBox="1">
              <a:spLocks noChangeArrowheads="1"/>
            </p:cNvSpPr>
            <p:nvPr/>
          </p:nvSpPr>
          <p:spPr bwMode="auto">
            <a:xfrm>
              <a:off x="2064" y="576"/>
              <a:ext cx="67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solidFill>
                    <a:srgbClr val="FF0000"/>
                  </a:solidFill>
                </a:rPr>
                <a:t>-2</a:t>
              </a:r>
              <a:endParaRPr lang="en-US" altLang="en-US" sz="1400" b="0" i="0"/>
            </a:p>
          </p:txBody>
        </p:sp>
      </p:grpSp>
      <p:grpSp>
        <p:nvGrpSpPr>
          <p:cNvPr id="32797" name="Group 29"/>
          <p:cNvGrpSpPr>
            <a:grpSpLocks/>
          </p:cNvGrpSpPr>
          <p:nvPr/>
        </p:nvGrpSpPr>
        <p:grpSpPr bwMode="auto">
          <a:xfrm>
            <a:off x="6858000" y="1828800"/>
            <a:ext cx="955675" cy="385763"/>
            <a:chOff x="3312" y="960"/>
            <a:chExt cx="602" cy="243"/>
          </a:xfrm>
        </p:grpSpPr>
        <p:sp>
          <p:nvSpPr>
            <p:cNvPr id="32798" name="Oval 30"/>
            <p:cNvSpPr>
              <a:spLocks noChangeArrowheads="1"/>
            </p:cNvSpPr>
            <p:nvPr/>
          </p:nvSpPr>
          <p:spPr bwMode="auto">
            <a:xfrm>
              <a:off x="3696" y="985"/>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72</a:t>
              </a:r>
            </a:p>
          </p:txBody>
        </p:sp>
        <p:sp>
          <p:nvSpPr>
            <p:cNvPr id="32799" name="Text Box 31"/>
            <p:cNvSpPr txBox="1">
              <a:spLocks noChangeArrowheads="1"/>
            </p:cNvSpPr>
            <p:nvPr/>
          </p:nvSpPr>
          <p:spPr bwMode="auto">
            <a:xfrm>
              <a:off x="3312" y="960"/>
              <a:ext cx="38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grpSp>
        <p:nvGrpSpPr>
          <p:cNvPr id="32800" name="Group 32"/>
          <p:cNvGrpSpPr>
            <a:grpSpLocks/>
          </p:cNvGrpSpPr>
          <p:nvPr/>
        </p:nvGrpSpPr>
        <p:grpSpPr bwMode="auto">
          <a:xfrm>
            <a:off x="7959725" y="2743200"/>
            <a:ext cx="879475" cy="385763"/>
            <a:chOff x="4246" y="1728"/>
            <a:chExt cx="554" cy="243"/>
          </a:xfrm>
        </p:grpSpPr>
        <p:sp>
          <p:nvSpPr>
            <p:cNvPr id="32801" name="Oval 33"/>
            <p:cNvSpPr>
              <a:spLocks noChangeArrowheads="1"/>
            </p:cNvSpPr>
            <p:nvPr/>
          </p:nvSpPr>
          <p:spPr bwMode="auto">
            <a:xfrm>
              <a:off x="4582" y="1753"/>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94</a:t>
              </a:r>
            </a:p>
          </p:txBody>
        </p:sp>
        <p:sp>
          <p:nvSpPr>
            <p:cNvPr id="32802" name="Text Box 34"/>
            <p:cNvSpPr txBox="1">
              <a:spLocks noChangeArrowheads="1"/>
            </p:cNvSpPr>
            <p:nvPr/>
          </p:nvSpPr>
          <p:spPr bwMode="auto">
            <a:xfrm>
              <a:off x="4246" y="1728"/>
              <a:ext cx="336"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grpSp>
        <p:nvGrpSpPr>
          <p:cNvPr id="32803" name="Group 35"/>
          <p:cNvGrpSpPr>
            <a:grpSpLocks/>
          </p:cNvGrpSpPr>
          <p:nvPr/>
        </p:nvGrpSpPr>
        <p:grpSpPr bwMode="auto">
          <a:xfrm>
            <a:off x="7620000" y="3429000"/>
            <a:ext cx="574675" cy="385763"/>
            <a:chOff x="864" y="1776"/>
            <a:chExt cx="362" cy="243"/>
          </a:xfrm>
        </p:grpSpPr>
        <p:sp>
          <p:nvSpPr>
            <p:cNvPr id="32804" name="Oval 36"/>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78</a:t>
              </a:r>
            </a:p>
          </p:txBody>
        </p:sp>
        <p:sp>
          <p:nvSpPr>
            <p:cNvPr id="32805" name="Text Box 37"/>
            <p:cNvSpPr txBox="1">
              <a:spLocks noChangeArrowheads="1"/>
            </p:cNvSpPr>
            <p:nvPr/>
          </p:nvSpPr>
          <p:spPr bwMode="auto">
            <a:xfrm>
              <a:off x="864" y="1776"/>
              <a:ext cx="14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sz="1400" b="0" i="0"/>
                <a:t>0</a:t>
              </a:r>
            </a:p>
          </p:txBody>
        </p:sp>
      </p:grpSp>
      <p:grpSp>
        <p:nvGrpSpPr>
          <p:cNvPr id="32806" name="Group 38"/>
          <p:cNvGrpSpPr>
            <a:grpSpLocks/>
          </p:cNvGrpSpPr>
          <p:nvPr/>
        </p:nvGrpSpPr>
        <p:grpSpPr bwMode="auto">
          <a:xfrm>
            <a:off x="6283325" y="2743200"/>
            <a:ext cx="574675" cy="385763"/>
            <a:chOff x="864" y="1776"/>
            <a:chExt cx="362" cy="243"/>
          </a:xfrm>
        </p:grpSpPr>
        <p:sp>
          <p:nvSpPr>
            <p:cNvPr id="32807" name="Oval 39"/>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63</a:t>
              </a:r>
            </a:p>
          </p:txBody>
        </p:sp>
        <p:sp>
          <p:nvSpPr>
            <p:cNvPr id="32808" name="Text Box 40"/>
            <p:cNvSpPr txBox="1">
              <a:spLocks noChangeArrowheads="1"/>
            </p:cNvSpPr>
            <p:nvPr/>
          </p:nvSpPr>
          <p:spPr bwMode="auto">
            <a:xfrm>
              <a:off x="864" y="1776"/>
              <a:ext cx="14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sz="1400" b="0" i="0"/>
                <a:t>0</a:t>
              </a:r>
            </a:p>
          </p:txBody>
        </p:sp>
      </p:grpSp>
      <p:grpSp>
        <p:nvGrpSpPr>
          <p:cNvPr id="32837" name="Group 69"/>
          <p:cNvGrpSpPr>
            <a:grpSpLocks/>
          </p:cNvGrpSpPr>
          <p:nvPr/>
        </p:nvGrpSpPr>
        <p:grpSpPr bwMode="auto">
          <a:xfrm>
            <a:off x="3117850" y="4038600"/>
            <a:ext cx="920750" cy="385763"/>
            <a:chOff x="1964" y="2544"/>
            <a:chExt cx="580" cy="243"/>
          </a:xfrm>
        </p:grpSpPr>
        <p:sp>
          <p:nvSpPr>
            <p:cNvPr id="32810" name="Oval 42"/>
            <p:cNvSpPr>
              <a:spLocks noChangeArrowheads="1"/>
            </p:cNvSpPr>
            <p:nvPr/>
          </p:nvSpPr>
          <p:spPr bwMode="auto">
            <a:xfrm>
              <a:off x="2326" y="2569"/>
              <a:ext cx="218" cy="218"/>
            </a:xfrm>
            <a:prstGeom prst="ellipse">
              <a:avLst/>
            </a:prstGeom>
            <a:solidFill>
              <a:srgbClr val="FF00FF">
                <a:alpha val="53999"/>
              </a:srgbClr>
            </a:solidFill>
            <a:ln w="9525">
              <a:solidFill>
                <a:schemeClr val="tx1"/>
              </a:solidFill>
              <a:round/>
              <a:headEnd/>
              <a:tailEnd/>
            </a:ln>
          </p:spPr>
          <p:txBody>
            <a:bodyPr wrap="none" anchor="ctr"/>
            <a:lstStyle/>
            <a:p>
              <a:pPr algn="ctr"/>
              <a:r>
                <a:rPr lang="en-US" altLang="en-US" sz="1600" b="0" i="0"/>
                <a:t>37</a:t>
              </a:r>
            </a:p>
          </p:txBody>
        </p:sp>
        <p:sp>
          <p:nvSpPr>
            <p:cNvPr id="32811" name="Text Box 43"/>
            <p:cNvSpPr txBox="1">
              <a:spLocks noChangeArrowheads="1"/>
            </p:cNvSpPr>
            <p:nvPr/>
          </p:nvSpPr>
          <p:spPr bwMode="auto">
            <a:xfrm>
              <a:off x="1964" y="2544"/>
              <a:ext cx="36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grpSp>
        <p:nvGrpSpPr>
          <p:cNvPr id="32812" name="Group 44"/>
          <p:cNvGrpSpPr>
            <a:grpSpLocks/>
          </p:cNvGrpSpPr>
          <p:nvPr/>
        </p:nvGrpSpPr>
        <p:grpSpPr bwMode="auto">
          <a:xfrm>
            <a:off x="4337050" y="3429000"/>
            <a:ext cx="920750" cy="385763"/>
            <a:chOff x="2496" y="2160"/>
            <a:chExt cx="580" cy="243"/>
          </a:xfrm>
        </p:grpSpPr>
        <p:sp>
          <p:nvSpPr>
            <p:cNvPr id="32813" name="Oval 45"/>
            <p:cNvSpPr>
              <a:spLocks noChangeArrowheads="1"/>
            </p:cNvSpPr>
            <p:nvPr/>
          </p:nvSpPr>
          <p:spPr bwMode="auto">
            <a:xfrm>
              <a:off x="2858" y="2185"/>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47</a:t>
              </a:r>
            </a:p>
          </p:txBody>
        </p:sp>
        <p:sp>
          <p:nvSpPr>
            <p:cNvPr id="32814" name="Text Box 46"/>
            <p:cNvSpPr txBox="1">
              <a:spLocks noChangeArrowheads="1"/>
            </p:cNvSpPr>
            <p:nvPr/>
          </p:nvSpPr>
          <p:spPr bwMode="auto">
            <a:xfrm>
              <a:off x="2496" y="2160"/>
              <a:ext cx="36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grpSp>
        <p:nvGrpSpPr>
          <p:cNvPr id="32815" name="Group 47"/>
          <p:cNvGrpSpPr>
            <a:grpSpLocks/>
          </p:cNvGrpSpPr>
          <p:nvPr/>
        </p:nvGrpSpPr>
        <p:grpSpPr bwMode="auto">
          <a:xfrm>
            <a:off x="3276600" y="2743200"/>
            <a:ext cx="996950" cy="385763"/>
            <a:chOff x="2112" y="1728"/>
            <a:chExt cx="628" cy="243"/>
          </a:xfrm>
        </p:grpSpPr>
        <p:sp>
          <p:nvSpPr>
            <p:cNvPr id="32816" name="Oval 48"/>
            <p:cNvSpPr>
              <a:spLocks noChangeArrowheads="1"/>
            </p:cNvSpPr>
            <p:nvPr/>
          </p:nvSpPr>
          <p:spPr bwMode="auto">
            <a:xfrm>
              <a:off x="2522" y="1753"/>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38</a:t>
              </a:r>
            </a:p>
          </p:txBody>
        </p:sp>
        <p:sp>
          <p:nvSpPr>
            <p:cNvPr id="32817" name="Text Box 49"/>
            <p:cNvSpPr txBox="1">
              <a:spLocks noChangeArrowheads="1"/>
            </p:cNvSpPr>
            <p:nvPr/>
          </p:nvSpPr>
          <p:spPr bwMode="auto">
            <a:xfrm>
              <a:off x="2112" y="1728"/>
              <a:ext cx="410"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solidFill>
                    <a:srgbClr val="FF0000"/>
                  </a:solidFill>
                </a:rPr>
                <a:t>-2</a:t>
              </a:r>
              <a:endParaRPr lang="en-US" altLang="en-US" sz="1400" b="0" i="0"/>
            </a:p>
          </p:txBody>
        </p:sp>
      </p:grpSp>
      <p:grpSp>
        <p:nvGrpSpPr>
          <p:cNvPr id="32818" name="Group 50"/>
          <p:cNvGrpSpPr>
            <a:grpSpLocks/>
          </p:cNvGrpSpPr>
          <p:nvPr/>
        </p:nvGrpSpPr>
        <p:grpSpPr bwMode="auto">
          <a:xfrm>
            <a:off x="-76200" y="3352800"/>
            <a:ext cx="803275" cy="385763"/>
            <a:chOff x="768" y="1872"/>
            <a:chExt cx="506" cy="243"/>
          </a:xfrm>
        </p:grpSpPr>
        <p:sp>
          <p:nvSpPr>
            <p:cNvPr id="32819" name="Oval 51"/>
            <p:cNvSpPr>
              <a:spLocks noChangeArrowheads="1"/>
            </p:cNvSpPr>
            <p:nvPr/>
          </p:nvSpPr>
          <p:spPr bwMode="auto">
            <a:xfrm>
              <a:off x="1056" y="1897"/>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1</a:t>
              </a:r>
            </a:p>
          </p:txBody>
        </p:sp>
        <p:sp>
          <p:nvSpPr>
            <p:cNvPr id="32820" name="Text Box 52"/>
            <p:cNvSpPr txBox="1">
              <a:spLocks noChangeArrowheads="1"/>
            </p:cNvSpPr>
            <p:nvPr/>
          </p:nvSpPr>
          <p:spPr bwMode="auto">
            <a:xfrm>
              <a:off x="768" y="1872"/>
              <a:ext cx="288"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grpSp>
        <p:nvGrpSpPr>
          <p:cNvPr id="32821" name="Group 53"/>
          <p:cNvGrpSpPr>
            <a:grpSpLocks/>
          </p:cNvGrpSpPr>
          <p:nvPr/>
        </p:nvGrpSpPr>
        <p:grpSpPr bwMode="auto">
          <a:xfrm>
            <a:off x="1981200" y="4033838"/>
            <a:ext cx="762000" cy="385762"/>
            <a:chOff x="1680" y="2541"/>
            <a:chExt cx="480" cy="243"/>
          </a:xfrm>
        </p:grpSpPr>
        <p:sp>
          <p:nvSpPr>
            <p:cNvPr id="32822" name="Oval 54"/>
            <p:cNvSpPr>
              <a:spLocks noChangeArrowheads="1"/>
            </p:cNvSpPr>
            <p:nvPr/>
          </p:nvSpPr>
          <p:spPr bwMode="auto">
            <a:xfrm>
              <a:off x="1942" y="2566"/>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30</a:t>
              </a:r>
            </a:p>
          </p:txBody>
        </p:sp>
        <p:sp>
          <p:nvSpPr>
            <p:cNvPr id="32823" name="Text Box 55"/>
            <p:cNvSpPr txBox="1">
              <a:spLocks noChangeArrowheads="1"/>
            </p:cNvSpPr>
            <p:nvPr/>
          </p:nvSpPr>
          <p:spPr bwMode="auto">
            <a:xfrm>
              <a:off x="1680" y="2541"/>
              <a:ext cx="26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cxnSp>
        <p:nvCxnSpPr>
          <p:cNvPr id="32824" name="AutoShape 56"/>
          <p:cNvCxnSpPr>
            <a:cxnSpLocks noChangeShapeType="1"/>
            <a:stCxn id="32810" idx="1"/>
            <a:endCxn id="32826" idx="5"/>
          </p:cNvCxnSpPr>
          <p:nvPr/>
        </p:nvCxnSpPr>
        <p:spPr bwMode="auto">
          <a:xfrm flipH="1" flipV="1">
            <a:off x="3302000" y="3763963"/>
            <a:ext cx="441325" cy="3651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nvGrpSpPr>
          <p:cNvPr id="32825" name="Group 57"/>
          <p:cNvGrpSpPr>
            <a:grpSpLocks/>
          </p:cNvGrpSpPr>
          <p:nvPr/>
        </p:nvGrpSpPr>
        <p:grpSpPr bwMode="auto">
          <a:xfrm>
            <a:off x="2590800" y="3429000"/>
            <a:ext cx="762000" cy="385763"/>
            <a:chOff x="1920" y="2160"/>
            <a:chExt cx="480" cy="243"/>
          </a:xfrm>
        </p:grpSpPr>
        <p:sp>
          <p:nvSpPr>
            <p:cNvPr id="32826" name="Oval 58"/>
            <p:cNvSpPr>
              <a:spLocks noChangeArrowheads="1"/>
            </p:cNvSpPr>
            <p:nvPr/>
          </p:nvSpPr>
          <p:spPr bwMode="auto">
            <a:xfrm>
              <a:off x="2182" y="2185"/>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32</a:t>
              </a:r>
            </a:p>
          </p:txBody>
        </p:sp>
        <p:sp>
          <p:nvSpPr>
            <p:cNvPr id="32827" name="Text Box 59"/>
            <p:cNvSpPr txBox="1">
              <a:spLocks noChangeArrowheads="1"/>
            </p:cNvSpPr>
            <p:nvPr/>
          </p:nvSpPr>
          <p:spPr bwMode="auto">
            <a:xfrm>
              <a:off x="1920" y="2160"/>
              <a:ext cx="26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cxnSp>
        <p:nvCxnSpPr>
          <p:cNvPr id="32828" name="AutoShape 60"/>
          <p:cNvCxnSpPr>
            <a:cxnSpLocks noChangeShapeType="1"/>
            <a:stCxn id="32822" idx="7"/>
            <a:endCxn id="32826" idx="3"/>
          </p:cNvCxnSpPr>
          <p:nvPr/>
        </p:nvCxnSpPr>
        <p:spPr bwMode="auto">
          <a:xfrm flipV="1">
            <a:off x="2692400" y="3763963"/>
            <a:ext cx="365125" cy="360362"/>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nvGrpSpPr>
          <p:cNvPr id="32836" name="Group 68"/>
          <p:cNvGrpSpPr>
            <a:grpSpLocks/>
          </p:cNvGrpSpPr>
          <p:nvPr/>
        </p:nvGrpSpPr>
        <p:grpSpPr bwMode="auto">
          <a:xfrm>
            <a:off x="2584450" y="4648200"/>
            <a:ext cx="920750" cy="385763"/>
            <a:chOff x="1628" y="2928"/>
            <a:chExt cx="580" cy="243"/>
          </a:xfrm>
        </p:grpSpPr>
        <p:sp>
          <p:nvSpPr>
            <p:cNvPr id="32830" name="Oval 62"/>
            <p:cNvSpPr>
              <a:spLocks noChangeArrowheads="1"/>
            </p:cNvSpPr>
            <p:nvPr/>
          </p:nvSpPr>
          <p:spPr bwMode="auto">
            <a:xfrm>
              <a:off x="1990" y="2953"/>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35</a:t>
              </a:r>
            </a:p>
          </p:txBody>
        </p:sp>
        <p:sp>
          <p:nvSpPr>
            <p:cNvPr id="32831" name="Text Box 63"/>
            <p:cNvSpPr txBox="1">
              <a:spLocks noChangeArrowheads="1"/>
            </p:cNvSpPr>
            <p:nvPr/>
          </p:nvSpPr>
          <p:spPr bwMode="auto">
            <a:xfrm>
              <a:off x="1628" y="2928"/>
              <a:ext cx="36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cxnSp>
        <p:nvCxnSpPr>
          <p:cNvPr id="32832" name="AutoShape 64"/>
          <p:cNvCxnSpPr>
            <a:cxnSpLocks noChangeShapeType="1"/>
            <a:stCxn id="32830" idx="7"/>
            <a:endCxn id="32810" idx="3"/>
          </p:cNvCxnSpPr>
          <p:nvPr/>
        </p:nvCxnSpPr>
        <p:spPr bwMode="auto">
          <a:xfrm flipV="1">
            <a:off x="3454400" y="4373563"/>
            <a:ext cx="288925" cy="3651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32833" name="Text Box 65"/>
          <p:cNvSpPr txBox="1">
            <a:spLocks noChangeArrowheads="1"/>
          </p:cNvSpPr>
          <p:nvPr/>
        </p:nvSpPr>
        <p:spPr bwMode="auto">
          <a:xfrm>
            <a:off x="4191000" y="3886200"/>
            <a:ext cx="1981200" cy="366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800" b="0" i="0"/>
              <a:t>Left Right Case</a:t>
            </a:r>
          </a:p>
        </p:txBody>
      </p:sp>
      <p:sp>
        <p:nvSpPr>
          <p:cNvPr id="32834" name="Text Box 66"/>
          <p:cNvSpPr txBox="1">
            <a:spLocks noChangeArrowheads="1"/>
          </p:cNvSpPr>
          <p:nvPr/>
        </p:nvSpPr>
        <p:spPr bwMode="auto">
          <a:xfrm>
            <a:off x="4343400" y="1905000"/>
            <a:ext cx="1981200" cy="6397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sz="1200" b="0" i="0">
                <a:solidFill>
                  <a:srgbClr val="134A8B"/>
                </a:solidFill>
              </a:rPr>
              <a:t>Start from first spot (from bottom of tree) where balance factor is incorrect.</a:t>
            </a:r>
            <a:endParaRPr lang="en-US" altLang="en-US" sz="1800" b="0" i="0">
              <a:solidFill>
                <a:srgbClr val="134A8B"/>
              </a:solidFill>
            </a:endParaRPr>
          </a:p>
        </p:txBody>
      </p:sp>
      <p:sp>
        <p:nvSpPr>
          <p:cNvPr id="32835" name="Line 67"/>
          <p:cNvSpPr>
            <a:spLocks noChangeShapeType="1"/>
          </p:cNvSpPr>
          <p:nvPr/>
        </p:nvSpPr>
        <p:spPr bwMode="auto">
          <a:xfrm flipH="1">
            <a:off x="4114800" y="2286000"/>
            <a:ext cx="304800" cy="457200"/>
          </a:xfrm>
          <a:prstGeom prst="line">
            <a:avLst/>
          </a:prstGeom>
          <a:noFill/>
          <a:ln w="9525">
            <a:solidFill>
              <a:srgbClr val="134A8B"/>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147187250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 Box 3"/>
          <p:cNvSpPr txBox="1">
            <a:spLocks noChangeArrowheads="1"/>
          </p:cNvSpPr>
          <p:nvPr/>
        </p:nvSpPr>
        <p:spPr bwMode="auto">
          <a:xfrm>
            <a:off x="76200" y="76200"/>
            <a:ext cx="9067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b="0" i="0"/>
              <a:t>Rebalance (Step 1)</a:t>
            </a:r>
          </a:p>
        </p:txBody>
      </p:sp>
      <p:sp>
        <p:nvSpPr>
          <p:cNvPr id="34820" name="Text Box 4"/>
          <p:cNvSpPr txBox="1">
            <a:spLocks noChangeArrowheads="1"/>
          </p:cNvSpPr>
          <p:nvPr/>
        </p:nvSpPr>
        <p:spPr bwMode="auto">
          <a:xfrm>
            <a:off x="0" y="6324600"/>
            <a:ext cx="9067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b="0" i="0"/>
              <a:t>Next step: Rebalance (Step 2) --&gt;  </a:t>
            </a:r>
          </a:p>
        </p:txBody>
      </p:sp>
      <p:sp>
        <p:nvSpPr>
          <p:cNvPr id="34821" name="Text Box 5"/>
          <p:cNvSpPr txBox="1">
            <a:spLocks noChangeArrowheads="1"/>
          </p:cNvSpPr>
          <p:nvPr/>
        </p:nvSpPr>
        <p:spPr bwMode="auto">
          <a:xfrm>
            <a:off x="6705600" y="0"/>
            <a:ext cx="24384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2000" b="0" i="0">
                <a:solidFill>
                  <a:srgbClr val="FF0000"/>
                </a:solidFill>
              </a:rPr>
              <a:t>Balance not ok</a:t>
            </a:r>
          </a:p>
        </p:txBody>
      </p:sp>
      <p:cxnSp>
        <p:nvCxnSpPr>
          <p:cNvPr id="34822" name="AutoShape 6"/>
          <p:cNvCxnSpPr>
            <a:cxnSpLocks noChangeShapeType="1"/>
            <a:stCxn id="34834" idx="3"/>
            <a:endCxn id="34867" idx="7"/>
          </p:cNvCxnSpPr>
          <p:nvPr/>
        </p:nvCxnSpPr>
        <p:spPr bwMode="auto">
          <a:xfrm flipH="1">
            <a:off x="676275" y="3073400"/>
            <a:ext cx="288925" cy="369888"/>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4823" name="AutoShape 7"/>
          <p:cNvCxnSpPr>
            <a:cxnSpLocks noChangeShapeType="1"/>
            <a:stCxn id="34843" idx="3"/>
            <a:endCxn id="34840" idx="7"/>
          </p:cNvCxnSpPr>
          <p:nvPr/>
        </p:nvCxnSpPr>
        <p:spPr bwMode="auto">
          <a:xfrm flipH="1">
            <a:off x="2886075" y="1249363"/>
            <a:ext cx="1965325" cy="7461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4824" name="AutoShape 8"/>
          <p:cNvCxnSpPr>
            <a:cxnSpLocks noChangeShapeType="1"/>
            <a:stCxn id="34843" idx="5"/>
            <a:endCxn id="34846" idx="1"/>
          </p:cNvCxnSpPr>
          <p:nvPr/>
        </p:nvCxnSpPr>
        <p:spPr bwMode="auto">
          <a:xfrm>
            <a:off x="5095875" y="1249363"/>
            <a:ext cx="2422525" cy="6699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4825" name="AutoShape 9"/>
          <p:cNvCxnSpPr>
            <a:cxnSpLocks noChangeShapeType="1"/>
            <a:stCxn id="34846" idx="5"/>
            <a:endCxn id="34849" idx="1"/>
          </p:cNvCxnSpPr>
          <p:nvPr/>
        </p:nvCxnSpPr>
        <p:spPr bwMode="auto">
          <a:xfrm>
            <a:off x="7762875" y="2163763"/>
            <a:ext cx="781050" cy="6699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4826" name="AutoShape 10"/>
          <p:cNvCxnSpPr>
            <a:cxnSpLocks noChangeShapeType="1"/>
            <a:stCxn id="34840" idx="5"/>
            <a:endCxn id="34864" idx="1"/>
          </p:cNvCxnSpPr>
          <p:nvPr/>
        </p:nvCxnSpPr>
        <p:spPr bwMode="auto">
          <a:xfrm>
            <a:off x="2886075" y="2239963"/>
            <a:ext cx="1092200" cy="5937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4827" name="AutoShape 11"/>
          <p:cNvCxnSpPr>
            <a:cxnSpLocks noChangeShapeType="1"/>
            <a:stCxn id="34864" idx="5"/>
            <a:endCxn id="34861" idx="1"/>
          </p:cNvCxnSpPr>
          <p:nvPr/>
        </p:nvCxnSpPr>
        <p:spPr bwMode="auto">
          <a:xfrm>
            <a:off x="4222750" y="3078163"/>
            <a:ext cx="739775" cy="4413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4828" name="AutoShape 12"/>
          <p:cNvCxnSpPr>
            <a:cxnSpLocks noChangeShapeType="1"/>
            <a:stCxn id="34840" idx="3"/>
            <a:endCxn id="34834" idx="7"/>
          </p:cNvCxnSpPr>
          <p:nvPr/>
        </p:nvCxnSpPr>
        <p:spPr bwMode="auto">
          <a:xfrm flipH="1">
            <a:off x="1209675" y="2239963"/>
            <a:ext cx="1431925" cy="588962"/>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4829" name="AutoShape 13"/>
          <p:cNvCxnSpPr>
            <a:cxnSpLocks noChangeShapeType="1"/>
            <a:stCxn id="34837" idx="1"/>
            <a:endCxn id="34834" idx="5"/>
          </p:cNvCxnSpPr>
          <p:nvPr/>
        </p:nvCxnSpPr>
        <p:spPr bwMode="auto">
          <a:xfrm flipH="1" flipV="1">
            <a:off x="1209675" y="3073400"/>
            <a:ext cx="323850" cy="369888"/>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4830" name="AutoShape 14"/>
          <p:cNvCxnSpPr>
            <a:cxnSpLocks noChangeShapeType="1"/>
            <a:stCxn id="34864" idx="3"/>
            <a:endCxn id="34858" idx="7"/>
          </p:cNvCxnSpPr>
          <p:nvPr/>
        </p:nvCxnSpPr>
        <p:spPr bwMode="auto">
          <a:xfrm flipH="1">
            <a:off x="3460750" y="3078163"/>
            <a:ext cx="517525" cy="436562"/>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4831" name="AutoShape 15"/>
          <p:cNvCxnSpPr>
            <a:cxnSpLocks noChangeShapeType="1"/>
            <a:stCxn id="34846" idx="3"/>
            <a:endCxn id="34855" idx="7"/>
          </p:cNvCxnSpPr>
          <p:nvPr/>
        </p:nvCxnSpPr>
        <p:spPr bwMode="auto">
          <a:xfrm flipH="1">
            <a:off x="6807200" y="2163763"/>
            <a:ext cx="711200" cy="6699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4832" name="AutoShape 16"/>
          <p:cNvCxnSpPr>
            <a:cxnSpLocks noChangeShapeType="1"/>
            <a:stCxn id="34849" idx="3"/>
            <a:endCxn id="34852" idx="7"/>
          </p:cNvCxnSpPr>
          <p:nvPr/>
        </p:nvCxnSpPr>
        <p:spPr bwMode="auto">
          <a:xfrm flipH="1">
            <a:off x="8143875" y="3078163"/>
            <a:ext cx="400050" cy="4413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nvGrpSpPr>
          <p:cNvPr id="34833" name="Group 17"/>
          <p:cNvGrpSpPr>
            <a:grpSpLocks/>
          </p:cNvGrpSpPr>
          <p:nvPr/>
        </p:nvGrpSpPr>
        <p:grpSpPr bwMode="auto">
          <a:xfrm>
            <a:off x="457200" y="2738438"/>
            <a:ext cx="803275" cy="385762"/>
            <a:chOff x="720" y="1776"/>
            <a:chExt cx="506" cy="243"/>
          </a:xfrm>
        </p:grpSpPr>
        <p:sp>
          <p:nvSpPr>
            <p:cNvPr id="34834" name="Oval 18"/>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a:t>
              </a:r>
            </a:p>
          </p:txBody>
        </p:sp>
        <p:sp>
          <p:nvSpPr>
            <p:cNvPr id="34835" name="Text Box 19"/>
            <p:cNvSpPr txBox="1">
              <a:spLocks noChangeArrowheads="1"/>
            </p:cNvSpPr>
            <p:nvPr/>
          </p:nvSpPr>
          <p:spPr bwMode="auto">
            <a:xfrm>
              <a:off x="720" y="1776"/>
              <a:ext cx="288"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grpSp>
        <p:nvGrpSpPr>
          <p:cNvPr id="34836" name="Group 20"/>
          <p:cNvGrpSpPr>
            <a:grpSpLocks/>
          </p:cNvGrpSpPr>
          <p:nvPr/>
        </p:nvGrpSpPr>
        <p:grpSpPr bwMode="auto">
          <a:xfrm>
            <a:off x="1101725" y="3352800"/>
            <a:ext cx="727075" cy="385763"/>
            <a:chOff x="1104" y="1392"/>
            <a:chExt cx="458" cy="243"/>
          </a:xfrm>
        </p:grpSpPr>
        <p:sp>
          <p:nvSpPr>
            <p:cNvPr id="34837" name="Oval 21"/>
            <p:cNvSpPr>
              <a:spLocks noChangeArrowheads="1"/>
            </p:cNvSpPr>
            <p:nvPr/>
          </p:nvSpPr>
          <p:spPr bwMode="auto">
            <a:xfrm>
              <a:off x="1344" y="1417"/>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25</a:t>
              </a:r>
            </a:p>
          </p:txBody>
        </p:sp>
        <p:sp>
          <p:nvSpPr>
            <p:cNvPr id="34838" name="Text Box 22"/>
            <p:cNvSpPr txBox="1">
              <a:spLocks noChangeArrowheads="1"/>
            </p:cNvSpPr>
            <p:nvPr/>
          </p:nvSpPr>
          <p:spPr bwMode="auto">
            <a:xfrm>
              <a:off x="1104" y="1392"/>
              <a:ext cx="240"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grpSp>
        <p:nvGrpSpPr>
          <p:cNvPr id="34839" name="Group 23"/>
          <p:cNvGrpSpPr>
            <a:grpSpLocks/>
          </p:cNvGrpSpPr>
          <p:nvPr/>
        </p:nvGrpSpPr>
        <p:grpSpPr bwMode="auto">
          <a:xfrm>
            <a:off x="1752600" y="1905000"/>
            <a:ext cx="1184275" cy="385763"/>
            <a:chOff x="1248" y="960"/>
            <a:chExt cx="746" cy="243"/>
          </a:xfrm>
        </p:grpSpPr>
        <p:sp>
          <p:nvSpPr>
            <p:cNvPr id="34840" name="Oval 24"/>
            <p:cNvSpPr>
              <a:spLocks noChangeArrowheads="1"/>
            </p:cNvSpPr>
            <p:nvPr/>
          </p:nvSpPr>
          <p:spPr bwMode="auto">
            <a:xfrm>
              <a:off x="1776" y="985"/>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26</a:t>
              </a:r>
            </a:p>
          </p:txBody>
        </p:sp>
        <p:sp>
          <p:nvSpPr>
            <p:cNvPr id="34841" name="Text Box 25"/>
            <p:cNvSpPr txBox="1">
              <a:spLocks noChangeArrowheads="1"/>
            </p:cNvSpPr>
            <p:nvPr/>
          </p:nvSpPr>
          <p:spPr bwMode="auto">
            <a:xfrm>
              <a:off x="1248" y="960"/>
              <a:ext cx="528"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solidFill>
                    <a:srgbClr val="FF0000"/>
                  </a:solidFill>
                </a:rPr>
                <a:t>+2</a:t>
              </a:r>
              <a:endParaRPr lang="en-US" altLang="en-US" sz="1400" b="0" i="0"/>
            </a:p>
          </p:txBody>
        </p:sp>
      </p:grpSp>
      <p:grpSp>
        <p:nvGrpSpPr>
          <p:cNvPr id="34842" name="Group 26"/>
          <p:cNvGrpSpPr>
            <a:grpSpLocks/>
          </p:cNvGrpSpPr>
          <p:nvPr/>
        </p:nvGrpSpPr>
        <p:grpSpPr bwMode="auto">
          <a:xfrm>
            <a:off x="3733800" y="914400"/>
            <a:ext cx="1412875" cy="385763"/>
            <a:chOff x="2064" y="576"/>
            <a:chExt cx="890" cy="243"/>
          </a:xfrm>
        </p:grpSpPr>
        <p:sp>
          <p:nvSpPr>
            <p:cNvPr id="34843" name="Oval 27"/>
            <p:cNvSpPr>
              <a:spLocks noChangeArrowheads="1"/>
            </p:cNvSpPr>
            <p:nvPr/>
          </p:nvSpPr>
          <p:spPr bwMode="auto">
            <a:xfrm>
              <a:off x="2736" y="6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57</a:t>
              </a:r>
            </a:p>
          </p:txBody>
        </p:sp>
        <p:sp>
          <p:nvSpPr>
            <p:cNvPr id="34844" name="Text Box 28"/>
            <p:cNvSpPr txBox="1">
              <a:spLocks noChangeArrowheads="1"/>
            </p:cNvSpPr>
            <p:nvPr/>
          </p:nvSpPr>
          <p:spPr bwMode="auto">
            <a:xfrm>
              <a:off x="2064" y="576"/>
              <a:ext cx="67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solidFill>
                    <a:srgbClr val="FF0000"/>
                  </a:solidFill>
                </a:rPr>
                <a:t>-2</a:t>
              </a:r>
              <a:endParaRPr lang="en-US" altLang="en-US" sz="1400" b="0" i="0"/>
            </a:p>
          </p:txBody>
        </p:sp>
      </p:grpSp>
      <p:grpSp>
        <p:nvGrpSpPr>
          <p:cNvPr id="34845" name="Group 29"/>
          <p:cNvGrpSpPr>
            <a:grpSpLocks/>
          </p:cNvGrpSpPr>
          <p:nvPr/>
        </p:nvGrpSpPr>
        <p:grpSpPr bwMode="auto">
          <a:xfrm>
            <a:off x="6858000" y="1828800"/>
            <a:ext cx="955675" cy="385763"/>
            <a:chOff x="3312" y="960"/>
            <a:chExt cx="602" cy="243"/>
          </a:xfrm>
        </p:grpSpPr>
        <p:sp>
          <p:nvSpPr>
            <p:cNvPr id="34846" name="Oval 30"/>
            <p:cNvSpPr>
              <a:spLocks noChangeArrowheads="1"/>
            </p:cNvSpPr>
            <p:nvPr/>
          </p:nvSpPr>
          <p:spPr bwMode="auto">
            <a:xfrm>
              <a:off x="3696" y="985"/>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72</a:t>
              </a:r>
            </a:p>
          </p:txBody>
        </p:sp>
        <p:sp>
          <p:nvSpPr>
            <p:cNvPr id="34847" name="Text Box 31"/>
            <p:cNvSpPr txBox="1">
              <a:spLocks noChangeArrowheads="1"/>
            </p:cNvSpPr>
            <p:nvPr/>
          </p:nvSpPr>
          <p:spPr bwMode="auto">
            <a:xfrm>
              <a:off x="3312" y="960"/>
              <a:ext cx="38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grpSp>
        <p:nvGrpSpPr>
          <p:cNvPr id="34848" name="Group 32"/>
          <p:cNvGrpSpPr>
            <a:grpSpLocks/>
          </p:cNvGrpSpPr>
          <p:nvPr/>
        </p:nvGrpSpPr>
        <p:grpSpPr bwMode="auto">
          <a:xfrm>
            <a:off x="7959725" y="2743200"/>
            <a:ext cx="879475" cy="385763"/>
            <a:chOff x="4246" y="1728"/>
            <a:chExt cx="554" cy="243"/>
          </a:xfrm>
        </p:grpSpPr>
        <p:sp>
          <p:nvSpPr>
            <p:cNvPr id="34849" name="Oval 33"/>
            <p:cNvSpPr>
              <a:spLocks noChangeArrowheads="1"/>
            </p:cNvSpPr>
            <p:nvPr/>
          </p:nvSpPr>
          <p:spPr bwMode="auto">
            <a:xfrm>
              <a:off x="4582" y="1753"/>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94</a:t>
              </a:r>
            </a:p>
          </p:txBody>
        </p:sp>
        <p:sp>
          <p:nvSpPr>
            <p:cNvPr id="34850" name="Text Box 34"/>
            <p:cNvSpPr txBox="1">
              <a:spLocks noChangeArrowheads="1"/>
            </p:cNvSpPr>
            <p:nvPr/>
          </p:nvSpPr>
          <p:spPr bwMode="auto">
            <a:xfrm>
              <a:off x="4246" y="1728"/>
              <a:ext cx="336"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grpSp>
        <p:nvGrpSpPr>
          <p:cNvPr id="34851" name="Group 35"/>
          <p:cNvGrpSpPr>
            <a:grpSpLocks/>
          </p:cNvGrpSpPr>
          <p:nvPr/>
        </p:nvGrpSpPr>
        <p:grpSpPr bwMode="auto">
          <a:xfrm>
            <a:off x="7620000" y="3429000"/>
            <a:ext cx="574675" cy="385763"/>
            <a:chOff x="864" y="1776"/>
            <a:chExt cx="362" cy="243"/>
          </a:xfrm>
        </p:grpSpPr>
        <p:sp>
          <p:nvSpPr>
            <p:cNvPr id="34852" name="Oval 36"/>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78</a:t>
              </a:r>
            </a:p>
          </p:txBody>
        </p:sp>
        <p:sp>
          <p:nvSpPr>
            <p:cNvPr id="34853" name="Text Box 37"/>
            <p:cNvSpPr txBox="1">
              <a:spLocks noChangeArrowheads="1"/>
            </p:cNvSpPr>
            <p:nvPr/>
          </p:nvSpPr>
          <p:spPr bwMode="auto">
            <a:xfrm>
              <a:off x="864" y="1776"/>
              <a:ext cx="14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sz="1400" b="0" i="0"/>
                <a:t>0</a:t>
              </a:r>
            </a:p>
          </p:txBody>
        </p:sp>
      </p:grpSp>
      <p:grpSp>
        <p:nvGrpSpPr>
          <p:cNvPr id="34854" name="Group 38"/>
          <p:cNvGrpSpPr>
            <a:grpSpLocks/>
          </p:cNvGrpSpPr>
          <p:nvPr/>
        </p:nvGrpSpPr>
        <p:grpSpPr bwMode="auto">
          <a:xfrm>
            <a:off x="6283325" y="2743200"/>
            <a:ext cx="574675" cy="385763"/>
            <a:chOff x="864" y="1776"/>
            <a:chExt cx="362" cy="243"/>
          </a:xfrm>
        </p:grpSpPr>
        <p:sp>
          <p:nvSpPr>
            <p:cNvPr id="34855" name="Oval 39"/>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63</a:t>
              </a:r>
            </a:p>
          </p:txBody>
        </p:sp>
        <p:sp>
          <p:nvSpPr>
            <p:cNvPr id="34856" name="Text Box 40"/>
            <p:cNvSpPr txBox="1">
              <a:spLocks noChangeArrowheads="1"/>
            </p:cNvSpPr>
            <p:nvPr/>
          </p:nvSpPr>
          <p:spPr bwMode="auto">
            <a:xfrm>
              <a:off x="864" y="1776"/>
              <a:ext cx="14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sz="1400" b="0" i="0"/>
                <a:t>0</a:t>
              </a:r>
            </a:p>
          </p:txBody>
        </p:sp>
      </p:grpSp>
      <p:grpSp>
        <p:nvGrpSpPr>
          <p:cNvPr id="34857" name="Group 41"/>
          <p:cNvGrpSpPr>
            <a:grpSpLocks/>
          </p:cNvGrpSpPr>
          <p:nvPr/>
        </p:nvGrpSpPr>
        <p:grpSpPr bwMode="auto">
          <a:xfrm>
            <a:off x="2590800" y="3424238"/>
            <a:ext cx="920750" cy="385762"/>
            <a:chOff x="1964" y="2544"/>
            <a:chExt cx="580" cy="243"/>
          </a:xfrm>
        </p:grpSpPr>
        <p:sp>
          <p:nvSpPr>
            <p:cNvPr id="34858" name="Oval 42"/>
            <p:cNvSpPr>
              <a:spLocks noChangeArrowheads="1"/>
            </p:cNvSpPr>
            <p:nvPr/>
          </p:nvSpPr>
          <p:spPr bwMode="auto">
            <a:xfrm>
              <a:off x="2326" y="2569"/>
              <a:ext cx="218" cy="218"/>
            </a:xfrm>
            <a:prstGeom prst="ellipse">
              <a:avLst/>
            </a:prstGeom>
            <a:solidFill>
              <a:srgbClr val="FF00FF">
                <a:alpha val="53999"/>
              </a:srgbClr>
            </a:solidFill>
            <a:ln w="9525">
              <a:solidFill>
                <a:schemeClr val="tx1"/>
              </a:solidFill>
              <a:round/>
              <a:headEnd/>
              <a:tailEnd/>
            </a:ln>
          </p:spPr>
          <p:txBody>
            <a:bodyPr wrap="none" anchor="ctr"/>
            <a:lstStyle/>
            <a:p>
              <a:pPr algn="ctr"/>
              <a:r>
                <a:rPr lang="en-US" altLang="en-US" sz="1600" b="0" i="0"/>
                <a:t>37</a:t>
              </a:r>
            </a:p>
          </p:txBody>
        </p:sp>
        <p:sp>
          <p:nvSpPr>
            <p:cNvPr id="34859" name="Text Box 43"/>
            <p:cNvSpPr txBox="1">
              <a:spLocks noChangeArrowheads="1"/>
            </p:cNvSpPr>
            <p:nvPr/>
          </p:nvSpPr>
          <p:spPr bwMode="auto">
            <a:xfrm>
              <a:off x="1964" y="2544"/>
              <a:ext cx="36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solidFill>
                    <a:srgbClr val="FF0000"/>
                  </a:solidFill>
                </a:rPr>
                <a:t>-2</a:t>
              </a:r>
              <a:endParaRPr lang="en-US" altLang="en-US" sz="1400" b="0" i="0"/>
            </a:p>
          </p:txBody>
        </p:sp>
      </p:grpSp>
      <p:grpSp>
        <p:nvGrpSpPr>
          <p:cNvPr id="34860" name="Group 44"/>
          <p:cNvGrpSpPr>
            <a:grpSpLocks/>
          </p:cNvGrpSpPr>
          <p:nvPr/>
        </p:nvGrpSpPr>
        <p:grpSpPr bwMode="auto">
          <a:xfrm>
            <a:off x="4337050" y="3429000"/>
            <a:ext cx="920750" cy="385763"/>
            <a:chOff x="2496" y="2160"/>
            <a:chExt cx="580" cy="243"/>
          </a:xfrm>
        </p:grpSpPr>
        <p:sp>
          <p:nvSpPr>
            <p:cNvPr id="34861" name="Oval 45"/>
            <p:cNvSpPr>
              <a:spLocks noChangeArrowheads="1"/>
            </p:cNvSpPr>
            <p:nvPr/>
          </p:nvSpPr>
          <p:spPr bwMode="auto">
            <a:xfrm>
              <a:off x="2858" y="2185"/>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47</a:t>
              </a:r>
            </a:p>
          </p:txBody>
        </p:sp>
        <p:sp>
          <p:nvSpPr>
            <p:cNvPr id="34862" name="Text Box 46"/>
            <p:cNvSpPr txBox="1">
              <a:spLocks noChangeArrowheads="1"/>
            </p:cNvSpPr>
            <p:nvPr/>
          </p:nvSpPr>
          <p:spPr bwMode="auto">
            <a:xfrm>
              <a:off x="2496" y="2160"/>
              <a:ext cx="36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grpSp>
        <p:nvGrpSpPr>
          <p:cNvPr id="34863" name="Group 47"/>
          <p:cNvGrpSpPr>
            <a:grpSpLocks/>
          </p:cNvGrpSpPr>
          <p:nvPr/>
        </p:nvGrpSpPr>
        <p:grpSpPr bwMode="auto">
          <a:xfrm>
            <a:off x="3276600" y="2743200"/>
            <a:ext cx="996950" cy="385763"/>
            <a:chOff x="2112" y="1728"/>
            <a:chExt cx="628" cy="243"/>
          </a:xfrm>
        </p:grpSpPr>
        <p:sp>
          <p:nvSpPr>
            <p:cNvPr id="34864" name="Oval 48"/>
            <p:cNvSpPr>
              <a:spLocks noChangeArrowheads="1"/>
            </p:cNvSpPr>
            <p:nvPr/>
          </p:nvSpPr>
          <p:spPr bwMode="auto">
            <a:xfrm>
              <a:off x="2522" y="1753"/>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38</a:t>
              </a:r>
            </a:p>
          </p:txBody>
        </p:sp>
        <p:sp>
          <p:nvSpPr>
            <p:cNvPr id="34865" name="Text Box 49"/>
            <p:cNvSpPr txBox="1">
              <a:spLocks noChangeArrowheads="1"/>
            </p:cNvSpPr>
            <p:nvPr/>
          </p:nvSpPr>
          <p:spPr bwMode="auto">
            <a:xfrm>
              <a:off x="2112" y="1728"/>
              <a:ext cx="410"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solidFill>
                    <a:srgbClr val="FF0000"/>
                  </a:solidFill>
                </a:rPr>
                <a:t>-2</a:t>
              </a:r>
              <a:endParaRPr lang="en-US" altLang="en-US" sz="1400" b="0" i="0"/>
            </a:p>
          </p:txBody>
        </p:sp>
      </p:grpSp>
      <p:grpSp>
        <p:nvGrpSpPr>
          <p:cNvPr id="34866" name="Group 50"/>
          <p:cNvGrpSpPr>
            <a:grpSpLocks/>
          </p:cNvGrpSpPr>
          <p:nvPr/>
        </p:nvGrpSpPr>
        <p:grpSpPr bwMode="auto">
          <a:xfrm>
            <a:off x="-76200" y="3352800"/>
            <a:ext cx="803275" cy="385763"/>
            <a:chOff x="768" y="1872"/>
            <a:chExt cx="506" cy="243"/>
          </a:xfrm>
        </p:grpSpPr>
        <p:sp>
          <p:nvSpPr>
            <p:cNvPr id="34867" name="Oval 51"/>
            <p:cNvSpPr>
              <a:spLocks noChangeArrowheads="1"/>
            </p:cNvSpPr>
            <p:nvPr/>
          </p:nvSpPr>
          <p:spPr bwMode="auto">
            <a:xfrm>
              <a:off x="1056" y="1897"/>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1</a:t>
              </a:r>
            </a:p>
          </p:txBody>
        </p:sp>
        <p:sp>
          <p:nvSpPr>
            <p:cNvPr id="34868" name="Text Box 52"/>
            <p:cNvSpPr txBox="1">
              <a:spLocks noChangeArrowheads="1"/>
            </p:cNvSpPr>
            <p:nvPr/>
          </p:nvSpPr>
          <p:spPr bwMode="auto">
            <a:xfrm>
              <a:off x="768" y="1872"/>
              <a:ext cx="288"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grpSp>
        <p:nvGrpSpPr>
          <p:cNvPr id="34869" name="Group 53"/>
          <p:cNvGrpSpPr>
            <a:grpSpLocks/>
          </p:cNvGrpSpPr>
          <p:nvPr/>
        </p:nvGrpSpPr>
        <p:grpSpPr bwMode="auto">
          <a:xfrm>
            <a:off x="1676400" y="4567238"/>
            <a:ext cx="762000" cy="385762"/>
            <a:chOff x="1680" y="2541"/>
            <a:chExt cx="480" cy="243"/>
          </a:xfrm>
        </p:grpSpPr>
        <p:sp>
          <p:nvSpPr>
            <p:cNvPr id="34870" name="Oval 54"/>
            <p:cNvSpPr>
              <a:spLocks noChangeArrowheads="1"/>
            </p:cNvSpPr>
            <p:nvPr/>
          </p:nvSpPr>
          <p:spPr bwMode="auto">
            <a:xfrm>
              <a:off x="1942" y="2566"/>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30</a:t>
              </a:r>
            </a:p>
          </p:txBody>
        </p:sp>
        <p:sp>
          <p:nvSpPr>
            <p:cNvPr id="34871" name="Text Box 55"/>
            <p:cNvSpPr txBox="1">
              <a:spLocks noChangeArrowheads="1"/>
            </p:cNvSpPr>
            <p:nvPr/>
          </p:nvSpPr>
          <p:spPr bwMode="auto">
            <a:xfrm>
              <a:off x="1680" y="2541"/>
              <a:ext cx="26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cxnSp>
        <p:nvCxnSpPr>
          <p:cNvPr id="34872" name="AutoShape 56"/>
          <p:cNvCxnSpPr>
            <a:cxnSpLocks noChangeShapeType="1"/>
            <a:stCxn id="34878" idx="1"/>
            <a:endCxn id="34874" idx="5"/>
          </p:cNvCxnSpPr>
          <p:nvPr/>
        </p:nvCxnSpPr>
        <p:spPr bwMode="auto">
          <a:xfrm flipH="1" flipV="1">
            <a:off x="2921000" y="4297363"/>
            <a:ext cx="219075" cy="3651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nvGrpSpPr>
          <p:cNvPr id="34873" name="Group 57"/>
          <p:cNvGrpSpPr>
            <a:grpSpLocks/>
          </p:cNvGrpSpPr>
          <p:nvPr/>
        </p:nvGrpSpPr>
        <p:grpSpPr bwMode="auto">
          <a:xfrm>
            <a:off x="2209800" y="3962400"/>
            <a:ext cx="762000" cy="385763"/>
            <a:chOff x="1920" y="2160"/>
            <a:chExt cx="480" cy="243"/>
          </a:xfrm>
        </p:grpSpPr>
        <p:sp>
          <p:nvSpPr>
            <p:cNvPr id="34874" name="Oval 58"/>
            <p:cNvSpPr>
              <a:spLocks noChangeArrowheads="1"/>
            </p:cNvSpPr>
            <p:nvPr/>
          </p:nvSpPr>
          <p:spPr bwMode="auto">
            <a:xfrm>
              <a:off x="2182" y="2185"/>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32</a:t>
              </a:r>
            </a:p>
          </p:txBody>
        </p:sp>
        <p:sp>
          <p:nvSpPr>
            <p:cNvPr id="34875" name="Text Box 59"/>
            <p:cNvSpPr txBox="1">
              <a:spLocks noChangeArrowheads="1"/>
            </p:cNvSpPr>
            <p:nvPr/>
          </p:nvSpPr>
          <p:spPr bwMode="auto">
            <a:xfrm>
              <a:off x="1920" y="2160"/>
              <a:ext cx="26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cxnSp>
        <p:nvCxnSpPr>
          <p:cNvPr id="34876" name="AutoShape 60"/>
          <p:cNvCxnSpPr>
            <a:cxnSpLocks noChangeShapeType="1"/>
            <a:stCxn id="34870" idx="7"/>
            <a:endCxn id="34874" idx="3"/>
          </p:cNvCxnSpPr>
          <p:nvPr/>
        </p:nvCxnSpPr>
        <p:spPr bwMode="auto">
          <a:xfrm flipV="1">
            <a:off x="2387600" y="4297363"/>
            <a:ext cx="288925" cy="360362"/>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nvGrpSpPr>
          <p:cNvPr id="34877" name="Group 61"/>
          <p:cNvGrpSpPr>
            <a:grpSpLocks/>
          </p:cNvGrpSpPr>
          <p:nvPr/>
        </p:nvGrpSpPr>
        <p:grpSpPr bwMode="auto">
          <a:xfrm>
            <a:off x="2514600" y="4572000"/>
            <a:ext cx="920750" cy="385763"/>
            <a:chOff x="1628" y="2928"/>
            <a:chExt cx="580" cy="243"/>
          </a:xfrm>
        </p:grpSpPr>
        <p:sp>
          <p:nvSpPr>
            <p:cNvPr id="34878" name="Oval 62"/>
            <p:cNvSpPr>
              <a:spLocks noChangeArrowheads="1"/>
            </p:cNvSpPr>
            <p:nvPr/>
          </p:nvSpPr>
          <p:spPr bwMode="auto">
            <a:xfrm>
              <a:off x="1990" y="2953"/>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35</a:t>
              </a:r>
            </a:p>
          </p:txBody>
        </p:sp>
        <p:sp>
          <p:nvSpPr>
            <p:cNvPr id="34879" name="Text Box 63"/>
            <p:cNvSpPr txBox="1">
              <a:spLocks noChangeArrowheads="1"/>
            </p:cNvSpPr>
            <p:nvPr/>
          </p:nvSpPr>
          <p:spPr bwMode="auto">
            <a:xfrm>
              <a:off x="1628" y="2928"/>
              <a:ext cx="36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cxnSp>
        <p:nvCxnSpPr>
          <p:cNvPr id="34880" name="AutoShape 64"/>
          <p:cNvCxnSpPr>
            <a:cxnSpLocks noChangeShapeType="1"/>
            <a:stCxn id="34874" idx="7"/>
            <a:endCxn id="34858" idx="3"/>
          </p:cNvCxnSpPr>
          <p:nvPr/>
        </p:nvCxnSpPr>
        <p:spPr bwMode="auto">
          <a:xfrm flipV="1">
            <a:off x="2921000" y="3759200"/>
            <a:ext cx="295275" cy="293688"/>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37711630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2"/>
          <p:cNvSpPr txBox="1">
            <a:spLocks noChangeArrowheads="1"/>
          </p:cNvSpPr>
          <p:nvPr/>
        </p:nvSpPr>
        <p:spPr bwMode="auto">
          <a:xfrm>
            <a:off x="76200" y="76200"/>
            <a:ext cx="9067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b="0" i="0"/>
              <a:t>Rebalance (Step 2)</a:t>
            </a:r>
          </a:p>
        </p:txBody>
      </p:sp>
      <p:sp>
        <p:nvSpPr>
          <p:cNvPr id="36867" name="Text Box 3"/>
          <p:cNvSpPr txBox="1">
            <a:spLocks noChangeArrowheads="1"/>
          </p:cNvSpPr>
          <p:nvPr/>
        </p:nvSpPr>
        <p:spPr bwMode="auto">
          <a:xfrm>
            <a:off x="0" y="6324600"/>
            <a:ext cx="9067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b="0" i="0"/>
              <a:t>Next step: Finished! --&gt;  </a:t>
            </a:r>
          </a:p>
        </p:txBody>
      </p:sp>
      <p:sp>
        <p:nvSpPr>
          <p:cNvPr id="36868" name="Text Box 4"/>
          <p:cNvSpPr txBox="1">
            <a:spLocks noChangeArrowheads="1"/>
          </p:cNvSpPr>
          <p:nvPr/>
        </p:nvSpPr>
        <p:spPr bwMode="auto">
          <a:xfrm>
            <a:off x="6705600" y="0"/>
            <a:ext cx="24384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2000" b="0" i="0">
                <a:solidFill>
                  <a:srgbClr val="134A8B"/>
                </a:solidFill>
              </a:rPr>
              <a:t>Balance ok</a:t>
            </a:r>
          </a:p>
        </p:txBody>
      </p:sp>
      <p:cxnSp>
        <p:nvCxnSpPr>
          <p:cNvPr id="36869" name="AutoShape 5"/>
          <p:cNvCxnSpPr>
            <a:cxnSpLocks noChangeShapeType="1"/>
            <a:stCxn id="36881" idx="3"/>
            <a:endCxn id="36914" idx="7"/>
          </p:cNvCxnSpPr>
          <p:nvPr/>
        </p:nvCxnSpPr>
        <p:spPr bwMode="auto">
          <a:xfrm flipH="1">
            <a:off x="676275" y="3001963"/>
            <a:ext cx="288925" cy="4413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6870" name="AutoShape 6"/>
          <p:cNvCxnSpPr>
            <a:cxnSpLocks noChangeShapeType="1"/>
            <a:stCxn id="36890" idx="3"/>
            <a:endCxn id="36887" idx="7"/>
          </p:cNvCxnSpPr>
          <p:nvPr/>
        </p:nvCxnSpPr>
        <p:spPr bwMode="auto">
          <a:xfrm flipH="1">
            <a:off x="2733675" y="1249363"/>
            <a:ext cx="2117725" cy="5937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6871" name="AutoShape 7"/>
          <p:cNvCxnSpPr>
            <a:cxnSpLocks noChangeShapeType="1"/>
            <a:stCxn id="36890" idx="5"/>
            <a:endCxn id="36893" idx="1"/>
          </p:cNvCxnSpPr>
          <p:nvPr/>
        </p:nvCxnSpPr>
        <p:spPr bwMode="auto">
          <a:xfrm>
            <a:off x="5095875" y="1249363"/>
            <a:ext cx="2422525" cy="6699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6872" name="AutoShape 8"/>
          <p:cNvCxnSpPr>
            <a:cxnSpLocks noChangeShapeType="1"/>
            <a:stCxn id="36893" idx="5"/>
            <a:endCxn id="36896" idx="1"/>
          </p:cNvCxnSpPr>
          <p:nvPr/>
        </p:nvCxnSpPr>
        <p:spPr bwMode="auto">
          <a:xfrm>
            <a:off x="7762875" y="2163763"/>
            <a:ext cx="781050" cy="6699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6873" name="AutoShape 9"/>
          <p:cNvCxnSpPr>
            <a:cxnSpLocks noChangeShapeType="1"/>
            <a:stCxn id="36887" idx="5"/>
            <a:endCxn id="36905" idx="1"/>
          </p:cNvCxnSpPr>
          <p:nvPr/>
        </p:nvCxnSpPr>
        <p:spPr bwMode="auto">
          <a:xfrm>
            <a:off x="2733675" y="2087563"/>
            <a:ext cx="1320800" cy="7461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6874" name="AutoShape 10"/>
          <p:cNvCxnSpPr>
            <a:cxnSpLocks noChangeShapeType="1"/>
            <a:stCxn id="36911" idx="5"/>
            <a:endCxn id="36908" idx="1"/>
          </p:cNvCxnSpPr>
          <p:nvPr/>
        </p:nvCxnSpPr>
        <p:spPr bwMode="auto">
          <a:xfrm>
            <a:off x="5213350" y="3763963"/>
            <a:ext cx="288925" cy="360362"/>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6875" name="AutoShape 11"/>
          <p:cNvCxnSpPr>
            <a:cxnSpLocks noChangeShapeType="1"/>
            <a:stCxn id="36887" idx="3"/>
            <a:endCxn id="36881" idx="7"/>
          </p:cNvCxnSpPr>
          <p:nvPr/>
        </p:nvCxnSpPr>
        <p:spPr bwMode="auto">
          <a:xfrm flipH="1">
            <a:off x="1209675" y="2087563"/>
            <a:ext cx="1279525" cy="6699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6876" name="AutoShape 12"/>
          <p:cNvCxnSpPr>
            <a:cxnSpLocks noChangeShapeType="1"/>
            <a:stCxn id="36884" idx="1"/>
            <a:endCxn id="36881" idx="5"/>
          </p:cNvCxnSpPr>
          <p:nvPr/>
        </p:nvCxnSpPr>
        <p:spPr bwMode="auto">
          <a:xfrm flipH="1" flipV="1">
            <a:off x="1209675" y="3001963"/>
            <a:ext cx="323850" cy="4413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6877" name="AutoShape 13"/>
          <p:cNvCxnSpPr>
            <a:cxnSpLocks noChangeShapeType="1"/>
            <a:stCxn id="36911" idx="1"/>
            <a:endCxn id="36905" idx="5"/>
          </p:cNvCxnSpPr>
          <p:nvPr/>
        </p:nvCxnSpPr>
        <p:spPr bwMode="auto">
          <a:xfrm flipH="1" flipV="1">
            <a:off x="4298950" y="3078163"/>
            <a:ext cx="669925" cy="4413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6878" name="AutoShape 14"/>
          <p:cNvCxnSpPr>
            <a:cxnSpLocks noChangeShapeType="1"/>
            <a:stCxn id="36893" idx="3"/>
            <a:endCxn id="36902" idx="7"/>
          </p:cNvCxnSpPr>
          <p:nvPr/>
        </p:nvCxnSpPr>
        <p:spPr bwMode="auto">
          <a:xfrm flipH="1">
            <a:off x="6807200" y="2163763"/>
            <a:ext cx="711200" cy="6699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6879" name="AutoShape 15"/>
          <p:cNvCxnSpPr>
            <a:cxnSpLocks noChangeShapeType="1"/>
            <a:stCxn id="36896" idx="3"/>
            <a:endCxn id="36899" idx="7"/>
          </p:cNvCxnSpPr>
          <p:nvPr/>
        </p:nvCxnSpPr>
        <p:spPr bwMode="auto">
          <a:xfrm flipH="1">
            <a:off x="8143875" y="3078163"/>
            <a:ext cx="400050" cy="4413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nvGrpSpPr>
          <p:cNvPr id="36880" name="Group 16"/>
          <p:cNvGrpSpPr>
            <a:grpSpLocks/>
          </p:cNvGrpSpPr>
          <p:nvPr/>
        </p:nvGrpSpPr>
        <p:grpSpPr bwMode="auto">
          <a:xfrm>
            <a:off x="457200" y="2667000"/>
            <a:ext cx="803275" cy="385763"/>
            <a:chOff x="720" y="1776"/>
            <a:chExt cx="506" cy="243"/>
          </a:xfrm>
        </p:grpSpPr>
        <p:sp>
          <p:nvSpPr>
            <p:cNvPr id="36881" name="Oval 17"/>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a:t>
              </a:r>
            </a:p>
          </p:txBody>
        </p:sp>
        <p:sp>
          <p:nvSpPr>
            <p:cNvPr id="36882" name="Text Box 18"/>
            <p:cNvSpPr txBox="1">
              <a:spLocks noChangeArrowheads="1"/>
            </p:cNvSpPr>
            <p:nvPr/>
          </p:nvSpPr>
          <p:spPr bwMode="auto">
            <a:xfrm>
              <a:off x="720" y="1776"/>
              <a:ext cx="288"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grpSp>
        <p:nvGrpSpPr>
          <p:cNvPr id="36883" name="Group 19"/>
          <p:cNvGrpSpPr>
            <a:grpSpLocks/>
          </p:cNvGrpSpPr>
          <p:nvPr/>
        </p:nvGrpSpPr>
        <p:grpSpPr bwMode="auto">
          <a:xfrm>
            <a:off x="1101725" y="3352800"/>
            <a:ext cx="727075" cy="385763"/>
            <a:chOff x="1104" y="1392"/>
            <a:chExt cx="458" cy="243"/>
          </a:xfrm>
        </p:grpSpPr>
        <p:sp>
          <p:nvSpPr>
            <p:cNvPr id="36884" name="Oval 20"/>
            <p:cNvSpPr>
              <a:spLocks noChangeArrowheads="1"/>
            </p:cNvSpPr>
            <p:nvPr/>
          </p:nvSpPr>
          <p:spPr bwMode="auto">
            <a:xfrm>
              <a:off x="1344" y="1417"/>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25</a:t>
              </a:r>
            </a:p>
          </p:txBody>
        </p:sp>
        <p:sp>
          <p:nvSpPr>
            <p:cNvPr id="36885" name="Text Box 21"/>
            <p:cNvSpPr txBox="1">
              <a:spLocks noChangeArrowheads="1"/>
            </p:cNvSpPr>
            <p:nvPr/>
          </p:nvSpPr>
          <p:spPr bwMode="auto">
            <a:xfrm>
              <a:off x="1104" y="1392"/>
              <a:ext cx="240"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grpSp>
        <p:nvGrpSpPr>
          <p:cNvPr id="36886" name="Group 22"/>
          <p:cNvGrpSpPr>
            <a:grpSpLocks/>
          </p:cNvGrpSpPr>
          <p:nvPr/>
        </p:nvGrpSpPr>
        <p:grpSpPr bwMode="auto">
          <a:xfrm>
            <a:off x="1600200" y="1752600"/>
            <a:ext cx="1184275" cy="385763"/>
            <a:chOff x="1248" y="960"/>
            <a:chExt cx="746" cy="243"/>
          </a:xfrm>
        </p:grpSpPr>
        <p:sp>
          <p:nvSpPr>
            <p:cNvPr id="36887" name="Oval 23"/>
            <p:cNvSpPr>
              <a:spLocks noChangeArrowheads="1"/>
            </p:cNvSpPr>
            <p:nvPr/>
          </p:nvSpPr>
          <p:spPr bwMode="auto">
            <a:xfrm>
              <a:off x="1776" y="985"/>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26</a:t>
              </a:r>
            </a:p>
          </p:txBody>
        </p:sp>
        <p:sp>
          <p:nvSpPr>
            <p:cNvPr id="36888" name="Text Box 24"/>
            <p:cNvSpPr txBox="1">
              <a:spLocks noChangeArrowheads="1"/>
            </p:cNvSpPr>
            <p:nvPr/>
          </p:nvSpPr>
          <p:spPr bwMode="auto">
            <a:xfrm>
              <a:off x="1248" y="960"/>
              <a:ext cx="528"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grpSp>
        <p:nvGrpSpPr>
          <p:cNvPr id="36889" name="Group 25"/>
          <p:cNvGrpSpPr>
            <a:grpSpLocks/>
          </p:cNvGrpSpPr>
          <p:nvPr/>
        </p:nvGrpSpPr>
        <p:grpSpPr bwMode="auto">
          <a:xfrm>
            <a:off x="3733800" y="914400"/>
            <a:ext cx="1412875" cy="385763"/>
            <a:chOff x="2064" y="576"/>
            <a:chExt cx="890" cy="243"/>
          </a:xfrm>
        </p:grpSpPr>
        <p:sp>
          <p:nvSpPr>
            <p:cNvPr id="36890" name="Oval 26"/>
            <p:cNvSpPr>
              <a:spLocks noChangeArrowheads="1"/>
            </p:cNvSpPr>
            <p:nvPr/>
          </p:nvSpPr>
          <p:spPr bwMode="auto">
            <a:xfrm>
              <a:off x="2736" y="6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57</a:t>
              </a:r>
            </a:p>
          </p:txBody>
        </p:sp>
        <p:sp>
          <p:nvSpPr>
            <p:cNvPr id="36891" name="Text Box 27"/>
            <p:cNvSpPr txBox="1">
              <a:spLocks noChangeArrowheads="1"/>
            </p:cNvSpPr>
            <p:nvPr/>
          </p:nvSpPr>
          <p:spPr bwMode="auto">
            <a:xfrm>
              <a:off x="2064" y="576"/>
              <a:ext cx="67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grpSp>
        <p:nvGrpSpPr>
          <p:cNvPr id="36892" name="Group 28"/>
          <p:cNvGrpSpPr>
            <a:grpSpLocks/>
          </p:cNvGrpSpPr>
          <p:nvPr/>
        </p:nvGrpSpPr>
        <p:grpSpPr bwMode="auto">
          <a:xfrm>
            <a:off x="6858000" y="1828800"/>
            <a:ext cx="955675" cy="385763"/>
            <a:chOff x="3312" y="960"/>
            <a:chExt cx="602" cy="243"/>
          </a:xfrm>
        </p:grpSpPr>
        <p:sp>
          <p:nvSpPr>
            <p:cNvPr id="36893" name="Oval 29"/>
            <p:cNvSpPr>
              <a:spLocks noChangeArrowheads="1"/>
            </p:cNvSpPr>
            <p:nvPr/>
          </p:nvSpPr>
          <p:spPr bwMode="auto">
            <a:xfrm>
              <a:off x="3696" y="985"/>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72</a:t>
              </a:r>
            </a:p>
          </p:txBody>
        </p:sp>
        <p:sp>
          <p:nvSpPr>
            <p:cNvPr id="36894" name="Text Box 30"/>
            <p:cNvSpPr txBox="1">
              <a:spLocks noChangeArrowheads="1"/>
            </p:cNvSpPr>
            <p:nvPr/>
          </p:nvSpPr>
          <p:spPr bwMode="auto">
            <a:xfrm>
              <a:off x="3312" y="960"/>
              <a:ext cx="38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grpSp>
        <p:nvGrpSpPr>
          <p:cNvPr id="36895" name="Group 31"/>
          <p:cNvGrpSpPr>
            <a:grpSpLocks/>
          </p:cNvGrpSpPr>
          <p:nvPr/>
        </p:nvGrpSpPr>
        <p:grpSpPr bwMode="auto">
          <a:xfrm>
            <a:off x="7959725" y="2743200"/>
            <a:ext cx="879475" cy="385763"/>
            <a:chOff x="4246" y="1728"/>
            <a:chExt cx="554" cy="243"/>
          </a:xfrm>
        </p:grpSpPr>
        <p:sp>
          <p:nvSpPr>
            <p:cNvPr id="36896" name="Oval 32"/>
            <p:cNvSpPr>
              <a:spLocks noChangeArrowheads="1"/>
            </p:cNvSpPr>
            <p:nvPr/>
          </p:nvSpPr>
          <p:spPr bwMode="auto">
            <a:xfrm>
              <a:off x="4582" y="1753"/>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94</a:t>
              </a:r>
            </a:p>
          </p:txBody>
        </p:sp>
        <p:sp>
          <p:nvSpPr>
            <p:cNvPr id="36897" name="Text Box 33"/>
            <p:cNvSpPr txBox="1">
              <a:spLocks noChangeArrowheads="1"/>
            </p:cNvSpPr>
            <p:nvPr/>
          </p:nvSpPr>
          <p:spPr bwMode="auto">
            <a:xfrm>
              <a:off x="4246" y="1728"/>
              <a:ext cx="336"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grpSp>
        <p:nvGrpSpPr>
          <p:cNvPr id="36898" name="Group 34"/>
          <p:cNvGrpSpPr>
            <a:grpSpLocks/>
          </p:cNvGrpSpPr>
          <p:nvPr/>
        </p:nvGrpSpPr>
        <p:grpSpPr bwMode="auto">
          <a:xfrm>
            <a:off x="7620000" y="3429000"/>
            <a:ext cx="574675" cy="385763"/>
            <a:chOff x="864" y="1776"/>
            <a:chExt cx="362" cy="243"/>
          </a:xfrm>
        </p:grpSpPr>
        <p:sp>
          <p:nvSpPr>
            <p:cNvPr id="36899" name="Oval 35"/>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78</a:t>
              </a:r>
            </a:p>
          </p:txBody>
        </p:sp>
        <p:sp>
          <p:nvSpPr>
            <p:cNvPr id="36900" name="Text Box 36"/>
            <p:cNvSpPr txBox="1">
              <a:spLocks noChangeArrowheads="1"/>
            </p:cNvSpPr>
            <p:nvPr/>
          </p:nvSpPr>
          <p:spPr bwMode="auto">
            <a:xfrm>
              <a:off x="864" y="1776"/>
              <a:ext cx="14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sz="1400" b="0" i="0"/>
                <a:t>0</a:t>
              </a:r>
            </a:p>
          </p:txBody>
        </p:sp>
      </p:grpSp>
      <p:grpSp>
        <p:nvGrpSpPr>
          <p:cNvPr id="36901" name="Group 37"/>
          <p:cNvGrpSpPr>
            <a:grpSpLocks/>
          </p:cNvGrpSpPr>
          <p:nvPr/>
        </p:nvGrpSpPr>
        <p:grpSpPr bwMode="auto">
          <a:xfrm>
            <a:off x="6283325" y="2743200"/>
            <a:ext cx="574675" cy="385763"/>
            <a:chOff x="864" y="1776"/>
            <a:chExt cx="362" cy="243"/>
          </a:xfrm>
        </p:grpSpPr>
        <p:sp>
          <p:nvSpPr>
            <p:cNvPr id="36902" name="Oval 38"/>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63</a:t>
              </a:r>
            </a:p>
          </p:txBody>
        </p:sp>
        <p:sp>
          <p:nvSpPr>
            <p:cNvPr id="36903" name="Text Box 39"/>
            <p:cNvSpPr txBox="1">
              <a:spLocks noChangeArrowheads="1"/>
            </p:cNvSpPr>
            <p:nvPr/>
          </p:nvSpPr>
          <p:spPr bwMode="auto">
            <a:xfrm>
              <a:off x="864" y="1776"/>
              <a:ext cx="14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sz="1400" b="0" i="0"/>
                <a:t>0</a:t>
              </a:r>
            </a:p>
          </p:txBody>
        </p:sp>
      </p:grpSp>
      <p:grpSp>
        <p:nvGrpSpPr>
          <p:cNvPr id="36904" name="Group 40"/>
          <p:cNvGrpSpPr>
            <a:grpSpLocks/>
          </p:cNvGrpSpPr>
          <p:nvPr/>
        </p:nvGrpSpPr>
        <p:grpSpPr bwMode="auto">
          <a:xfrm>
            <a:off x="3429000" y="2743200"/>
            <a:ext cx="920750" cy="385763"/>
            <a:chOff x="1964" y="2544"/>
            <a:chExt cx="580" cy="243"/>
          </a:xfrm>
        </p:grpSpPr>
        <p:sp>
          <p:nvSpPr>
            <p:cNvPr id="36905" name="Oval 41"/>
            <p:cNvSpPr>
              <a:spLocks noChangeArrowheads="1"/>
            </p:cNvSpPr>
            <p:nvPr/>
          </p:nvSpPr>
          <p:spPr bwMode="auto">
            <a:xfrm>
              <a:off x="2326" y="2569"/>
              <a:ext cx="218" cy="218"/>
            </a:xfrm>
            <a:prstGeom prst="ellipse">
              <a:avLst/>
            </a:prstGeom>
            <a:solidFill>
              <a:srgbClr val="FF00FF">
                <a:alpha val="53999"/>
              </a:srgbClr>
            </a:solidFill>
            <a:ln w="9525">
              <a:solidFill>
                <a:schemeClr val="tx1"/>
              </a:solidFill>
              <a:round/>
              <a:headEnd/>
              <a:tailEnd/>
            </a:ln>
          </p:spPr>
          <p:txBody>
            <a:bodyPr wrap="none" anchor="ctr"/>
            <a:lstStyle/>
            <a:p>
              <a:pPr algn="ctr"/>
              <a:r>
                <a:rPr lang="en-US" altLang="en-US" sz="1600" b="0" i="0"/>
                <a:t>37</a:t>
              </a:r>
            </a:p>
          </p:txBody>
        </p:sp>
        <p:sp>
          <p:nvSpPr>
            <p:cNvPr id="36906" name="Text Box 42"/>
            <p:cNvSpPr txBox="1">
              <a:spLocks noChangeArrowheads="1"/>
            </p:cNvSpPr>
            <p:nvPr/>
          </p:nvSpPr>
          <p:spPr bwMode="auto">
            <a:xfrm>
              <a:off x="1964" y="2544"/>
              <a:ext cx="36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grpSp>
        <p:nvGrpSpPr>
          <p:cNvPr id="36907" name="Group 43"/>
          <p:cNvGrpSpPr>
            <a:grpSpLocks/>
          </p:cNvGrpSpPr>
          <p:nvPr/>
        </p:nvGrpSpPr>
        <p:grpSpPr bwMode="auto">
          <a:xfrm>
            <a:off x="4876800" y="4033838"/>
            <a:ext cx="920750" cy="385762"/>
            <a:chOff x="2496" y="2160"/>
            <a:chExt cx="580" cy="243"/>
          </a:xfrm>
        </p:grpSpPr>
        <p:sp>
          <p:nvSpPr>
            <p:cNvPr id="36908" name="Oval 44"/>
            <p:cNvSpPr>
              <a:spLocks noChangeArrowheads="1"/>
            </p:cNvSpPr>
            <p:nvPr/>
          </p:nvSpPr>
          <p:spPr bwMode="auto">
            <a:xfrm>
              <a:off x="2858" y="2185"/>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47</a:t>
              </a:r>
            </a:p>
          </p:txBody>
        </p:sp>
        <p:sp>
          <p:nvSpPr>
            <p:cNvPr id="36909" name="Text Box 45"/>
            <p:cNvSpPr txBox="1">
              <a:spLocks noChangeArrowheads="1"/>
            </p:cNvSpPr>
            <p:nvPr/>
          </p:nvSpPr>
          <p:spPr bwMode="auto">
            <a:xfrm>
              <a:off x="2496" y="2160"/>
              <a:ext cx="36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grpSp>
        <p:nvGrpSpPr>
          <p:cNvPr id="36910" name="Group 46"/>
          <p:cNvGrpSpPr>
            <a:grpSpLocks/>
          </p:cNvGrpSpPr>
          <p:nvPr/>
        </p:nvGrpSpPr>
        <p:grpSpPr bwMode="auto">
          <a:xfrm>
            <a:off x="4267200" y="3429000"/>
            <a:ext cx="996950" cy="385763"/>
            <a:chOff x="2112" y="1728"/>
            <a:chExt cx="628" cy="243"/>
          </a:xfrm>
        </p:grpSpPr>
        <p:sp>
          <p:nvSpPr>
            <p:cNvPr id="36911" name="Oval 47"/>
            <p:cNvSpPr>
              <a:spLocks noChangeArrowheads="1"/>
            </p:cNvSpPr>
            <p:nvPr/>
          </p:nvSpPr>
          <p:spPr bwMode="auto">
            <a:xfrm>
              <a:off x="2522" y="1753"/>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38</a:t>
              </a:r>
            </a:p>
          </p:txBody>
        </p:sp>
        <p:sp>
          <p:nvSpPr>
            <p:cNvPr id="36912" name="Text Box 48"/>
            <p:cNvSpPr txBox="1">
              <a:spLocks noChangeArrowheads="1"/>
            </p:cNvSpPr>
            <p:nvPr/>
          </p:nvSpPr>
          <p:spPr bwMode="auto">
            <a:xfrm>
              <a:off x="2112" y="1728"/>
              <a:ext cx="410"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grpSp>
        <p:nvGrpSpPr>
          <p:cNvPr id="36913" name="Group 49"/>
          <p:cNvGrpSpPr>
            <a:grpSpLocks/>
          </p:cNvGrpSpPr>
          <p:nvPr/>
        </p:nvGrpSpPr>
        <p:grpSpPr bwMode="auto">
          <a:xfrm>
            <a:off x="-76200" y="3352800"/>
            <a:ext cx="803275" cy="385763"/>
            <a:chOff x="768" y="1872"/>
            <a:chExt cx="506" cy="243"/>
          </a:xfrm>
        </p:grpSpPr>
        <p:sp>
          <p:nvSpPr>
            <p:cNvPr id="36914" name="Oval 50"/>
            <p:cNvSpPr>
              <a:spLocks noChangeArrowheads="1"/>
            </p:cNvSpPr>
            <p:nvPr/>
          </p:nvSpPr>
          <p:spPr bwMode="auto">
            <a:xfrm>
              <a:off x="1056" y="1897"/>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1</a:t>
              </a:r>
            </a:p>
          </p:txBody>
        </p:sp>
        <p:sp>
          <p:nvSpPr>
            <p:cNvPr id="36915" name="Text Box 51"/>
            <p:cNvSpPr txBox="1">
              <a:spLocks noChangeArrowheads="1"/>
            </p:cNvSpPr>
            <p:nvPr/>
          </p:nvSpPr>
          <p:spPr bwMode="auto">
            <a:xfrm>
              <a:off x="768" y="1872"/>
              <a:ext cx="288"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grpSp>
        <p:nvGrpSpPr>
          <p:cNvPr id="36916" name="Group 52"/>
          <p:cNvGrpSpPr>
            <a:grpSpLocks/>
          </p:cNvGrpSpPr>
          <p:nvPr/>
        </p:nvGrpSpPr>
        <p:grpSpPr bwMode="auto">
          <a:xfrm>
            <a:off x="2127250" y="4033838"/>
            <a:ext cx="762000" cy="385762"/>
            <a:chOff x="1680" y="2541"/>
            <a:chExt cx="480" cy="243"/>
          </a:xfrm>
        </p:grpSpPr>
        <p:sp>
          <p:nvSpPr>
            <p:cNvPr id="36917" name="Oval 53"/>
            <p:cNvSpPr>
              <a:spLocks noChangeArrowheads="1"/>
            </p:cNvSpPr>
            <p:nvPr/>
          </p:nvSpPr>
          <p:spPr bwMode="auto">
            <a:xfrm>
              <a:off x="1942" y="2566"/>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30</a:t>
              </a:r>
            </a:p>
          </p:txBody>
        </p:sp>
        <p:sp>
          <p:nvSpPr>
            <p:cNvPr id="36918" name="Text Box 54"/>
            <p:cNvSpPr txBox="1">
              <a:spLocks noChangeArrowheads="1"/>
            </p:cNvSpPr>
            <p:nvPr/>
          </p:nvSpPr>
          <p:spPr bwMode="auto">
            <a:xfrm>
              <a:off x="1680" y="2541"/>
              <a:ext cx="26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cxnSp>
        <p:nvCxnSpPr>
          <p:cNvPr id="36919" name="AutoShape 55"/>
          <p:cNvCxnSpPr>
            <a:cxnSpLocks noChangeShapeType="1"/>
            <a:stCxn id="36925" idx="1"/>
            <a:endCxn id="36921" idx="5"/>
          </p:cNvCxnSpPr>
          <p:nvPr/>
        </p:nvCxnSpPr>
        <p:spPr bwMode="auto">
          <a:xfrm flipH="1" flipV="1">
            <a:off x="3371850" y="3763963"/>
            <a:ext cx="219075" cy="3651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nvGrpSpPr>
          <p:cNvPr id="36920" name="Group 56"/>
          <p:cNvGrpSpPr>
            <a:grpSpLocks/>
          </p:cNvGrpSpPr>
          <p:nvPr/>
        </p:nvGrpSpPr>
        <p:grpSpPr bwMode="auto">
          <a:xfrm>
            <a:off x="2660650" y="3429000"/>
            <a:ext cx="762000" cy="385763"/>
            <a:chOff x="1920" y="2160"/>
            <a:chExt cx="480" cy="243"/>
          </a:xfrm>
        </p:grpSpPr>
        <p:sp>
          <p:nvSpPr>
            <p:cNvPr id="36921" name="Oval 57"/>
            <p:cNvSpPr>
              <a:spLocks noChangeArrowheads="1"/>
            </p:cNvSpPr>
            <p:nvPr/>
          </p:nvSpPr>
          <p:spPr bwMode="auto">
            <a:xfrm>
              <a:off x="2182" y="2185"/>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32</a:t>
              </a:r>
            </a:p>
          </p:txBody>
        </p:sp>
        <p:sp>
          <p:nvSpPr>
            <p:cNvPr id="36922" name="Text Box 58"/>
            <p:cNvSpPr txBox="1">
              <a:spLocks noChangeArrowheads="1"/>
            </p:cNvSpPr>
            <p:nvPr/>
          </p:nvSpPr>
          <p:spPr bwMode="auto">
            <a:xfrm>
              <a:off x="1920" y="2160"/>
              <a:ext cx="26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cxnSp>
        <p:nvCxnSpPr>
          <p:cNvPr id="36923" name="AutoShape 59"/>
          <p:cNvCxnSpPr>
            <a:cxnSpLocks noChangeShapeType="1"/>
            <a:stCxn id="36917" idx="7"/>
            <a:endCxn id="36921" idx="3"/>
          </p:cNvCxnSpPr>
          <p:nvPr/>
        </p:nvCxnSpPr>
        <p:spPr bwMode="auto">
          <a:xfrm flipV="1">
            <a:off x="2838450" y="3763963"/>
            <a:ext cx="288925" cy="360362"/>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nvGrpSpPr>
          <p:cNvPr id="36924" name="Group 60"/>
          <p:cNvGrpSpPr>
            <a:grpSpLocks/>
          </p:cNvGrpSpPr>
          <p:nvPr/>
        </p:nvGrpSpPr>
        <p:grpSpPr bwMode="auto">
          <a:xfrm>
            <a:off x="2965450" y="4038600"/>
            <a:ext cx="920750" cy="385763"/>
            <a:chOff x="1628" y="2928"/>
            <a:chExt cx="580" cy="243"/>
          </a:xfrm>
        </p:grpSpPr>
        <p:sp>
          <p:nvSpPr>
            <p:cNvPr id="36925" name="Oval 61"/>
            <p:cNvSpPr>
              <a:spLocks noChangeArrowheads="1"/>
            </p:cNvSpPr>
            <p:nvPr/>
          </p:nvSpPr>
          <p:spPr bwMode="auto">
            <a:xfrm>
              <a:off x="1990" y="2953"/>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35</a:t>
              </a:r>
            </a:p>
          </p:txBody>
        </p:sp>
        <p:sp>
          <p:nvSpPr>
            <p:cNvPr id="36926" name="Text Box 62"/>
            <p:cNvSpPr txBox="1">
              <a:spLocks noChangeArrowheads="1"/>
            </p:cNvSpPr>
            <p:nvPr/>
          </p:nvSpPr>
          <p:spPr bwMode="auto">
            <a:xfrm>
              <a:off x="1628" y="2928"/>
              <a:ext cx="36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cxnSp>
        <p:nvCxnSpPr>
          <p:cNvPr id="36927" name="AutoShape 63"/>
          <p:cNvCxnSpPr>
            <a:cxnSpLocks noChangeShapeType="1"/>
            <a:stCxn id="36921" idx="7"/>
            <a:endCxn id="36905" idx="3"/>
          </p:cNvCxnSpPr>
          <p:nvPr/>
        </p:nvCxnSpPr>
        <p:spPr bwMode="auto">
          <a:xfrm flipV="1">
            <a:off x="3371850" y="3078163"/>
            <a:ext cx="682625" cy="4413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411434096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2"/>
          <p:cNvSpPr txBox="1">
            <a:spLocks noChangeArrowheads="1"/>
          </p:cNvSpPr>
          <p:nvPr/>
        </p:nvSpPr>
        <p:spPr bwMode="auto">
          <a:xfrm>
            <a:off x="76200" y="76200"/>
            <a:ext cx="9067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b="0" i="0"/>
              <a:t>Finished!</a:t>
            </a:r>
          </a:p>
        </p:txBody>
      </p:sp>
      <p:sp>
        <p:nvSpPr>
          <p:cNvPr id="38916" name="Text Box 4"/>
          <p:cNvSpPr txBox="1">
            <a:spLocks noChangeArrowheads="1"/>
          </p:cNvSpPr>
          <p:nvPr/>
        </p:nvSpPr>
        <p:spPr bwMode="auto">
          <a:xfrm>
            <a:off x="6705600" y="0"/>
            <a:ext cx="24384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2000" b="0" i="0">
                <a:solidFill>
                  <a:srgbClr val="134A8B"/>
                </a:solidFill>
              </a:rPr>
              <a:t>Balance ok</a:t>
            </a:r>
          </a:p>
        </p:txBody>
      </p:sp>
      <p:cxnSp>
        <p:nvCxnSpPr>
          <p:cNvPr id="38917" name="AutoShape 5"/>
          <p:cNvCxnSpPr>
            <a:cxnSpLocks noChangeShapeType="1"/>
            <a:stCxn id="38929" idx="3"/>
            <a:endCxn id="38962" idx="7"/>
          </p:cNvCxnSpPr>
          <p:nvPr/>
        </p:nvCxnSpPr>
        <p:spPr bwMode="auto">
          <a:xfrm flipH="1">
            <a:off x="676275" y="3001963"/>
            <a:ext cx="288925" cy="4413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8918" name="AutoShape 6"/>
          <p:cNvCxnSpPr>
            <a:cxnSpLocks noChangeShapeType="1"/>
            <a:stCxn id="38938" idx="3"/>
            <a:endCxn id="38935" idx="7"/>
          </p:cNvCxnSpPr>
          <p:nvPr/>
        </p:nvCxnSpPr>
        <p:spPr bwMode="auto">
          <a:xfrm flipH="1">
            <a:off x="2733675" y="1249363"/>
            <a:ext cx="2117725" cy="5937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8919" name="AutoShape 7"/>
          <p:cNvCxnSpPr>
            <a:cxnSpLocks noChangeShapeType="1"/>
            <a:stCxn id="38938" idx="5"/>
            <a:endCxn id="38941" idx="1"/>
          </p:cNvCxnSpPr>
          <p:nvPr/>
        </p:nvCxnSpPr>
        <p:spPr bwMode="auto">
          <a:xfrm>
            <a:off x="5095875" y="1249363"/>
            <a:ext cx="2422525" cy="6699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8920" name="AutoShape 8"/>
          <p:cNvCxnSpPr>
            <a:cxnSpLocks noChangeShapeType="1"/>
            <a:stCxn id="38941" idx="5"/>
            <a:endCxn id="38944" idx="1"/>
          </p:cNvCxnSpPr>
          <p:nvPr/>
        </p:nvCxnSpPr>
        <p:spPr bwMode="auto">
          <a:xfrm>
            <a:off x="7762875" y="2163763"/>
            <a:ext cx="781050" cy="6699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8921" name="AutoShape 9"/>
          <p:cNvCxnSpPr>
            <a:cxnSpLocks noChangeShapeType="1"/>
            <a:stCxn id="38935" idx="5"/>
            <a:endCxn id="38953" idx="1"/>
          </p:cNvCxnSpPr>
          <p:nvPr/>
        </p:nvCxnSpPr>
        <p:spPr bwMode="auto">
          <a:xfrm>
            <a:off x="2733675" y="2087563"/>
            <a:ext cx="1320800" cy="7461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8922" name="AutoShape 10"/>
          <p:cNvCxnSpPr>
            <a:cxnSpLocks noChangeShapeType="1"/>
            <a:stCxn id="38959" idx="5"/>
            <a:endCxn id="38956" idx="1"/>
          </p:cNvCxnSpPr>
          <p:nvPr/>
        </p:nvCxnSpPr>
        <p:spPr bwMode="auto">
          <a:xfrm>
            <a:off x="5213350" y="3763963"/>
            <a:ext cx="288925" cy="360362"/>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8923" name="AutoShape 11"/>
          <p:cNvCxnSpPr>
            <a:cxnSpLocks noChangeShapeType="1"/>
            <a:stCxn id="38935" idx="3"/>
            <a:endCxn id="38929" idx="7"/>
          </p:cNvCxnSpPr>
          <p:nvPr/>
        </p:nvCxnSpPr>
        <p:spPr bwMode="auto">
          <a:xfrm flipH="1">
            <a:off x="1209675" y="2087563"/>
            <a:ext cx="1279525" cy="6699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8924" name="AutoShape 12"/>
          <p:cNvCxnSpPr>
            <a:cxnSpLocks noChangeShapeType="1"/>
            <a:stCxn id="38932" idx="1"/>
            <a:endCxn id="38929" idx="5"/>
          </p:cNvCxnSpPr>
          <p:nvPr/>
        </p:nvCxnSpPr>
        <p:spPr bwMode="auto">
          <a:xfrm flipH="1" flipV="1">
            <a:off x="1209675" y="3001963"/>
            <a:ext cx="323850" cy="4413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8925" name="AutoShape 13"/>
          <p:cNvCxnSpPr>
            <a:cxnSpLocks noChangeShapeType="1"/>
            <a:stCxn id="38959" idx="1"/>
            <a:endCxn id="38953" idx="5"/>
          </p:cNvCxnSpPr>
          <p:nvPr/>
        </p:nvCxnSpPr>
        <p:spPr bwMode="auto">
          <a:xfrm flipH="1" flipV="1">
            <a:off x="4298950" y="3078163"/>
            <a:ext cx="669925" cy="4413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8926" name="AutoShape 14"/>
          <p:cNvCxnSpPr>
            <a:cxnSpLocks noChangeShapeType="1"/>
            <a:stCxn id="38941" idx="3"/>
            <a:endCxn id="38950" idx="7"/>
          </p:cNvCxnSpPr>
          <p:nvPr/>
        </p:nvCxnSpPr>
        <p:spPr bwMode="auto">
          <a:xfrm flipH="1">
            <a:off x="6807200" y="2163763"/>
            <a:ext cx="711200" cy="6699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8927" name="AutoShape 15"/>
          <p:cNvCxnSpPr>
            <a:cxnSpLocks noChangeShapeType="1"/>
            <a:stCxn id="38944" idx="3"/>
            <a:endCxn id="38947" idx="7"/>
          </p:cNvCxnSpPr>
          <p:nvPr/>
        </p:nvCxnSpPr>
        <p:spPr bwMode="auto">
          <a:xfrm flipH="1">
            <a:off x="8143875" y="3078163"/>
            <a:ext cx="400050" cy="4413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nvGrpSpPr>
          <p:cNvPr id="38928" name="Group 16"/>
          <p:cNvGrpSpPr>
            <a:grpSpLocks/>
          </p:cNvGrpSpPr>
          <p:nvPr/>
        </p:nvGrpSpPr>
        <p:grpSpPr bwMode="auto">
          <a:xfrm>
            <a:off x="457200" y="2667000"/>
            <a:ext cx="803275" cy="385763"/>
            <a:chOff x="720" y="1776"/>
            <a:chExt cx="506" cy="243"/>
          </a:xfrm>
        </p:grpSpPr>
        <p:sp>
          <p:nvSpPr>
            <p:cNvPr id="38929" name="Oval 17"/>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a:t>
              </a:r>
            </a:p>
          </p:txBody>
        </p:sp>
        <p:sp>
          <p:nvSpPr>
            <p:cNvPr id="38930" name="Text Box 18"/>
            <p:cNvSpPr txBox="1">
              <a:spLocks noChangeArrowheads="1"/>
            </p:cNvSpPr>
            <p:nvPr/>
          </p:nvSpPr>
          <p:spPr bwMode="auto">
            <a:xfrm>
              <a:off x="720" y="1776"/>
              <a:ext cx="288"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grpSp>
        <p:nvGrpSpPr>
          <p:cNvPr id="38931" name="Group 19"/>
          <p:cNvGrpSpPr>
            <a:grpSpLocks/>
          </p:cNvGrpSpPr>
          <p:nvPr/>
        </p:nvGrpSpPr>
        <p:grpSpPr bwMode="auto">
          <a:xfrm>
            <a:off x="1101725" y="3352800"/>
            <a:ext cx="727075" cy="385763"/>
            <a:chOff x="1104" y="1392"/>
            <a:chExt cx="458" cy="243"/>
          </a:xfrm>
        </p:grpSpPr>
        <p:sp>
          <p:nvSpPr>
            <p:cNvPr id="38932" name="Oval 20"/>
            <p:cNvSpPr>
              <a:spLocks noChangeArrowheads="1"/>
            </p:cNvSpPr>
            <p:nvPr/>
          </p:nvSpPr>
          <p:spPr bwMode="auto">
            <a:xfrm>
              <a:off x="1344" y="1417"/>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25</a:t>
              </a:r>
            </a:p>
          </p:txBody>
        </p:sp>
        <p:sp>
          <p:nvSpPr>
            <p:cNvPr id="38933" name="Text Box 21"/>
            <p:cNvSpPr txBox="1">
              <a:spLocks noChangeArrowheads="1"/>
            </p:cNvSpPr>
            <p:nvPr/>
          </p:nvSpPr>
          <p:spPr bwMode="auto">
            <a:xfrm>
              <a:off x="1104" y="1392"/>
              <a:ext cx="240"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grpSp>
        <p:nvGrpSpPr>
          <p:cNvPr id="38934" name="Group 22"/>
          <p:cNvGrpSpPr>
            <a:grpSpLocks/>
          </p:cNvGrpSpPr>
          <p:nvPr/>
        </p:nvGrpSpPr>
        <p:grpSpPr bwMode="auto">
          <a:xfrm>
            <a:off x="1600200" y="1752600"/>
            <a:ext cx="1184275" cy="385763"/>
            <a:chOff x="1248" y="960"/>
            <a:chExt cx="746" cy="243"/>
          </a:xfrm>
        </p:grpSpPr>
        <p:sp>
          <p:nvSpPr>
            <p:cNvPr id="38935" name="Oval 23"/>
            <p:cNvSpPr>
              <a:spLocks noChangeArrowheads="1"/>
            </p:cNvSpPr>
            <p:nvPr/>
          </p:nvSpPr>
          <p:spPr bwMode="auto">
            <a:xfrm>
              <a:off x="1776" y="985"/>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26</a:t>
              </a:r>
            </a:p>
          </p:txBody>
        </p:sp>
        <p:sp>
          <p:nvSpPr>
            <p:cNvPr id="38936" name="Text Box 24"/>
            <p:cNvSpPr txBox="1">
              <a:spLocks noChangeArrowheads="1"/>
            </p:cNvSpPr>
            <p:nvPr/>
          </p:nvSpPr>
          <p:spPr bwMode="auto">
            <a:xfrm>
              <a:off x="1248" y="960"/>
              <a:ext cx="528"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grpSp>
        <p:nvGrpSpPr>
          <p:cNvPr id="38937" name="Group 25"/>
          <p:cNvGrpSpPr>
            <a:grpSpLocks/>
          </p:cNvGrpSpPr>
          <p:nvPr/>
        </p:nvGrpSpPr>
        <p:grpSpPr bwMode="auto">
          <a:xfrm>
            <a:off x="3733800" y="914400"/>
            <a:ext cx="1412875" cy="385763"/>
            <a:chOff x="2064" y="576"/>
            <a:chExt cx="890" cy="243"/>
          </a:xfrm>
        </p:grpSpPr>
        <p:sp>
          <p:nvSpPr>
            <p:cNvPr id="38938" name="Oval 26"/>
            <p:cNvSpPr>
              <a:spLocks noChangeArrowheads="1"/>
            </p:cNvSpPr>
            <p:nvPr/>
          </p:nvSpPr>
          <p:spPr bwMode="auto">
            <a:xfrm>
              <a:off x="2736" y="6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57</a:t>
              </a:r>
            </a:p>
          </p:txBody>
        </p:sp>
        <p:sp>
          <p:nvSpPr>
            <p:cNvPr id="38939" name="Text Box 27"/>
            <p:cNvSpPr txBox="1">
              <a:spLocks noChangeArrowheads="1"/>
            </p:cNvSpPr>
            <p:nvPr/>
          </p:nvSpPr>
          <p:spPr bwMode="auto">
            <a:xfrm>
              <a:off x="2064" y="576"/>
              <a:ext cx="67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grpSp>
        <p:nvGrpSpPr>
          <p:cNvPr id="38940" name="Group 28"/>
          <p:cNvGrpSpPr>
            <a:grpSpLocks/>
          </p:cNvGrpSpPr>
          <p:nvPr/>
        </p:nvGrpSpPr>
        <p:grpSpPr bwMode="auto">
          <a:xfrm>
            <a:off x="6858000" y="1828800"/>
            <a:ext cx="955675" cy="385763"/>
            <a:chOff x="3312" y="960"/>
            <a:chExt cx="602" cy="243"/>
          </a:xfrm>
        </p:grpSpPr>
        <p:sp>
          <p:nvSpPr>
            <p:cNvPr id="38941" name="Oval 29"/>
            <p:cNvSpPr>
              <a:spLocks noChangeArrowheads="1"/>
            </p:cNvSpPr>
            <p:nvPr/>
          </p:nvSpPr>
          <p:spPr bwMode="auto">
            <a:xfrm>
              <a:off x="3696" y="985"/>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72</a:t>
              </a:r>
            </a:p>
          </p:txBody>
        </p:sp>
        <p:sp>
          <p:nvSpPr>
            <p:cNvPr id="38942" name="Text Box 30"/>
            <p:cNvSpPr txBox="1">
              <a:spLocks noChangeArrowheads="1"/>
            </p:cNvSpPr>
            <p:nvPr/>
          </p:nvSpPr>
          <p:spPr bwMode="auto">
            <a:xfrm>
              <a:off x="3312" y="960"/>
              <a:ext cx="38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grpSp>
        <p:nvGrpSpPr>
          <p:cNvPr id="38943" name="Group 31"/>
          <p:cNvGrpSpPr>
            <a:grpSpLocks/>
          </p:cNvGrpSpPr>
          <p:nvPr/>
        </p:nvGrpSpPr>
        <p:grpSpPr bwMode="auto">
          <a:xfrm>
            <a:off x="7959725" y="2743200"/>
            <a:ext cx="879475" cy="385763"/>
            <a:chOff x="4246" y="1728"/>
            <a:chExt cx="554" cy="243"/>
          </a:xfrm>
        </p:grpSpPr>
        <p:sp>
          <p:nvSpPr>
            <p:cNvPr id="38944" name="Oval 32"/>
            <p:cNvSpPr>
              <a:spLocks noChangeArrowheads="1"/>
            </p:cNvSpPr>
            <p:nvPr/>
          </p:nvSpPr>
          <p:spPr bwMode="auto">
            <a:xfrm>
              <a:off x="4582" y="1753"/>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94</a:t>
              </a:r>
            </a:p>
          </p:txBody>
        </p:sp>
        <p:sp>
          <p:nvSpPr>
            <p:cNvPr id="38945" name="Text Box 33"/>
            <p:cNvSpPr txBox="1">
              <a:spLocks noChangeArrowheads="1"/>
            </p:cNvSpPr>
            <p:nvPr/>
          </p:nvSpPr>
          <p:spPr bwMode="auto">
            <a:xfrm>
              <a:off x="4246" y="1728"/>
              <a:ext cx="336"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grpSp>
        <p:nvGrpSpPr>
          <p:cNvPr id="38946" name="Group 34"/>
          <p:cNvGrpSpPr>
            <a:grpSpLocks/>
          </p:cNvGrpSpPr>
          <p:nvPr/>
        </p:nvGrpSpPr>
        <p:grpSpPr bwMode="auto">
          <a:xfrm>
            <a:off x="7620000" y="3429000"/>
            <a:ext cx="574675" cy="385763"/>
            <a:chOff x="864" y="1776"/>
            <a:chExt cx="362" cy="243"/>
          </a:xfrm>
        </p:grpSpPr>
        <p:sp>
          <p:nvSpPr>
            <p:cNvPr id="38947" name="Oval 35"/>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78</a:t>
              </a:r>
            </a:p>
          </p:txBody>
        </p:sp>
        <p:sp>
          <p:nvSpPr>
            <p:cNvPr id="38948" name="Text Box 36"/>
            <p:cNvSpPr txBox="1">
              <a:spLocks noChangeArrowheads="1"/>
            </p:cNvSpPr>
            <p:nvPr/>
          </p:nvSpPr>
          <p:spPr bwMode="auto">
            <a:xfrm>
              <a:off x="864" y="1776"/>
              <a:ext cx="14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sz="1400" b="0" i="0"/>
                <a:t>0</a:t>
              </a:r>
            </a:p>
          </p:txBody>
        </p:sp>
      </p:grpSp>
      <p:grpSp>
        <p:nvGrpSpPr>
          <p:cNvPr id="38949" name="Group 37"/>
          <p:cNvGrpSpPr>
            <a:grpSpLocks/>
          </p:cNvGrpSpPr>
          <p:nvPr/>
        </p:nvGrpSpPr>
        <p:grpSpPr bwMode="auto">
          <a:xfrm>
            <a:off x="6283325" y="2743200"/>
            <a:ext cx="574675" cy="385763"/>
            <a:chOff x="864" y="1776"/>
            <a:chExt cx="362" cy="243"/>
          </a:xfrm>
        </p:grpSpPr>
        <p:sp>
          <p:nvSpPr>
            <p:cNvPr id="38950" name="Oval 38"/>
            <p:cNvSpPr>
              <a:spLocks noChangeArrowheads="1"/>
            </p:cNvSpPr>
            <p:nvPr/>
          </p:nvSpPr>
          <p:spPr bwMode="auto">
            <a:xfrm>
              <a:off x="1008" y="1801"/>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63</a:t>
              </a:r>
            </a:p>
          </p:txBody>
        </p:sp>
        <p:sp>
          <p:nvSpPr>
            <p:cNvPr id="38951" name="Text Box 39"/>
            <p:cNvSpPr txBox="1">
              <a:spLocks noChangeArrowheads="1"/>
            </p:cNvSpPr>
            <p:nvPr/>
          </p:nvSpPr>
          <p:spPr bwMode="auto">
            <a:xfrm>
              <a:off x="864" y="1776"/>
              <a:ext cx="144"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sz="1400" b="0" i="0"/>
                <a:t>0</a:t>
              </a:r>
            </a:p>
          </p:txBody>
        </p:sp>
      </p:grpSp>
      <p:sp>
        <p:nvSpPr>
          <p:cNvPr id="38953" name="Oval 41"/>
          <p:cNvSpPr>
            <a:spLocks noChangeArrowheads="1"/>
          </p:cNvSpPr>
          <p:nvPr/>
        </p:nvSpPr>
        <p:spPr bwMode="auto">
          <a:xfrm>
            <a:off x="4003675" y="2782888"/>
            <a:ext cx="346075" cy="346075"/>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37</a:t>
            </a:r>
          </a:p>
        </p:txBody>
      </p:sp>
      <p:sp>
        <p:nvSpPr>
          <p:cNvPr id="38954" name="Text Box 42"/>
          <p:cNvSpPr txBox="1">
            <a:spLocks noChangeArrowheads="1"/>
          </p:cNvSpPr>
          <p:nvPr/>
        </p:nvSpPr>
        <p:spPr bwMode="auto">
          <a:xfrm>
            <a:off x="3429000" y="2743200"/>
            <a:ext cx="574675" cy="30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nvGrpSpPr>
          <p:cNvPr id="38955" name="Group 43"/>
          <p:cNvGrpSpPr>
            <a:grpSpLocks/>
          </p:cNvGrpSpPr>
          <p:nvPr/>
        </p:nvGrpSpPr>
        <p:grpSpPr bwMode="auto">
          <a:xfrm>
            <a:off x="4876800" y="4033838"/>
            <a:ext cx="920750" cy="385762"/>
            <a:chOff x="2496" y="2160"/>
            <a:chExt cx="580" cy="243"/>
          </a:xfrm>
        </p:grpSpPr>
        <p:sp>
          <p:nvSpPr>
            <p:cNvPr id="38956" name="Oval 44"/>
            <p:cNvSpPr>
              <a:spLocks noChangeArrowheads="1"/>
            </p:cNvSpPr>
            <p:nvPr/>
          </p:nvSpPr>
          <p:spPr bwMode="auto">
            <a:xfrm>
              <a:off x="2858" y="2185"/>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47</a:t>
              </a:r>
            </a:p>
          </p:txBody>
        </p:sp>
        <p:sp>
          <p:nvSpPr>
            <p:cNvPr id="38957" name="Text Box 45"/>
            <p:cNvSpPr txBox="1">
              <a:spLocks noChangeArrowheads="1"/>
            </p:cNvSpPr>
            <p:nvPr/>
          </p:nvSpPr>
          <p:spPr bwMode="auto">
            <a:xfrm>
              <a:off x="2496" y="2160"/>
              <a:ext cx="36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grpSp>
        <p:nvGrpSpPr>
          <p:cNvPr id="38958" name="Group 46"/>
          <p:cNvGrpSpPr>
            <a:grpSpLocks/>
          </p:cNvGrpSpPr>
          <p:nvPr/>
        </p:nvGrpSpPr>
        <p:grpSpPr bwMode="auto">
          <a:xfrm>
            <a:off x="4267200" y="3429000"/>
            <a:ext cx="996950" cy="385763"/>
            <a:chOff x="2112" y="1728"/>
            <a:chExt cx="628" cy="243"/>
          </a:xfrm>
        </p:grpSpPr>
        <p:sp>
          <p:nvSpPr>
            <p:cNvPr id="38959" name="Oval 47"/>
            <p:cNvSpPr>
              <a:spLocks noChangeArrowheads="1"/>
            </p:cNvSpPr>
            <p:nvPr/>
          </p:nvSpPr>
          <p:spPr bwMode="auto">
            <a:xfrm>
              <a:off x="2522" y="1753"/>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38</a:t>
              </a:r>
            </a:p>
          </p:txBody>
        </p:sp>
        <p:sp>
          <p:nvSpPr>
            <p:cNvPr id="38960" name="Text Box 48"/>
            <p:cNvSpPr txBox="1">
              <a:spLocks noChangeArrowheads="1"/>
            </p:cNvSpPr>
            <p:nvPr/>
          </p:nvSpPr>
          <p:spPr bwMode="auto">
            <a:xfrm>
              <a:off x="2112" y="1728"/>
              <a:ext cx="410"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+1</a:t>
              </a:r>
            </a:p>
          </p:txBody>
        </p:sp>
      </p:grpSp>
      <p:grpSp>
        <p:nvGrpSpPr>
          <p:cNvPr id="38961" name="Group 49"/>
          <p:cNvGrpSpPr>
            <a:grpSpLocks/>
          </p:cNvGrpSpPr>
          <p:nvPr/>
        </p:nvGrpSpPr>
        <p:grpSpPr bwMode="auto">
          <a:xfrm>
            <a:off x="-76200" y="3352800"/>
            <a:ext cx="803275" cy="385763"/>
            <a:chOff x="768" y="1872"/>
            <a:chExt cx="506" cy="243"/>
          </a:xfrm>
        </p:grpSpPr>
        <p:sp>
          <p:nvSpPr>
            <p:cNvPr id="38962" name="Oval 50"/>
            <p:cNvSpPr>
              <a:spLocks noChangeArrowheads="1"/>
            </p:cNvSpPr>
            <p:nvPr/>
          </p:nvSpPr>
          <p:spPr bwMode="auto">
            <a:xfrm>
              <a:off x="1056" y="1897"/>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1</a:t>
              </a:r>
            </a:p>
          </p:txBody>
        </p:sp>
        <p:sp>
          <p:nvSpPr>
            <p:cNvPr id="38963" name="Text Box 51"/>
            <p:cNvSpPr txBox="1">
              <a:spLocks noChangeArrowheads="1"/>
            </p:cNvSpPr>
            <p:nvPr/>
          </p:nvSpPr>
          <p:spPr bwMode="auto">
            <a:xfrm>
              <a:off x="768" y="1872"/>
              <a:ext cx="288"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grpSp>
        <p:nvGrpSpPr>
          <p:cNvPr id="38964" name="Group 52"/>
          <p:cNvGrpSpPr>
            <a:grpSpLocks/>
          </p:cNvGrpSpPr>
          <p:nvPr/>
        </p:nvGrpSpPr>
        <p:grpSpPr bwMode="auto">
          <a:xfrm>
            <a:off x="2127250" y="4033838"/>
            <a:ext cx="762000" cy="385762"/>
            <a:chOff x="1680" y="2541"/>
            <a:chExt cx="480" cy="243"/>
          </a:xfrm>
        </p:grpSpPr>
        <p:sp>
          <p:nvSpPr>
            <p:cNvPr id="38965" name="Oval 53"/>
            <p:cNvSpPr>
              <a:spLocks noChangeArrowheads="1"/>
            </p:cNvSpPr>
            <p:nvPr/>
          </p:nvSpPr>
          <p:spPr bwMode="auto">
            <a:xfrm>
              <a:off x="1942" y="2566"/>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30</a:t>
              </a:r>
            </a:p>
          </p:txBody>
        </p:sp>
        <p:sp>
          <p:nvSpPr>
            <p:cNvPr id="38966" name="Text Box 54"/>
            <p:cNvSpPr txBox="1">
              <a:spLocks noChangeArrowheads="1"/>
            </p:cNvSpPr>
            <p:nvPr/>
          </p:nvSpPr>
          <p:spPr bwMode="auto">
            <a:xfrm>
              <a:off x="1680" y="2541"/>
              <a:ext cx="26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cxnSp>
        <p:nvCxnSpPr>
          <p:cNvPr id="38967" name="AutoShape 55"/>
          <p:cNvCxnSpPr>
            <a:cxnSpLocks noChangeShapeType="1"/>
            <a:stCxn id="38973" idx="1"/>
            <a:endCxn id="38969" idx="5"/>
          </p:cNvCxnSpPr>
          <p:nvPr/>
        </p:nvCxnSpPr>
        <p:spPr bwMode="auto">
          <a:xfrm flipH="1" flipV="1">
            <a:off x="3371850" y="3763963"/>
            <a:ext cx="219075" cy="3651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nvGrpSpPr>
          <p:cNvPr id="38968" name="Group 56"/>
          <p:cNvGrpSpPr>
            <a:grpSpLocks/>
          </p:cNvGrpSpPr>
          <p:nvPr/>
        </p:nvGrpSpPr>
        <p:grpSpPr bwMode="auto">
          <a:xfrm>
            <a:off x="2660650" y="3429000"/>
            <a:ext cx="762000" cy="385763"/>
            <a:chOff x="1920" y="2160"/>
            <a:chExt cx="480" cy="243"/>
          </a:xfrm>
        </p:grpSpPr>
        <p:sp>
          <p:nvSpPr>
            <p:cNvPr id="38969" name="Oval 57"/>
            <p:cNvSpPr>
              <a:spLocks noChangeArrowheads="1"/>
            </p:cNvSpPr>
            <p:nvPr/>
          </p:nvSpPr>
          <p:spPr bwMode="auto">
            <a:xfrm>
              <a:off x="2182" y="2185"/>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32</a:t>
              </a:r>
            </a:p>
          </p:txBody>
        </p:sp>
        <p:sp>
          <p:nvSpPr>
            <p:cNvPr id="38970" name="Text Box 58"/>
            <p:cNvSpPr txBox="1">
              <a:spLocks noChangeArrowheads="1"/>
            </p:cNvSpPr>
            <p:nvPr/>
          </p:nvSpPr>
          <p:spPr bwMode="auto">
            <a:xfrm>
              <a:off x="1920" y="2160"/>
              <a:ext cx="26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cxnSp>
        <p:nvCxnSpPr>
          <p:cNvPr id="38971" name="AutoShape 59"/>
          <p:cNvCxnSpPr>
            <a:cxnSpLocks noChangeShapeType="1"/>
            <a:stCxn id="38965" idx="7"/>
            <a:endCxn id="38969" idx="3"/>
          </p:cNvCxnSpPr>
          <p:nvPr/>
        </p:nvCxnSpPr>
        <p:spPr bwMode="auto">
          <a:xfrm flipV="1">
            <a:off x="2838450" y="3763963"/>
            <a:ext cx="288925" cy="360362"/>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nvGrpSpPr>
          <p:cNvPr id="38972" name="Group 60"/>
          <p:cNvGrpSpPr>
            <a:grpSpLocks/>
          </p:cNvGrpSpPr>
          <p:nvPr/>
        </p:nvGrpSpPr>
        <p:grpSpPr bwMode="auto">
          <a:xfrm>
            <a:off x="2965450" y="4038600"/>
            <a:ext cx="920750" cy="385763"/>
            <a:chOff x="1628" y="2928"/>
            <a:chExt cx="580" cy="243"/>
          </a:xfrm>
        </p:grpSpPr>
        <p:sp>
          <p:nvSpPr>
            <p:cNvPr id="38973" name="Oval 61"/>
            <p:cNvSpPr>
              <a:spLocks noChangeArrowheads="1"/>
            </p:cNvSpPr>
            <p:nvPr/>
          </p:nvSpPr>
          <p:spPr bwMode="auto">
            <a:xfrm>
              <a:off x="1990" y="2953"/>
              <a:ext cx="218" cy="218"/>
            </a:xfrm>
            <a:prstGeom prst="ellipse">
              <a:avLst/>
            </a:prstGeom>
            <a:solidFill>
              <a:schemeClr val="folHlink">
                <a:alpha val="53999"/>
              </a:schemeClr>
            </a:solidFill>
            <a:ln w="9525">
              <a:solidFill>
                <a:schemeClr val="tx1"/>
              </a:solidFill>
              <a:round/>
              <a:headEnd/>
              <a:tailEnd/>
            </a:ln>
          </p:spPr>
          <p:txBody>
            <a:bodyPr wrap="none" anchor="ctr"/>
            <a:lstStyle/>
            <a:p>
              <a:pPr algn="ctr"/>
              <a:r>
                <a:rPr lang="en-US" altLang="en-US" sz="1600" b="0" i="0"/>
                <a:t>35</a:t>
              </a:r>
            </a:p>
          </p:txBody>
        </p:sp>
        <p:sp>
          <p:nvSpPr>
            <p:cNvPr id="38974" name="Text Box 62"/>
            <p:cNvSpPr txBox="1">
              <a:spLocks noChangeArrowheads="1"/>
            </p:cNvSpPr>
            <p:nvPr/>
          </p:nvSpPr>
          <p:spPr bwMode="auto">
            <a:xfrm>
              <a:off x="1628" y="2928"/>
              <a:ext cx="362" cy="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r">
                <a:spcBef>
                  <a:spcPct val="50000"/>
                </a:spcBef>
              </a:pPr>
              <a:r>
                <a:rPr lang="en-US" altLang="en-US" sz="1400" b="0" i="0"/>
                <a:t>0</a:t>
              </a:r>
            </a:p>
          </p:txBody>
        </p:sp>
      </p:grpSp>
      <p:cxnSp>
        <p:nvCxnSpPr>
          <p:cNvPr id="38975" name="AutoShape 63"/>
          <p:cNvCxnSpPr>
            <a:cxnSpLocks noChangeShapeType="1"/>
            <a:stCxn id="38969" idx="7"/>
            <a:endCxn id="38953" idx="3"/>
          </p:cNvCxnSpPr>
          <p:nvPr/>
        </p:nvCxnSpPr>
        <p:spPr bwMode="auto">
          <a:xfrm flipV="1">
            <a:off x="3371850" y="3078163"/>
            <a:ext cx="682625" cy="44132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38976" name="Text Box 64"/>
          <p:cNvSpPr txBox="1">
            <a:spLocks noChangeArrowheads="1"/>
          </p:cNvSpPr>
          <p:nvPr/>
        </p:nvSpPr>
        <p:spPr bwMode="auto">
          <a:xfrm>
            <a:off x="304800" y="5181600"/>
            <a:ext cx="2895600" cy="457200"/>
          </a:xfrm>
          <a:prstGeom prst="rect">
            <a:avLst/>
          </a:prstGeom>
          <a:solidFill>
            <a:srgbClr val="FFFF00">
              <a:alpha val="52000"/>
            </a:srgbClr>
          </a:solidFill>
          <a:ln>
            <a:noFill/>
          </a:ln>
          <a:extLs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lang="en-US" altLang="en-US" b="0" i="0"/>
              <a:t>Exercise: insert 36</a:t>
            </a:r>
          </a:p>
        </p:txBody>
      </p:sp>
    </p:spTree>
    <p:extLst>
      <p:ext uri="{BB962C8B-B14F-4D97-AF65-F5344CB8AC3E}">
        <p14:creationId xmlns:p14="http://schemas.microsoft.com/office/powerpoint/2010/main" val="417482719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76200" y="228600"/>
            <a:ext cx="7848600" cy="1143000"/>
          </a:xfrm>
        </p:spPr>
        <p:txBody>
          <a:bodyPr/>
          <a:lstStyle/>
          <a:p>
            <a:pPr eaLnBrk="1" hangingPunct="1"/>
            <a:r>
              <a:rPr lang="en-US" altLang="zh-CN" smtClean="0">
                <a:ea typeface="宋体" pitchFamily="2" charset="-122"/>
              </a:rPr>
              <a:t>Insertion Analysis</a:t>
            </a:r>
          </a:p>
        </p:txBody>
      </p:sp>
      <p:sp>
        <p:nvSpPr>
          <p:cNvPr id="40963" name="Rectangle 3"/>
          <p:cNvSpPr>
            <a:spLocks noGrp="1" noChangeArrowheads="1"/>
          </p:cNvSpPr>
          <p:nvPr>
            <p:ph type="body" idx="1"/>
          </p:nvPr>
        </p:nvSpPr>
        <p:spPr>
          <a:xfrm>
            <a:off x="609600" y="1676400"/>
            <a:ext cx="8153400" cy="4800600"/>
          </a:xfrm>
        </p:spPr>
        <p:txBody>
          <a:bodyPr>
            <a:normAutofit fontScale="92500" lnSpcReduction="10000"/>
          </a:bodyPr>
          <a:lstStyle/>
          <a:p>
            <a:pPr eaLnBrk="1" hangingPunct="1">
              <a:lnSpc>
                <a:spcPct val="90000"/>
              </a:lnSpc>
            </a:pPr>
            <a:r>
              <a:rPr lang="en-US" altLang="zh-CN" smtClean="0">
                <a:ea typeface="宋体" pitchFamily="2" charset="-122"/>
              </a:rPr>
              <a:t>Insert the new key as a new leaf just as in ordinary binary search tree: </a:t>
            </a:r>
            <a:r>
              <a:rPr lang="en-US" altLang="zh-CN" smtClean="0">
                <a:solidFill>
                  <a:schemeClr val="hlink"/>
                </a:solidFill>
                <a:ea typeface="宋体" pitchFamily="2" charset="-122"/>
              </a:rPr>
              <a:t>O(logN)</a:t>
            </a:r>
          </a:p>
          <a:p>
            <a:pPr eaLnBrk="1" hangingPunct="1">
              <a:lnSpc>
                <a:spcPct val="90000"/>
              </a:lnSpc>
            </a:pPr>
            <a:r>
              <a:rPr lang="en-US" altLang="zh-CN" smtClean="0">
                <a:ea typeface="宋体" pitchFamily="2" charset="-122"/>
              </a:rPr>
              <a:t>Then trace the path </a:t>
            </a:r>
            <a:r>
              <a:rPr lang="en-US" altLang="zh-CN" smtClean="0">
                <a:solidFill>
                  <a:srgbClr val="00FF00"/>
                </a:solidFill>
                <a:ea typeface="宋体" pitchFamily="2" charset="-122"/>
              </a:rPr>
              <a:t>from the new leaf towards the root, for each node x</a:t>
            </a:r>
            <a:r>
              <a:rPr lang="en-US" altLang="zh-CN" smtClean="0">
                <a:ea typeface="宋体" pitchFamily="2" charset="-122"/>
              </a:rPr>
              <a:t> encountered: </a:t>
            </a:r>
            <a:r>
              <a:rPr lang="en-US" altLang="zh-CN" smtClean="0">
                <a:solidFill>
                  <a:schemeClr val="hlink"/>
                </a:solidFill>
                <a:ea typeface="宋体" pitchFamily="2" charset="-122"/>
              </a:rPr>
              <a:t>O(logN)</a:t>
            </a:r>
          </a:p>
          <a:p>
            <a:pPr lvl="1" eaLnBrk="1" hangingPunct="1">
              <a:lnSpc>
                <a:spcPct val="90000"/>
              </a:lnSpc>
            </a:pPr>
            <a:r>
              <a:rPr lang="en-US" altLang="zh-CN" smtClean="0">
                <a:ea typeface="宋体" pitchFamily="2" charset="-122"/>
              </a:rPr>
              <a:t>Check height difference: </a:t>
            </a:r>
            <a:r>
              <a:rPr lang="en-US" altLang="zh-CN" smtClean="0">
                <a:solidFill>
                  <a:schemeClr val="hlink"/>
                </a:solidFill>
                <a:ea typeface="宋体" pitchFamily="2" charset="-122"/>
              </a:rPr>
              <a:t>O(1)</a:t>
            </a:r>
          </a:p>
          <a:p>
            <a:pPr lvl="1" eaLnBrk="1" hangingPunct="1">
              <a:lnSpc>
                <a:spcPct val="90000"/>
              </a:lnSpc>
            </a:pPr>
            <a:r>
              <a:rPr lang="en-US" altLang="zh-CN" smtClean="0">
                <a:ea typeface="宋体" pitchFamily="2" charset="-122"/>
              </a:rPr>
              <a:t>If satisfies AVL property, proceed to next node: </a:t>
            </a:r>
            <a:r>
              <a:rPr lang="en-US" altLang="zh-CN" smtClean="0">
                <a:solidFill>
                  <a:schemeClr val="hlink"/>
                </a:solidFill>
                <a:ea typeface="宋体" pitchFamily="2" charset="-122"/>
              </a:rPr>
              <a:t>O(1)</a:t>
            </a:r>
          </a:p>
          <a:p>
            <a:pPr lvl="1" eaLnBrk="1" hangingPunct="1">
              <a:lnSpc>
                <a:spcPct val="90000"/>
              </a:lnSpc>
            </a:pPr>
            <a:r>
              <a:rPr lang="en-US" altLang="zh-CN" smtClean="0">
                <a:ea typeface="宋体" pitchFamily="2" charset="-122"/>
              </a:rPr>
              <a:t>If not, perform a rotation: </a:t>
            </a:r>
            <a:r>
              <a:rPr lang="en-US" altLang="zh-CN" smtClean="0">
                <a:solidFill>
                  <a:schemeClr val="hlink"/>
                </a:solidFill>
                <a:ea typeface="宋体" pitchFamily="2" charset="-122"/>
              </a:rPr>
              <a:t>O(1)</a:t>
            </a:r>
          </a:p>
          <a:p>
            <a:pPr eaLnBrk="1" hangingPunct="1">
              <a:lnSpc>
                <a:spcPct val="90000"/>
              </a:lnSpc>
            </a:pPr>
            <a:r>
              <a:rPr lang="en-US" altLang="zh-CN" smtClean="0">
                <a:ea typeface="宋体" pitchFamily="2" charset="-122"/>
              </a:rPr>
              <a:t>The insertion stops when</a:t>
            </a:r>
          </a:p>
          <a:p>
            <a:pPr lvl="1" eaLnBrk="1" hangingPunct="1">
              <a:lnSpc>
                <a:spcPct val="90000"/>
              </a:lnSpc>
            </a:pPr>
            <a:r>
              <a:rPr lang="en-US" altLang="zh-CN" smtClean="0">
                <a:ea typeface="宋体" pitchFamily="2" charset="-122"/>
              </a:rPr>
              <a:t>A rotation is performed</a:t>
            </a:r>
          </a:p>
          <a:p>
            <a:pPr lvl="1" eaLnBrk="1" hangingPunct="1">
              <a:lnSpc>
                <a:spcPct val="90000"/>
              </a:lnSpc>
            </a:pPr>
            <a:r>
              <a:rPr lang="en-US" altLang="zh-CN" smtClean="0">
                <a:ea typeface="宋体" pitchFamily="2" charset="-122"/>
              </a:rPr>
              <a:t>Or, we’ve checked all nodes in the path</a:t>
            </a:r>
          </a:p>
          <a:p>
            <a:pPr eaLnBrk="1" hangingPunct="1">
              <a:lnSpc>
                <a:spcPct val="90000"/>
              </a:lnSpc>
            </a:pPr>
            <a:r>
              <a:rPr lang="en-US" altLang="zh-CN" smtClean="0">
                <a:solidFill>
                  <a:schemeClr val="accent2"/>
                </a:solidFill>
                <a:ea typeface="宋体" pitchFamily="2" charset="-122"/>
              </a:rPr>
              <a:t>Time complexity for insertion O(logN)</a:t>
            </a:r>
          </a:p>
        </p:txBody>
      </p:sp>
      <p:sp>
        <p:nvSpPr>
          <p:cNvPr id="40964" name="Picture 4" descr="MCj03381580000[1]"/>
          <p:cNvSpPr>
            <a:spLocks noChangeAspect="1" noChangeArrowheads="1"/>
          </p:cNvSpPr>
          <p:nvPr/>
        </p:nvSpPr>
        <p:spPr bwMode="auto">
          <a:xfrm>
            <a:off x="6324600" y="0"/>
            <a:ext cx="1870075" cy="174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40965" name="Text Box 5"/>
          <p:cNvSpPr txBox="1">
            <a:spLocks noChangeArrowheads="1"/>
          </p:cNvSpPr>
          <p:nvPr/>
        </p:nvSpPr>
        <p:spPr bwMode="auto">
          <a:xfrm>
            <a:off x="8089900" y="620713"/>
            <a:ext cx="749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Char char="•"/>
              <a:defRPr sz="2400" b="1">
                <a:solidFill>
                  <a:schemeClr val="tx1"/>
                </a:solidFill>
                <a:latin typeface="Arial" pitchFamily="34" charset="0"/>
              </a:defRPr>
            </a:lvl1pPr>
            <a:lvl2pPr marL="742950" indent="-285750">
              <a:spcBef>
                <a:spcPct val="20000"/>
              </a:spcBef>
              <a:buSzPct val="100000"/>
              <a:buChar char="•"/>
              <a:defRPr sz="2000" b="1">
                <a:solidFill>
                  <a:srgbClr val="063DE8"/>
                </a:solidFill>
                <a:latin typeface="Arial" pitchFamily="34" charset="0"/>
              </a:defRPr>
            </a:lvl2pPr>
            <a:lvl3pPr marL="1143000" indent="-228600">
              <a:spcBef>
                <a:spcPct val="20000"/>
              </a:spcBef>
              <a:buSzPct val="100000"/>
              <a:buChar char="•"/>
              <a:defRPr sz="2000" b="1">
                <a:solidFill>
                  <a:schemeClr val="tx1"/>
                </a:solidFill>
                <a:latin typeface="Arial" pitchFamily="34" charset="0"/>
              </a:defRPr>
            </a:lvl3pPr>
            <a:lvl4pPr marL="1600200" indent="-228600">
              <a:spcBef>
                <a:spcPct val="20000"/>
              </a:spcBef>
              <a:buSzPct val="100000"/>
              <a:buChar char="•"/>
              <a:defRPr sz="2000" b="1">
                <a:solidFill>
                  <a:srgbClr val="063DE8"/>
                </a:solidFill>
                <a:latin typeface="Arial" pitchFamily="34" charset="0"/>
              </a:defRPr>
            </a:lvl4pPr>
            <a:lvl5pPr marL="2057400" indent="-228600">
              <a:spcBef>
                <a:spcPct val="20000"/>
              </a:spcBef>
              <a:buSzPct val="100000"/>
              <a:buChar char="•"/>
              <a:defRPr sz="2000" b="1">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b="1">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b="1">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b="1">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b="1">
                <a:solidFill>
                  <a:schemeClr val="tx1"/>
                </a:solidFill>
                <a:latin typeface="Times New Roman" pitchFamily="18" charset="0"/>
              </a:defRPr>
            </a:lvl9pPr>
          </a:lstStyle>
          <a:p>
            <a:pPr eaLnBrk="1" hangingPunct="1">
              <a:spcBef>
                <a:spcPct val="0"/>
              </a:spcBef>
              <a:buSzTx/>
              <a:buFont typeface="Monotype Sorts"/>
              <a:buNone/>
            </a:pPr>
            <a:r>
              <a:rPr lang="en-US" altLang="zh-CN" b="0">
                <a:ea typeface="宋体" pitchFamily="2" charset="-122"/>
                <a:cs typeface="Arial" pitchFamily="34" charset="0"/>
              </a:rPr>
              <a:t>logN</a:t>
            </a:r>
          </a:p>
        </p:txBody>
      </p:sp>
      <p:sp>
        <p:nvSpPr>
          <p:cNvPr id="40966" name="Line 6"/>
          <p:cNvSpPr>
            <a:spLocks noChangeShapeType="1"/>
          </p:cNvSpPr>
          <p:nvPr/>
        </p:nvSpPr>
        <p:spPr bwMode="auto">
          <a:xfrm>
            <a:off x="8229600" y="76200"/>
            <a:ext cx="304800" cy="0"/>
          </a:xfrm>
          <a:prstGeom prst="line">
            <a:avLst/>
          </a:prstGeom>
          <a:noFill/>
          <a:ln w="3175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0967" name="Line 7"/>
          <p:cNvSpPr>
            <a:spLocks noChangeShapeType="1"/>
          </p:cNvSpPr>
          <p:nvPr/>
        </p:nvSpPr>
        <p:spPr bwMode="auto">
          <a:xfrm>
            <a:off x="8229600" y="1524000"/>
            <a:ext cx="304800" cy="0"/>
          </a:xfrm>
          <a:prstGeom prst="line">
            <a:avLst/>
          </a:prstGeom>
          <a:noFill/>
          <a:ln w="3175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0968" name="Line 8"/>
          <p:cNvSpPr>
            <a:spLocks noChangeShapeType="1"/>
          </p:cNvSpPr>
          <p:nvPr/>
        </p:nvSpPr>
        <p:spPr bwMode="auto">
          <a:xfrm flipV="1">
            <a:off x="8382000" y="152400"/>
            <a:ext cx="0" cy="533400"/>
          </a:xfrm>
          <a:prstGeom prst="line">
            <a:avLst/>
          </a:prstGeom>
          <a:noFill/>
          <a:ln w="31750">
            <a:solidFill>
              <a:schemeClr val="folHlink"/>
            </a:solidFill>
            <a:round/>
            <a:headEnd type="none" w="sm" len="sm"/>
            <a:tailEnd type="stealth" w="lg" len="lg"/>
          </a:ln>
          <a:extLst>
            <a:ext uri="{909E8E84-426E-40DD-AFC4-6F175D3DCCD1}">
              <a14:hiddenFill xmlns:a14="http://schemas.microsoft.com/office/drawing/2010/main">
                <a:noFill/>
              </a14:hiddenFill>
            </a:ext>
          </a:extLst>
        </p:spPr>
        <p:txBody>
          <a:bodyPr/>
          <a:lstStyle/>
          <a:p>
            <a:endParaRPr lang="en-US"/>
          </a:p>
        </p:txBody>
      </p:sp>
      <p:sp>
        <p:nvSpPr>
          <p:cNvPr id="40969" name="Line 9"/>
          <p:cNvSpPr>
            <a:spLocks noChangeShapeType="1"/>
          </p:cNvSpPr>
          <p:nvPr/>
        </p:nvSpPr>
        <p:spPr bwMode="auto">
          <a:xfrm>
            <a:off x="8382000" y="990600"/>
            <a:ext cx="0" cy="533400"/>
          </a:xfrm>
          <a:prstGeom prst="line">
            <a:avLst/>
          </a:prstGeom>
          <a:noFill/>
          <a:ln w="31750">
            <a:solidFill>
              <a:schemeClr val="folHlink"/>
            </a:solidFill>
            <a:round/>
            <a:headEnd type="none" w="sm" len="sm"/>
            <a:tailEnd type="stealth" w="lg" len="lg"/>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77964719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429000" y="609600"/>
            <a:ext cx="3129575" cy="369332"/>
          </a:xfrm>
          <a:prstGeom prst="rect">
            <a:avLst/>
          </a:prstGeom>
        </p:spPr>
        <p:txBody>
          <a:bodyPr wrap="none">
            <a:spAutoFit/>
          </a:bodyPr>
          <a:lstStyle/>
          <a:p>
            <a:r>
              <a:rPr lang="en-US" b="1" dirty="0"/>
              <a:t>Deletion Operation in AVL Tree</a:t>
            </a:r>
          </a:p>
        </p:txBody>
      </p:sp>
      <p:sp>
        <p:nvSpPr>
          <p:cNvPr id="4" name="Rectangle 3"/>
          <p:cNvSpPr/>
          <p:nvPr/>
        </p:nvSpPr>
        <p:spPr>
          <a:xfrm>
            <a:off x="76200" y="1371600"/>
            <a:ext cx="8534400" cy="1200329"/>
          </a:xfrm>
          <a:prstGeom prst="rect">
            <a:avLst/>
          </a:prstGeom>
        </p:spPr>
        <p:txBody>
          <a:bodyPr wrap="square">
            <a:spAutoFit/>
          </a:bodyPr>
          <a:lstStyle/>
          <a:p>
            <a:pPr algn="just"/>
            <a:r>
              <a:rPr lang="en-US" dirty="0"/>
              <a:t>In an AVL Tree, the deletion operation is similar to deletion operation in BST. But after every deletion operation we need to check with the Balance Factor condition. If the tree is balanced after deletion then go for next operation otherwise perform the suitable rotation to make the tree Balanced.</a:t>
            </a:r>
          </a:p>
        </p:txBody>
      </p:sp>
    </p:spTree>
    <p:extLst>
      <p:ext uri="{BB962C8B-B14F-4D97-AF65-F5344CB8AC3E}">
        <p14:creationId xmlns:p14="http://schemas.microsoft.com/office/powerpoint/2010/main" val="235326716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609600" y="-76200"/>
            <a:ext cx="7848600" cy="1143000"/>
          </a:xfrm>
        </p:spPr>
        <p:txBody>
          <a:bodyPr/>
          <a:lstStyle/>
          <a:p>
            <a:pPr eaLnBrk="1" hangingPunct="1"/>
            <a:r>
              <a:rPr lang="en-US" altLang="zh-CN" smtClean="0">
                <a:ea typeface="宋体" pitchFamily="2" charset="-122"/>
              </a:rPr>
              <a:t>Deletion from AVL Tree</a:t>
            </a:r>
          </a:p>
        </p:txBody>
      </p:sp>
      <p:sp>
        <p:nvSpPr>
          <p:cNvPr id="41987" name="Rectangle 3"/>
          <p:cNvSpPr>
            <a:spLocks noGrp="1" noChangeArrowheads="1"/>
          </p:cNvSpPr>
          <p:nvPr>
            <p:ph type="body" idx="1"/>
          </p:nvPr>
        </p:nvSpPr>
        <p:spPr>
          <a:xfrm>
            <a:off x="609600" y="1219200"/>
            <a:ext cx="7848600" cy="5486400"/>
          </a:xfrm>
        </p:spPr>
        <p:txBody>
          <a:bodyPr>
            <a:normAutofit fontScale="92500" lnSpcReduction="10000"/>
          </a:bodyPr>
          <a:lstStyle/>
          <a:p>
            <a:pPr eaLnBrk="1" hangingPunct="1"/>
            <a:r>
              <a:rPr lang="en-US" altLang="zh-CN" smtClean="0">
                <a:ea typeface="宋体" pitchFamily="2" charset="-122"/>
              </a:rPr>
              <a:t>Delete a node x as in ordinary binary search tree</a:t>
            </a:r>
          </a:p>
          <a:p>
            <a:pPr lvl="1" eaLnBrk="1" hangingPunct="1"/>
            <a:r>
              <a:rPr lang="en-US" altLang="zh-CN" smtClean="0">
                <a:ea typeface="宋体" pitchFamily="2" charset="-122"/>
              </a:rPr>
              <a:t>Note that the last (deepest) node in a tree deleted is a </a:t>
            </a:r>
            <a:r>
              <a:rPr lang="en-US" altLang="zh-CN" smtClean="0">
                <a:solidFill>
                  <a:srgbClr val="00FF00"/>
                </a:solidFill>
                <a:ea typeface="宋体" pitchFamily="2" charset="-122"/>
              </a:rPr>
              <a:t>leaf</a:t>
            </a:r>
            <a:r>
              <a:rPr lang="en-US" altLang="zh-CN" smtClean="0">
                <a:ea typeface="宋体" pitchFamily="2" charset="-122"/>
              </a:rPr>
              <a:t> or </a:t>
            </a:r>
            <a:r>
              <a:rPr lang="en-US" altLang="zh-CN" smtClean="0">
                <a:solidFill>
                  <a:srgbClr val="00FF00"/>
                </a:solidFill>
                <a:ea typeface="宋体" pitchFamily="2" charset="-122"/>
              </a:rPr>
              <a:t>a node with one child</a:t>
            </a:r>
            <a:endParaRPr lang="en-US" altLang="zh-CN" smtClean="0">
              <a:ea typeface="宋体" pitchFamily="2" charset="-122"/>
            </a:endParaRPr>
          </a:p>
          <a:p>
            <a:pPr eaLnBrk="1" hangingPunct="1"/>
            <a:r>
              <a:rPr lang="en-US" altLang="zh-CN" smtClean="0">
                <a:ea typeface="宋体" pitchFamily="2" charset="-122"/>
              </a:rPr>
              <a:t>Then trace the path from</a:t>
            </a:r>
            <a:r>
              <a:rPr lang="en-US" altLang="zh-CN" smtClean="0">
                <a:solidFill>
                  <a:srgbClr val="FFFF00"/>
                </a:solidFill>
                <a:ea typeface="宋体" pitchFamily="2" charset="-122"/>
              </a:rPr>
              <a:t> </a:t>
            </a:r>
            <a:r>
              <a:rPr lang="en-US" altLang="zh-CN" smtClean="0">
                <a:solidFill>
                  <a:srgbClr val="00FF00"/>
                </a:solidFill>
                <a:ea typeface="宋体" pitchFamily="2" charset="-122"/>
              </a:rPr>
              <a:t>the new leaf towards the root</a:t>
            </a:r>
          </a:p>
          <a:p>
            <a:pPr eaLnBrk="1" hangingPunct="1"/>
            <a:r>
              <a:rPr lang="en-US" altLang="zh-CN" smtClean="0">
                <a:ea typeface="宋体" pitchFamily="2" charset="-122"/>
              </a:rPr>
              <a:t>For each node x encountered, check if heights of left(x) and right(x) differ by at most 1. </a:t>
            </a:r>
          </a:p>
          <a:p>
            <a:pPr lvl="1" eaLnBrk="1" hangingPunct="1"/>
            <a:r>
              <a:rPr lang="en-US" altLang="zh-CN" smtClean="0">
                <a:ea typeface="宋体" pitchFamily="2" charset="-122"/>
              </a:rPr>
              <a:t>If </a:t>
            </a:r>
            <a:r>
              <a:rPr lang="en-US" altLang="zh-CN" smtClean="0">
                <a:solidFill>
                  <a:schemeClr val="tx2"/>
                </a:solidFill>
                <a:ea typeface="宋体" pitchFamily="2" charset="-122"/>
              </a:rPr>
              <a:t>yes</a:t>
            </a:r>
            <a:r>
              <a:rPr lang="en-US" altLang="zh-CN" smtClean="0">
                <a:ea typeface="宋体" pitchFamily="2" charset="-122"/>
              </a:rPr>
              <a:t>, </a:t>
            </a:r>
            <a:r>
              <a:rPr lang="en-US" altLang="zh-CN" smtClean="0">
                <a:solidFill>
                  <a:schemeClr val="hlink"/>
                </a:solidFill>
                <a:ea typeface="宋体" pitchFamily="2" charset="-122"/>
              </a:rPr>
              <a:t>proceed to parent(x)</a:t>
            </a:r>
            <a:r>
              <a:rPr lang="en-US" altLang="zh-CN" smtClean="0">
                <a:ea typeface="宋体" pitchFamily="2" charset="-122"/>
              </a:rPr>
              <a:t>  </a:t>
            </a:r>
          </a:p>
          <a:p>
            <a:pPr lvl="1" eaLnBrk="1" hangingPunct="1"/>
            <a:r>
              <a:rPr lang="en-US" altLang="zh-CN" smtClean="0">
                <a:ea typeface="宋体" pitchFamily="2" charset="-122"/>
              </a:rPr>
              <a:t>If </a:t>
            </a:r>
            <a:r>
              <a:rPr lang="en-US" altLang="zh-CN" smtClean="0">
                <a:solidFill>
                  <a:schemeClr val="tx2"/>
                </a:solidFill>
                <a:ea typeface="宋体" pitchFamily="2" charset="-122"/>
              </a:rPr>
              <a:t>no</a:t>
            </a:r>
            <a:r>
              <a:rPr lang="en-US" altLang="zh-CN" smtClean="0">
                <a:ea typeface="宋体" pitchFamily="2" charset="-122"/>
              </a:rPr>
              <a:t>, perform an appropriate </a:t>
            </a:r>
            <a:r>
              <a:rPr lang="en-US" altLang="zh-CN" smtClean="0">
                <a:solidFill>
                  <a:schemeClr val="hlink"/>
                </a:solidFill>
                <a:ea typeface="宋体" pitchFamily="2" charset="-122"/>
              </a:rPr>
              <a:t>rotation at </a:t>
            </a:r>
            <a:r>
              <a:rPr lang="en-US" altLang="zh-CN" smtClean="0">
                <a:solidFill>
                  <a:srgbClr val="FF0000"/>
                </a:solidFill>
                <a:ea typeface="宋体" pitchFamily="2" charset="-122"/>
              </a:rPr>
              <a:t>x </a:t>
            </a:r>
            <a:r>
              <a:rPr lang="en-US" altLang="zh-CN" sz="3200" smtClean="0">
                <a:solidFill>
                  <a:srgbClr val="FF0000"/>
                </a:solidFill>
                <a:ea typeface="宋体" pitchFamily="2" charset="-122"/>
              </a:rPr>
              <a:t>Continue to trace the path until we reach the root</a:t>
            </a:r>
          </a:p>
        </p:txBody>
      </p:sp>
    </p:spTree>
    <p:extLst>
      <p:ext uri="{BB962C8B-B14F-4D97-AF65-F5344CB8AC3E}">
        <p14:creationId xmlns:p14="http://schemas.microsoft.com/office/powerpoint/2010/main" val="64986043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sp>
        <p:nvSpPr>
          <p:cNvPr id="4" name="Rectangle 3"/>
          <p:cNvSpPr/>
          <p:nvPr/>
        </p:nvSpPr>
        <p:spPr>
          <a:xfrm>
            <a:off x="533400" y="2413338"/>
            <a:ext cx="8077200" cy="1477328"/>
          </a:xfrm>
          <a:prstGeom prst="rect">
            <a:avLst/>
          </a:prstGeom>
        </p:spPr>
        <p:txBody>
          <a:bodyPr wrap="square">
            <a:spAutoFit/>
          </a:bodyPr>
          <a:lstStyle/>
          <a:p>
            <a:r>
              <a:rPr lang="en-US" dirty="0"/>
              <a:t>As with insertions, a node </a:t>
            </a:r>
            <a:r>
              <a:rPr lang="en-US" dirty="0" smtClean="0"/>
              <a:t>can be  </a:t>
            </a:r>
            <a:r>
              <a:rPr lang="en-US" dirty="0"/>
              <a:t>deleted </a:t>
            </a:r>
            <a:r>
              <a:rPr lang="en-US" dirty="0" smtClean="0"/>
              <a:t>form AVL just like BST tree. </a:t>
            </a:r>
            <a:r>
              <a:rPr lang="en-US" dirty="0"/>
              <a:t>But, just like insertion, deletion can cause an imbalance, which will need to be fixed by applying one of the four rotations</a:t>
            </a:r>
            <a:r>
              <a:rPr lang="en-US" dirty="0" smtClean="0"/>
              <a:t>.</a:t>
            </a:r>
          </a:p>
          <a:p>
            <a:endParaRPr lang="en-US" dirty="0"/>
          </a:p>
          <a:p>
            <a:r>
              <a:rPr lang="en-US" dirty="0"/>
              <a:t>For example, assume the following tree:</a:t>
            </a:r>
          </a:p>
        </p:txBody>
      </p:sp>
    </p:spTree>
    <p:extLst>
      <p:ext uri="{BB962C8B-B14F-4D97-AF65-F5344CB8AC3E}">
        <p14:creationId xmlns:p14="http://schemas.microsoft.com/office/powerpoint/2010/main" val="30887286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55000" lnSpcReduction="20000"/>
          </a:bodyPr>
          <a:lstStyle/>
          <a:p>
            <a:r>
              <a:rPr lang="en-US" dirty="0"/>
              <a:t>If we identify the parent of the actual node that was deleted, then:</a:t>
            </a:r>
          </a:p>
          <a:p>
            <a:r>
              <a:rPr lang="en-US" dirty="0"/>
              <a:t>If the left child was deleted, the balance factor at the parent increased </a:t>
            </a:r>
            <a:r>
              <a:rPr lang="en-US" dirty="0" smtClean="0"/>
              <a:t>by </a:t>
            </a:r>
            <a:r>
              <a:rPr lang="en-US" dirty="0"/>
              <a:t>1.</a:t>
            </a:r>
          </a:p>
          <a:p>
            <a:r>
              <a:rPr lang="en-US" dirty="0"/>
              <a:t>If the right child was deleted, the balance factor at the parent decreased by 1.</a:t>
            </a:r>
          </a:p>
          <a:p>
            <a:r>
              <a:rPr lang="en-US" dirty="0"/>
              <a:t>The change in balance factor can move up the tree from the deleted node's parent all the way to the root. Therefore, it's possible that a node's balance factor could become +2 or -2. If this happens, then balance needs to be restored</a:t>
            </a:r>
            <a:r>
              <a:rPr lang="en-US" dirty="0" smtClean="0"/>
              <a:t>.</a:t>
            </a:r>
          </a:p>
          <a:p>
            <a:pPr marL="0" indent="0">
              <a:buNone/>
            </a:pPr>
            <a:endParaRPr lang="en-US" dirty="0"/>
          </a:p>
          <a:p>
            <a:r>
              <a:rPr lang="en-US" dirty="0"/>
              <a:t>Let A be the node where balance must be restored. If the deleted node was in A's right subtree, then let B be the root of A's left subtree. Then</a:t>
            </a:r>
            <a:r>
              <a:rPr lang="en-US" dirty="0" smtClean="0"/>
              <a:t>:</a:t>
            </a:r>
          </a:p>
          <a:p>
            <a:r>
              <a:rPr lang="en-US" b="1" dirty="0" smtClean="0"/>
              <a:t>B </a:t>
            </a:r>
            <a:r>
              <a:rPr lang="en-US" b="1" dirty="0"/>
              <a:t>has balance factor 0 or </a:t>
            </a:r>
            <a:r>
              <a:rPr lang="en-US" b="1" dirty="0" smtClean="0"/>
              <a:t>-1 </a:t>
            </a:r>
            <a:r>
              <a:rPr lang="en-US" b="1" dirty="0"/>
              <a:t>after deletion</a:t>
            </a:r>
            <a:r>
              <a:rPr lang="en-US" dirty="0"/>
              <a:t> -- then perform a single right rotation</a:t>
            </a:r>
          </a:p>
          <a:p>
            <a:r>
              <a:rPr lang="en-US" b="1" dirty="0"/>
              <a:t>B has balance factor </a:t>
            </a:r>
            <a:r>
              <a:rPr lang="en-US" b="1" dirty="0" smtClean="0"/>
              <a:t> +1 </a:t>
            </a:r>
            <a:r>
              <a:rPr lang="en-US" b="1" dirty="0"/>
              <a:t>after deletion</a:t>
            </a:r>
            <a:r>
              <a:rPr lang="en-US" dirty="0"/>
              <a:t> -- then perform a left-right rotation</a:t>
            </a:r>
          </a:p>
          <a:p>
            <a:endParaRPr lang="en-US" dirty="0" smtClean="0"/>
          </a:p>
          <a:p>
            <a:r>
              <a:rPr lang="en-US" dirty="0" smtClean="0"/>
              <a:t>If </a:t>
            </a:r>
            <a:r>
              <a:rPr lang="en-US" dirty="0"/>
              <a:t>the deleted node was in A's left subtree, then let B be the root of A's right subtree. Then:</a:t>
            </a:r>
          </a:p>
          <a:p>
            <a:r>
              <a:rPr lang="en-US" b="1" dirty="0"/>
              <a:t>B has balance factor 0 or </a:t>
            </a:r>
            <a:r>
              <a:rPr lang="en-US" b="1" dirty="0" smtClean="0"/>
              <a:t>+1 </a:t>
            </a:r>
            <a:r>
              <a:rPr lang="en-US" b="1" dirty="0"/>
              <a:t>after deletion</a:t>
            </a:r>
            <a:r>
              <a:rPr lang="en-US" dirty="0"/>
              <a:t> -- then perform a single left rotation</a:t>
            </a:r>
          </a:p>
          <a:p>
            <a:r>
              <a:rPr lang="en-US" b="1" dirty="0"/>
              <a:t>B has balance factor -</a:t>
            </a:r>
            <a:r>
              <a:rPr lang="en-US" b="1" dirty="0" smtClean="0"/>
              <a:t>1 </a:t>
            </a:r>
            <a:r>
              <a:rPr lang="en-US" b="1" dirty="0"/>
              <a:t>after deletion</a:t>
            </a:r>
            <a:r>
              <a:rPr lang="en-US" dirty="0"/>
              <a:t> -- then perform a right-left rotation</a:t>
            </a:r>
          </a:p>
          <a:p>
            <a:endParaRPr lang="en-US" dirty="0"/>
          </a:p>
        </p:txBody>
      </p:sp>
    </p:spTree>
    <p:extLst>
      <p:ext uri="{BB962C8B-B14F-4D97-AF65-F5344CB8AC3E}">
        <p14:creationId xmlns:p14="http://schemas.microsoft.com/office/powerpoint/2010/main" val="27138638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4"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29043" r="58879" b="30761"/>
          <a:stretch/>
        </p:blipFill>
        <p:spPr bwMode="auto">
          <a:xfrm>
            <a:off x="213928" y="76200"/>
            <a:ext cx="8320472" cy="45749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272197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098"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0523" r="58050" b="15188"/>
          <a:stretch/>
        </p:blipFill>
        <p:spPr bwMode="auto">
          <a:xfrm>
            <a:off x="0" y="178037"/>
            <a:ext cx="6705600" cy="66037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0"/>
            <a:ext cx="3276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3276600"/>
            <a:ext cx="32004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5181600" y="3200400"/>
            <a:ext cx="3886200" cy="2308324"/>
          </a:xfrm>
          <a:prstGeom prst="rect">
            <a:avLst/>
          </a:prstGeom>
        </p:spPr>
        <p:txBody>
          <a:bodyPr wrap="square">
            <a:spAutoFit/>
          </a:bodyPr>
          <a:lstStyle/>
          <a:p>
            <a:r>
              <a:rPr lang="en-US" dirty="0"/>
              <a:t>If the deleted node was in A's left subtree, then let B be the root of A's right subtree. Then:</a:t>
            </a:r>
          </a:p>
          <a:p>
            <a:r>
              <a:rPr lang="en-US" b="1" dirty="0" smtClean="0"/>
              <a:t>B has balance factor 0 or +1 after deletion</a:t>
            </a:r>
            <a:r>
              <a:rPr lang="en-US" dirty="0" smtClean="0"/>
              <a:t> -- then perform a single left rotation</a:t>
            </a:r>
            <a:endParaRPr lang="en-US" dirty="0"/>
          </a:p>
          <a:p>
            <a:r>
              <a:rPr lang="en-US" b="1" dirty="0" smtClean="0"/>
              <a:t> </a:t>
            </a:r>
            <a:endParaRPr lang="en-US" dirty="0"/>
          </a:p>
          <a:p>
            <a:endParaRPr lang="en-US" dirty="0"/>
          </a:p>
        </p:txBody>
      </p:sp>
      <p:cxnSp>
        <p:nvCxnSpPr>
          <p:cNvPr id="5" name="Straight Arrow Connector 4"/>
          <p:cNvCxnSpPr/>
          <p:nvPr/>
        </p:nvCxnSpPr>
        <p:spPr>
          <a:xfrm flipH="1">
            <a:off x="4800600" y="4114800"/>
            <a:ext cx="228600" cy="381000"/>
          </a:xfrm>
          <a:prstGeom prst="straightConnector1">
            <a:avLst/>
          </a:prstGeom>
          <a:ln w="57150" cmpd="sng">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V="1">
            <a:off x="4648200" y="5638800"/>
            <a:ext cx="381000" cy="304800"/>
          </a:xfrm>
          <a:prstGeom prst="straightConnector1">
            <a:avLst/>
          </a:prstGeom>
          <a:ln w="57150" cmpd="sng">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4495800" y="4126468"/>
            <a:ext cx="533400" cy="369332"/>
          </a:xfrm>
          <a:prstGeom prst="rect">
            <a:avLst/>
          </a:prstGeom>
          <a:noFill/>
        </p:spPr>
        <p:txBody>
          <a:bodyPr wrap="square" rtlCol="0">
            <a:spAutoFit/>
          </a:bodyPr>
          <a:lstStyle/>
          <a:p>
            <a:r>
              <a:rPr lang="en-US" dirty="0" smtClean="0"/>
              <a:t>A</a:t>
            </a:r>
            <a:endParaRPr lang="en-US" dirty="0"/>
          </a:p>
        </p:txBody>
      </p:sp>
      <p:sp>
        <p:nvSpPr>
          <p:cNvPr id="13" name="TextBox 12"/>
          <p:cNvSpPr txBox="1"/>
          <p:nvPr/>
        </p:nvSpPr>
        <p:spPr>
          <a:xfrm>
            <a:off x="4286250" y="5802868"/>
            <a:ext cx="419100" cy="369332"/>
          </a:xfrm>
          <a:prstGeom prst="rect">
            <a:avLst/>
          </a:prstGeom>
          <a:noFill/>
        </p:spPr>
        <p:txBody>
          <a:bodyPr wrap="square" rtlCol="0">
            <a:spAutoFit/>
          </a:bodyPr>
          <a:lstStyle/>
          <a:p>
            <a:r>
              <a:rPr lang="en-US" dirty="0" smtClean="0"/>
              <a:t>B</a:t>
            </a:r>
            <a:endParaRPr lang="en-US" dirty="0"/>
          </a:p>
        </p:txBody>
      </p:sp>
    </p:spTree>
    <p:extLst>
      <p:ext uri="{BB962C8B-B14F-4D97-AF65-F5344CB8AC3E}">
        <p14:creationId xmlns:p14="http://schemas.microsoft.com/office/powerpoint/2010/main" val="23200090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122"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0733" r="59471" b="17292"/>
          <a:stretch/>
        </p:blipFill>
        <p:spPr bwMode="auto">
          <a:xfrm>
            <a:off x="548922" y="76200"/>
            <a:ext cx="6339830" cy="63329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837648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6146"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1365" r="56984" b="12031"/>
          <a:stretch/>
        </p:blipFill>
        <p:spPr bwMode="auto">
          <a:xfrm>
            <a:off x="0" y="0"/>
            <a:ext cx="6715636" cy="6848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5867400" y="102810"/>
            <a:ext cx="3200400" cy="2585323"/>
          </a:xfrm>
          <a:prstGeom prst="rect">
            <a:avLst/>
          </a:prstGeom>
        </p:spPr>
        <p:txBody>
          <a:bodyPr wrap="square">
            <a:spAutoFit/>
          </a:bodyPr>
          <a:lstStyle/>
          <a:p>
            <a:r>
              <a:rPr lang="en-US" dirty="0"/>
              <a:t>Let A be the node where balance must be restored. If the deleted node was in A's right subtree, then let B be the root of A's left subtree. Then:</a:t>
            </a:r>
          </a:p>
          <a:p>
            <a:r>
              <a:rPr lang="en-US" b="1" dirty="0" smtClean="0"/>
              <a:t> </a:t>
            </a:r>
            <a:endParaRPr lang="en-US" dirty="0"/>
          </a:p>
          <a:p>
            <a:r>
              <a:rPr lang="en-US" b="1" dirty="0"/>
              <a:t>B has balance factor  +1 after deletion</a:t>
            </a:r>
            <a:r>
              <a:rPr lang="en-US" dirty="0"/>
              <a:t> -- then perform a left-right rotation</a:t>
            </a:r>
          </a:p>
        </p:txBody>
      </p:sp>
      <p:sp>
        <p:nvSpPr>
          <p:cNvPr id="5" name="TextBox 4"/>
          <p:cNvSpPr txBox="1"/>
          <p:nvPr/>
        </p:nvSpPr>
        <p:spPr>
          <a:xfrm>
            <a:off x="590550" y="669667"/>
            <a:ext cx="533400" cy="369332"/>
          </a:xfrm>
          <a:prstGeom prst="rect">
            <a:avLst/>
          </a:prstGeom>
          <a:noFill/>
        </p:spPr>
        <p:txBody>
          <a:bodyPr wrap="square" rtlCol="0">
            <a:spAutoFit/>
          </a:bodyPr>
          <a:lstStyle/>
          <a:p>
            <a:r>
              <a:rPr lang="en-US" dirty="0" smtClean="0"/>
              <a:t>A</a:t>
            </a:r>
            <a:endParaRPr lang="en-US" dirty="0"/>
          </a:p>
        </p:txBody>
      </p:sp>
      <p:cxnSp>
        <p:nvCxnSpPr>
          <p:cNvPr id="6" name="Straight Arrow Connector 5"/>
          <p:cNvCxnSpPr/>
          <p:nvPr/>
        </p:nvCxnSpPr>
        <p:spPr>
          <a:xfrm>
            <a:off x="838200" y="946666"/>
            <a:ext cx="304800" cy="184666"/>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H="1">
            <a:off x="590550" y="1981200"/>
            <a:ext cx="495300" cy="0"/>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143000" y="1796534"/>
            <a:ext cx="533400" cy="369332"/>
          </a:xfrm>
          <a:prstGeom prst="rect">
            <a:avLst/>
          </a:prstGeom>
          <a:noFill/>
        </p:spPr>
        <p:txBody>
          <a:bodyPr wrap="square" rtlCol="0">
            <a:spAutoFit/>
          </a:bodyPr>
          <a:lstStyle/>
          <a:p>
            <a:r>
              <a:rPr lang="en-US" dirty="0" smtClean="0"/>
              <a:t>B</a:t>
            </a:r>
            <a:endParaRPr lang="en-US" dirty="0"/>
          </a:p>
        </p:txBody>
      </p:sp>
    </p:spTree>
    <p:extLst>
      <p:ext uri="{BB962C8B-B14F-4D97-AF65-F5344CB8AC3E}">
        <p14:creationId xmlns:p14="http://schemas.microsoft.com/office/powerpoint/2010/main" val="23331456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2976</TotalTime>
  <Words>2439</Words>
  <Application>Microsoft Office PowerPoint</Application>
  <PresentationFormat>On-screen Show (4:3)</PresentationFormat>
  <Paragraphs>798</Paragraphs>
  <Slides>48</Slides>
  <Notes>18</Notes>
  <HiddenSlides>0</HiddenSlides>
  <MMClips>0</MMClips>
  <ScaleCrop>false</ScaleCrop>
  <HeadingPairs>
    <vt:vector size="4" baseType="variant">
      <vt:variant>
        <vt:lpstr>Theme</vt:lpstr>
      </vt:variant>
      <vt:variant>
        <vt:i4>1</vt:i4>
      </vt:variant>
      <vt:variant>
        <vt:lpstr>Slide Titles</vt:lpstr>
      </vt:variant>
      <vt:variant>
        <vt:i4>48</vt:i4>
      </vt:variant>
    </vt:vector>
  </HeadingPairs>
  <TitlesOfParts>
    <vt:vector size="49" baseType="lpstr">
      <vt:lpstr>Office Theme</vt:lpstr>
      <vt:lpstr>PowerPoint Presentation</vt:lpstr>
      <vt:lpstr>AVL Search Trees</vt:lpstr>
      <vt:lpstr>What is an AVL Tree?</vt:lpstr>
      <vt:lpstr>Why AVL Trees?</vt:lpstr>
      <vt:lpstr>Rebalancing</vt:lpstr>
      <vt:lpstr>What is a Rotation?</vt:lpstr>
      <vt:lpstr>What is a Rotation? (contd.)</vt:lpstr>
      <vt:lpstr>Single Right Rotation </vt:lpstr>
      <vt:lpstr>Single Left Rotation</vt:lpstr>
      <vt:lpstr>Single Rotation</vt:lpstr>
      <vt:lpstr>Double Rotation</vt:lpstr>
      <vt:lpstr>PowerPoint Presentation</vt:lpstr>
      <vt:lpstr>PowerPoint Presentation</vt:lpstr>
      <vt:lpstr>Example</vt:lpstr>
      <vt:lpstr>Insertion in an AVL tree</vt:lpstr>
      <vt:lpstr>Insertion in an AVL tree</vt:lpstr>
      <vt:lpstr>Insertion in an AVL tree</vt:lpstr>
      <vt:lpstr>Double Right-Left Rotation</vt:lpstr>
      <vt:lpstr>Double Left-Right Rotation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Insertion Analysis</vt:lpstr>
      <vt:lpstr>PowerPoint Presentation</vt:lpstr>
      <vt:lpstr>Deletion from AVL Tree</vt:lpstr>
      <vt:lpstr>PowerPoint Presentation</vt:lpstr>
      <vt:lpstr>PowerPoint Presentation</vt:lpstr>
      <vt:lpstr>PowerPoint Presentation</vt:lpstr>
      <vt:lpstr>PowerPoint Presentation</vt:lpstr>
      <vt:lpstr>PowerPoint Presentation</vt:lpstr>
      <vt:lpstr>PowerPoint Presentation</vt:lpstr>
    </vt:vector>
  </TitlesOfParts>
  <Company>MyCompanyName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MyUserName</dc:creator>
  <cp:lastModifiedBy>MyUserName</cp:lastModifiedBy>
  <cp:revision>37</cp:revision>
  <dcterms:created xsi:type="dcterms:W3CDTF">2017-03-10T08:02:55Z</dcterms:created>
  <dcterms:modified xsi:type="dcterms:W3CDTF">2017-05-22T05:18:11Z</dcterms:modified>
</cp:coreProperties>
</file>