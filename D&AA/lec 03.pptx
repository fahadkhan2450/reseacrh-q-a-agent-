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6" r:id="rId2"/>
    <p:sldId id="353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77"/>
  </p:normalViewPr>
  <p:slideViewPr>
    <p:cSldViewPr>
      <p:cViewPr varScale="1">
        <p:scale>
          <a:sx n="101" d="100"/>
          <a:sy n="101" d="100"/>
        </p:scale>
        <p:origin x="175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5-20T07:37:33.8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10840 10170 0,'25'0'110,"0"0"-95,-1 0 1,1 0-1,0 0 1,0 0-16,0 0 16,-1 0-1,1 0-15,25 0 16,-25 0-16,24 0 16,50 0-1,-24 0-15,-50 0 16,49 0-16,-49 0 0,49 0 15,-24 0 1,-25 0 0</inkml:trace>
  <inkml:trace contextRef="#ctx0" brushRef="#br0" timeOffset="6039.91">1563 3200 0,'0'0'0,"25"25"15,0-1-15,49 51 16,25-26-16,-99-24 15,50 0-15,-25-25 16,24 25 0,-49 0-16,25-25 0,0 0 15,0 24-15,49-24 16,1 0-16,49 0 16,24 0-16,51 0 15,24 0 1,0 0-16,1 0 0,-1 0 15,25 0 1,-25 0-16,0 0 0,-49 0 16,0 50-16,-125-25 15,26-25 1,-1 0-16,-24 25 16,-26-25-1</inkml:trace>
  <inkml:trace contextRef="#ctx0" brushRef="#br0" timeOffset="7536.21">7665 3522 0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5-20T08:10:02.1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10592 13271 0,'25'0'188,"0"0"-172,-1 0 15,1 0 94,0 0-125,0 0 15,24 49 1,-24-49 0,0 0-16,25 0 15,-1 0-15,1 25 16,-25 0-16,24-25 16</inkml:trace>
  <inkml:trace contextRef="#ctx0" brushRef="#br0" timeOffset="2174.23">9749 15007 0,'-25'0'15,"50"0"16,49 0-15,0 0-16,1 0 16,-1 0-16,-24 0 15,-1 0-15,1 0 16,24 0-16,1 0 16,24 0-16,0 0 15,1 0-15,-1 0 16,0 0-16,0 0 15,-24 0 1,24 0-16,-50 0 0,-24 0 63,0 0-63,25 0 15,-1 0 1,1 0-1,0 0-15,-26 0 16,1 0 0,0 0-16,0 0 15,24 0 1,1 0-16,0 0 16,-1 0-16,1 0 15,-25 0-15,-1 0 31,1 0-15,0 0 0,0 0 77,0 0-30,24 0-63,1 0 16,-25 0-1,99 0-15</inkml:trace>
  <inkml:trace contextRef="#ctx0" brushRef="#br0" timeOffset="4431.93">13196 15032 0,'25'-25'250,"25"25"-234,-25 0-1,-1 0 1,1 0-16,0 0 141</inkml:trace>
  <inkml:trace contextRef="#ctx0" brushRef="#br0" timeOffset="11488.07">7392 16520 0,'75'0'94,"-26"0"-78,-24 0-16,0 0 15</inkml:trace>
  <inkml:trace contextRef="#ctx0" brushRef="#br0" timeOffset="12648.88">11286 16619 0,'25'0'78,"0"0"-31,0 0-16,25 0-31,-26 0 15,1 0-15,50 0 16,-26 0-16,-24 0 16,25 0-16,-26 0 15,1 0-15,0 0 16,0 0-16,49 0 16,-49 0-1,-25-25 95</inkml:trace>
  <inkml:trace contextRef="#ctx0" brushRef="#br0" timeOffset="13224.23">12849 16545 0,'25'0'62,"25"0"-46,-26 0-16,1 0 16</inkml:trace>
  <inkml:trace contextRef="#ctx0" brushRef="#br0" timeOffset="17633.38">13444 16644 0,'50'0'156,"-25"0"-156,25 0 16,-26 0-1,26 0 1,-25 0-16,49 0 16,-49 0-16,49 0 15,1 0 1,-50 0-16,49 0 15,0 0-15,-24 0 16,0 0-16,24 0 16,-49 0-1,24 0 1,-24 0 31,25 0 0,-25 0-32,24 0 95,-24 0-79</inkml:trace>
  <inkml:trace contextRef="#ctx0" brushRef="#br0" timeOffset="19058.53">13643 15577 0,'0'50'63,"0"-25"-48,0 49 1,0 1-16,0 24 16,0-25-16,0-24 15,-25-1-15,25-24 16,0 0-16,0 0 16,0 0-16,0 24 15,0-24 63,0 0-15,0 0-63,0 24 15,0 26-15,0-50 16,0 49 0,0-24-16,0-1 15,0-24-15,25 25 0,0-26 157,24-24-142,26-24-15,74-51 16</inkml:trace>
  <inkml:trace contextRef="#ctx0" brushRef="#br0" timeOffset="19609.72">14461 15801 0</inkml:trace>
  <inkml:trace contextRef="#ctx0" brushRef="#br0" timeOffset="20096.81">14461 15801 0,'0'24'63,"50"76"-47,-25-76-1,-25 26-15,25 24 16,-25 1-1,49-26-15,1 51 16,-50-26-16,0-49 0,50 0 16,-50 0-16</inkml:trace>
  <inkml:trace contextRef="#ctx0" brushRef="#br0" timeOffset="21592.74">14040 16570 0,'-25'0'250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A3E07-78AE-427D-8C45-B05D5A4FFD19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EEBA5-8166-4443-805C-BFC0067D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38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8172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8779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332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1040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1283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EF7A-5CF0-4C89-915A-2B030E620D53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7501E-A4CD-4894-BB38-E487A1C52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74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EF7A-5CF0-4C89-915A-2B030E620D53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7501E-A4CD-4894-BB38-E487A1C52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33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EF7A-5CF0-4C89-915A-2B030E620D53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7501E-A4CD-4894-BB38-E487A1C52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8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EF7A-5CF0-4C89-915A-2B030E620D53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7501E-A4CD-4894-BB38-E487A1C52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81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EF7A-5CF0-4C89-915A-2B030E620D53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7501E-A4CD-4894-BB38-E487A1C52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59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EF7A-5CF0-4C89-915A-2B030E620D53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7501E-A4CD-4894-BB38-E487A1C52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3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EF7A-5CF0-4C89-915A-2B030E620D53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7501E-A4CD-4894-BB38-E487A1C52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53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EF7A-5CF0-4C89-915A-2B030E620D53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7501E-A4CD-4894-BB38-E487A1C52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0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EF7A-5CF0-4C89-915A-2B030E620D53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7501E-A4CD-4894-BB38-E487A1C52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0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EF7A-5CF0-4C89-915A-2B030E620D53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7501E-A4CD-4894-BB38-E487A1C52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9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EF7A-5CF0-4C89-915A-2B030E620D53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7501E-A4CD-4894-BB38-E487A1C52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62F5E-FB4F-4FDB-B7B1-D9F7887CD017}" type="datetime1">
              <a:rPr lang="en-US"/>
              <a:pPr>
                <a:defRPr/>
              </a:pPr>
              <a:t>2/16/26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Core Algorithms and Data Structures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9B13F3-A701-48A4-A178-61E144EA36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1524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19200"/>
            <a:ext cx="41529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219200"/>
            <a:ext cx="41529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3733800"/>
            <a:ext cx="41529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3657600" y="63817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122,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001000" y="6418263"/>
            <a:ext cx="914400" cy="3825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 </a:t>
            </a:r>
            <a:fld id="{DAFA7DC5-7FFD-4100-8897-23C1E8445A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30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FEF7A-5CF0-4C89-915A-2B030E620D53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7501E-A4CD-4894-BB38-E487A1C52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9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emf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siide bar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"/>
          </a:xfrm>
          <a:noFill/>
        </p:spPr>
      </p:pic>
      <p:pic>
        <p:nvPicPr>
          <p:cNvPr id="52227" name="Picture 4" descr="siide b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91288"/>
            <a:ext cx="914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0" dirty="0"/>
          </a:p>
        </p:txBody>
      </p:sp>
      <p:sp>
        <p:nvSpPr>
          <p:cNvPr id="52229" name="Line 8"/>
          <p:cNvSpPr>
            <a:spLocks noChangeShapeType="1"/>
          </p:cNvSpPr>
          <p:nvPr/>
        </p:nvSpPr>
        <p:spPr bwMode="auto">
          <a:xfrm>
            <a:off x="0" y="6481763"/>
            <a:ext cx="9144000" cy="0"/>
          </a:xfrm>
          <a:prstGeom prst="line">
            <a:avLst/>
          </a:prstGeom>
          <a:noFill/>
          <a:ln w="44450">
            <a:solidFill>
              <a:srgbClr val="006A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2230" name="Rectangle 13"/>
          <p:cNvSpPr>
            <a:spLocks noChangeArrowheads="1"/>
          </p:cNvSpPr>
          <p:nvPr/>
        </p:nvSpPr>
        <p:spPr bwMode="auto">
          <a:xfrm>
            <a:off x="1192213" y="935038"/>
            <a:ext cx="6732587" cy="218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3600" b="0" dirty="0">
                <a:solidFill>
                  <a:srgbClr val="6600CC"/>
                </a:solidFill>
                <a:latin typeface="Times New Roman" pitchFamily="18" charset="0"/>
              </a:rPr>
              <a:t>Analysis of  Algorithms  </a:t>
            </a:r>
          </a:p>
        </p:txBody>
      </p:sp>
      <p:sp>
        <p:nvSpPr>
          <p:cNvPr id="52231" name="Rectangle 14"/>
          <p:cNvSpPr>
            <a:spLocks noChangeArrowheads="1"/>
          </p:cNvSpPr>
          <p:nvPr/>
        </p:nvSpPr>
        <p:spPr bwMode="auto">
          <a:xfrm>
            <a:off x="1371600" y="3972818"/>
            <a:ext cx="6400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Tx/>
              <a:buNone/>
            </a:pPr>
            <a:endParaRPr lang="en-US" altLang="en-US" b="0" dirty="0">
              <a:solidFill>
                <a:srgbClr val="CC00FF"/>
              </a:solidFill>
              <a:latin typeface="Times New Roman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altLang="en-US" b="0" dirty="0">
                <a:solidFill>
                  <a:srgbClr val="CC00FF"/>
                </a:solidFill>
                <a:latin typeface="Times New Roman" pitchFamily="18" charset="0"/>
              </a:rPr>
              <a:t>Dr. Huma  </a:t>
            </a:r>
          </a:p>
          <a:p>
            <a:pPr algn="ctr" eaLnBrk="1" hangingPunct="1">
              <a:buFontTx/>
              <a:buNone/>
            </a:pPr>
            <a:r>
              <a:rPr lang="en-US" altLang="en-US" b="0" dirty="0">
                <a:solidFill>
                  <a:srgbClr val="CC00FF"/>
                </a:solidFill>
                <a:latin typeface="Times New Roman" pitchFamily="18" charset="0"/>
              </a:rPr>
              <a:t>huma.ayub@uettaxila.edu.pk</a:t>
            </a:r>
          </a:p>
        </p:txBody>
      </p:sp>
      <p:sp>
        <p:nvSpPr>
          <p:cNvPr id="52232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676400" y="6621463"/>
            <a:ext cx="5181600" cy="473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 dirty="0"/>
          </a:p>
        </p:txBody>
      </p:sp>
      <p:sp>
        <p:nvSpPr>
          <p:cNvPr id="52233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553200" y="66198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39EEE89-BB99-41D1-994F-784DE97C69C7}" type="slidenum">
              <a:rPr lang="en-US" altLang="en-US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52234" name="Rectangle 2"/>
          <p:cNvSpPr>
            <a:spLocks noChangeArrowheads="1"/>
          </p:cNvSpPr>
          <p:nvPr/>
        </p:nvSpPr>
        <p:spPr bwMode="auto">
          <a:xfrm>
            <a:off x="2362200" y="2895600"/>
            <a:ext cx="45720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rgbClr val="6600CC"/>
                </a:solidFill>
              </a:rPr>
              <a:t>Lecture No. 3 </a:t>
            </a:r>
            <a:br>
              <a:rPr lang="en-GB" altLang="en-US" dirty="0">
                <a:solidFill>
                  <a:srgbClr val="6600CC"/>
                </a:solidFill>
              </a:rPr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3677265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pPr eaLnBrk="1" hangingPunct="1"/>
            <a:r>
              <a:rPr lang="en-US" altLang="en-US"/>
              <a:t>List: Traverse through the list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4294967295"/>
          </p:nvPr>
        </p:nvSpPr>
        <p:spPr>
          <a:xfrm>
            <a:off x="76200" y="1143000"/>
            <a:ext cx="8991600" cy="5715000"/>
          </a:xfrm>
        </p:spPr>
        <p:txBody>
          <a:bodyPr/>
          <a:lstStyle/>
          <a:p>
            <a:pPr eaLnBrk="1" hangingPunct="1"/>
            <a:r>
              <a:rPr lang="en-US" altLang="en-US" sz="2100"/>
              <a:t>Visit each element of the list</a:t>
            </a:r>
          </a:p>
          <a:p>
            <a:pPr lvl="1" eaLnBrk="1" hangingPunct="1"/>
            <a:r>
              <a:rPr lang="en-US" altLang="en-US" sz="2000"/>
              <a:t>e.g., print each element of the list on the screen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200">
              <a:solidFill>
                <a:schemeClr val="hlink"/>
              </a:solidFill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100">
                <a:solidFill>
                  <a:schemeClr val="hlink"/>
                </a:solidFill>
                <a:latin typeface="Times New Roman" pitchFamily="18" charset="0"/>
              </a:rPr>
              <a:t>     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for (int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 =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0;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 &lt; N;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++)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		cout&lt;&lt;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a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[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];	</a:t>
            </a:r>
            <a:r>
              <a:rPr lang="en-US" altLang="en-US" sz="2100">
                <a:solidFill>
                  <a:schemeClr val="hlink"/>
                </a:solidFill>
                <a:latin typeface="Times New Roman" pitchFamily="18" charset="0"/>
              </a:rPr>
              <a:t>		</a:t>
            </a:r>
            <a:r>
              <a:rPr lang="en-US" altLang="en-US" sz="2100">
                <a:solidFill>
                  <a:srgbClr val="FF0000"/>
                </a:solidFill>
                <a:latin typeface="Times New Roman" pitchFamily="18" charset="0"/>
              </a:rPr>
              <a:t>Complexity : O(</a:t>
            </a:r>
            <a:r>
              <a:rPr lang="en-US" altLang="en-US" sz="21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en-US" sz="2100">
                <a:solidFill>
                  <a:srgbClr val="FF0000"/>
                </a:solidFill>
                <a:latin typeface="Times New Roman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2200">
              <a:solidFill>
                <a:schemeClr val="hlink"/>
              </a:solidFill>
              <a:latin typeface="Times New Roman" pitchFamily="18" charset="0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2532063"/>
          <a:ext cx="6096000" cy="3714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88" name="TextBox 6"/>
          <p:cNvSpPr txBox="1">
            <a:spLocks noChangeArrowheads="1"/>
          </p:cNvSpPr>
          <p:nvPr/>
        </p:nvSpPr>
        <p:spPr bwMode="auto">
          <a:xfrm>
            <a:off x="185738" y="2551113"/>
            <a:ext cx="1219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List data</a:t>
            </a:r>
          </a:p>
        </p:txBody>
      </p:sp>
    </p:spTree>
    <p:extLst>
      <p:ext uri="{BB962C8B-B14F-4D97-AF65-F5344CB8AC3E}">
        <p14:creationId xmlns:p14="http://schemas.microsoft.com/office/powerpoint/2010/main" val="177483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pPr eaLnBrk="1" hangingPunct="1"/>
            <a:r>
              <a:rPr lang="en-US" altLang="en-US"/>
              <a:t>List: Read/Update an Element</a:t>
            </a:r>
          </a:p>
        </p:txBody>
      </p:sp>
      <p:sp>
        <p:nvSpPr>
          <p:cNvPr id="64515" name="Content Placeholder 2"/>
          <p:cNvSpPr>
            <a:spLocks noGrp="1"/>
          </p:cNvSpPr>
          <p:nvPr>
            <p:ph idx="4294967295"/>
          </p:nvPr>
        </p:nvSpPr>
        <p:spPr>
          <a:xfrm>
            <a:off x="0" y="1143000"/>
            <a:ext cx="8991600" cy="57150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600"/>
              <a:t>Read/update an element in the list 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200"/>
              <a:t>at the beginning, 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200"/>
              <a:t>at the end 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200"/>
              <a:t>anywhere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200"/>
              <a:t>Example</a:t>
            </a: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000"/>
              <a:t>Read/print  </a:t>
            </a:r>
            <a:r>
              <a:rPr lang="en-US" altLang="en-US" sz="2000" i="1"/>
              <a:t>i</a:t>
            </a:r>
            <a:r>
              <a:rPr lang="en-US" altLang="en-US" sz="2000"/>
              <a:t>th element (</a:t>
            </a:r>
            <a:r>
              <a:rPr lang="en-US" altLang="en-US" sz="2000" i="1"/>
              <a:t>i</a:t>
            </a:r>
            <a:r>
              <a:rPr lang="en-US" altLang="en-US" sz="2000"/>
              <a:t>=3)</a:t>
            </a: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000"/>
              <a:t>update </a:t>
            </a:r>
            <a:r>
              <a:rPr lang="en-US" altLang="en-US" sz="2000" i="1"/>
              <a:t>j</a:t>
            </a:r>
            <a:r>
              <a:rPr lang="en-US" altLang="en-US" sz="2000"/>
              <a:t>th element (</a:t>
            </a:r>
            <a:r>
              <a:rPr lang="en-US" altLang="en-US" sz="2000" i="1"/>
              <a:t>j</a:t>
            </a:r>
            <a:r>
              <a:rPr lang="en-US" altLang="en-US" sz="2000"/>
              <a:t>=4)</a:t>
            </a:r>
            <a:endParaRPr lang="en-US" altLang="en-US" sz="1800"/>
          </a:p>
          <a:p>
            <a:pPr lvl="1" eaLnBrk="1" hangingPunct="1"/>
            <a:endParaRPr lang="en-US" altLang="en-US" sz="2000"/>
          </a:p>
          <a:p>
            <a:pPr lvl="1" eaLnBrk="1" hangingPunct="1"/>
            <a:endParaRPr lang="en-US" altLang="en-US" sz="2000"/>
          </a:p>
          <a:p>
            <a:pPr lvl="1" eaLnBrk="1" hangingPunct="1"/>
            <a:endParaRPr lang="en-US" altLang="en-US" sz="2000"/>
          </a:p>
          <a:p>
            <a:pPr lvl="1" eaLnBrk="1" hangingPunct="1"/>
            <a:endParaRPr lang="en-US" altLang="en-US" sz="2200">
              <a:solidFill>
                <a:schemeClr val="hlink"/>
              </a:solidFill>
              <a:latin typeface="Times New Roman" pitchFamily="18" charset="0"/>
            </a:endParaRPr>
          </a:p>
          <a:p>
            <a:pPr lvl="1" eaLnBrk="1" hangingPunct="1"/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i 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=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 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3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; cout &lt;&lt; a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[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]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; </a:t>
            </a:r>
            <a:r>
              <a:rPr lang="en-US" altLang="en-US" sz="2200" b="1">
                <a:solidFill>
                  <a:srgbClr val="FF0000"/>
                </a:solidFill>
                <a:latin typeface="Times New Roman" pitchFamily="18" charset="0"/>
                <a:sym typeface="Wingdings" pitchFamily="2" charset="2"/>
              </a:rPr>
              <a:t>  8</a:t>
            </a:r>
            <a:endParaRPr lang="en-US" altLang="en-US" sz="2200" b="1">
              <a:solidFill>
                <a:srgbClr val="FF0000"/>
              </a:solidFill>
              <a:latin typeface="Times New Roman" pitchFamily="18" charset="0"/>
            </a:endParaRPr>
          </a:p>
          <a:p>
            <a:pPr lvl="1" eaLnBrk="1" hangingPunct="1"/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j 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=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 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4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; a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[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j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] = </a:t>
            </a:r>
            <a:r>
              <a:rPr lang="en-US" altLang="en-US" sz="2200">
                <a:solidFill>
                  <a:srgbClr val="FF0000"/>
                </a:solidFill>
                <a:latin typeface="Times New Roman" pitchFamily="18" charset="0"/>
              </a:rPr>
              <a:t>15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;	</a:t>
            </a:r>
            <a:r>
              <a:rPr lang="en-US" altLang="en-US" sz="2200">
                <a:solidFill>
                  <a:schemeClr val="hlink"/>
                </a:solidFill>
                <a:latin typeface="Times New Roman" pitchFamily="18" charset="0"/>
              </a:rPr>
              <a:t>			</a:t>
            </a:r>
            <a:r>
              <a:rPr lang="en-US" altLang="en-US" sz="2200">
                <a:solidFill>
                  <a:srgbClr val="FF0000"/>
                </a:solidFill>
                <a:latin typeface="Times New Roman" pitchFamily="18" charset="0"/>
              </a:rPr>
              <a:t> Complexity : O(1)</a:t>
            </a:r>
            <a:endParaRPr lang="en-US" altLang="en-US" sz="2200">
              <a:solidFill>
                <a:schemeClr val="hlink"/>
              </a:solidFill>
              <a:latin typeface="Times New Roman" pitchFamily="18" charset="0"/>
            </a:endParaRPr>
          </a:p>
          <a:p>
            <a:pPr lvl="1" eaLnBrk="1" hangingPunct="1"/>
            <a:endParaRPr lang="en-US" altLang="en-US" sz="2000"/>
          </a:p>
        </p:txBody>
      </p:sp>
      <p:graphicFrame>
        <p:nvGraphicFramePr>
          <p:cNvPr id="64605" name="Group 93"/>
          <p:cNvGraphicFramePr>
            <a:graphicFrameLocks noGrp="1"/>
          </p:cNvGraphicFramePr>
          <p:nvPr/>
        </p:nvGraphicFramePr>
        <p:xfrm>
          <a:off x="1676400" y="3879850"/>
          <a:ext cx="6096000" cy="3714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36" name="TextBox 6"/>
          <p:cNvSpPr txBox="1">
            <a:spLocks noChangeArrowheads="1"/>
          </p:cNvSpPr>
          <p:nvPr/>
        </p:nvSpPr>
        <p:spPr bwMode="auto">
          <a:xfrm>
            <a:off x="338138" y="3778250"/>
            <a:ext cx="121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Read </a:t>
            </a:r>
            <a:r>
              <a:rPr lang="en-US" altLang="en-US" sz="1800" b="1" i="1">
                <a:solidFill>
                  <a:srgbClr val="005C2A"/>
                </a:solidFill>
                <a:latin typeface="Calibri" pitchFamily="34" charset="0"/>
              </a:rPr>
              <a:t>i</a:t>
            </a:r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th </a:t>
            </a:r>
          </a:p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element</a:t>
            </a:r>
          </a:p>
        </p:txBody>
      </p:sp>
      <p:sp>
        <p:nvSpPr>
          <p:cNvPr id="13337" name="TextBox 9"/>
          <p:cNvSpPr txBox="1">
            <a:spLocks noChangeArrowheads="1"/>
          </p:cNvSpPr>
          <p:nvPr/>
        </p:nvSpPr>
        <p:spPr bwMode="auto">
          <a:xfrm>
            <a:off x="4157663" y="3429000"/>
            <a:ext cx="258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  <a:latin typeface="Calibri" pitchFamily="34" charset="0"/>
              </a:rPr>
              <a:t>i</a:t>
            </a:r>
          </a:p>
        </p:txBody>
      </p:sp>
      <p:sp>
        <p:nvSpPr>
          <p:cNvPr id="13338" name="TextBox 9"/>
          <p:cNvSpPr txBox="1">
            <a:spLocks noChangeArrowheads="1"/>
          </p:cNvSpPr>
          <p:nvPr/>
        </p:nvSpPr>
        <p:spPr bwMode="auto">
          <a:xfrm>
            <a:off x="4919663" y="3429000"/>
            <a:ext cx="261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  <a:latin typeface="Calibri" pitchFamily="34" charset="0"/>
              </a:rPr>
              <a:t>j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76400" y="4432300"/>
          <a:ext cx="6096000" cy="3714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59" name="TextBox 6"/>
          <p:cNvSpPr txBox="1">
            <a:spLocks noChangeArrowheads="1"/>
          </p:cNvSpPr>
          <p:nvPr/>
        </p:nvSpPr>
        <p:spPr bwMode="auto">
          <a:xfrm>
            <a:off x="338138" y="4330700"/>
            <a:ext cx="121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Update </a:t>
            </a:r>
            <a:r>
              <a:rPr lang="en-US" altLang="en-US" sz="1800" b="1" i="1">
                <a:solidFill>
                  <a:srgbClr val="005C2A"/>
                </a:solidFill>
                <a:latin typeface="Calibri" pitchFamily="34" charset="0"/>
              </a:rPr>
              <a:t>i</a:t>
            </a:r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th </a:t>
            </a:r>
          </a:p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element</a:t>
            </a:r>
          </a:p>
        </p:txBody>
      </p:sp>
    </p:spTree>
    <p:extLst>
      <p:ext uri="{BB962C8B-B14F-4D97-AF65-F5344CB8AC3E}">
        <p14:creationId xmlns:p14="http://schemas.microsoft.com/office/powerpoint/2010/main" val="300687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5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5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pPr eaLnBrk="1" hangingPunct="1"/>
            <a:r>
              <a:rPr lang="en-US" altLang="en-US"/>
              <a:t>List: Add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6200" y="838200"/>
            <a:ext cx="89916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100"/>
              <a:t>Add at the beginning: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3296"/>
                </a:solidFill>
              </a:rPr>
              <a:t>Step 1 :</a:t>
            </a:r>
            <a:r>
              <a:rPr lang="en-US" altLang="en-US" sz="2000"/>
              <a:t> Move all the elements towards right, creating space for one more element in the beginning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3296"/>
                </a:solidFill>
              </a:rPr>
              <a:t>Step 2 : </a:t>
            </a:r>
            <a:r>
              <a:rPr lang="en-US" altLang="en-US" sz="2000"/>
              <a:t>Add the new element at the beginning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3296"/>
                </a:solidFill>
              </a:rPr>
              <a:t>Step 3 : </a:t>
            </a:r>
            <a:r>
              <a:rPr lang="en-US" altLang="en-US" sz="2000"/>
              <a:t>Increment the size of the array by one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100">
                <a:solidFill>
                  <a:schemeClr val="hlink"/>
                </a:solidFill>
                <a:latin typeface="Times New Roman" pitchFamily="18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100">
                <a:solidFill>
                  <a:schemeClr val="hlink"/>
                </a:solidFill>
                <a:latin typeface="Times New Roman" pitchFamily="18" charset="0"/>
              </a:rPr>
              <a:t>      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for (int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 =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N-1;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 &gt; 0;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--)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		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a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[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] =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a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[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-1];	</a:t>
            </a:r>
            <a:r>
              <a:rPr lang="en-US" altLang="en-US" sz="2100">
                <a:solidFill>
                  <a:srgbClr val="FF0000"/>
                </a:solidFill>
                <a:latin typeface="Times New Roman" pitchFamily="18" charset="0"/>
              </a:rPr>
              <a:t>		Complexity : O(</a:t>
            </a:r>
            <a:r>
              <a:rPr lang="en-US" altLang="en-US" sz="21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en-US" sz="2100">
                <a:solidFill>
                  <a:srgbClr val="FF0000"/>
                </a:solidFill>
                <a:latin typeface="Times New Roman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a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[0] = 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NewElement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; // (= 1)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N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 = 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N 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+ 1;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>
              <a:solidFill>
                <a:srgbClr val="003296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76400" y="2720975"/>
          <a:ext cx="6096000" cy="3714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76400" y="3330575"/>
          <a:ext cx="6858000" cy="3714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89100" y="4016375"/>
          <a:ext cx="6858000" cy="3714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404" name="TextBox 6"/>
          <p:cNvSpPr txBox="1">
            <a:spLocks noChangeArrowheads="1"/>
          </p:cNvSpPr>
          <p:nvPr/>
        </p:nvSpPr>
        <p:spPr bwMode="auto">
          <a:xfrm>
            <a:off x="338138" y="2740025"/>
            <a:ext cx="1219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Initial data</a:t>
            </a:r>
          </a:p>
        </p:txBody>
      </p:sp>
      <p:sp>
        <p:nvSpPr>
          <p:cNvPr id="14405" name="TextBox 7"/>
          <p:cNvSpPr txBox="1">
            <a:spLocks noChangeArrowheads="1"/>
          </p:cNvSpPr>
          <p:nvPr/>
        </p:nvSpPr>
        <p:spPr bwMode="auto">
          <a:xfrm>
            <a:off x="381000" y="3208338"/>
            <a:ext cx="121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Move elements</a:t>
            </a:r>
          </a:p>
        </p:txBody>
      </p:sp>
      <p:sp>
        <p:nvSpPr>
          <p:cNvPr id="14406" name="TextBox 8"/>
          <p:cNvSpPr txBox="1">
            <a:spLocks noChangeArrowheads="1"/>
          </p:cNvSpPr>
          <p:nvPr/>
        </p:nvSpPr>
        <p:spPr bwMode="auto">
          <a:xfrm>
            <a:off x="381000" y="3854450"/>
            <a:ext cx="121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Add new element</a:t>
            </a:r>
          </a:p>
        </p:txBody>
      </p:sp>
      <p:sp>
        <p:nvSpPr>
          <p:cNvPr id="14407" name="Line 141"/>
          <p:cNvSpPr>
            <a:spLocks noChangeShapeType="1"/>
          </p:cNvSpPr>
          <p:nvPr/>
        </p:nvSpPr>
        <p:spPr bwMode="auto">
          <a:xfrm>
            <a:off x="21336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8" name="Line 142"/>
          <p:cNvSpPr>
            <a:spLocks noChangeShapeType="1"/>
          </p:cNvSpPr>
          <p:nvPr/>
        </p:nvSpPr>
        <p:spPr bwMode="auto">
          <a:xfrm>
            <a:off x="28194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9" name="Line 143"/>
          <p:cNvSpPr>
            <a:spLocks noChangeShapeType="1"/>
          </p:cNvSpPr>
          <p:nvPr/>
        </p:nvSpPr>
        <p:spPr bwMode="auto">
          <a:xfrm>
            <a:off x="36576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0" name="Line 144"/>
          <p:cNvSpPr>
            <a:spLocks noChangeShapeType="1"/>
          </p:cNvSpPr>
          <p:nvPr/>
        </p:nvSpPr>
        <p:spPr bwMode="auto">
          <a:xfrm>
            <a:off x="44196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1" name="Line 145"/>
          <p:cNvSpPr>
            <a:spLocks noChangeShapeType="1"/>
          </p:cNvSpPr>
          <p:nvPr/>
        </p:nvSpPr>
        <p:spPr bwMode="auto">
          <a:xfrm>
            <a:off x="51816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2" name="Line 146"/>
          <p:cNvSpPr>
            <a:spLocks noChangeShapeType="1"/>
          </p:cNvSpPr>
          <p:nvPr/>
        </p:nvSpPr>
        <p:spPr bwMode="auto">
          <a:xfrm>
            <a:off x="59436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3" name="Line 147"/>
          <p:cNvSpPr>
            <a:spLocks noChangeShapeType="1"/>
          </p:cNvSpPr>
          <p:nvPr/>
        </p:nvSpPr>
        <p:spPr bwMode="auto">
          <a:xfrm>
            <a:off x="67056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4" name="Line 148"/>
          <p:cNvSpPr>
            <a:spLocks noChangeShapeType="1"/>
          </p:cNvSpPr>
          <p:nvPr/>
        </p:nvSpPr>
        <p:spPr bwMode="auto">
          <a:xfrm>
            <a:off x="74676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4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pPr eaLnBrk="1" hangingPunct="1"/>
            <a:r>
              <a:rPr lang="en-US" altLang="en-US"/>
              <a:t>List: Add Element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4294967295"/>
          </p:nvPr>
        </p:nvSpPr>
        <p:spPr>
          <a:xfrm>
            <a:off x="0" y="1143000"/>
            <a:ext cx="8991600" cy="5715000"/>
          </a:xfrm>
        </p:spPr>
        <p:txBody>
          <a:bodyPr/>
          <a:lstStyle/>
          <a:p>
            <a:pPr eaLnBrk="1" hangingPunct="1"/>
            <a:r>
              <a:rPr lang="en-US" altLang="en-US" sz="2100"/>
              <a:t>Add at the end:</a:t>
            </a:r>
          </a:p>
          <a:p>
            <a:pPr lvl="1" eaLnBrk="1" hangingPunct="1"/>
            <a:r>
              <a:rPr lang="en-US" altLang="en-US" sz="2000">
                <a:solidFill>
                  <a:srgbClr val="003296"/>
                </a:solidFill>
              </a:rPr>
              <a:t>Step 1 : </a:t>
            </a:r>
            <a:r>
              <a:rPr lang="en-US" altLang="en-US" sz="2000"/>
              <a:t>Add the new element at end</a:t>
            </a:r>
          </a:p>
          <a:p>
            <a:pPr lvl="1" eaLnBrk="1" hangingPunct="1"/>
            <a:r>
              <a:rPr lang="en-US" altLang="en-US" sz="2000">
                <a:solidFill>
                  <a:srgbClr val="003296"/>
                </a:solidFill>
              </a:rPr>
              <a:t>Step 2 : </a:t>
            </a:r>
            <a:r>
              <a:rPr lang="en-US" altLang="en-US" sz="2000"/>
              <a:t>Increment the size of the array by one</a:t>
            </a:r>
          </a:p>
          <a:p>
            <a:pPr lvl="1" eaLnBrk="1" hangingPunct="1"/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200">
              <a:solidFill>
                <a:schemeClr val="hlink"/>
              </a:solidFill>
              <a:latin typeface="Times New Roman" pitchFamily="18" charset="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a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[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N-1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] = 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NewElement 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; // (= </a:t>
            </a:r>
            <a:r>
              <a:rPr lang="en-US" altLang="en-US" sz="2200">
                <a:solidFill>
                  <a:schemeClr val="accent2"/>
                </a:solidFill>
                <a:latin typeface="Times New Roman" pitchFamily="18" charset="0"/>
              </a:rPr>
              <a:t>17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N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 = 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N 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+ 1;	</a:t>
            </a:r>
            <a:r>
              <a:rPr lang="en-US" altLang="en-US" sz="2200">
                <a:solidFill>
                  <a:schemeClr val="hlink"/>
                </a:solidFill>
                <a:latin typeface="Times New Roman" pitchFamily="18" charset="0"/>
              </a:rPr>
              <a:t>			</a:t>
            </a:r>
            <a:r>
              <a:rPr lang="en-US" altLang="en-US" sz="2200">
                <a:solidFill>
                  <a:srgbClr val="FF0000"/>
                </a:solidFill>
                <a:latin typeface="Times New Roman" pitchFamily="18" charset="0"/>
              </a:rPr>
              <a:t> Complexity : O(1)</a:t>
            </a:r>
            <a:endParaRPr lang="en-US" altLang="en-US" sz="2200">
              <a:solidFill>
                <a:schemeClr val="hlink"/>
              </a:solidFill>
              <a:latin typeface="Times New Roman" pitchFamily="18" charset="0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2532063"/>
          <a:ext cx="6096000" cy="3714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3141663"/>
          <a:ext cx="6858000" cy="3714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406" name="TextBox 6"/>
          <p:cNvSpPr txBox="1">
            <a:spLocks noChangeArrowheads="1"/>
          </p:cNvSpPr>
          <p:nvPr/>
        </p:nvSpPr>
        <p:spPr bwMode="auto">
          <a:xfrm>
            <a:off x="185738" y="2551113"/>
            <a:ext cx="1219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Initial data</a:t>
            </a:r>
          </a:p>
        </p:txBody>
      </p:sp>
      <p:sp>
        <p:nvSpPr>
          <p:cNvPr id="15407" name="TextBox 8"/>
          <p:cNvSpPr txBox="1">
            <a:spLocks noChangeArrowheads="1"/>
          </p:cNvSpPr>
          <p:nvPr/>
        </p:nvSpPr>
        <p:spPr bwMode="auto">
          <a:xfrm>
            <a:off x="228600" y="3016250"/>
            <a:ext cx="121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Add new element</a:t>
            </a:r>
          </a:p>
        </p:txBody>
      </p:sp>
    </p:spTree>
    <p:extLst>
      <p:ext uri="{BB962C8B-B14F-4D97-AF65-F5344CB8AC3E}">
        <p14:creationId xmlns:p14="http://schemas.microsoft.com/office/powerpoint/2010/main" val="175143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 idx="4294967295"/>
          </p:nvPr>
        </p:nvSpPr>
        <p:spPr>
          <a:xfrm>
            <a:off x="457200" y="12700"/>
            <a:ext cx="8229600" cy="914400"/>
          </a:xfrm>
        </p:spPr>
        <p:txBody>
          <a:bodyPr anchor="ctr"/>
          <a:lstStyle/>
          <a:p>
            <a:pPr eaLnBrk="1" hangingPunct="1"/>
            <a:r>
              <a:rPr lang="en-US" altLang="en-US"/>
              <a:t>List: Add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14400"/>
            <a:ext cx="8991600" cy="5715000"/>
          </a:xfrm>
        </p:spPr>
        <p:txBody>
          <a:bodyPr/>
          <a:lstStyle/>
          <a:p>
            <a:pPr eaLnBrk="1" hangingPunct="1"/>
            <a:r>
              <a:rPr lang="en-US" altLang="en-US" sz="2100"/>
              <a:t>Add anywhere in the list (e.g., at the </a:t>
            </a:r>
            <a:r>
              <a:rPr lang="en-US" altLang="en-US" sz="2100" i="1"/>
              <a:t>j</a:t>
            </a:r>
            <a:r>
              <a:rPr lang="en-US" altLang="en-US" sz="2100"/>
              <a:t>th location)</a:t>
            </a:r>
          </a:p>
          <a:p>
            <a:pPr lvl="1" eaLnBrk="1" hangingPunct="1"/>
            <a:r>
              <a:rPr lang="en-US" altLang="en-US" sz="2000">
                <a:solidFill>
                  <a:srgbClr val="003296"/>
                </a:solidFill>
              </a:rPr>
              <a:t>Step 1 :</a:t>
            </a:r>
            <a:r>
              <a:rPr lang="en-US" altLang="en-US" sz="2000"/>
              <a:t> Move all the elements, starting from the index </a:t>
            </a:r>
            <a:r>
              <a:rPr lang="en-US" altLang="en-US" sz="2000" i="1"/>
              <a:t>j</a:t>
            </a:r>
            <a:r>
              <a:rPr lang="en-US" altLang="en-US" sz="2000"/>
              <a:t>,  towards right,</a:t>
            </a:r>
          </a:p>
          <a:p>
            <a:pPr lvl="1" eaLnBrk="1" hangingPunct="1"/>
            <a:r>
              <a:rPr lang="en-US" altLang="en-US" sz="2000">
                <a:solidFill>
                  <a:srgbClr val="003296"/>
                </a:solidFill>
              </a:rPr>
              <a:t>Step 2 : </a:t>
            </a:r>
            <a:r>
              <a:rPr lang="en-US" altLang="en-US" sz="2000"/>
              <a:t>Add the new element at the index </a:t>
            </a:r>
            <a:r>
              <a:rPr lang="en-US" altLang="en-US" sz="2000" i="1"/>
              <a:t>j</a:t>
            </a:r>
            <a:endParaRPr lang="en-US" altLang="en-US" sz="2000"/>
          </a:p>
          <a:p>
            <a:pPr lvl="1" eaLnBrk="1" hangingPunct="1"/>
            <a:r>
              <a:rPr lang="en-US" altLang="en-US" sz="2000">
                <a:solidFill>
                  <a:srgbClr val="003296"/>
                </a:solidFill>
              </a:rPr>
              <a:t>Step  : </a:t>
            </a:r>
            <a:r>
              <a:rPr lang="en-US" altLang="en-US" sz="2000"/>
              <a:t>Increment the size of the array by one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endParaRPr lang="en-US" altLang="en-US" sz="2000"/>
          </a:p>
          <a:p>
            <a:pPr eaLnBrk="1" hangingPunct="1">
              <a:buFont typeface="Wingdings" pitchFamily="2" charset="2"/>
              <a:buNone/>
            </a:pPr>
            <a:r>
              <a:rPr lang="en-US" altLang="en-US" sz="2100">
                <a:solidFill>
                  <a:schemeClr val="hlink"/>
                </a:solidFill>
                <a:latin typeface="Times New Roman" pitchFamily="18" charset="0"/>
              </a:rPr>
              <a:t>	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	  for (int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 =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N-1;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 &gt; j;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--)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		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a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[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] = 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a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[</a:t>
            </a:r>
            <a:r>
              <a:rPr lang="en-US" altLang="en-US" sz="2100" i="1">
                <a:solidFill>
                  <a:srgbClr val="003296"/>
                </a:solidFill>
                <a:latin typeface="Times New Roman" pitchFamily="18" charset="0"/>
              </a:rPr>
              <a:t>i</a:t>
            </a:r>
            <a:r>
              <a:rPr lang="en-US" altLang="en-US" sz="2100">
                <a:solidFill>
                  <a:srgbClr val="003296"/>
                </a:solidFill>
                <a:latin typeface="Times New Roman" pitchFamily="18" charset="0"/>
              </a:rPr>
              <a:t>-1];			</a:t>
            </a:r>
            <a:r>
              <a:rPr lang="en-US" altLang="en-US" sz="2100">
                <a:solidFill>
                  <a:srgbClr val="FF0000"/>
                </a:solidFill>
                <a:latin typeface="Times New Roman" pitchFamily="18" charset="0"/>
              </a:rPr>
              <a:t>Complexity : O(</a:t>
            </a:r>
            <a:r>
              <a:rPr lang="en-US" altLang="en-US" sz="21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en-US" sz="2100">
                <a:solidFill>
                  <a:srgbClr val="FF0000"/>
                </a:solidFill>
                <a:latin typeface="Times New Roman" pitchFamily="18" charset="0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a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[j] = 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NewElement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 ; // (= 6)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N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 = </a:t>
            </a:r>
            <a:r>
              <a:rPr lang="en-US" altLang="en-US" sz="2200" i="1">
                <a:solidFill>
                  <a:srgbClr val="003296"/>
                </a:solidFill>
                <a:latin typeface="Times New Roman" pitchFamily="18" charset="0"/>
              </a:rPr>
              <a:t>N </a:t>
            </a:r>
            <a:r>
              <a:rPr lang="en-US" altLang="en-US" sz="2200">
                <a:solidFill>
                  <a:srgbClr val="003296"/>
                </a:solidFill>
                <a:latin typeface="Times New Roman" pitchFamily="18" charset="0"/>
              </a:rPr>
              <a:t>+1;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en-US" sz="2000">
              <a:solidFill>
                <a:srgbClr val="003296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2716213"/>
          <a:ext cx="6096000" cy="3714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3325813"/>
          <a:ext cx="6858000" cy="3714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00200" y="4011613"/>
          <a:ext cx="6858000" cy="3714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452" name="TextBox 6"/>
          <p:cNvSpPr txBox="1">
            <a:spLocks noChangeArrowheads="1"/>
          </p:cNvSpPr>
          <p:nvPr/>
        </p:nvSpPr>
        <p:spPr bwMode="auto">
          <a:xfrm>
            <a:off x="185738" y="2735263"/>
            <a:ext cx="1219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Initial data</a:t>
            </a:r>
          </a:p>
        </p:txBody>
      </p:sp>
      <p:sp>
        <p:nvSpPr>
          <p:cNvPr id="16453" name="TextBox 7"/>
          <p:cNvSpPr txBox="1">
            <a:spLocks noChangeArrowheads="1"/>
          </p:cNvSpPr>
          <p:nvPr/>
        </p:nvSpPr>
        <p:spPr bwMode="auto">
          <a:xfrm>
            <a:off x="228600" y="3203575"/>
            <a:ext cx="1219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Move elements</a:t>
            </a:r>
          </a:p>
        </p:txBody>
      </p:sp>
      <p:sp>
        <p:nvSpPr>
          <p:cNvPr id="16454" name="TextBox 8"/>
          <p:cNvSpPr txBox="1">
            <a:spLocks noChangeArrowheads="1"/>
          </p:cNvSpPr>
          <p:nvPr/>
        </p:nvSpPr>
        <p:spPr bwMode="auto">
          <a:xfrm>
            <a:off x="228600" y="3849688"/>
            <a:ext cx="1219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5C2A"/>
                </a:solidFill>
                <a:latin typeface="Calibri" pitchFamily="34" charset="0"/>
              </a:rPr>
              <a:t>Add new element</a:t>
            </a:r>
          </a:p>
        </p:txBody>
      </p:sp>
      <p:sp>
        <p:nvSpPr>
          <p:cNvPr id="16455" name="TextBox 9"/>
          <p:cNvSpPr txBox="1">
            <a:spLocks noChangeArrowheads="1"/>
          </p:cNvSpPr>
          <p:nvPr/>
        </p:nvSpPr>
        <p:spPr bwMode="auto">
          <a:xfrm>
            <a:off x="4038600" y="2286000"/>
            <a:ext cx="263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  <a:latin typeface="Calibri" pitchFamily="34" charset="0"/>
              </a:rPr>
              <a:t>j</a:t>
            </a:r>
          </a:p>
        </p:txBody>
      </p:sp>
      <p:sp>
        <p:nvSpPr>
          <p:cNvPr id="16456" name="Line 74"/>
          <p:cNvSpPr>
            <a:spLocks noChangeShapeType="1"/>
          </p:cNvSpPr>
          <p:nvPr/>
        </p:nvSpPr>
        <p:spPr bwMode="auto">
          <a:xfrm>
            <a:off x="50292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57" name="Line 75"/>
          <p:cNvSpPr>
            <a:spLocks noChangeShapeType="1"/>
          </p:cNvSpPr>
          <p:nvPr/>
        </p:nvSpPr>
        <p:spPr bwMode="auto">
          <a:xfrm>
            <a:off x="57912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58" name="Line 76"/>
          <p:cNvSpPr>
            <a:spLocks noChangeShapeType="1"/>
          </p:cNvSpPr>
          <p:nvPr/>
        </p:nvSpPr>
        <p:spPr bwMode="auto">
          <a:xfrm>
            <a:off x="65532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59" name="Line 77"/>
          <p:cNvSpPr>
            <a:spLocks noChangeShapeType="1"/>
          </p:cNvSpPr>
          <p:nvPr/>
        </p:nvSpPr>
        <p:spPr bwMode="auto">
          <a:xfrm>
            <a:off x="73152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0" name="Line 78"/>
          <p:cNvSpPr>
            <a:spLocks noChangeShapeType="1"/>
          </p:cNvSpPr>
          <p:nvPr/>
        </p:nvSpPr>
        <p:spPr bwMode="auto">
          <a:xfrm>
            <a:off x="4343400" y="30480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562680" y="1152000"/>
              <a:ext cx="3625920" cy="25095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3320" y="1142640"/>
                <a:ext cx="3644640" cy="252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116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Simple Example – </a:t>
            </a:r>
            <a:r>
              <a:rPr lang="en-US" altLang="en-US" i="1" dirty="0"/>
              <a:t>Linear Search </a:t>
            </a:r>
          </a:p>
        </p:txBody>
      </p:sp>
      <p:sp>
        <p:nvSpPr>
          <p:cNvPr id="14131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2425" y="746125"/>
            <a:ext cx="8189913" cy="95091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 b="1">
                <a:solidFill>
                  <a:schemeClr val="hlink"/>
                </a:solidFill>
              </a:rPr>
              <a:t>INPUT:</a:t>
            </a:r>
            <a:r>
              <a:rPr lang="en-US" altLang="en-US" sz="2400" b="1">
                <a:solidFill>
                  <a:srgbClr val="CC0000"/>
                </a:solidFill>
              </a:rPr>
              <a:t> a sequence of </a:t>
            </a:r>
            <a:r>
              <a:rPr lang="en-US" altLang="en-US" sz="2400" b="1" i="1">
                <a:solidFill>
                  <a:srgbClr val="CC0000"/>
                </a:solidFill>
              </a:rPr>
              <a:t>n</a:t>
            </a:r>
            <a:r>
              <a:rPr lang="en-US" altLang="en-US" sz="2400" b="1">
                <a:solidFill>
                  <a:srgbClr val="CC0000"/>
                </a:solidFill>
              </a:rPr>
              <a:t> numbers, </a:t>
            </a:r>
            <a:r>
              <a:rPr lang="en-US" altLang="en-US" sz="2400" b="1" i="1">
                <a:solidFill>
                  <a:srgbClr val="CC0000"/>
                </a:solidFill>
              </a:rPr>
              <a:t>key</a:t>
            </a:r>
            <a:r>
              <a:rPr lang="en-US" altLang="en-US" sz="2400" b="1">
                <a:solidFill>
                  <a:srgbClr val="CC0000"/>
                </a:solidFill>
              </a:rPr>
              <a:t> to search for.</a:t>
            </a:r>
          </a:p>
          <a:p>
            <a:pPr>
              <a:buFont typeface="Wingdings" pitchFamily="2" charset="2"/>
              <a:buNone/>
            </a:pPr>
            <a:r>
              <a:rPr lang="en-US" altLang="en-US" sz="2400" b="1">
                <a:solidFill>
                  <a:schemeClr val="hlink"/>
                </a:solidFill>
              </a:rPr>
              <a:t>OUTPUT:</a:t>
            </a:r>
            <a:r>
              <a:rPr lang="en-US" altLang="en-US" sz="2400" b="1">
                <a:solidFill>
                  <a:srgbClr val="CC0000"/>
                </a:solidFill>
              </a:rPr>
              <a:t>  </a:t>
            </a:r>
            <a:r>
              <a:rPr lang="en-US" altLang="en-US" sz="2400" b="1" i="1">
                <a:solidFill>
                  <a:srgbClr val="CC0000"/>
                </a:solidFill>
              </a:rPr>
              <a:t>true</a:t>
            </a:r>
            <a:r>
              <a:rPr lang="en-US" altLang="en-US" sz="2400" b="1">
                <a:solidFill>
                  <a:srgbClr val="CC0000"/>
                </a:solidFill>
              </a:rPr>
              <a:t> if </a:t>
            </a:r>
            <a:r>
              <a:rPr lang="en-US" altLang="en-US" sz="2400" b="1" i="1">
                <a:solidFill>
                  <a:srgbClr val="CC0000"/>
                </a:solidFill>
              </a:rPr>
              <a:t>key</a:t>
            </a:r>
            <a:r>
              <a:rPr lang="en-US" altLang="en-US" sz="2400" b="1">
                <a:solidFill>
                  <a:srgbClr val="CC0000"/>
                </a:solidFill>
              </a:rPr>
              <a:t> occurs in the sequence, </a:t>
            </a:r>
            <a:r>
              <a:rPr lang="en-US" altLang="en-US" sz="2400" b="1" i="1">
                <a:solidFill>
                  <a:srgbClr val="CC0000"/>
                </a:solidFill>
              </a:rPr>
              <a:t>false</a:t>
            </a:r>
            <a:r>
              <a:rPr lang="en-US" altLang="en-US" sz="2400" b="1">
                <a:solidFill>
                  <a:srgbClr val="CC0000"/>
                </a:solidFill>
              </a:rPr>
              <a:t> otherwise.</a:t>
            </a:r>
            <a:endParaRPr lang="en-US" altLang="en-US" sz="2400" b="1" i="1">
              <a:solidFill>
                <a:srgbClr val="CC0000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en-US" sz="2400"/>
          </a:p>
          <a:p>
            <a:pPr>
              <a:buFont typeface="Wingdings" pitchFamily="2" charset="2"/>
              <a:buNone/>
            </a:pPr>
            <a:endParaRPr lang="en-US" altLang="en-US" sz="2400"/>
          </a:p>
          <a:p>
            <a:pPr>
              <a:buFont typeface="Wingdings" pitchFamily="2" charset="2"/>
              <a:buNone/>
            </a:pPr>
            <a:endParaRPr lang="en-US" altLang="en-US" sz="2400">
              <a:solidFill>
                <a:srgbClr val="CC99FF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en-US" sz="2400">
              <a:solidFill>
                <a:srgbClr val="CC99FF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en-US" sz="2400">
              <a:solidFill>
                <a:srgbClr val="CC99FF"/>
              </a:solidFill>
            </a:endParaRPr>
          </a:p>
        </p:txBody>
      </p:sp>
      <p:graphicFrame>
        <p:nvGraphicFramePr>
          <p:cNvPr id="141317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483350" y="2254250"/>
          <a:ext cx="406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048" imgH="291847" progId="Equation.3">
                  <p:embed/>
                </p:oleObj>
              </mc:Choice>
              <mc:Fallback>
                <p:oleObj name="Equation" r:id="rId2" imgW="406048" imgH="291847" progId="Equation.3">
                  <p:embed/>
                  <p:pic>
                    <p:nvPicPr>
                      <p:cNvPr id="141317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3350" y="2254250"/>
                        <a:ext cx="4064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8" name="Text Box 5"/>
          <p:cNvSpPr txBox="1">
            <a:spLocks noChangeArrowheads="1"/>
          </p:cNvSpPr>
          <p:nvPr/>
        </p:nvSpPr>
        <p:spPr bwMode="auto">
          <a:xfrm>
            <a:off x="476250" y="1663700"/>
            <a:ext cx="7850188" cy="2738438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2800" i="1" dirty="0" err="1">
                <a:solidFill>
                  <a:srgbClr val="010000"/>
                </a:solidFill>
                <a:latin typeface="Times New Roman" pitchFamily="18" charset="0"/>
              </a:rPr>
              <a:t>LinearSearch</a:t>
            </a:r>
            <a:r>
              <a:rPr lang="en-US" sz="2800" dirty="0">
                <a:solidFill>
                  <a:srgbClr val="010000"/>
                </a:solidFill>
                <a:latin typeface="Times New Roman" pitchFamily="18" charset="0"/>
              </a:rPr>
              <a:t>(A, </a:t>
            </a:r>
            <a:r>
              <a:rPr lang="en-US" sz="2800" i="1" dirty="0">
                <a:solidFill>
                  <a:srgbClr val="010000"/>
                </a:solidFill>
                <a:latin typeface="Times New Roman" pitchFamily="18" charset="0"/>
              </a:rPr>
              <a:t>key</a:t>
            </a:r>
            <a:r>
              <a:rPr lang="en-US" sz="2800" dirty="0">
                <a:solidFill>
                  <a:srgbClr val="010000"/>
                </a:solidFill>
                <a:latin typeface="Times New Roman" pitchFamily="18" charset="0"/>
              </a:rPr>
              <a:t>)                      </a:t>
            </a:r>
            <a:r>
              <a:rPr lang="en-US" sz="2800" i="1" dirty="0">
                <a:solidFill>
                  <a:srgbClr val="010000"/>
                </a:solidFill>
                <a:latin typeface="Times New Roman" pitchFamily="18" charset="0"/>
              </a:rPr>
              <a:t>cost        times</a:t>
            </a:r>
          </a:p>
          <a:p>
            <a:pPr eaLnBrk="1" hangingPunct="1">
              <a:defRPr/>
            </a:pPr>
            <a:r>
              <a:rPr lang="en-US" sz="2200" dirty="0">
                <a:solidFill>
                  <a:srgbClr val="010000"/>
                </a:solidFill>
                <a:latin typeface="Times New Roman" pitchFamily="18" charset="0"/>
              </a:rPr>
              <a:t>1    </a:t>
            </a:r>
            <a:r>
              <a:rPr lang="en-US" sz="2200" i="1" dirty="0" err="1">
                <a:solidFill>
                  <a:srgbClr val="010000"/>
                </a:solidFill>
                <a:latin typeface="Times New Roman" pitchFamily="18" charset="0"/>
              </a:rPr>
              <a:t>i</a:t>
            </a:r>
            <a:r>
              <a:rPr lang="en-US" sz="2200" i="1" dirty="0">
                <a:solidFill>
                  <a:srgbClr val="010000"/>
                </a:solidFill>
                <a:latin typeface="Times New Roman" pitchFamily="18" charset="0"/>
              </a:rPr>
              <a:t> </a:t>
            </a: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 1                                                      </a:t>
            </a:r>
            <a:r>
              <a:rPr lang="en-US" sz="2400" i="1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lang="en-US" sz="2400" baseline="-250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</a:t>
            </a: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            1</a:t>
            </a:r>
          </a:p>
          <a:p>
            <a:pPr eaLnBrk="1" hangingPunct="1">
              <a:defRPr/>
            </a:pP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2   while </a:t>
            </a:r>
            <a:r>
              <a:rPr lang="en-US" sz="2400" i="1" dirty="0" err="1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400" i="1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i="1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≤ n</a:t>
            </a: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and A[</a:t>
            </a:r>
            <a:r>
              <a:rPr lang="en-US" sz="2400" i="1" dirty="0" err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] != </a:t>
            </a:r>
            <a:r>
              <a:rPr lang="en-US" sz="2400" i="1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key                    </a:t>
            </a:r>
            <a:r>
              <a:rPr lang="en-US" sz="2400" i="1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lang="en-US" sz="2400" baseline="-250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2</a:t>
            </a: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           n+1</a:t>
            </a:r>
            <a:endParaRPr lang="en-US" sz="2400" baseline="-25000" dirty="0">
              <a:solidFill>
                <a:srgbClr val="01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FontTx/>
              <a:buAutoNum type="arabicPlain" startAt="3"/>
              <a:defRPr/>
            </a:pP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do </a:t>
            </a:r>
            <a:r>
              <a:rPr lang="en-US" sz="2400" i="1" dirty="0" err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++                                                    </a:t>
            </a:r>
            <a:r>
              <a:rPr lang="en-US" sz="2400" i="1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lang="en-US" sz="2400" baseline="-250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3</a:t>
            </a: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            n</a:t>
            </a:r>
          </a:p>
          <a:p>
            <a:pPr marL="0" indent="0" eaLnBrk="1" hangingPunct="1">
              <a:defRPr/>
            </a:pP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if  </a:t>
            </a:r>
            <a:r>
              <a:rPr lang="en-US" sz="2400" i="1" dirty="0" err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sz="2400" i="1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</a:t>
            </a:r>
            <a:r>
              <a:rPr lang="en-US" sz="2400" i="1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</a:t>
            </a: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                                                    </a:t>
            </a:r>
            <a:r>
              <a:rPr lang="en-US" sz="2400" i="1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lang="en-US" sz="2400" baseline="-250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4                    </a:t>
            </a: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</a:t>
            </a:r>
            <a:endParaRPr lang="en-US" sz="2400" baseline="-25000" dirty="0">
              <a:solidFill>
                <a:srgbClr val="01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FontTx/>
              <a:buAutoNum type="arabicPlain" startAt="4"/>
              <a:defRPr/>
            </a:pP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then return </a:t>
            </a:r>
            <a:r>
              <a:rPr lang="en-US" sz="2400" i="1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true                              c</a:t>
            </a:r>
            <a:r>
              <a:rPr lang="en-US" sz="2400" baseline="-25000" dirty="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5                    </a:t>
            </a: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</a:t>
            </a:r>
          </a:p>
          <a:p>
            <a:pPr eaLnBrk="1" hangingPunct="1">
              <a:buFontTx/>
              <a:buAutoNum type="arabicPlain" startAt="4"/>
              <a:defRPr/>
            </a:pP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    else  return </a:t>
            </a:r>
            <a:r>
              <a:rPr lang="en-US" sz="2400" i="1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false                              c</a:t>
            </a:r>
            <a:r>
              <a:rPr lang="en-US" sz="2400" baseline="-250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6</a:t>
            </a:r>
            <a:r>
              <a:rPr lang="en-US" sz="2400" dirty="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            1</a:t>
            </a:r>
          </a:p>
        </p:txBody>
      </p:sp>
      <p:sp>
        <p:nvSpPr>
          <p:cNvPr id="141319" name="Text Box 15"/>
          <p:cNvSpPr txBox="1">
            <a:spLocks noChangeArrowheads="1"/>
          </p:cNvSpPr>
          <p:nvPr/>
        </p:nvSpPr>
        <p:spPr bwMode="auto">
          <a:xfrm>
            <a:off x="396875" y="49101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1320" name="Text Box 16"/>
          <p:cNvSpPr txBox="1">
            <a:spLocks noChangeArrowheads="1"/>
          </p:cNvSpPr>
          <p:nvPr/>
        </p:nvSpPr>
        <p:spPr bwMode="auto">
          <a:xfrm>
            <a:off x="504825" y="4437063"/>
            <a:ext cx="783907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/>
              <a:t>x</a:t>
            </a:r>
            <a:r>
              <a:rPr lang="en-US" altLang="en-US" sz="1800" dirty="0"/>
              <a:t> ranges between 1 and </a:t>
            </a:r>
            <a:r>
              <a:rPr lang="en-US" altLang="en-US" sz="1800" i="1" dirty="0"/>
              <a:t>n+</a:t>
            </a:r>
            <a:r>
              <a:rPr lang="en-US" altLang="en-US" sz="1800" dirty="0"/>
              <a:t>1.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So, the running time ranges between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solidFill>
                  <a:schemeClr val="hlink"/>
                </a:solidFill>
              </a:rPr>
              <a:t>       c</a:t>
            </a:r>
            <a:r>
              <a:rPr lang="en-US" altLang="en-US" sz="1800" baseline="-25000" dirty="0">
                <a:solidFill>
                  <a:schemeClr val="hlink"/>
                </a:solidFill>
              </a:rPr>
              <a:t>1</a:t>
            </a:r>
            <a:r>
              <a:rPr lang="en-US" altLang="en-US" sz="1800" dirty="0">
                <a:solidFill>
                  <a:schemeClr val="hlink"/>
                </a:solidFill>
              </a:rPr>
              <a:t>+ </a:t>
            </a:r>
            <a:r>
              <a:rPr lang="en-US" altLang="en-US" sz="1800" i="1" dirty="0">
                <a:solidFill>
                  <a:schemeClr val="hlink"/>
                </a:solidFill>
              </a:rPr>
              <a:t>c</a:t>
            </a:r>
            <a:r>
              <a:rPr lang="en-US" altLang="en-US" sz="1800" baseline="-25000" dirty="0">
                <a:solidFill>
                  <a:schemeClr val="hlink"/>
                </a:solidFill>
              </a:rPr>
              <a:t>2</a:t>
            </a:r>
            <a:r>
              <a:rPr lang="en-US" altLang="en-US" sz="1800" i="1" dirty="0">
                <a:solidFill>
                  <a:schemeClr val="hlink"/>
                </a:solidFill>
              </a:rPr>
              <a:t>+ c</a:t>
            </a:r>
            <a:r>
              <a:rPr lang="en-US" altLang="en-US" sz="1800" baseline="-25000" dirty="0">
                <a:solidFill>
                  <a:schemeClr val="hlink"/>
                </a:solidFill>
              </a:rPr>
              <a:t>4</a:t>
            </a:r>
            <a:r>
              <a:rPr lang="en-US" altLang="en-US" sz="1800" dirty="0"/>
              <a:t> </a:t>
            </a:r>
            <a:r>
              <a:rPr lang="en-US" altLang="en-US" sz="1800" i="1" dirty="0">
                <a:solidFill>
                  <a:schemeClr val="hlink"/>
                </a:solidFill>
              </a:rPr>
              <a:t>+ c</a:t>
            </a:r>
            <a:r>
              <a:rPr lang="en-US" altLang="en-US" sz="1800" baseline="-25000" dirty="0">
                <a:solidFill>
                  <a:schemeClr val="hlink"/>
                </a:solidFill>
              </a:rPr>
              <a:t>5</a:t>
            </a:r>
            <a:r>
              <a:rPr lang="en-US" altLang="en-US" sz="1800" dirty="0">
                <a:solidFill>
                  <a:schemeClr val="hlink"/>
                </a:solidFill>
              </a:rPr>
              <a:t> </a:t>
            </a:r>
            <a:r>
              <a:rPr lang="en-US" altLang="en-US" sz="1800" dirty="0">
                <a:solidFill>
                  <a:srgbClr val="010000"/>
                </a:solidFill>
              </a:rPr>
              <a:t>– </a:t>
            </a:r>
            <a:r>
              <a:rPr lang="en-US" altLang="en-US" sz="1800" dirty="0">
                <a:solidFill>
                  <a:srgbClr val="CC0000"/>
                </a:solidFill>
              </a:rPr>
              <a:t>best case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and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/>
              <a:t>       </a:t>
            </a:r>
            <a:r>
              <a:rPr lang="en-US" altLang="en-US" sz="1800" i="1" dirty="0">
                <a:solidFill>
                  <a:schemeClr val="hlink"/>
                </a:solidFill>
              </a:rPr>
              <a:t>c</a:t>
            </a:r>
            <a:r>
              <a:rPr lang="en-US" altLang="en-US" sz="1800" baseline="-25000" dirty="0">
                <a:solidFill>
                  <a:schemeClr val="hlink"/>
                </a:solidFill>
              </a:rPr>
              <a:t>1</a:t>
            </a:r>
            <a:r>
              <a:rPr lang="en-US" altLang="en-US" sz="1800" dirty="0">
                <a:solidFill>
                  <a:schemeClr val="hlink"/>
                </a:solidFill>
              </a:rPr>
              <a:t>+ </a:t>
            </a:r>
            <a:r>
              <a:rPr lang="en-US" altLang="en-US" sz="1800" i="1" dirty="0">
                <a:solidFill>
                  <a:schemeClr val="hlink"/>
                </a:solidFill>
              </a:rPr>
              <a:t>c</a:t>
            </a:r>
            <a:r>
              <a:rPr lang="en-US" altLang="en-US" sz="1800" baseline="-25000" dirty="0">
                <a:solidFill>
                  <a:schemeClr val="hlink"/>
                </a:solidFill>
              </a:rPr>
              <a:t>2</a:t>
            </a:r>
            <a:r>
              <a:rPr lang="en-US" altLang="en-US" sz="1800" dirty="0">
                <a:solidFill>
                  <a:schemeClr val="hlink"/>
                </a:solidFill>
              </a:rPr>
              <a:t>(</a:t>
            </a:r>
            <a:r>
              <a:rPr lang="en-US" altLang="en-US" sz="1800" i="1" dirty="0">
                <a:solidFill>
                  <a:schemeClr val="hlink"/>
                </a:solidFill>
              </a:rPr>
              <a:t>n+</a:t>
            </a:r>
            <a:r>
              <a:rPr lang="en-US" altLang="en-US" sz="1800" dirty="0">
                <a:solidFill>
                  <a:schemeClr val="hlink"/>
                </a:solidFill>
              </a:rPr>
              <a:t>1)</a:t>
            </a:r>
            <a:r>
              <a:rPr lang="en-US" altLang="en-US" sz="1800" i="1" dirty="0">
                <a:solidFill>
                  <a:schemeClr val="hlink"/>
                </a:solidFill>
              </a:rPr>
              <a:t>+ c</a:t>
            </a:r>
            <a:r>
              <a:rPr lang="en-US" altLang="en-US" sz="1800" baseline="-25000" dirty="0">
                <a:solidFill>
                  <a:schemeClr val="hlink"/>
                </a:solidFill>
              </a:rPr>
              <a:t>3</a:t>
            </a:r>
            <a:r>
              <a:rPr lang="en-US" altLang="en-US" sz="1800" i="1" dirty="0">
                <a:solidFill>
                  <a:schemeClr val="hlink"/>
                </a:solidFill>
              </a:rPr>
              <a:t>n</a:t>
            </a:r>
            <a:r>
              <a:rPr lang="en-US" altLang="en-US" sz="1800" dirty="0">
                <a:solidFill>
                  <a:schemeClr val="hlink"/>
                </a:solidFill>
              </a:rPr>
              <a:t> + </a:t>
            </a:r>
            <a:r>
              <a:rPr lang="en-US" altLang="en-US" sz="1800" i="1" dirty="0">
                <a:solidFill>
                  <a:schemeClr val="hlink"/>
                </a:solidFill>
              </a:rPr>
              <a:t>c</a:t>
            </a:r>
            <a:r>
              <a:rPr lang="en-US" altLang="en-US" sz="1800" baseline="-25000" dirty="0">
                <a:solidFill>
                  <a:schemeClr val="hlink"/>
                </a:solidFill>
              </a:rPr>
              <a:t>4</a:t>
            </a:r>
            <a:r>
              <a:rPr lang="en-US" altLang="en-US" sz="1800" dirty="0"/>
              <a:t> </a:t>
            </a:r>
            <a:r>
              <a:rPr lang="en-US" altLang="en-US" sz="1800" i="1" dirty="0">
                <a:solidFill>
                  <a:schemeClr val="hlink"/>
                </a:solidFill>
              </a:rPr>
              <a:t>+ c</a:t>
            </a:r>
            <a:r>
              <a:rPr lang="en-US" altLang="en-US" sz="1800" baseline="-25000" dirty="0">
                <a:solidFill>
                  <a:schemeClr val="hlink"/>
                </a:solidFill>
              </a:rPr>
              <a:t>6</a:t>
            </a:r>
            <a:r>
              <a:rPr lang="en-US" altLang="en-US" sz="1800" dirty="0">
                <a:solidFill>
                  <a:schemeClr val="hlink"/>
                </a:solidFill>
              </a:rPr>
              <a:t> </a:t>
            </a:r>
            <a:r>
              <a:rPr lang="en-US" altLang="en-US" sz="1800" dirty="0">
                <a:solidFill>
                  <a:srgbClr val="010000"/>
                </a:solidFill>
              </a:rPr>
              <a:t>– </a:t>
            </a:r>
            <a:r>
              <a:rPr lang="en-US" altLang="en-US" sz="1800" dirty="0">
                <a:solidFill>
                  <a:srgbClr val="CC0000"/>
                </a:solidFill>
              </a:rPr>
              <a:t>worst case</a:t>
            </a:r>
            <a:endParaRPr lang="en-US" alt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110968354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Simple Example – </a:t>
            </a:r>
            <a:r>
              <a:rPr lang="en-US" altLang="en-US" i="1"/>
              <a:t>Linear Search </a:t>
            </a:r>
          </a:p>
        </p:txBody>
      </p:sp>
      <p:sp>
        <p:nvSpPr>
          <p:cNvPr id="1423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2425" y="746125"/>
            <a:ext cx="8189913" cy="95091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INPUT: a sequence of </a:t>
            </a:r>
            <a:r>
              <a:rPr lang="en-US" altLang="en-US" sz="2400" b="1" i="1">
                <a:solidFill>
                  <a:srgbClr val="CC0000"/>
                </a:solidFill>
              </a:rPr>
              <a:t>n</a:t>
            </a:r>
            <a:r>
              <a:rPr lang="en-US" altLang="en-US" sz="2400" b="1">
                <a:solidFill>
                  <a:srgbClr val="CC0000"/>
                </a:solidFill>
              </a:rPr>
              <a:t> numbers, </a:t>
            </a:r>
            <a:r>
              <a:rPr lang="en-US" altLang="en-US" sz="2400" b="1" i="1">
                <a:solidFill>
                  <a:srgbClr val="CC0000"/>
                </a:solidFill>
              </a:rPr>
              <a:t>key</a:t>
            </a:r>
            <a:r>
              <a:rPr lang="en-US" altLang="en-US" sz="2400" b="1">
                <a:solidFill>
                  <a:srgbClr val="CC0000"/>
                </a:solidFill>
              </a:rPr>
              <a:t> to search for.</a:t>
            </a:r>
          </a:p>
          <a:p>
            <a:pPr>
              <a:buFont typeface="Wingdings" pitchFamily="2" charset="2"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OUTPUT:  </a:t>
            </a:r>
            <a:r>
              <a:rPr lang="en-US" altLang="en-US" sz="2400" b="1" i="1">
                <a:solidFill>
                  <a:srgbClr val="CC0000"/>
                </a:solidFill>
              </a:rPr>
              <a:t>true</a:t>
            </a:r>
            <a:r>
              <a:rPr lang="en-US" altLang="en-US" sz="2400" b="1">
                <a:solidFill>
                  <a:srgbClr val="CC0000"/>
                </a:solidFill>
              </a:rPr>
              <a:t> if </a:t>
            </a:r>
            <a:r>
              <a:rPr lang="en-US" altLang="en-US" sz="2400" b="1" i="1">
                <a:solidFill>
                  <a:srgbClr val="CC0000"/>
                </a:solidFill>
              </a:rPr>
              <a:t>key</a:t>
            </a:r>
            <a:r>
              <a:rPr lang="en-US" altLang="en-US" sz="2400" b="1">
                <a:solidFill>
                  <a:srgbClr val="CC0000"/>
                </a:solidFill>
              </a:rPr>
              <a:t> occurs in the sequence, </a:t>
            </a:r>
            <a:r>
              <a:rPr lang="en-US" altLang="en-US" sz="2400" b="1" i="1">
                <a:solidFill>
                  <a:srgbClr val="CC0000"/>
                </a:solidFill>
              </a:rPr>
              <a:t>false</a:t>
            </a:r>
            <a:r>
              <a:rPr lang="en-US" altLang="en-US" sz="2400" b="1">
                <a:solidFill>
                  <a:srgbClr val="CC0000"/>
                </a:solidFill>
              </a:rPr>
              <a:t> otherwise.</a:t>
            </a:r>
            <a:endParaRPr lang="en-US" altLang="en-US" sz="2400" b="1" i="1">
              <a:solidFill>
                <a:srgbClr val="CC0000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en-US" sz="2400" b="1"/>
          </a:p>
          <a:p>
            <a:pPr>
              <a:buFont typeface="Wingdings" pitchFamily="2" charset="2"/>
              <a:buNone/>
            </a:pPr>
            <a:endParaRPr lang="en-US" altLang="en-US" sz="2400"/>
          </a:p>
          <a:p>
            <a:pPr>
              <a:buFont typeface="Wingdings" pitchFamily="2" charset="2"/>
              <a:buNone/>
            </a:pPr>
            <a:endParaRPr lang="en-US" altLang="en-US" sz="2400">
              <a:solidFill>
                <a:srgbClr val="CC99FF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en-US" sz="2400">
              <a:solidFill>
                <a:srgbClr val="CC99FF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en-US" sz="2400">
              <a:solidFill>
                <a:srgbClr val="CC99FF"/>
              </a:solidFill>
            </a:endParaRPr>
          </a:p>
        </p:txBody>
      </p:sp>
      <p:graphicFrame>
        <p:nvGraphicFramePr>
          <p:cNvPr id="142341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483350" y="2254250"/>
          <a:ext cx="406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048" imgH="291847" progId="Equation.3">
                  <p:embed/>
                </p:oleObj>
              </mc:Choice>
              <mc:Fallback>
                <p:oleObj name="Equation" r:id="rId2" imgW="406048" imgH="291847" progId="Equation.3">
                  <p:embed/>
                  <p:pic>
                    <p:nvPicPr>
                      <p:cNvPr id="142341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3350" y="2254250"/>
                        <a:ext cx="4064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396875" y="49101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2343" name="Text Box 7"/>
          <p:cNvSpPr txBox="1">
            <a:spLocks noChangeArrowheads="1"/>
          </p:cNvSpPr>
          <p:nvPr/>
        </p:nvSpPr>
        <p:spPr bwMode="auto">
          <a:xfrm>
            <a:off x="504825" y="4514850"/>
            <a:ext cx="783907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3300"/>
                </a:solidFill>
              </a:rPr>
              <a:t>Assign a cost of 1 to all statement executions.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Now, the running time ranges between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chemeClr val="hlink"/>
                </a:solidFill>
              </a:rPr>
              <a:t>       </a:t>
            </a:r>
            <a:r>
              <a:rPr lang="en-US" altLang="en-US" sz="1800">
                <a:solidFill>
                  <a:schemeClr val="hlink"/>
                </a:solidFill>
              </a:rPr>
              <a:t>1+ 1</a:t>
            </a:r>
            <a:r>
              <a:rPr lang="en-US" altLang="en-US" sz="1800" i="1">
                <a:solidFill>
                  <a:schemeClr val="hlink"/>
                </a:solidFill>
              </a:rPr>
              <a:t>+ </a:t>
            </a:r>
            <a:r>
              <a:rPr lang="en-US" altLang="en-US" sz="1800">
                <a:solidFill>
                  <a:schemeClr val="hlink"/>
                </a:solidFill>
              </a:rPr>
              <a:t>1</a:t>
            </a:r>
            <a:r>
              <a:rPr lang="en-US" altLang="en-US" sz="1800"/>
              <a:t> </a:t>
            </a:r>
            <a:r>
              <a:rPr lang="en-US" altLang="en-US" sz="1800" i="1">
                <a:solidFill>
                  <a:schemeClr val="hlink"/>
                </a:solidFill>
              </a:rPr>
              <a:t>+ </a:t>
            </a:r>
            <a:r>
              <a:rPr lang="en-US" altLang="en-US" sz="1800">
                <a:solidFill>
                  <a:schemeClr val="hlink"/>
                </a:solidFill>
              </a:rPr>
              <a:t>1 = 4 </a:t>
            </a:r>
            <a:r>
              <a:rPr lang="en-US" altLang="en-US" sz="1800">
                <a:solidFill>
                  <a:srgbClr val="010000"/>
                </a:solidFill>
              </a:rPr>
              <a:t>– </a:t>
            </a:r>
            <a:r>
              <a:rPr lang="en-US" altLang="en-US" sz="1800">
                <a:solidFill>
                  <a:srgbClr val="CC0000"/>
                </a:solidFill>
              </a:rPr>
              <a:t>best case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and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       </a:t>
            </a:r>
            <a:r>
              <a:rPr lang="en-US" altLang="en-US" sz="1800">
                <a:solidFill>
                  <a:schemeClr val="hlink"/>
                </a:solidFill>
              </a:rPr>
              <a:t>1+ (</a:t>
            </a:r>
            <a:r>
              <a:rPr lang="en-US" altLang="en-US" sz="1800" i="1">
                <a:solidFill>
                  <a:schemeClr val="hlink"/>
                </a:solidFill>
              </a:rPr>
              <a:t>n+</a:t>
            </a:r>
            <a:r>
              <a:rPr lang="en-US" altLang="en-US" sz="1800">
                <a:solidFill>
                  <a:schemeClr val="hlink"/>
                </a:solidFill>
              </a:rPr>
              <a:t>1)</a:t>
            </a:r>
            <a:r>
              <a:rPr lang="en-US" altLang="en-US" sz="1800" i="1">
                <a:solidFill>
                  <a:schemeClr val="hlink"/>
                </a:solidFill>
              </a:rPr>
              <a:t>+ n</a:t>
            </a:r>
            <a:r>
              <a:rPr lang="en-US" altLang="en-US" sz="1800">
                <a:solidFill>
                  <a:schemeClr val="hlink"/>
                </a:solidFill>
              </a:rPr>
              <a:t> + 1</a:t>
            </a:r>
            <a:r>
              <a:rPr lang="en-US" altLang="en-US" sz="1800"/>
              <a:t> </a:t>
            </a:r>
            <a:r>
              <a:rPr lang="en-US" altLang="en-US" sz="1800" i="1">
                <a:solidFill>
                  <a:schemeClr val="hlink"/>
                </a:solidFill>
              </a:rPr>
              <a:t>+ </a:t>
            </a:r>
            <a:r>
              <a:rPr lang="en-US" altLang="en-US" sz="1800">
                <a:solidFill>
                  <a:schemeClr val="hlink"/>
                </a:solidFill>
              </a:rPr>
              <a:t>1 = 2</a:t>
            </a:r>
            <a:r>
              <a:rPr lang="en-US" altLang="en-US" sz="1800" i="1">
                <a:solidFill>
                  <a:schemeClr val="hlink"/>
                </a:solidFill>
              </a:rPr>
              <a:t>n</a:t>
            </a:r>
            <a:r>
              <a:rPr lang="en-US" altLang="en-US" sz="1800">
                <a:solidFill>
                  <a:schemeClr val="hlink"/>
                </a:solidFill>
              </a:rPr>
              <a:t>+4 </a:t>
            </a:r>
            <a:r>
              <a:rPr lang="en-US" altLang="en-US" sz="1800">
                <a:solidFill>
                  <a:srgbClr val="010000"/>
                </a:solidFill>
              </a:rPr>
              <a:t>– </a:t>
            </a:r>
            <a:r>
              <a:rPr lang="en-US" altLang="en-US" sz="1800">
                <a:solidFill>
                  <a:srgbClr val="CC0000"/>
                </a:solidFill>
              </a:rPr>
              <a:t>worst case</a:t>
            </a:r>
            <a:endParaRPr lang="en-US" altLang="en-US" sz="1800" i="1"/>
          </a:p>
        </p:txBody>
      </p:sp>
      <p:sp>
        <p:nvSpPr>
          <p:cNvPr id="142344" name="Text Box 9"/>
          <p:cNvSpPr txBox="1">
            <a:spLocks noChangeArrowheads="1"/>
          </p:cNvSpPr>
          <p:nvPr/>
        </p:nvSpPr>
        <p:spPr bwMode="auto">
          <a:xfrm>
            <a:off x="476250" y="1663700"/>
            <a:ext cx="7850188" cy="272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i="1">
                <a:solidFill>
                  <a:srgbClr val="010000"/>
                </a:solidFill>
                <a:latin typeface="Times New Roman" pitchFamily="18" charset="0"/>
              </a:rPr>
              <a:t>LinearSearch</a:t>
            </a:r>
            <a:r>
              <a:rPr lang="en-US" altLang="en-US" sz="2800">
                <a:solidFill>
                  <a:srgbClr val="010000"/>
                </a:solidFill>
                <a:latin typeface="Times New Roman" pitchFamily="18" charset="0"/>
              </a:rPr>
              <a:t>(A, </a:t>
            </a:r>
            <a:r>
              <a:rPr lang="en-US" altLang="en-US" sz="2800" i="1">
                <a:solidFill>
                  <a:srgbClr val="010000"/>
                </a:solidFill>
                <a:latin typeface="Times New Roman" pitchFamily="18" charset="0"/>
              </a:rPr>
              <a:t>key</a:t>
            </a:r>
            <a:r>
              <a:rPr lang="en-US" altLang="en-US" sz="2800">
                <a:solidFill>
                  <a:srgbClr val="010000"/>
                </a:solidFill>
                <a:latin typeface="Times New Roman" pitchFamily="18" charset="0"/>
              </a:rPr>
              <a:t>)                      </a:t>
            </a:r>
            <a:r>
              <a:rPr lang="en-US" altLang="en-US" sz="2800" i="1">
                <a:solidFill>
                  <a:srgbClr val="010000"/>
                </a:solidFill>
                <a:latin typeface="Times New Roman" pitchFamily="18" charset="0"/>
              </a:rPr>
              <a:t>cost        times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10000"/>
                </a:solidFill>
                <a:latin typeface="Times New Roman" pitchFamily="18" charset="0"/>
              </a:rPr>
              <a:t>1    </a:t>
            </a:r>
            <a:r>
              <a:rPr lang="en-US" altLang="en-US" sz="2200" i="1">
                <a:solidFill>
                  <a:srgbClr val="010000"/>
                </a:solidFill>
                <a:latin typeface="Times New Roman" pitchFamily="18" charset="0"/>
              </a:rPr>
              <a:t>i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 1                                                      1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            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2   while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i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≤ n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and A[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] !=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key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             n+1</a:t>
            </a:r>
            <a:endParaRPr lang="en-US" altLang="en-US" sz="2400" baseline="-25000">
              <a:solidFill>
                <a:srgbClr val="01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3         do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++                           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             n</a:t>
            </a:r>
            <a:endParaRPr lang="en-US" altLang="en-US" sz="2400" baseline="-25000">
              <a:solidFill>
                <a:srgbClr val="01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 eaLnBrk="1" hangingPunct="1">
              <a:spcBef>
                <a:spcPct val="0"/>
              </a:spcBef>
              <a:buFontTx/>
              <a:buAutoNum type="arabicPlain" startAt="4"/>
            </a:pP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if 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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                          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en-US" sz="2400" baseline="-250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</a:t>
            </a:r>
            <a:endParaRPr lang="en-US" altLang="en-US" sz="2400" baseline="-25000">
              <a:solidFill>
                <a:srgbClr val="01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 eaLnBrk="1" hangingPunct="1">
              <a:spcBef>
                <a:spcPct val="0"/>
              </a:spcBef>
              <a:buFontTx/>
              <a:buAutoNum type="arabicPlain" startAt="4"/>
            </a:pP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then return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true           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en-US" sz="2400" baseline="-250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AutoNum type="arabicPlain" startAt="4"/>
            </a:pP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    else  return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false          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1              1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2661120" y="4777560"/>
              <a:ext cx="2634840" cy="12412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51760" y="4768200"/>
                <a:ext cx="2653560" cy="12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911334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Simple Example – </a:t>
            </a:r>
            <a:r>
              <a:rPr lang="en-US" altLang="en-US" i="1"/>
              <a:t>Linear Search </a:t>
            </a:r>
          </a:p>
        </p:txBody>
      </p:sp>
      <p:sp>
        <p:nvSpPr>
          <p:cNvPr id="1433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2425" y="746125"/>
            <a:ext cx="8189913" cy="95091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INPUT: a sequence of </a:t>
            </a:r>
            <a:r>
              <a:rPr lang="en-US" altLang="en-US" sz="2400" b="1" i="1">
                <a:solidFill>
                  <a:srgbClr val="CC0000"/>
                </a:solidFill>
              </a:rPr>
              <a:t>n</a:t>
            </a:r>
            <a:r>
              <a:rPr lang="en-US" altLang="en-US" sz="2400" b="1">
                <a:solidFill>
                  <a:srgbClr val="CC0000"/>
                </a:solidFill>
              </a:rPr>
              <a:t> numbers, </a:t>
            </a:r>
            <a:r>
              <a:rPr lang="en-US" altLang="en-US" sz="2400" b="1" i="1">
                <a:solidFill>
                  <a:srgbClr val="CC0000"/>
                </a:solidFill>
              </a:rPr>
              <a:t>key</a:t>
            </a:r>
            <a:r>
              <a:rPr lang="en-US" altLang="en-US" sz="2400" b="1">
                <a:solidFill>
                  <a:srgbClr val="CC0000"/>
                </a:solidFill>
              </a:rPr>
              <a:t> to search for.</a:t>
            </a:r>
          </a:p>
          <a:p>
            <a:pPr>
              <a:buFont typeface="Wingdings" pitchFamily="2" charset="2"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OUTPUT:  </a:t>
            </a:r>
            <a:r>
              <a:rPr lang="en-US" altLang="en-US" sz="2400" b="1" i="1">
                <a:solidFill>
                  <a:srgbClr val="CC0000"/>
                </a:solidFill>
              </a:rPr>
              <a:t>true</a:t>
            </a:r>
            <a:r>
              <a:rPr lang="en-US" altLang="en-US" sz="2400" b="1">
                <a:solidFill>
                  <a:srgbClr val="CC0000"/>
                </a:solidFill>
              </a:rPr>
              <a:t> if </a:t>
            </a:r>
            <a:r>
              <a:rPr lang="en-US" altLang="en-US" sz="2400" b="1" i="1">
                <a:solidFill>
                  <a:srgbClr val="CC0000"/>
                </a:solidFill>
              </a:rPr>
              <a:t>key</a:t>
            </a:r>
            <a:r>
              <a:rPr lang="en-US" altLang="en-US" sz="2400" b="1">
                <a:solidFill>
                  <a:srgbClr val="CC0000"/>
                </a:solidFill>
              </a:rPr>
              <a:t> occurs in the sequence, </a:t>
            </a:r>
            <a:r>
              <a:rPr lang="en-US" altLang="en-US" sz="2400" b="1" i="1">
                <a:solidFill>
                  <a:srgbClr val="CC0000"/>
                </a:solidFill>
              </a:rPr>
              <a:t>false</a:t>
            </a:r>
            <a:r>
              <a:rPr lang="en-US" altLang="en-US" sz="2400" b="1">
                <a:solidFill>
                  <a:srgbClr val="CC0000"/>
                </a:solidFill>
              </a:rPr>
              <a:t> otherwise.</a:t>
            </a:r>
            <a:endParaRPr lang="en-US" altLang="en-US" sz="2400" b="1" i="1">
              <a:solidFill>
                <a:srgbClr val="CC0000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en-US" sz="2400" b="1"/>
          </a:p>
          <a:p>
            <a:pPr>
              <a:buFont typeface="Wingdings" pitchFamily="2" charset="2"/>
              <a:buNone/>
            </a:pPr>
            <a:endParaRPr lang="en-US" altLang="en-US" sz="2400"/>
          </a:p>
          <a:p>
            <a:pPr>
              <a:buFont typeface="Wingdings" pitchFamily="2" charset="2"/>
              <a:buNone/>
            </a:pPr>
            <a:endParaRPr lang="en-US" altLang="en-US" sz="2400">
              <a:solidFill>
                <a:srgbClr val="CC99FF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en-US" sz="2400">
              <a:solidFill>
                <a:srgbClr val="CC99FF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en-US" sz="2400">
              <a:solidFill>
                <a:srgbClr val="CC99FF"/>
              </a:solidFill>
            </a:endParaRPr>
          </a:p>
        </p:txBody>
      </p:sp>
      <p:graphicFrame>
        <p:nvGraphicFramePr>
          <p:cNvPr id="143365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483350" y="2254250"/>
          <a:ext cx="406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048" imgH="291847" progId="Equation.3">
                  <p:embed/>
                </p:oleObj>
              </mc:Choice>
              <mc:Fallback>
                <p:oleObj name="Equation" r:id="rId2" imgW="406048" imgH="291847" progId="Equation.3">
                  <p:embed/>
                  <p:pic>
                    <p:nvPicPr>
                      <p:cNvPr id="143365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3350" y="2254250"/>
                        <a:ext cx="4064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6" name="Text Box 6"/>
          <p:cNvSpPr txBox="1">
            <a:spLocks noChangeArrowheads="1"/>
          </p:cNvSpPr>
          <p:nvPr/>
        </p:nvSpPr>
        <p:spPr bwMode="auto">
          <a:xfrm>
            <a:off x="396875" y="49101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3367" name="Text Box 7"/>
          <p:cNvSpPr txBox="1">
            <a:spLocks noChangeArrowheads="1"/>
          </p:cNvSpPr>
          <p:nvPr/>
        </p:nvSpPr>
        <p:spPr bwMode="auto">
          <a:xfrm>
            <a:off x="504825" y="4514850"/>
            <a:ext cx="783907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If we assume that we search for a random item in the list,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on an average, Statements 2 and 3 will be executed </a:t>
            </a:r>
            <a:r>
              <a:rPr lang="en-US" altLang="en-US" sz="1800" i="1"/>
              <a:t>n</a:t>
            </a:r>
            <a:r>
              <a:rPr lang="en-US" altLang="en-US" sz="1800"/>
              <a:t>/2 times.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Running times of other statements are independent of input.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Hence, </a:t>
            </a:r>
            <a:r>
              <a:rPr lang="en-US" altLang="en-US" sz="1800">
                <a:solidFill>
                  <a:srgbClr val="CC0000"/>
                </a:solidFill>
              </a:rPr>
              <a:t>average-case complexity</a:t>
            </a:r>
            <a:r>
              <a:rPr lang="en-US" altLang="en-US" sz="1800"/>
              <a:t> is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       </a:t>
            </a:r>
            <a:r>
              <a:rPr lang="en-US" altLang="en-US" sz="1800">
                <a:solidFill>
                  <a:schemeClr val="hlink"/>
                </a:solidFill>
              </a:rPr>
              <a:t>1+ </a:t>
            </a:r>
            <a:r>
              <a:rPr lang="en-US" altLang="en-US" sz="1800" i="1">
                <a:solidFill>
                  <a:schemeClr val="hlink"/>
                </a:solidFill>
              </a:rPr>
              <a:t>n/</a:t>
            </a:r>
            <a:r>
              <a:rPr lang="en-US" altLang="en-US" sz="1800">
                <a:solidFill>
                  <a:schemeClr val="hlink"/>
                </a:solidFill>
              </a:rPr>
              <a:t>2</a:t>
            </a:r>
            <a:r>
              <a:rPr lang="en-US" altLang="en-US" sz="1800" i="1">
                <a:solidFill>
                  <a:schemeClr val="hlink"/>
                </a:solidFill>
              </a:rPr>
              <a:t>+ n/</a:t>
            </a:r>
            <a:r>
              <a:rPr lang="en-US" altLang="en-US" sz="1800">
                <a:solidFill>
                  <a:schemeClr val="hlink"/>
                </a:solidFill>
              </a:rPr>
              <a:t>2 + 1</a:t>
            </a:r>
            <a:r>
              <a:rPr lang="en-US" altLang="en-US" sz="1800"/>
              <a:t> </a:t>
            </a:r>
            <a:r>
              <a:rPr lang="en-US" altLang="en-US" sz="1800" i="1">
                <a:solidFill>
                  <a:schemeClr val="hlink"/>
                </a:solidFill>
              </a:rPr>
              <a:t>+ </a:t>
            </a:r>
            <a:r>
              <a:rPr lang="en-US" altLang="en-US" sz="1800">
                <a:solidFill>
                  <a:schemeClr val="hlink"/>
                </a:solidFill>
              </a:rPr>
              <a:t>1 = </a:t>
            </a:r>
            <a:r>
              <a:rPr lang="en-US" altLang="en-US" sz="1800" i="1">
                <a:solidFill>
                  <a:schemeClr val="hlink"/>
                </a:solidFill>
              </a:rPr>
              <a:t>n</a:t>
            </a:r>
            <a:r>
              <a:rPr lang="en-US" altLang="en-US" sz="1800">
                <a:solidFill>
                  <a:schemeClr val="hlink"/>
                </a:solidFill>
              </a:rPr>
              <a:t>+3</a:t>
            </a:r>
            <a:endParaRPr lang="en-US" altLang="en-US" sz="1800" i="1"/>
          </a:p>
        </p:txBody>
      </p:sp>
      <p:sp>
        <p:nvSpPr>
          <p:cNvPr id="143368" name="Text Box 9"/>
          <p:cNvSpPr txBox="1">
            <a:spLocks noChangeArrowheads="1"/>
          </p:cNvSpPr>
          <p:nvPr/>
        </p:nvSpPr>
        <p:spPr bwMode="auto">
          <a:xfrm>
            <a:off x="476250" y="1663700"/>
            <a:ext cx="7850188" cy="272256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i="1">
                <a:solidFill>
                  <a:srgbClr val="010000"/>
                </a:solidFill>
                <a:latin typeface="Times New Roman" pitchFamily="18" charset="0"/>
              </a:rPr>
              <a:t>LinearSearch</a:t>
            </a:r>
            <a:r>
              <a:rPr lang="en-US" altLang="en-US" sz="2800">
                <a:solidFill>
                  <a:srgbClr val="010000"/>
                </a:solidFill>
                <a:latin typeface="Times New Roman" pitchFamily="18" charset="0"/>
              </a:rPr>
              <a:t>(A, </a:t>
            </a:r>
            <a:r>
              <a:rPr lang="en-US" altLang="en-US" sz="2800" i="1">
                <a:solidFill>
                  <a:srgbClr val="010000"/>
                </a:solidFill>
                <a:latin typeface="Times New Roman" pitchFamily="18" charset="0"/>
              </a:rPr>
              <a:t>key</a:t>
            </a:r>
            <a:r>
              <a:rPr lang="en-US" altLang="en-US" sz="2800">
                <a:solidFill>
                  <a:srgbClr val="010000"/>
                </a:solidFill>
                <a:latin typeface="Times New Roman" pitchFamily="18" charset="0"/>
              </a:rPr>
              <a:t>)                      </a:t>
            </a:r>
            <a:r>
              <a:rPr lang="en-US" altLang="en-US" sz="2800" i="1">
                <a:solidFill>
                  <a:srgbClr val="010000"/>
                </a:solidFill>
                <a:latin typeface="Times New Roman" pitchFamily="18" charset="0"/>
              </a:rPr>
              <a:t>cost        times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10000"/>
                </a:solidFill>
                <a:latin typeface="Times New Roman" pitchFamily="18" charset="0"/>
              </a:rPr>
              <a:t>1    </a:t>
            </a:r>
            <a:r>
              <a:rPr lang="en-US" altLang="en-US" sz="2200" i="1">
                <a:solidFill>
                  <a:srgbClr val="010000"/>
                </a:solidFill>
                <a:latin typeface="Times New Roman" pitchFamily="18" charset="0"/>
              </a:rPr>
              <a:t>i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 1                                                      1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            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2   while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i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≤ n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and A[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] !=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key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              n</a:t>
            </a:r>
            <a:endParaRPr lang="en-US" altLang="en-US" sz="2400" baseline="-25000">
              <a:solidFill>
                <a:srgbClr val="01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3         do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++                           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              n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-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</a:t>
            </a:r>
            <a:endParaRPr lang="en-US" altLang="en-US" sz="2400" baseline="-25000">
              <a:solidFill>
                <a:srgbClr val="01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 eaLnBrk="1" hangingPunct="1">
              <a:spcBef>
                <a:spcPct val="0"/>
              </a:spcBef>
              <a:buFontTx/>
              <a:buAutoNum type="arabicPlain" startAt="4"/>
            </a:pP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if 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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                          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en-US" sz="2400" baseline="-250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</a:t>
            </a:r>
            <a:endParaRPr lang="en-US" altLang="en-US" sz="2400" baseline="-25000">
              <a:solidFill>
                <a:srgbClr val="01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 eaLnBrk="1" hangingPunct="1">
              <a:spcBef>
                <a:spcPct val="0"/>
              </a:spcBef>
              <a:buFontTx/>
              <a:buAutoNum type="arabicPlain" startAt="4"/>
            </a:pP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then return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true                              </a:t>
            </a:r>
            <a:r>
              <a:rPr lang="en-US" altLang="en-US" sz="1400" i="1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en-US" sz="2400" baseline="-25000">
                <a:solidFill>
                  <a:srgbClr val="01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AutoNum type="arabicPlain" startAt="4"/>
            </a:pP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     else  return </a:t>
            </a:r>
            <a:r>
              <a:rPr lang="en-US" altLang="en-US" sz="2400" i="1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false                             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             </a:t>
            </a:r>
            <a:r>
              <a:rPr lang="en-US" altLang="en-US" sz="120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en-US" sz="2400">
                <a:solidFill>
                  <a:srgbClr val="010000"/>
                </a:solidFill>
                <a:latin typeface="Times New Roman" pitchFamily="18" charset="0"/>
                <a:sym typeface="Symbol" pitchFamily="18" charset="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6474656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growth</a:t>
            </a:r>
          </a:p>
        </p:txBody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458200" cy="51276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/>
              <a:t>Principal interest is to determine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how running time grows with input size – </a:t>
            </a:r>
            <a:r>
              <a:rPr lang="en-US" altLang="en-US" sz="2000" b="1" u="sng">
                <a:solidFill>
                  <a:srgbClr val="CC0000"/>
                </a:solidFill>
              </a:rPr>
              <a:t>Order of growth</a:t>
            </a:r>
            <a:r>
              <a:rPr lang="en-US" altLang="en-US" sz="2000"/>
              <a:t>.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the running time for large inputs – </a:t>
            </a:r>
            <a:r>
              <a:rPr lang="en-US" altLang="en-US" sz="2000" b="1" u="sng">
                <a:solidFill>
                  <a:srgbClr val="CC0000"/>
                </a:solidFill>
              </a:rPr>
              <a:t>Asymptotic complexity</a:t>
            </a:r>
            <a:r>
              <a:rPr lang="en-US" altLang="en-US" sz="2000"/>
              <a:t>.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In determining the above,</a:t>
            </a:r>
          </a:p>
          <a:p>
            <a:pPr lvl="1">
              <a:lnSpc>
                <a:spcPct val="80000"/>
              </a:lnSpc>
            </a:pPr>
            <a:r>
              <a:rPr lang="en-US" altLang="en-US" sz="2000" b="1">
                <a:solidFill>
                  <a:schemeClr val="hlink"/>
                </a:solidFill>
              </a:rPr>
              <a:t>Lower-order terms and coefficient of the highest-order term are insignificant.</a:t>
            </a:r>
          </a:p>
          <a:p>
            <a:pPr lvl="1">
              <a:lnSpc>
                <a:spcPct val="80000"/>
              </a:lnSpc>
            </a:pPr>
            <a:r>
              <a:rPr lang="en-US" altLang="en-US" sz="2000" b="1" u="sng">
                <a:solidFill>
                  <a:srgbClr val="CC0000"/>
                </a:solidFill>
              </a:rPr>
              <a:t>Ex:</a:t>
            </a:r>
            <a:r>
              <a:rPr lang="en-US" altLang="en-US" sz="2000" b="1">
                <a:solidFill>
                  <a:srgbClr val="CC0000"/>
                </a:solidFill>
              </a:rPr>
              <a:t> In 7</a:t>
            </a:r>
            <a:r>
              <a:rPr lang="en-US" altLang="en-US" sz="2000" b="1" i="1">
                <a:solidFill>
                  <a:srgbClr val="CC0000"/>
                </a:solidFill>
              </a:rPr>
              <a:t>n</a:t>
            </a:r>
            <a:r>
              <a:rPr lang="en-US" altLang="en-US" sz="2000" b="1" baseline="30000">
                <a:solidFill>
                  <a:srgbClr val="CC0000"/>
                </a:solidFill>
              </a:rPr>
              <a:t>5</a:t>
            </a:r>
            <a:r>
              <a:rPr lang="en-US" altLang="en-US" sz="2000" b="1">
                <a:solidFill>
                  <a:srgbClr val="CC0000"/>
                </a:solidFill>
              </a:rPr>
              <a:t>+6</a:t>
            </a:r>
            <a:r>
              <a:rPr lang="en-US" altLang="en-US" sz="2000" b="1" i="1">
                <a:solidFill>
                  <a:srgbClr val="CC0000"/>
                </a:solidFill>
              </a:rPr>
              <a:t>n</a:t>
            </a:r>
            <a:r>
              <a:rPr lang="en-US" altLang="en-US" sz="2000" b="1" baseline="30000">
                <a:solidFill>
                  <a:srgbClr val="CC0000"/>
                </a:solidFill>
              </a:rPr>
              <a:t>3</a:t>
            </a:r>
            <a:r>
              <a:rPr lang="en-US" altLang="en-US" sz="2000" b="1">
                <a:solidFill>
                  <a:srgbClr val="CC0000"/>
                </a:solidFill>
              </a:rPr>
              <a:t>+</a:t>
            </a:r>
            <a:r>
              <a:rPr lang="en-US" altLang="en-US" sz="2000" b="1" i="1">
                <a:solidFill>
                  <a:srgbClr val="CC0000"/>
                </a:solidFill>
              </a:rPr>
              <a:t>n</a:t>
            </a:r>
            <a:r>
              <a:rPr lang="en-US" altLang="en-US" sz="2000" b="1">
                <a:solidFill>
                  <a:srgbClr val="CC0000"/>
                </a:solidFill>
              </a:rPr>
              <a:t>+10, which term dominates the running time for very large </a:t>
            </a:r>
            <a:r>
              <a:rPr lang="en-US" altLang="en-US" sz="2000" b="1" i="1">
                <a:solidFill>
                  <a:srgbClr val="CC0000"/>
                </a:solidFill>
              </a:rPr>
              <a:t>n</a:t>
            </a:r>
            <a:r>
              <a:rPr lang="en-US" altLang="en-US" sz="2000" b="1">
                <a:solidFill>
                  <a:srgbClr val="CC0000"/>
                </a:solidFill>
              </a:rPr>
              <a:t>?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Complexity of an algorithm is denoted by the highest-order term in the expression for running time.</a:t>
            </a:r>
          </a:p>
          <a:p>
            <a:pPr lvl="1">
              <a:lnSpc>
                <a:spcPct val="80000"/>
              </a:lnSpc>
            </a:pPr>
            <a:r>
              <a:rPr lang="en-US" altLang="en-US" sz="2000" b="1" u="sng">
                <a:solidFill>
                  <a:schemeClr val="hlink"/>
                </a:solidFill>
              </a:rPr>
              <a:t>Ex:</a:t>
            </a:r>
            <a:r>
              <a:rPr lang="en-US" altLang="en-US" sz="2000"/>
              <a:t> </a:t>
            </a:r>
            <a:r>
              <a:rPr lang="el-GR" altLang="en-US" sz="2000" b="1" i="1">
                <a:solidFill>
                  <a:srgbClr val="CC0000"/>
                </a:solidFill>
                <a:cs typeface="Times New Roman" pitchFamily="18" charset="0"/>
              </a:rPr>
              <a:t>Ο</a:t>
            </a:r>
            <a:r>
              <a:rPr lang="en-US" altLang="en-US" sz="2000" b="1">
                <a:solidFill>
                  <a:srgbClr val="CC0000"/>
                </a:solidFill>
                <a:cs typeface="Times New Roman" pitchFamily="18" charset="0"/>
              </a:rPr>
              <a:t>(</a:t>
            </a:r>
            <a:r>
              <a:rPr lang="en-US" altLang="en-US" sz="2000" b="1" i="1">
                <a:solidFill>
                  <a:srgbClr val="CC0000"/>
                </a:solidFill>
                <a:cs typeface="Times New Roman" pitchFamily="18" charset="0"/>
              </a:rPr>
              <a:t>n</a:t>
            </a:r>
            <a:r>
              <a:rPr lang="en-US" altLang="en-US" sz="2000" b="1">
                <a:solidFill>
                  <a:srgbClr val="CC0000"/>
                </a:solidFill>
                <a:cs typeface="Times New Roman" pitchFamily="18" charset="0"/>
              </a:rPr>
              <a:t>), </a:t>
            </a:r>
            <a:r>
              <a:rPr lang="el-GR" altLang="en-US" sz="2000" b="1">
                <a:solidFill>
                  <a:srgbClr val="CC0000"/>
                </a:solidFill>
                <a:cs typeface="Times New Roman" pitchFamily="18" charset="0"/>
              </a:rPr>
              <a:t>Θ</a:t>
            </a:r>
            <a:r>
              <a:rPr lang="en-US" altLang="en-US" sz="2000" b="1">
                <a:solidFill>
                  <a:srgbClr val="CC0000"/>
                </a:solidFill>
                <a:cs typeface="Times New Roman" pitchFamily="18" charset="0"/>
              </a:rPr>
              <a:t>(1), </a:t>
            </a:r>
            <a:r>
              <a:rPr lang="el-GR" altLang="en-US" sz="2000" b="1">
                <a:solidFill>
                  <a:srgbClr val="CC0000"/>
                </a:solidFill>
                <a:cs typeface="Times New Roman" pitchFamily="18" charset="0"/>
              </a:rPr>
              <a:t>Ω</a:t>
            </a:r>
            <a:r>
              <a:rPr lang="en-US" altLang="en-US" sz="2000" b="1">
                <a:solidFill>
                  <a:srgbClr val="CC0000"/>
                </a:solidFill>
                <a:cs typeface="Times New Roman" pitchFamily="18" charset="0"/>
              </a:rPr>
              <a:t>(</a:t>
            </a:r>
            <a:r>
              <a:rPr lang="en-US" altLang="en-US" sz="2000" b="1" i="1">
                <a:solidFill>
                  <a:srgbClr val="CC0000"/>
                </a:solidFill>
                <a:cs typeface="Times New Roman" pitchFamily="18" charset="0"/>
              </a:rPr>
              <a:t>n</a:t>
            </a:r>
            <a:r>
              <a:rPr lang="en-US" altLang="en-US" sz="2000" b="1" baseline="30000">
                <a:solidFill>
                  <a:srgbClr val="CC0000"/>
                </a:solidFill>
                <a:cs typeface="Times New Roman" pitchFamily="18" charset="0"/>
              </a:rPr>
              <a:t>2</a:t>
            </a:r>
            <a:r>
              <a:rPr lang="en-US" altLang="en-US" sz="2000" b="1">
                <a:solidFill>
                  <a:srgbClr val="CC0000"/>
                </a:solidFill>
                <a:cs typeface="Times New Roman" pitchFamily="18" charset="0"/>
              </a:rPr>
              <a:t>)</a:t>
            </a:r>
            <a:r>
              <a:rPr lang="en-US" altLang="en-US" sz="2000">
                <a:cs typeface="Times New Roman" pitchFamily="18" charset="0"/>
              </a:rPr>
              <a:t>, etc.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cs typeface="Times New Roman" pitchFamily="18" charset="0"/>
              </a:rPr>
              <a:t>Constant complexity when running time is independent of the input size – denoted </a:t>
            </a:r>
            <a:r>
              <a:rPr lang="el-GR" altLang="en-US" sz="2000" i="1">
                <a:cs typeface="Times New Roman" pitchFamily="18" charset="0"/>
              </a:rPr>
              <a:t>Ο</a:t>
            </a:r>
            <a:r>
              <a:rPr lang="en-US" altLang="en-US" sz="2000">
                <a:cs typeface="Times New Roman" pitchFamily="18" charset="0"/>
              </a:rPr>
              <a:t>(1).</a:t>
            </a:r>
          </a:p>
          <a:p>
            <a:pPr lvl="1">
              <a:lnSpc>
                <a:spcPct val="80000"/>
              </a:lnSpc>
            </a:pPr>
            <a:r>
              <a:rPr lang="en-US" altLang="en-US" sz="2000" b="1" u="sng">
                <a:solidFill>
                  <a:schemeClr val="hlink"/>
                </a:solidFill>
                <a:cs typeface="Times New Roman" pitchFamily="18" charset="0"/>
              </a:rPr>
              <a:t>Linear Search</a:t>
            </a:r>
            <a:r>
              <a:rPr lang="en-US" altLang="en-US" sz="2000">
                <a:cs typeface="Times New Roman" pitchFamily="18" charset="0"/>
              </a:rPr>
              <a:t>: </a:t>
            </a:r>
            <a:r>
              <a:rPr lang="en-US" altLang="en-US" sz="2000" b="1">
                <a:solidFill>
                  <a:srgbClr val="CC0000"/>
                </a:solidFill>
                <a:cs typeface="Times New Roman" pitchFamily="18" charset="0"/>
              </a:rPr>
              <a:t>Best case</a:t>
            </a:r>
            <a:r>
              <a:rPr lang="en-US" altLang="en-US" sz="2000">
                <a:cs typeface="Times New Roman" pitchFamily="18" charset="0"/>
              </a:rPr>
              <a:t> </a:t>
            </a:r>
            <a:r>
              <a:rPr lang="el-GR" altLang="en-US" sz="2000" b="1">
                <a:solidFill>
                  <a:srgbClr val="CC0000"/>
                </a:solidFill>
                <a:cs typeface="Times New Roman" pitchFamily="18" charset="0"/>
              </a:rPr>
              <a:t>Θ</a:t>
            </a:r>
            <a:r>
              <a:rPr lang="en-US" altLang="en-US" sz="2000" b="1">
                <a:solidFill>
                  <a:srgbClr val="CC0000"/>
                </a:solidFill>
                <a:cs typeface="Times New Roman" pitchFamily="18" charset="0"/>
              </a:rPr>
              <a:t>(1), Worst and Average cases: </a:t>
            </a:r>
            <a:r>
              <a:rPr lang="el-GR" altLang="en-US" sz="2000" b="1">
                <a:solidFill>
                  <a:srgbClr val="CC0000"/>
                </a:solidFill>
                <a:cs typeface="Times New Roman" pitchFamily="18" charset="0"/>
              </a:rPr>
              <a:t>Θ</a:t>
            </a:r>
            <a:r>
              <a:rPr lang="en-US" altLang="en-US" sz="2000" b="1">
                <a:solidFill>
                  <a:srgbClr val="CC0000"/>
                </a:solidFill>
                <a:cs typeface="Times New Roman" pitchFamily="18" charset="0"/>
              </a:rPr>
              <a:t>(n).</a:t>
            </a:r>
            <a:endParaRPr lang="en-US" altLang="en-US" sz="2000"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400">
                <a:cs typeface="Times New Roman" pitchFamily="18" charset="0"/>
              </a:rPr>
              <a:t>More on </a:t>
            </a:r>
            <a:r>
              <a:rPr lang="el-GR" altLang="en-US" sz="2400" i="1">
                <a:cs typeface="Times New Roman" pitchFamily="18" charset="0"/>
              </a:rPr>
              <a:t>Ο</a:t>
            </a:r>
            <a:r>
              <a:rPr lang="en-US" altLang="en-US" sz="2400">
                <a:cs typeface="Times New Roman" pitchFamily="18" charset="0"/>
              </a:rPr>
              <a:t>, </a:t>
            </a:r>
            <a:r>
              <a:rPr lang="el-GR" altLang="en-US" sz="2400">
                <a:cs typeface="Times New Roman" pitchFamily="18" charset="0"/>
              </a:rPr>
              <a:t>Θ</a:t>
            </a:r>
            <a:r>
              <a:rPr lang="en-US" altLang="en-US" sz="2400">
                <a:cs typeface="Times New Roman" pitchFamily="18" charset="0"/>
              </a:rPr>
              <a:t>, and </a:t>
            </a:r>
            <a:r>
              <a:rPr lang="el-GR" altLang="en-US" sz="2400">
                <a:cs typeface="Times New Roman" pitchFamily="18" charset="0"/>
              </a:rPr>
              <a:t>Ω</a:t>
            </a:r>
            <a:r>
              <a:rPr lang="en-US" altLang="en-US" sz="2400">
                <a:cs typeface="Times New Roman" pitchFamily="18" charset="0"/>
              </a:rPr>
              <a:t> in next class. Use </a:t>
            </a:r>
            <a:r>
              <a:rPr lang="el-GR" altLang="en-US" sz="2400">
                <a:cs typeface="Times New Roman" pitchFamily="18" charset="0"/>
              </a:rPr>
              <a:t>Θ</a:t>
            </a:r>
            <a:r>
              <a:rPr lang="en-US" altLang="en-US" sz="2400">
                <a:cs typeface="Times New Roman" pitchFamily="18" charset="0"/>
              </a:rPr>
              <a:t> for the present.</a:t>
            </a:r>
            <a:endParaRPr lang="el-GR" altLang="en-US" sz="240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077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1111</Words>
  <Application>Microsoft Macintosh PowerPoint</Application>
  <PresentationFormat>On-screen Show (4:3)</PresentationFormat>
  <Paragraphs>247</Paragraphs>
  <Slides>10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Equation</vt:lpstr>
      <vt:lpstr>PowerPoint Presentation</vt:lpstr>
      <vt:lpstr>List: Traverse through the list</vt:lpstr>
      <vt:lpstr>List: Read/Update an Element</vt:lpstr>
      <vt:lpstr>List: Add Element</vt:lpstr>
      <vt:lpstr>List: Add Element</vt:lpstr>
      <vt:lpstr>List: Add Element</vt:lpstr>
      <vt:lpstr>A Simple Example – Linear Search </vt:lpstr>
      <vt:lpstr>A Simple Example – Linear Search </vt:lpstr>
      <vt:lpstr>A Simple Example – Linear Search </vt:lpstr>
      <vt:lpstr>Order of growth</vt:lpstr>
    </vt:vector>
  </TitlesOfParts>
  <Company>MyCompanyName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MyUserName</dc:creator>
  <cp:lastModifiedBy>Dr. Hussain Dawood - NSU</cp:lastModifiedBy>
  <cp:revision>17</cp:revision>
  <dcterms:created xsi:type="dcterms:W3CDTF">2017-02-09T06:13:58Z</dcterms:created>
  <dcterms:modified xsi:type="dcterms:W3CDTF">2026-02-16T07:37:57Z</dcterms:modified>
</cp:coreProperties>
</file>