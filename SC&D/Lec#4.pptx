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5"/>
  </p:notesMasterIdLst>
  <p:sldIdLst>
    <p:sldId id="499" r:id="rId2"/>
    <p:sldId id="462" r:id="rId3"/>
    <p:sldId id="508" r:id="rId4"/>
    <p:sldId id="463" r:id="rId5"/>
    <p:sldId id="509" r:id="rId6"/>
    <p:sldId id="464" r:id="rId7"/>
    <p:sldId id="510" r:id="rId8"/>
    <p:sldId id="465" r:id="rId9"/>
    <p:sldId id="466" r:id="rId10"/>
    <p:sldId id="511" r:id="rId11"/>
    <p:sldId id="512" r:id="rId12"/>
    <p:sldId id="513" r:id="rId13"/>
    <p:sldId id="514" r:id="rId14"/>
    <p:sldId id="515" r:id="rId15"/>
    <p:sldId id="516" r:id="rId16"/>
    <p:sldId id="517" r:id="rId17"/>
    <p:sldId id="518" r:id="rId18"/>
    <p:sldId id="519" r:id="rId19"/>
    <p:sldId id="520" r:id="rId20"/>
    <p:sldId id="521" r:id="rId21"/>
    <p:sldId id="522" r:id="rId22"/>
    <p:sldId id="523" r:id="rId23"/>
    <p:sldId id="524" r:id="rId24"/>
    <p:sldId id="525" r:id="rId25"/>
    <p:sldId id="526" r:id="rId26"/>
    <p:sldId id="527" r:id="rId27"/>
    <p:sldId id="528" r:id="rId28"/>
    <p:sldId id="529" r:id="rId29"/>
    <p:sldId id="530" r:id="rId30"/>
    <p:sldId id="531" r:id="rId31"/>
    <p:sldId id="532" r:id="rId32"/>
    <p:sldId id="533" r:id="rId33"/>
    <p:sldId id="49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18DEA9-7CA1-4A1A-92C5-8326BC3190D2}">
          <p14:sldIdLst>
            <p14:sldId id="499"/>
            <p14:sldId id="462"/>
            <p14:sldId id="508"/>
            <p14:sldId id="463"/>
            <p14:sldId id="509"/>
            <p14:sldId id="464"/>
            <p14:sldId id="510"/>
            <p14:sldId id="465"/>
            <p14:sldId id="466"/>
            <p14:sldId id="511"/>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49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0416" autoAdjust="0"/>
  </p:normalViewPr>
  <p:slideViewPr>
    <p:cSldViewPr snapToGrid="0">
      <p:cViewPr>
        <p:scale>
          <a:sx n="100" d="100"/>
          <a:sy n="100" d="100"/>
        </p:scale>
        <p:origin x="-62" y="-389"/>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40F543-996E-4C04-BA92-4A6226A39079}"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11986E-0B3A-4003-B9F8-DCB60AA49808}" type="slidenum">
              <a:rPr lang="en-US" smtClean="0"/>
              <a:t>‹#›</a:t>
            </a:fld>
            <a:endParaRPr lang="en-US"/>
          </a:p>
        </p:txBody>
      </p:sp>
    </p:spTree>
    <p:extLst>
      <p:ext uri="{BB962C8B-B14F-4D97-AF65-F5344CB8AC3E}">
        <p14:creationId xmlns:p14="http://schemas.microsoft.com/office/powerpoint/2010/main" val="3254213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ln/>
        </p:spPr>
        <p:txBody>
          <a:bodyPr/>
          <a:lstStyle/>
          <a:p>
            <a:endParaRPr lang="en-US"/>
          </a:p>
        </p:txBody>
      </p:sp>
      <p:sp>
        <p:nvSpPr>
          <p:cNvPr id="2969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710461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body" idx="1"/>
          </p:nvPr>
        </p:nvSpPr>
        <p:spPr>
          <a:ln/>
        </p:spPr>
        <p:txBody>
          <a:bodyPr/>
          <a:lstStyle/>
          <a:p>
            <a:endParaRPr lang="en-US"/>
          </a:p>
        </p:txBody>
      </p:sp>
      <p:sp>
        <p:nvSpPr>
          <p:cNvPr id="7270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74529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11986E-0B3A-4003-B9F8-DCB60AA49808}" type="slidenum">
              <a:rPr lang="en-US" smtClean="0"/>
              <a:t>24</a:t>
            </a:fld>
            <a:endParaRPr lang="en-US"/>
          </a:p>
        </p:txBody>
      </p:sp>
    </p:spTree>
    <p:extLst>
      <p:ext uri="{BB962C8B-B14F-4D97-AF65-F5344CB8AC3E}">
        <p14:creationId xmlns:p14="http://schemas.microsoft.com/office/powerpoint/2010/main" val="3592773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0B596F-9ACE-421A-8895-958F67F0321B}" type="datetime1">
              <a:rPr lang="en-US" smtClean="0"/>
              <a:t>2/21/2026</a:t>
            </a:fld>
            <a:endParaRPr lang="en-US"/>
          </a:p>
        </p:txBody>
      </p:sp>
      <p:sp>
        <p:nvSpPr>
          <p:cNvPr id="6" name="Slide Number Placeholder 5"/>
          <p:cNvSpPr>
            <a:spLocks noGrp="1"/>
          </p:cNvSpPr>
          <p:nvPr>
            <p:ph type="sldNum" sz="quarter" idx="12"/>
          </p:nvPr>
        </p:nvSpPr>
        <p:spPr>
          <a:xfrm>
            <a:off x="17610368" y="1061427"/>
            <a:ext cx="73096" cy="60027"/>
          </a:xfrm>
        </p:spPr>
        <p:txBody>
          <a:bodyPr/>
          <a:lstStyle/>
          <a:p>
            <a:fld id="{45D9D398-7DEE-42C1-AE4D-1C8CB494F7CD}"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839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18D63-D848-4794-B716-0C8B57CDD5F5}" type="datetime1">
              <a:rPr lang="en-US" smtClean="0"/>
              <a:t>2/21/2026</a:t>
            </a:fld>
            <a:endParaRPr lang="en-US"/>
          </a:p>
        </p:txBody>
      </p:sp>
      <p:sp>
        <p:nvSpPr>
          <p:cNvPr id="6" name="Slide Number Placeholder 5"/>
          <p:cNvSpPr>
            <a:spLocks noGrp="1"/>
          </p:cNvSpPr>
          <p:nvPr>
            <p:ph type="sldNum" sz="quarter" idx="12"/>
          </p:nvPr>
        </p:nvSpPr>
        <p:spPr>
          <a:xfrm>
            <a:off x="17780998" y="6768987"/>
            <a:ext cx="100916" cy="52650"/>
          </a:xfrm>
        </p:spPr>
        <p:txBody>
          <a:bodyPr/>
          <a:lstStyle/>
          <a:p>
            <a:fld id="{45D9D398-7DEE-42C1-AE4D-1C8CB494F7CD}" type="slidenum">
              <a:rPr lang="en-US" smtClean="0"/>
              <a:t>‹#›</a:t>
            </a:fld>
            <a:endParaRPr lang="en-US"/>
          </a:p>
        </p:txBody>
      </p:sp>
      <p:sp>
        <p:nvSpPr>
          <p:cNvPr id="8" name="Rectangle 7">
            <a:extLst>
              <a:ext uri="{FF2B5EF4-FFF2-40B4-BE49-F238E27FC236}">
                <a16:creationId xmlns:a16="http://schemas.microsoft.com/office/drawing/2014/main" xmlns="" id="{CEE5960D-F5EB-4BD5-AE37-3EC25A85273E}"/>
              </a:ext>
            </a:extLst>
          </p:cNvPr>
          <p:cNvSpPr/>
          <p:nvPr userDrawn="1"/>
        </p:nvSpPr>
        <p:spPr>
          <a:xfrm>
            <a:off x="30480" y="1737360"/>
            <a:ext cx="12192000" cy="57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15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2014058"/>
          </a:xfrm>
        </p:spPr>
        <p:txBody>
          <a:bodyPr anchor="b" anchorCtr="0">
            <a:normAutofit/>
          </a:bodyPr>
          <a:lstStyle>
            <a:lvl1pPr algn="ct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2831995"/>
            <a:ext cx="10058400" cy="3469231"/>
          </a:xfrm>
        </p:spPr>
        <p:txBody>
          <a:bodyPr lIns="91440" rIns="91440" anchor="t" anchorCtr="0">
            <a:normAutofit/>
          </a:bodyPr>
          <a:lstStyle>
            <a:lvl1pPr marL="0" indent="0" algn="ct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a:p>
            <a:pPr lvl="0"/>
            <a:endParaRPr lang="en-US" dirty="0"/>
          </a:p>
          <a:p>
            <a:pPr lvl="0"/>
            <a:endParaRPr lang="en-US" dirty="0"/>
          </a:p>
          <a:p>
            <a:pPr lvl="0"/>
            <a:endParaRPr lang="en-US" dirty="0"/>
          </a:p>
          <a:p>
            <a:pPr lvl="0"/>
            <a:r>
              <a:rPr lang="en-US" dirty="0"/>
              <a:t>Comsats Institute Of Information Technology </a:t>
            </a:r>
          </a:p>
          <a:p>
            <a:pPr lvl="0"/>
            <a:r>
              <a:rPr lang="en-US" dirty="0"/>
              <a:t>Islamabad Pakistan</a:t>
            </a:r>
          </a:p>
        </p:txBody>
      </p:sp>
      <p:sp>
        <p:nvSpPr>
          <p:cNvPr id="4" name="Date Placeholder 3"/>
          <p:cNvSpPr>
            <a:spLocks noGrp="1"/>
          </p:cNvSpPr>
          <p:nvPr>
            <p:ph type="dt" sz="half" idx="10"/>
          </p:nvPr>
        </p:nvSpPr>
        <p:spPr/>
        <p:txBody>
          <a:bodyPr/>
          <a:lstStyle/>
          <a:p>
            <a:fld id="{DE5127AA-101C-4389-B0A1-245512DFAFDE}" type="datetime1">
              <a:rPr lang="en-US" smtClean="0"/>
              <a:t>2/21/2026</a:t>
            </a:fld>
            <a:endParaRPr lang="en-US"/>
          </a:p>
        </p:txBody>
      </p:sp>
      <p:sp>
        <p:nvSpPr>
          <p:cNvPr id="5" name="Footer Placeholder 4"/>
          <p:cNvSpPr>
            <a:spLocks noGrp="1"/>
          </p:cNvSpPr>
          <p:nvPr>
            <p:ph type="ftr" sz="quarter" idx="11"/>
          </p:nvPr>
        </p:nvSpPr>
        <p:spPr/>
        <p:txBody>
          <a:bodyPr/>
          <a:lstStyle/>
          <a:p>
            <a:r>
              <a:rPr lang="en-US"/>
              <a:t>COMSATS University Islamabad, Wah Campus </a:t>
            </a:r>
          </a:p>
        </p:txBody>
      </p:sp>
      <p:sp>
        <p:nvSpPr>
          <p:cNvPr id="6" name="Slide Number Placeholder 5"/>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1350158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27B5B6-B544-437B-94B5-21C0D70C1150}" type="datetime1">
              <a:rPr lang="en-US" smtClean="0"/>
              <a:t>2/21/2026</a:t>
            </a:fld>
            <a:endParaRPr lang="en-US"/>
          </a:p>
        </p:txBody>
      </p:sp>
      <p:sp>
        <p:nvSpPr>
          <p:cNvPr id="7" name="Slide Number Placeholder 6"/>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382752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52B694-2CAE-4232-B132-966CF9BB78E0}" type="datetime1">
              <a:rPr lang="en-US" smtClean="0"/>
              <a:t>2/21/2026</a:t>
            </a:fld>
            <a:endParaRPr lang="en-US"/>
          </a:p>
        </p:txBody>
      </p:sp>
      <p:sp>
        <p:nvSpPr>
          <p:cNvPr id="8" name="Footer Placeholder 7"/>
          <p:cNvSpPr>
            <a:spLocks noGrp="1"/>
          </p:cNvSpPr>
          <p:nvPr>
            <p:ph type="ftr" sz="quarter" idx="11"/>
          </p:nvPr>
        </p:nvSpPr>
        <p:spPr/>
        <p:txBody>
          <a:bodyPr/>
          <a:lstStyle/>
          <a:p>
            <a:r>
              <a:rPr lang="en-US" dirty="0" smtClean="0"/>
              <a:t>CMSATS </a:t>
            </a:r>
            <a:r>
              <a:rPr lang="en-US" dirty="0"/>
              <a:t>University Islamabad, </a:t>
            </a:r>
            <a:r>
              <a:rPr lang="en-US" dirty="0" err="1"/>
              <a:t>Wah</a:t>
            </a:r>
            <a:r>
              <a:rPr lang="en-US" dirty="0"/>
              <a:t> Campus </a:t>
            </a:r>
          </a:p>
        </p:txBody>
      </p:sp>
      <p:sp>
        <p:nvSpPr>
          <p:cNvPr id="9" name="Slide Number Placeholder 8"/>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1770239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4667EF-0DC7-4F4D-B30B-99B5F675AD91}" type="datetime1">
              <a:rPr lang="en-US" smtClean="0"/>
              <a:t>2/21/2026</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pPr defTabSz="914400"/>
            <a:r>
              <a:rPr lang="en-US" sz="1800" cap="none" dirty="0">
                <a:latin typeface="Times New Roman" pitchFamily="18" charset="0"/>
                <a:cs typeface="Times New Roman" pitchFamily="18" charset="0"/>
              </a:rPr>
              <a:t>COMSATS University Islamabad, Wah Campus</a:t>
            </a:r>
          </a:p>
          <a:p>
            <a:endParaRPr lang="en-US" dirty="0"/>
          </a:p>
        </p:txBody>
      </p:sp>
      <p:sp>
        <p:nvSpPr>
          <p:cNvPr id="5" name="Slide Number Placeholder 4"/>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3574583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C0BDE44-FA80-4D53-8C98-938C5711FE51}" type="datetime1">
              <a:rPr lang="en-US" smtClean="0"/>
              <a:t>2/21/2026</a:t>
            </a:fld>
            <a:endParaRPr lang="en-US"/>
          </a:p>
        </p:txBody>
      </p:sp>
      <p:sp>
        <p:nvSpPr>
          <p:cNvPr id="8" name="Footer Placeholder 7"/>
          <p:cNvSpPr>
            <a:spLocks noGrp="1"/>
          </p:cNvSpPr>
          <p:nvPr>
            <p:ph type="ftr" sz="quarter" idx="11"/>
          </p:nvPr>
        </p:nvSpPr>
        <p:spPr/>
        <p:txBody>
          <a:bodyPr/>
          <a:lstStyle>
            <a:lvl1pPr>
              <a:defRPr>
                <a:solidFill>
                  <a:schemeClr val="bg1"/>
                </a:solidFill>
              </a:defRPr>
            </a:lvl1pPr>
          </a:lstStyle>
          <a:p>
            <a:pPr defTabSz="914400"/>
            <a:r>
              <a:rPr lang="en-US" sz="1800" cap="none" dirty="0">
                <a:latin typeface="Times New Roman" pitchFamily="18" charset="0"/>
                <a:cs typeface="Times New Roman" pitchFamily="18" charset="0"/>
              </a:rPr>
              <a:t>COMSATS University Islamabad, Wah Campus</a:t>
            </a:r>
          </a:p>
          <a:p>
            <a:endParaRPr lang="en-US" dirty="0"/>
          </a:p>
        </p:txBody>
      </p:sp>
      <p:sp>
        <p:nvSpPr>
          <p:cNvPr id="9" name="Slide Number Placeholder 8"/>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59222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8D35285-2EF4-4F19-A263-14AC9EF51C5C}" type="datetime1">
              <a:rPr lang="en-US" smtClean="0"/>
              <a:t>2/21/2026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COMSATS University Islamabad, Wah Campus </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5D9D398-7DEE-42C1-AE4D-1C8CB494F7CD}" type="slidenum">
              <a:rPr lang="en-US" smtClean="0"/>
              <a:t>‹#›</a:t>
            </a:fld>
            <a:endParaRPr lang="en-US"/>
          </a:p>
        </p:txBody>
      </p:sp>
    </p:spTree>
    <p:extLst>
      <p:ext uri="{BB962C8B-B14F-4D97-AF65-F5344CB8AC3E}">
        <p14:creationId xmlns:p14="http://schemas.microsoft.com/office/powerpoint/2010/main" val="382295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48E7D42-B348-46B2-8A21-F1924C2439B3}" type="datetime1">
              <a:rPr lang="en-US" smtClean="0"/>
              <a:t>2/21/2026</a:t>
            </a:fld>
            <a:endParaRPr lang="en-US"/>
          </a:p>
        </p:txBody>
      </p:sp>
      <p:sp>
        <p:nvSpPr>
          <p:cNvPr id="6" name="Footer Placeholder 5"/>
          <p:cNvSpPr>
            <a:spLocks noGrp="1"/>
          </p:cNvSpPr>
          <p:nvPr>
            <p:ph type="ftr" sz="quarter" idx="11"/>
          </p:nvPr>
        </p:nvSpPr>
        <p:spPr/>
        <p:txBody>
          <a:bodyPr/>
          <a:lstStyle/>
          <a:p>
            <a:r>
              <a:rPr lang="en-US"/>
              <a:t>COMSATS University Islamabad, Wah Campus </a:t>
            </a:r>
          </a:p>
        </p:txBody>
      </p:sp>
      <p:sp>
        <p:nvSpPr>
          <p:cNvPr id="7" name="Slide Number Placeholder 6"/>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2033859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4BFB30-5F3D-49CF-9FE6-4EC750B6DEA7}" type="datetime1">
              <a:rPr lang="en-US" smtClean="0"/>
              <a:t>2/21/2026</a:t>
            </a:fld>
            <a:endParaRPr lang="en-US"/>
          </a:p>
        </p:txBody>
      </p:sp>
      <p:sp>
        <p:nvSpPr>
          <p:cNvPr id="5" name="Footer Placeholder 4"/>
          <p:cNvSpPr>
            <a:spLocks noGrp="1"/>
          </p:cNvSpPr>
          <p:nvPr>
            <p:ph type="ftr" sz="quarter" idx="11"/>
          </p:nvPr>
        </p:nvSpPr>
        <p:spPr/>
        <p:txBody>
          <a:bodyPr/>
          <a:lstStyle/>
          <a:p>
            <a:r>
              <a:rPr lang="en-US"/>
              <a:t>COMSATS University Islamabad, Wah Campus </a:t>
            </a:r>
          </a:p>
        </p:txBody>
      </p:sp>
      <p:sp>
        <p:nvSpPr>
          <p:cNvPr id="6" name="Slide Number Placeholder 5"/>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3165711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DE4B3C-2229-4753-918E-5B2AB2F806D2}" type="datetime1">
              <a:rPr lang="en-US" smtClean="0"/>
              <a:t>2/21/2026</a:t>
            </a:fld>
            <a:endParaRPr lang="en-US"/>
          </a:p>
        </p:txBody>
      </p:sp>
      <p:sp>
        <p:nvSpPr>
          <p:cNvPr id="5" name="Footer Placeholder 4"/>
          <p:cNvSpPr>
            <a:spLocks noGrp="1"/>
          </p:cNvSpPr>
          <p:nvPr>
            <p:ph type="ftr" sz="quarter" idx="11"/>
          </p:nvPr>
        </p:nvSpPr>
        <p:spPr/>
        <p:txBody>
          <a:bodyPr/>
          <a:lstStyle/>
          <a:p>
            <a:r>
              <a:rPr lang="en-US"/>
              <a:t>COMSATS University Islamabad, Wah Campus </a:t>
            </a:r>
          </a:p>
        </p:txBody>
      </p:sp>
      <p:sp>
        <p:nvSpPr>
          <p:cNvPr id="6" name="Slide Number Placeholder 5"/>
          <p:cNvSpPr>
            <a:spLocks noGrp="1"/>
          </p:cNvSpPr>
          <p:nvPr>
            <p:ph type="sldNum" sz="quarter" idx="12"/>
          </p:nvPr>
        </p:nvSpPr>
        <p:spPr/>
        <p:txBody>
          <a:bodyPr/>
          <a:lstStyle/>
          <a:p>
            <a:fld id="{45D9D398-7DEE-42C1-AE4D-1C8CB494F7CD}" type="slidenum">
              <a:rPr lang="en-US" smtClean="0"/>
              <a:t>‹#›</a:t>
            </a:fld>
            <a:endParaRPr lang="en-US"/>
          </a:p>
        </p:txBody>
      </p:sp>
    </p:spTree>
    <p:extLst>
      <p:ext uri="{BB962C8B-B14F-4D97-AF65-F5344CB8AC3E}">
        <p14:creationId xmlns:p14="http://schemas.microsoft.com/office/powerpoint/2010/main" val="3151873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1503212-F5B8-4803-8A87-F27DA8223FC6}" type="datetime1">
              <a:rPr lang="en-US" smtClean="0"/>
              <a:t>2/21/2026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COMSATS University Islamabad, Wah Campus </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5D9D398-7DEE-42C1-AE4D-1C8CB494F7C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2982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reddit.com/search/?q=system+or+product+requirements&amp;cId=35a6d3a1-8b40-4e44-93ac-56ea6d89c1ee&amp;iId=83b18503-4291-4669-832a-a0f9810943a4"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Software Construction &amp; Development</a:t>
            </a:r>
            <a:endParaRPr lang="en-GB" dirty="0"/>
          </a:p>
        </p:txBody>
      </p:sp>
      <p:sp>
        <p:nvSpPr>
          <p:cNvPr id="3" name="Subtitle 2"/>
          <p:cNvSpPr>
            <a:spLocks noGrp="1"/>
          </p:cNvSpPr>
          <p:nvPr>
            <p:ph type="subTitle" idx="1"/>
          </p:nvPr>
        </p:nvSpPr>
        <p:spPr/>
        <p:txBody>
          <a:bodyPr/>
          <a:lstStyle/>
          <a:p>
            <a:r>
              <a:rPr lang="en-GB" dirty="0" smtClean="0"/>
              <a:t>Course Instructor: DR. Marriam </a:t>
            </a:r>
            <a:r>
              <a:rPr lang="en-GB" dirty="0" err="1" smtClean="0"/>
              <a:t>nawaz</a:t>
            </a:r>
            <a:endParaRPr lang="en-GB" dirty="0" smtClean="0"/>
          </a:p>
          <a:p>
            <a:r>
              <a:rPr lang="en-GB" dirty="0" smtClean="0"/>
              <a:t>Lecture: 04</a:t>
            </a:r>
            <a:endParaRPr lang="en-GB" dirty="0"/>
          </a:p>
        </p:txBody>
      </p:sp>
    </p:spTree>
    <p:extLst>
      <p:ext uri="{BB962C8B-B14F-4D97-AF65-F5344CB8AC3E}">
        <p14:creationId xmlns:p14="http://schemas.microsoft.com/office/powerpoint/2010/main" val="590161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B8AF4A-56AF-480F-B5F8-CEC638015797}"/>
              </a:ext>
            </a:extLst>
          </p:cNvPr>
          <p:cNvSpPr>
            <a:spLocks noGrp="1"/>
          </p:cNvSpPr>
          <p:nvPr>
            <p:ph type="title"/>
          </p:nvPr>
        </p:nvSpPr>
        <p:spPr/>
        <p:txBody>
          <a:bodyPr/>
          <a:lstStyle/>
          <a:p>
            <a:r>
              <a:rPr lang="en-US" dirty="0" smtClean="0"/>
              <a:t>Requirements vs. Specifications</a:t>
            </a:r>
            <a:endParaRPr lang="en-US" dirty="0"/>
          </a:p>
        </p:txBody>
      </p:sp>
      <p:sp>
        <p:nvSpPr>
          <p:cNvPr id="3" name="Content Placeholder 2"/>
          <p:cNvSpPr>
            <a:spLocks noGrp="1"/>
          </p:cNvSpPr>
          <p:nvPr>
            <p:ph idx="1"/>
          </p:nvPr>
        </p:nvSpPr>
        <p:spPr>
          <a:xfrm>
            <a:off x="348251" y="1933283"/>
            <a:ext cx="10058400" cy="4023360"/>
          </a:xfrm>
        </p:spPr>
        <p:txBody>
          <a:bodyPr>
            <a:normAutofit fontScale="47500" lnSpcReduction="20000"/>
          </a:bodyPr>
          <a:lstStyle/>
          <a:p>
            <a:r>
              <a:rPr lang="en-US" sz="3200" b="1" dirty="0">
                <a:latin typeface="Times New Roman" panose="02020603050405020304" pitchFamily="18" charset="0"/>
                <a:cs typeface="Times New Roman" panose="02020603050405020304" pitchFamily="18" charset="0"/>
              </a:rPr>
              <a:t>Requirements</a:t>
            </a:r>
            <a:r>
              <a:rPr lang="en-US" sz="3200" dirty="0">
                <a:latin typeface="Times New Roman" panose="02020603050405020304" pitchFamily="18" charset="0"/>
                <a:cs typeface="Times New Roman" panose="02020603050405020304" pitchFamily="18" charset="0"/>
              </a:rPr>
              <a:t>:</a:t>
            </a:r>
          </a:p>
          <a:p>
            <a:r>
              <a:rPr lang="en-US" sz="3200" dirty="0">
                <a:latin typeface="Times New Roman" panose="02020603050405020304" pitchFamily="18" charset="0"/>
                <a:cs typeface="Times New Roman" panose="02020603050405020304" pitchFamily="18" charset="0"/>
              </a:rPr>
              <a:t>statements that describe what a </a:t>
            </a:r>
            <a:r>
              <a:rPr lang="en-US" sz="3200" dirty="0" smtClean="0">
                <a:solidFill>
                  <a:schemeClr val="tx1"/>
                </a:solidFill>
                <a:latin typeface="Times New Roman" panose="02020603050405020304" pitchFamily="18" charset="0"/>
                <a:cs typeface="Times New Roman" panose="02020603050405020304" pitchFamily="18" charset="0"/>
                <a:hlinkClick r:id="rId2"/>
              </a:rPr>
              <a:t>system </a:t>
            </a:r>
            <a:r>
              <a:rPr lang="en-US" sz="3200" dirty="0">
                <a:solidFill>
                  <a:schemeClr val="tx1"/>
                </a:solidFill>
                <a:latin typeface="Times New Roman" panose="02020603050405020304" pitchFamily="18" charset="0"/>
                <a:cs typeface="Times New Roman" panose="02020603050405020304" pitchFamily="18" charset="0"/>
                <a:hlinkClick r:id="rId2"/>
              </a:rPr>
              <a:t>or product</a:t>
            </a:r>
            <a:r>
              <a:rPr lang="en-US" sz="3200" dirty="0">
                <a:latin typeface="Times New Roman" panose="02020603050405020304" pitchFamily="18" charset="0"/>
                <a:cs typeface="Times New Roman" panose="02020603050405020304" pitchFamily="18" charset="0"/>
              </a:rPr>
              <a:t> must achieve, but they do not specify how it should achieve it.</a:t>
            </a:r>
          </a:p>
          <a:p>
            <a:r>
              <a:rPr lang="en-US" sz="3200" dirty="0">
                <a:latin typeface="Times New Roman" panose="02020603050405020304" pitchFamily="18" charset="0"/>
                <a:cs typeface="Times New Roman" panose="02020603050405020304" pitchFamily="18" charset="0"/>
              </a:rPr>
              <a:t>typically written from a user or stakeholder perspective and focus on the desired functionality, performance, or characteristics of the system.</a:t>
            </a:r>
          </a:p>
          <a:p>
            <a:r>
              <a:rPr lang="en-US" sz="3200" dirty="0">
                <a:latin typeface="Times New Roman" panose="02020603050405020304" pitchFamily="18" charset="0"/>
                <a:cs typeface="Times New Roman" panose="02020603050405020304" pitchFamily="18" charset="0"/>
              </a:rPr>
              <a:t>They answer questions like “What should the system do?” or “What are the constraints and objectives for the system?”</a:t>
            </a:r>
          </a:p>
          <a:p>
            <a:r>
              <a:rPr lang="en-US" sz="3200" b="1" dirty="0">
                <a:latin typeface="Times New Roman" panose="02020603050405020304" pitchFamily="18" charset="0"/>
                <a:cs typeface="Times New Roman" panose="02020603050405020304" pitchFamily="18" charset="0"/>
              </a:rPr>
              <a:t>Specifications</a:t>
            </a:r>
            <a:r>
              <a:rPr lang="en-US" sz="3200" dirty="0">
                <a:latin typeface="Times New Roman" panose="02020603050405020304" pitchFamily="18" charset="0"/>
                <a:cs typeface="Times New Roman" panose="02020603050405020304" pitchFamily="18" charset="0"/>
              </a:rPr>
              <a:t>:</a:t>
            </a:r>
          </a:p>
          <a:p>
            <a:r>
              <a:rPr lang="en-US" sz="3200" dirty="0">
                <a:latin typeface="Times New Roman" panose="02020603050405020304" pitchFamily="18" charset="0"/>
                <a:cs typeface="Times New Roman" panose="02020603050405020304" pitchFamily="18" charset="0"/>
              </a:rPr>
              <a:t>Specifications, on the other hand, provide detailed information on how a system or product should be designed, implemented, or built to meet the requirements.</a:t>
            </a:r>
          </a:p>
          <a:p>
            <a:r>
              <a:rPr lang="en-US" sz="3200" dirty="0">
                <a:latin typeface="Times New Roman" panose="02020603050405020304" pitchFamily="18" charset="0"/>
                <a:cs typeface="Times New Roman" panose="02020603050405020304" pitchFamily="18" charset="0"/>
              </a:rPr>
              <a:t>Specifications delve into the technical aspects, including materials, dimensions, interfaces, and other engineering details.</a:t>
            </a:r>
          </a:p>
          <a:p>
            <a:r>
              <a:rPr lang="en-US" sz="3200" dirty="0">
                <a:latin typeface="Times New Roman" panose="02020603050405020304" pitchFamily="18" charset="0"/>
                <a:cs typeface="Times New Roman" panose="02020603050405020304" pitchFamily="18" charset="0"/>
              </a:rPr>
              <a:t>They answer questions like “How will the system achieve what the requirements specify?” or “What are the technical parameters and tolerances?”</a:t>
            </a:r>
          </a:p>
          <a:p>
            <a:r>
              <a:rPr lang="en-US" sz="3200" dirty="0">
                <a:latin typeface="Times New Roman" panose="02020603050405020304" pitchFamily="18" charset="0"/>
                <a:cs typeface="Times New Roman" panose="02020603050405020304" pitchFamily="18" charset="0"/>
              </a:rPr>
              <a:t>In summary, requirements define the “what” of a system, while specifications define the “how.” Both are essential in the system development process to ensure that the final product meets the desired goals and functions correctly.</a:t>
            </a:r>
          </a:p>
          <a:p>
            <a:endParaRPr lang="en-US" dirty="0"/>
          </a:p>
        </p:txBody>
      </p:sp>
    </p:spTree>
    <p:extLst>
      <p:ext uri="{BB962C8B-B14F-4D97-AF65-F5344CB8AC3E}">
        <p14:creationId xmlns:p14="http://schemas.microsoft.com/office/powerpoint/2010/main" val="3744872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B8AF4A-56AF-480F-B5F8-CEC638015797}"/>
              </a:ext>
            </a:extLst>
          </p:cNvPr>
          <p:cNvSpPr>
            <a:spLocks noGrp="1"/>
          </p:cNvSpPr>
          <p:nvPr>
            <p:ph type="title"/>
          </p:nvPr>
        </p:nvSpPr>
        <p:spPr/>
        <p:txBody>
          <a:bodyPr/>
          <a:lstStyle/>
          <a:p>
            <a:r>
              <a:rPr lang="en-US" dirty="0" smtClean="0"/>
              <a:t>Requirements vs. Specifications</a:t>
            </a:r>
            <a:endParaRPr lang="en-US" dirty="0"/>
          </a:p>
        </p:txBody>
      </p:sp>
      <p:sp>
        <p:nvSpPr>
          <p:cNvPr id="4" name="Rectangle 1"/>
          <p:cNvSpPr>
            <a:spLocks noGrp="1" noChangeArrowheads="1"/>
          </p:cNvSpPr>
          <p:nvPr>
            <p:ph idx="1"/>
          </p:nvPr>
        </p:nvSpPr>
        <p:spPr bwMode="auto">
          <a:xfrm>
            <a:off x="2508129" y="3621772"/>
            <a:ext cx="573746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Specifications sit between:</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Requirements → (Specification) → Design → Code</a:t>
            </a:r>
          </a:p>
        </p:txBody>
      </p:sp>
    </p:spTree>
    <p:extLst>
      <p:ext uri="{BB962C8B-B14F-4D97-AF65-F5344CB8AC3E}">
        <p14:creationId xmlns:p14="http://schemas.microsoft.com/office/powerpoint/2010/main" val="674575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A6D53-B04E-4DD6-B9C7-96294F9C250D}"/>
              </a:ext>
            </a:extLst>
          </p:cNvPr>
          <p:cNvSpPr>
            <a:spLocks noGrp="1"/>
          </p:cNvSpPr>
          <p:nvPr>
            <p:ph type="title"/>
          </p:nvPr>
        </p:nvSpPr>
        <p:spPr/>
        <p:txBody>
          <a:bodyPr/>
          <a:lstStyle/>
          <a:p>
            <a:r>
              <a:rPr lang="en-US" dirty="0" smtClean="0"/>
              <a:t>Informal Specifications</a:t>
            </a:r>
            <a:endParaRPr lang="en-US" dirty="0"/>
          </a:p>
        </p:txBody>
      </p:sp>
      <p:sp>
        <p:nvSpPr>
          <p:cNvPr id="3" name="Content Placeholder 2">
            <a:extLst>
              <a:ext uri="{FF2B5EF4-FFF2-40B4-BE49-F238E27FC236}">
                <a16:creationId xmlns:a16="http://schemas.microsoft.com/office/drawing/2014/main" xmlns="" id="{47075CEA-8DB5-443C-8926-9FD46A3815BA}"/>
              </a:ext>
            </a:extLst>
          </p:cNvPr>
          <p:cNvSpPr>
            <a:spLocks noGrp="1"/>
          </p:cNvSpPr>
          <p:nvPr>
            <p:ph idx="1"/>
          </p:nvPr>
        </p:nvSpPr>
        <p:spPr>
          <a:xfrm>
            <a:off x="1097280" y="1737360"/>
            <a:ext cx="11094720" cy="4023360"/>
          </a:xfrm>
        </p:spPr>
        <p:txBody>
          <a:bodyPr>
            <a:noAutofit/>
          </a:bodyPr>
          <a:lstStyle/>
          <a:p>
            <a:pPr eaLnBrk="0" fontAlgn="base" hangingPunct="0">
              <a:lnSpc>
                <a:spcPct val="100000"/>
              </a:lnSpc>
              <a:spcBef>
                <a:spcPct val="20000"/>
              </a:spcBef>
              <a:spcAft>
                <a:spcPct val="0"/>
              </a:spcAft>
              <a:buClrTx/>
              <a:buSzTx/>
              <a:buFont typeface="Wingdings" panose="05000000000000000000" pitchFamily="2" charset="2"/>
              <a:buChar char="§"/>
            </a:pPr>
            <a:r>
              <a:rPr lang="en-US" altLang="en-US" dirty="0" smtClean="0">
                <a:solidFill>
                  <a:srgbClr val="000000"/>
                </a:solidFill>
                <a:latin typeface="Helvetica"/>
              </a:rPr>
              <a:t> </a:t>
            </a:r>
            <a:r>
              <a:rPr lang="en-US" altLang="en-US" dirty="0" smtClean="0">
                <a:solidFill>
                  <a:srgbClr val="000000"/>
                </a:solidFill>
                <a:latin typeface="Times New Roman" panose="02020603050405020304" pitchFamily="18" charset="0"/>
                <a:cs typeface="Times New Roman" panose="02020603050405020304" pitchFamily="18" charset="0"/>
              </a:rPr>
              <a:t>Informal </a:t>
            </a:r>
            <a:r>
              <a:rPr lang="en-US" altLang="en-US" dirty="0">
                <a:solidFill>
                  <a:srgbClr val="000000"/>
                </a:solidFill>
                <a:latin typeface="Times New Roman" panose="02020603050405020304" pitchFamily="18" charset="0"/>
                <a:cs typeface="Times New Roman" panose="02020603050405020304" pitchFamily="18" charset="0"/>
              </a:rPr>
              <a:t>specifications use natural language (English/Urdu etc.) to describe behavior.</a:t>
            </a:r>
            <a:endParaRPr lang="en-US" altLang="en-US" dirty="0" smtClean="0">
              <a:solidFill>
                <a:srgbClr val="00000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 Easy to read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Easy to discuss with non-technical stakeholders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Fast to produce</a:t>
            </a:r>
          </a:p>
          <a:p>
            <a:r>
              <a:rPr lang="en-US" b="1" dirty="0">
                <a:latin typeface="Times New Roman" panose="02020603050405020304" pitchFamily="18" charset="0"/>
                <a:cs typeface="Times New Roman" panose="02020603050405020304" pitchFamily="18" charset="0"/>
              </a:rPr>
              <a:t>Problems</a:t>
            </a:r>
          </a:p>
          <a:p>
            <a:r>
              <a:rPr lang="en-US" dirty="0">
                <a:latin typeface="Times New Roman" panose="02020603050405020304" pitchFamily="18" charset="0"/>
                <a:cs typeface="Times New Roman" panose="02020603050405020304" pitchFamily="18" charset="0"/>
              </a:rPr>
              <a:t>✖ Ambiguous (“sufficient” means what?)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Incomplete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Hard to verify correctness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Hard to test edge cases</a:t>
            </a:r>
          </a:p>
          <a:p>
            <a:pPr eaLnBrk="0" fontAlgn="base" hangingPunct="0">
              <a:lnSpc>
                <a:spcPct val="100000"/>
              </a:lnSpc>
              <a:spcBef>
                <a:spcPct val="20000"/>
              </a:spcBef>
              <a:spcAft>
                <a:spcPct val="0"/>
              </a:spcAft>
              <a:buClrTx/>
              <a:buSzTx/>
              <a:buFont typeface="Wingdings" panose="05000000000000000000" pitchFamily="2" charset="2"/>
              <a:buChar char="§"/>
            </a:pPr>
            <a:endParaRPr lang="en-US" altLang="en-US" sz="2000" dirty="0">
              <a:solidFill>
                <a:srgbClr val="000000"/>
              </a:solidFill>
              <a:latin typeface="Helvetica"/>
            </a:endParaRPr>
          </a:p>
        </p:txBody>
      </p:sp>
    </p:spTree>
    <p:extLst>
      <p:ext uri="{BB962C8B-B14F-4D97-AF65-F5344CB8AC3E}">
        <p14:creationId xmlns:p14="http://schemas.microsoft.com/office/powerpoint/2010/main" val="2871722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A6D53-B04E-4DD6-B9C7-96294F9C250D}"/>
              </a:ext>
            </a:extLst>
          </p:cNvPr>
          <p:cNvSpPr>
            <a:spLocks noGrp="1"/>
          </p:cNvSpPr>
          <p:nvPr>
            <p:ph type="title"/>
          </p:nvPr>
        </p:nvSpPr>
        <p:spPr/>
        <p:txBody>
          <a:bodyPr/>
          <a:lstStyle/>
          <a:p>
            <a:r>
              <a:rPr lang="en-US" dirty="0" smtClean="0"/>
              <a:t>Informal Specifications (Example)</a:t>
            </a:r>
            <a:endParaRPr lang="en-US" dirty="0"/>
          </a:p>
        </p:txBody>
      </p:sp>
      <p:sp>
        <p:nvSpPr>
          <p:cNvPr id="3" name="Content Placeholder 2">
            <a:extLst>
              <a:ext uri="{FF2B5EF4-FFF2-40B4-BE49-F238E27FC236}">
                <a16:creationId xmlns:a16="http://schemas.microsoft.com/office/drawing/2014/main" xmlns="" id="{47075CEA-8DB5-443C-8926-9FD46A3815BA}"/>
              </a:ext>
            </a:extLst>
          </p:cNvPr>
          <p:cNvSpPr>
            <a:spLocks noGrp="1"/>
          </p:cNvSpPr>
          <p:nvPr>
            <p:ph idx="1"/>
          </p:nvPr>
        </p:nvSpPr>
        <p:spPr>
          <a:xfrm>
            <a:off x="1097280" y="1737360"/>
            <a:ext cx="11094720" cy="4023360"/>
          </a:xfrm>
        </p:spPr>
        <p:txBody>
          <a:bodyPr>
            <a:noAutofit/>
          </a:bodyPr>
          <a:lstStyle/>
          <a:p>
            <a:pPr eaLnBrk="0" fontAlgn="base" hangingPunct="0">
              <a:lnSpc>
                <a:spcPct val="100000"/>
              </a:lnSpc>
              <a:spcBef>
                <a:spcPct val="20000"/>
              </a:spcBef>
              <a:spcAft>
                <a:spcPct val="0"/>
              </a:spcAft>
              <a:buClrTx/>
              <a:buSzTx/>
              <a:buFont typeface="Wingdings" panose="05000000000000000000" pitchFamily="2" charset="2"/>
              <a:buChar char="§"/>
            </a:pPr>
            <a:r>
              <a:rPr lang="en-US" altLang="en-US" dirty="0" smtClean="0">
                <a:solidFill>
                  <a:srgbClr val="000000"/>
                </a:solidFill>
                <a:latin typeface="Helvetica"/>
              </a:rPr>
              <a:t> </a:t>
            </a:r>
            <a:endParaRPr lang="en-US" altLang="en-US" sz="2000" dirty="0">
              <a:solidFill>
                <a:srgbClr val="000000"/>
              </a:solidFill>
              <a:latin typeface="Helvetica"/>
            </a:endParaRPr>
          </a:p>
        </p:txBody>
      </p:sp>
      <p:pic>
        <p:nvPicPr>
          <p:cNvPr id="4" name="Picture 3"/>
          <p:cNvPicPr>
            <a:picLocks noChangeAspect="1"/>
          </p:cNvPicPr>
          <p:nvPr/>
        </p:nvPicPr>
        <p:blipFill>
          <a:blip r:embed="rId2"/>
          <a:stretch>
            <a:fillRect/>
          </a:stretch>
        </p:blipFill>
        <p:spPr>
          <a:xfrm>
            <a:off x="1389100" y="2225112"/>
            <a:ext cx="8824943" cy="3122849"/>
          </a:xfrm>
          <a:prstGeom prst="rect">
            <a:avLst/>
          </a:prstGeom>
        </p:spPr>
      </p:pic>
    </p:spTree>
    <p:extLst>
      <p:ext uri="{BB962C8B-B14F-4D97-AF65-F5344CB8AC3E}">
        <p14:creationId xmlns:p14="http://schemas.microsoft.com/office/powerpoint/2010/main" val="2625316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3C3F2-835E-4207-9571-04F3D297363C}"/>
              </a:ext>
            </a:extLst>
          </p:cNvPr>
          <p:cNvSpPr>
            <a:spLocks noGrp="1"/>
          </p:cNvSpPr>
          <p:nvPr>
            <p:ph type="title"/>
          </p:nvPr>
        </p:nvSpPr>
        <p:spPr/>
        <p:txBody>
          <a:bodyPr/>
          <a:lstStyle/>
          <a:p>
            <a:r>
              <a:rPr lang="en-US" dirty="0" smtClean="0">
                <a:solidFill>
                  <a:prstClr val="black">
                    <a:lumMod val="75000"/>
                    <a:lumOff val="25000"/>
                  </a:prstClr>
                </a:solidFill>
              </a:rPr>
              <a:t>Formal </a:t>
            </a:r>
            <a:r>
              <a:rPr lang="en-US" dirty="0">
                <a:solidFill>
                  <a:prstClr val="black">
                    <a:lumMod val="75000"/>
                    <a:lumOff val="25000"/>
                  </a:prstClr>
                </a:solidFill>
              </a:rPr>
              <a:t>Specifications</a:t>
            </a:r>
            <a:endParaRPr lang="en-US" dirty="0"/>
          </a:p>
        </p:txBody>
      </p:sp>
      <p:sp>
        <p:nvSpPr>
          <p:cNvPr id="3" name="Content Placeholder 2">
            <a:extLst>
              <a:ext uri="{FF2B5EF4-FFF2-40B4-BE49-F238E27FC236}">
                <a16:creationId xmlns:a16="http://schemas.microsoft.com/office/drawing/2014/main" xmlns="" id="{A06758B5-6100-4CD9-9B22-D522B8878ADB}"/>
              </a:ext>
            </a:extLst>
          </p:cNvPr>
          <p:cNvSpPr>
            <a:spLocks noGrp="1"/>
          </p:cNvSpPr>
          <p:nvPr>
            <p:ph idx="1"/>
          </p:nvPr>
        </p:nvSpPr>
        <p:spPr/>
        <p:txBody>
          <a:bodyPr>
            <a:normAutofit fontScale="77500" lnSpcReduction="20000"/>
          </a:bodyPr>
          <a:lstStyle/>
          <a:p>
            <a:r>
              <a:rPr lang="en-US" sz="2900" dirty="0">
                <a:latin typeface="Times New Roman" panose="02020603050405020304" pitchFamily="18" charset="0"/>
                <a:cs typeface="Times New Roman" panose="02020603050405020304" pitchFamily="18" charset="0"/>
              </a:rPr>
              <a:t>Formal specifications describe system behavior using </a:t>
            </a:r>
            <a:r>
              <a:rPr lang="en-US" sz="2900" b="1" dirty="0">
                <a:latin typeface="Times New Roman" panose="02020603050405020304" pitchFamily="18" charset="0"/>
                <a:cs typeface="Times New Roman" panose="02020603050405020304" pitchFamily="18" charset="0"/>
              </a:rPr>
              <a:t>mathematical notation</a:t>
            </a:r>
            <a:r>
              <a:rPr lang="en-US" sz="2900" dirty="0">
                <a:latin typeface="Times New Roman" panose="02020603050405020304" pitchFamily="18" charset="0"/>
                <a:cs typeface="Times New Roman" panose="02020603050405020304" pitchFamily="18" charset="0"/>
              </a:rPr>
              <a:t>, </a:t>
            </a:r>
            <a:r>
              <a:rPr lang="en-US" sz="2900" b="1" dirty="0">
                <a:latin typeface="Times New Roman" panose="02020603050405020304" pitchFamily="18" charset="0"/>
                <a:cs typeface="Times New Roman" panose="02020603050405020304" pitchFamily="18" charset="0"/>
              </a:rPr>
              <a:t>logic</a:t>
            </a:r>
            <a:r>
              <a:rPr lang="en-US" sz="2900" dirty="0">
                <a:latin typeface="Times New Roman" panose="02020603050405020304" pitchFamily="18" charset="0"/>
                <a:cs typeface="Times New Roman" panose="02020603050405020304" pitchFamily="18" charset="0"/>
              </a:rPr>
              <a:t>, or </a:t>
            </a:r>
            <a:r>
              <a:rPr lang="en-US" sz="2900" b="1" dirty="0">
                <a:latin typeface="Times New Roman" panose="02020603050405020304" pitchFamily="18" charset="0"/>
                <a:cs typeface="Times New Roman" panose="02020603050405020304" pitchFamily="18" charset="0"/>
              </a:rPr>
              <a:t>formal languages</a:t>
            </a:r>
            <a:r>
              <a:rPr lang="en-US" sz="2900" dirty="0" smtClean="0">
                <a:latin typeface="Times New Roman" panose="02020603050405020304" pitchFamily="18" charset="0"/>
                <a:cs typeface="Times New Roman" panose="02020603050405020304" pitchFamily="18" charset="0"/>
              </a:rPr>
              <a:t>.</a:t>
            </a:r>
          </a:p>
          <a:p>
            <a:r>
              <a:rPr lang="en-US" sz="2900" dirty="0">
                <a:solidFill>
                  <a:srgbClr val="242424"/>
                </a:solidFill>
                <a:latin typeface="Times New Roman" panose="02020603050405020304" pitchFamily="18" charset="0"/>
                <a:cs typeface="Times New Roman" panose="02020603050405020304" pitchFamily="18" charset="0"/>
              </a:rPr>
              <a:t>Formal specification is the process of defining software systems’ requirements and behavior with rigorous mathematical and logical techniques. Unlike informal specifications, which often rely on natural language descriptions and diagrams, formal specifications use precise formal languages to outline exactly what the system should do. This approach provides a clear and unambiguous description of the system’s intended behavior.</a:t>
            </a:r>
          </a:p>
          <a:p>
            <a:r>
              <a:rPr lang="en-US" sz="2900" dirty="0">
                <a:solidFill>
                  <a:srgbClr val="242424"/>
                </a:solidFill>
                <a:latin typeface="Times New Roman" panose="02020603050405020304" pitchFamily="18" charset="0"/>
                <a:cs typeface="Times New Roman" panose="02020603050405020304" pitchFamily="18" charset="0"/>
              </a:rPr>
              <a:t>Formal specifications consist of several key components. A formal language is used to express the system’s requirements with precise syntax and semantics. Mathematical models represent the system components and their interactions. Additionally, logical proofs are employed to demonstrate that the system adheres to its specification, thereby ensuring correctness.</a:t>
            </a:r>
          </a:p>
          <a:p>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altLang="en-US" sz="2400" dirty="0">
              <a:solidFill>
                <a:srgbClr val="000000"/>
              </a:solidFill>
              <a:latin typeface="Helvetica"/>
            </a:endParaRPr>
          </a:p>
        </p:txBody>
      </p:sp>
    </p:spTree>
    <p:extLst>
      <p:ext uri="{BB962C8B-B14F-4D97-AF65-F5344CB8AC3E}">
        <p14:creationId xmlns:p14="http://schemas.microsoft.com/office/powerpoint/2010/main" val="2352336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3C3F2-835E-4207-9571-04F3D297363C}"/>
              </a:ext>
            </a:extLst>
          </p:cNvPr>
          <p:cNvSpPr>
            <a:spLocks noGrp="1"/>
          </p:cNvSpPr>
          <p:nvPr>
            <p:ph type="title"/>
          </p:nvPr>
        </p:nvSpPr>
        <p:spPr/>
        <p:txBody>
          <a:bodyPr/>
          <a:lstStyle/>
          <a:p>
            <a:r>
              <a:rPr lang="en-US" dirty="0" smtClean="0">
                <a:solidFill>
                  <a:prstClr val="black">
                    <a:lumMod val="75000"/>
                    <a:lumOff val="25000"/>
                  </a:prstClr>
                </a:solidFill>
              </a:rPr>
              <a:t>Formal </a:t>
            </a:r>
            <a:r>
              <a:rPr lang="en-US" dirty="0">
                <a:solidFill>
                  <a:prstClr val="black">
                    <a:lumMod val="75000"/>
                    <a:lumOff val="25000"/>
                  </a:prstClr>
                </a:solidFill>
              </a:rPr>
              <a:t>Specifications</a:t>
            </a:r>
            <a:endParaRPr lang="en-US" dirty="0"/>
          </a:p>
        </p:txBody>
      </p:sp>
      <p:sp>
        <p:nvSpPr>
          <p:cNvPr id="3" name="Content Placeholder 2">
            <a:extLst>
              <a:ext uri="{FF2B5EF4-FFF2-40B4-BE49-F238E27FC236}">
                <a16:creationId xmlns:a16="http://schemas.microsoft.com/office/drawing/2014/main" xmlns="" id="{A06758B5-6100-4CD9-9B22-D522B8878ADB}"/>
              </a:ext>
            </a:extLst>
          </p:cNvPr>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Goal:</a:t>
            </a:r>
          </a:p>
          <a:p>
            <a:r>
              <a:rPr lang="en-US" sz="3200" dirty="0">
                <a:latin typeface="Times New Roman" panose="02020603050405020304" pitchFamily="18" charset="0"/>
                <a:cs typeface="Times New Roman" panose="02020603050405020304" pitchFamily="18" charset="0"/>
              </a:rPr>
              <a:t>✔ Remove ambiguity</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Allow reasoning</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Enable verification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Enable static checking / automated proofs</a:t>
            </a:r>
          </a:p>
          <a:p>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altLang="en-US" sz="2400" dirty="0">
              <a:solidFill>
                <a:srgbClr val="000000"/>
              </a:solidFill>
              <a:latin typeface="Helvetica"/>
            </a:endParaRPr>
          </a:p>
        </p:txBody>
      </p:sp>
    </p:spTree>
    <p:extLst>
      <p:ext uri="{BB962C8B-B14F-4D97-AF65-F5344CB8AC3E}">
        <p14:creationId xmlns:p14="http://schemas.microsoft.com/office/powerpoint/2010/main" val="174911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912B21-B2C2-413D-84BF-F10F8B8D1EE5}"/>
              </a:ext>
            </a:extLst>
          </p:cNvPr>
          <p:cNvSpPr>
            <a:spLocks noGrp="1"/>
          </p:cNvSpPr>
          <p:nvPr>
            <p:ph type="title"/>
          </p:nvPr>
        </p:nvSpPr>
        <p:spPr/>
        <p:txBody>
          <a:bodyPr/>
          <a:lstStyle/>
          <a:p>
            <a:r>
              <a:rPr lang="en-US" dirty="0" smtClean="0"/>
              <a:t>Formal vs. Informal Example</a:t>
            </a:r>
            <a:endParaRPr lang="en-US" dirty="0"/>
          </a:p>
        </p:txBody>
      </p:sp>
      <p:sp>
        <p:nvSpPr>
          <p:cNvPr id="4" name="Rectangle 1"/>
          <p:cNvSpPr>
            <a:spLocks noGrp="1" noChangeArrowheads="1"/>
          </p:cNvSpPr>
          <p:nvPr>
            <p:ph idx="1"/>
          </p:nvPr>
        </p:nvSpPr>
        <p:spPr bwMode="auto">
          <a:xfrm>
            <a:off x="1029185" y="1924707"/>
            <a:ext cx="7550609"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informal ones like:</a:t>
            </a:r>
          </a:p>
          <a:p>
            <a:pPr lvl="2" eaLnBrk="0" fontAlgn="base" hangingPunct="0">
              <a:lnSpc>
                <a:spcPct val="100000"/>
              </a:lnSpc>
              <a:spcBef>
                <a:spcPct val="0"/>
              </a:spcBef>
              <a:spcAft>
                <a:spcPct val="0"/>
              </a:spcAft>
              <a:buClrTx/>
              <a:buFont typeface="Wingdings" panose="05000000000000000000" pitchFamily="2" charset="2"/>
              <a:buChar char="§"/>
            </a:pPr>
            <a:r>
              <a:rPr kumimoji="0" lang="en-US" sz="2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“Search should be fast.”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Cannot be tested, verified, or proven.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Formal version:</a:t>
            </a:r>
          </a:p>
          <a:p>
            <a:pPr lvl="2" eaLnBrk="0" fontAlgn="base" hangingPunct="0">
              <a:lnSpc>
                <a:spcPct val="100000"/>
              </a:lnSpc>
              <a:spcBef>
                <a:spcPct val="0"/>
              </a:spcBef>
              <a:spcAft>
                <a:spcPct val="0"/>
              </a:spcAft>
              <a:buClrTx/>
              <a:buFont typeface="Wingdings" panose="05000000000000000000" pitchFamily="2" charset="2"/>
              <a:buChar char="§"/>
            </a:pP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Time(search) ∈ O(log n)</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dirty="0" smtClean="0">
                <a:ln>
                  <a:noFill/>
                </a:ln>
                <a:solidFill>
                  <a:srgbClr val="00B050"/>
                </a:solidFill>
                <a:effectLst/>
                <a:latin typeface="Times New Roman" panose="02020603050405020304" pitchFamily="18" charset="0"/>
                <a:cs typeface="Times New Roman" panose="02020603050405020304" pitchFamily="18" charset="0"/>
              </a:rPr>
              <a:t>is verifiable.</a:t>
            </a:r>
          </a:p>
          <a:p>
            <a:pPr marL="0" marR="0" lvl="0" indent="0" algn="l" defTabSz="914400" rtl="0" eaLnBrk="0" fontAlgn="base" latinLnBrk="0" hangingPunct="0">
              <a:lnSpc>
                <a:spcPct val="100000"/>
              </a:lnSpc>
              <a:spcBef>
                <a:spcPct val="0"/>
              </a:spcBef>
              <a:spcAft>
                <a:spcPct val="0"/>
              </a:spcAft>
              <a:buClrTx/>
              <a:buSzTx/>
              <a:buFontTx/>
              <a:buNone/>
              <a:tabLst/>
            </a:pPr>
            <a:endParaRPr lang="en-US" sz="18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18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478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D95487-9D5A-4A1C-B479-3D11C5273DE1}"/>
              </a:ext>
            </a:extLst>
          </p:cNvPr>
          <p:cNvSpPr>
            <a:spLocks noGrp="1"/>
          </p:cNvSpPr>
          <p:nvPr>
            <p:ph type="title"/>
          </p:nvPr>
        </p:nvSpPr>
        <p:spPr/>
        <p:txBody>
          <a:bodyPr/>
          <a:lstStyle/>
          <a:p>
            <a:r>
              <a:rPr lang="en-US" dirty="0"/>
              <a:t>Formal Specification Techniques </a:t>
            </a:r>
          </a:p>
        </p:txBody>
      </p:sp>
      <p:sp>
        <p:nvSpPr>
          <p:cNvPr id="3" name="Content Placeholder 2">
            <a:extLst>
              <a:ext uri="{FF2B5EF4-FFF2-40B4-BE49-F238E27FC236}">
                <a16:creationId xmlns:a16="http://schemas.microsoft.com/office/drawing/2014/main" xmlns="" id="{2CD83D37-8489-402C-A2C2-ED30464F967C}"/>
              </a:ext>
            </a:extLst>
          </p:cNvPr>
          <p:cNvSpPr>
            <a:spLocks noGrp="1"/>
          </p:cNvSpPr>
          <p:nvPr>
            <p:ph idx="1"/>
          </p:nvPr>
        </p:nvSpPr>
        <p:spPr>
          <a:xfrm>
            <a:off x="1097280" y="1895609"/>
            <a:ext cx="10058400" cy="4023360"/>
          </a:xfrm>
        </p:spPr>
        <p:txBody>
          <a:bodyPr>
            <a:noAutofit/>
          </a:bodyPr>
          <a:lstStyle/>
          <a:p>
            <a:pPr>
              <a:buFont typeface="Wingdings" panose="05000000000000000000" pitchFamily="2" charset="2"/>
              <a:buChar char="§"/>
            </a:pPr>
            <a:r>
              <a:rPr lang="en-US" sz="2400" dirty="0"/>
              <a:t>There are </a:t>
            </a:r>
            <a:r>
              <a:rPr lang="en-US" sz="2400" b="1" dirty="0"/>
              <a:t>4 major families</a:t>
            </a:r>
            <a:r>
              <a:rPr lang="en-US" sz="2400" dirty="0"/>
              <a:t> used in software construction</a:t>
            </a:r>
            <a:r>
              <a:rPr lang="en-US" sz="2400" dirty="0" smtClean="0"/>
              <a:t>:</a:t>
            </a:r>
          </a:p>
          <a:p>
            <a:pPr marL="457200" indent="-457200">
              <a:buFont typeface="+mj-lt"/>
              <a:buAutoNum type="arabicPeriod"/>
            </a:pPr>
            <a:r>
              <a:rPr lang="en-US" sz="2400" dirty="0"/>
              <a:t>Model-Based Formal </a:t>
            </a:r>
            <a:r>
              <a:rPr lang="en-US" sz="2400" dirty="0" smtClean="0"/>
              <a:t>Specifications</a:t>
            </a:r>
          </a:p>
          <a:p>
            <a:pPr marL="457200" indent="-457200">
              <a:buFont typeface="+mj-lt"/>
              <a:buAutoNum type="arabicPeriod"/>
            </a:pPr>
            <a:r>
              <a:rPr lang="en-US" sz="2400" dirty="0"/>
              <a:t>Algebraic </a:t>
            </a:r>
            <a:r>
              <a:rPr lang="en-US" sz="2400" dirty="0" smtClean="0"/>
              <a:t>Specifications</a:t>
            </a:r>
          </a:p>
          <a:p>
            <a:pPr marL="457200" indent="-457200">
              <a:buFont typeface="+mj-lt"/>
              <a:buAutoNum type="arabicPeriod"/>
            </a:pPr>
            <a:r>
              <a:rPr lang="en-US" sz="2400" dirty="0"/>
              <a:t>Axiomatic Specifications (Hoare Logic</a:t>
            </a:r>
            <a:r>
              <a:rPr lang="en-US" sz="2400" dirty="0" smtClean="0"/>
              <a:t>)</a:t>
            </a:r>
          </a:p>
          <a:p>
            <a:pPr marL="457200" indent="-457200">
              <a:buFont typeface="+mj-lt"/>
              <a:buAutoNum type="arabicPeriod"/>
            </a:pPr>
            <a:r>
              <a:rPr lang="en-US" sz="2400" dirty="0"/>
              <a:t>Behavioral Specifications (Automata + Temporal Logic)</a:t>
            </a:r>
            <a:endParaRPr lang="en-US" sz="24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583977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D95487-9D5A-4A1C-B479-3D11C5273DE1}"/>
              </a:ext>
            </a:extLst>
          </p:cNvPr>
          <p:cNvSpPr>
            <a:spLocks noGrp="1"/>
          </p:cNvSpPr>
          <p:nvPr>
            <p:ph type="title"/>
          </p:nvPr>
        </p:nvSpPr>
        <p:spPr/>
        <p:txBody>
          <a:bodyPr/>
          <a:lstStyle/>
          <a:p>
            <a:r>
              <a:rPr lang="en-US" dirty="0"/>
              <a:t>Formal Specification Techniques </a:t>
            </a:r>
          </a:p>
        </p:txBody>
      </p:sp>
      <p:sp>
        <p:nvSpPr>
          <p:cNvPr id="3" name="Content Placeholder 2">
            <a:extLst>
              <a:ext uri="{FF2B5EF4-FFF2-40B4-BE49-F238E27FC236}">
                <a16:creationId xmlns:a16="http://schemas.microsoft.com/office/drawing/2014/main" xmlns="" id="{2CD83D37-8489-402C-A2C2-ED30464F967C}"/>
              </a:ext>
            </a:extLst>
          </p:cNvPr>
          <p:cNvSpPr>
            <a:spLocks noGrp="1"/>
          </p:cNvSpPr>
          <p:nvPr>
            <p:ph idx="1"/>
          </p:nvPr>
        </p:nvSpPr>
        <p:spPr>
          <a:xfrm>
            <a:off x="1097280" y="1895609"/>
            <a:ext cx="10058400" cy="4023360"/>
          </a:xfrm>
        </p:spPr>
        <p:txBody>
          <a:bodyPr>
            <a:noAutofit/>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There are </a:t>
            </a:r>
            <a:r>
              <a:rPr lang="en-US" b="1" dirty="0">
                <a:latin typeface="Times New Roman" panose="02020603050405020304" pitchFamily="18" charset="0"/>
                <a:cs typeface="Times New Roman" panose="02020603050405020304" pitchFamily="18" charset="0"/>
              </a:rPr>
              <a:t>4 major families</a:t>
            </a:r>
            <a:r>
              <a:rPr lang="en-US" dirty="0">
                <a:latin typeface="Times New Roman" panose="02020603050405020304" pitchFamily="18" charset="0"/>
                <a:cs typeface="Times New Roman" panose="02020603050405020304" pitchFamily="18" charset="0"/>
              </a:rPr>
              <a:t> used in software </a:t>
            </a:r>
            <a:r>
              <a:rPr lang="en-US" dirty="0" smtClean="0">
                <a:latin typeface="Times New Roman" panose="02020603050405020304" pitchFamily="18" charset="0"/>
                <a:cs typeface="Times New Roman" panose="02020603050405020304" pitchFamily="18" charset="0"/>
              </a:rPr>
              <a:t>construction:</a:t>
            </a:r>
          </a:p>
          <a:p>
            <a:pPr>
              <a:buFont typeface="Wingdings" panose="05000000000000000000" pitchFamily="2" charset="2"/>
              <a:buChar char="q"/>
            </a:pPr>
            <a:r>
              <a:rPr lang="en-US" b="1" dirty="0" smtClean="0">
                <a:latin typeface="Times New Roman" panose="02020603050405020304" pitchFamily="18" charset="0"/>
                <a:cs typeface="Times New Roman" panose="02020603050405020304" pitchFamily="18" charset="0"/>
              </a:rPr>
              <a:t>Model-Based </a:t>
            </a:r>
            <a:r>
              <a:rPr lang="en-US" b="1" dirty="0">
                <a:latin typeface="Times New Roman" panose="02020603050405020304" pitchFamily="18" charset="0"/>
                <a:cs typeface="Times New Roman" panose="02020603050405020304" pitchFamily="18" charset="0"/>
              </a:rPr>
              <a:t>Formal Specifications: </a:t>
            </a:r>
            <a:r>
              <a:rPr lang="en-US" dirty="0">
                <a:latin typeface="Times New Roman" panose="02020603050405020304" pitchFamily="18" charset="0"/>
                <a:cs typeface="Times New Roman" panose="02020603050405020304" pitchFamily="18" charset="0"/>
              </a:rPr>
              <a:t>Represent system state as mathematical objects (sets, functions, relations).</a:t>
            </a:r>
          </a:p>
          <a:p>
            <a:r>
              <a:rPr lang="en-US" dirty="0">
                <a:latin typeface="Times New Roman" panose="02020603050405020304" pitchFamily="18" charset="0"/>
                <a:cs typeface="Times New Roman" panose="02020603050405020304" pitchFamily="18" charset="0"/>
              </a:rPr>
              <a:t>Common </a:t>
            </a:r>
            <a:r>
              <a:rPr lang="en-US" dirty="0" smtClean="0">
                <a:latin typeface="Times New Roman" panose="02020603050405020304" pitchFamily="18" charset="0"/>
                <a:cs typeface="Times New Roman" panose="02020603050405020304" pitchFamily="18" charset="0"/>
              </a:rPr>
              <a:t>frameworks: </a:t>
            </a:r>
            <a:r>
              <a:rPr lang="en-US" b="1" dirty="0" smtClean="0">
                <a:latin typeface="Times New Roman" panose="02020603050405020304" pitchFamily="18" charset="0"/>
                <a:cs typeface="Times New Roman" panose="02020603050405020304" pitchFamily="18" charset="0"/>
              </a:rPr>
              <a:t>Z Notation</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VDM </a:t>
            </a:r>
            <a:r>
              <a:rPr lang="en-US" b="1" dirty="0">
                <a:latin typeface="Times New Roman" panose="02020603050405020304" pitchFamily="18" charset="0"/>
                <a:cs typeface="Times New Roman" panose="02020603050405020304" pitchFamily="18" charset="0"/>
              </a:rPr>
              <a:t>(Vienna Development </a:t>
            </a:r>
            <a:r>
              <a:rPr lang="en-US" b="1" dirty="0" smtClean="0">
                <a:latin typeface="Times New Roman" panose="02020603050405020304" pitchFamily="18" charset="0"/>
                <a:cs typeface="Times New Roman" panose="02020603050405020304" pitchFamily="18" charset="0"/>
              </a:rPr>
              <a:t>Method)</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Alloy</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Algebraic Specifications: </a:t>
            </a:r>
            <a:r>
              <a:rPr lang="en-US" dirty="0">
                <a:latin typeface="Times New Roman" panose="02020603050405020304" pitchFamily="18" charset="0"/>
                <a:cs typeface="Times New Roman" panose="02020603050405020304" pitchFamily="18" charset="0"/>
              </a:rPr>
              <a:t>Specify system using algebraic equations</a:t>
            </a:r>
            <a:r>
              <a:rPr lang="en-US" dirty="0" smtClean="0">
                <a:latin typeface="Times New Roman" panose="02020603050405020304" pitchFamily="18" charset="0"/>
                <a:cs typeface="Times New Roman" panose="02020603050405020304" pitchFamily="18" charset="0"/>
              </a:rPr>
              <a:t>. Used </a:t>
            </a:r>
            <a:r>
              <a:rPr lang="en-US" dirty="0">
                <a:latin typeface="Times New Roman" panose="02020603050405020304" pitchFamily="18" charset="0"/>
                <a:cs typeface="Times New Roman" panose="02020603050405020304" pitchFamily="18" charset="0"/>
              </a:rPr>
              <a:t>mainly for abstract data types (ADT) like stacks, sets, </a:t>
            </a:r>
            <a:r>
              <a:rPr lang="en-US" dirty="0" smtClean="0">
                <a:latin typeface="Times New Roman" panose="02020603050405020304" pitchFamily="18" charset="0"/>
                <a:cs typeface="Times New Roman" panose="02020603050405020304" pitchFamily="18" charset="0"/>
              </a:rPr>
              <a:t>lists.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dirty="0" smtClean="0">
                <a:latin typeface="Times New Roman" panose="02020603050405020304" pitchFamily="18" charset="0"/>
                <a:cs typeface="Times New Roman" panose="02020603050405020304" pitchFamily="18" charset="0"/>
              </a:rPr>
              <a:t>Axiomatic </a:t>
            </a:r>
            <a:r>
              <a:rPr lang="en-US" b="1" dirty="0">
                <a:latin typeface="Times New Roman" panose="02020603050405020304" pitchFamily="18" charset="0"/>
                <a:cs typeface="Times New Roman" panose="02020603050405020304" pitchFamily="18" charset="0"/>
              </a:rPr>
              <a:t>Specifications (Hoare Logic): </a:t>
            </a:r>
            <a:r>
              <a:rPr lang="en-US" dirty="0">
                <a:latin typeface="Times New Roman" panose="02020603050405020304" pitchFamily="18" charset="0"/>
                <a:cs typeface="Times New Roman" panose="02020603050405020304" pitchFamily="18" charset="0"/>
              </a:rPr>
              <a:t>Use logical assertions to specify behavior.</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Behavioral Specifications (</a:t>
            </a:r>
            <a:r>
              <a:rPr lang="en-US" b="1" dirty="0" smtClean="0">
                <a:latin typeface="Times New Roman" panose="02020603050405020304" pitchFamily="18" charset="0"/>
                <a:cs typeface="Times New Roman" panose="02020603050405020304" pitchFamily="18" charset="0"/>
              </a:rPr>
              <a:t>Automata </a:t>
            </a:r>
            <a:r>
              <a:rPr lang="en-US" b="1" dirty="0">
                <a:latin typeface="Times New Roman" panose="02020603050405020304" pitchFamily="18" charset="0"/>
                <a:cs typeface="Times New Roman" panose="02020603050405020304" pitchFamily="18" charset="0"/>
              </a:rPr>
              <a:t>+ Temporal Logic): </a:t>
            </a:r>
            <a:r>
              <a:rPr lang="en-US" dirty="0">
                <a:latin typeface="Times New Roman" panose="02020603050405020304" pitchFamily="18" charset="0"/>
                <a:cs typeface="Times New Roman" panose="02020603050405020304" pitchFamily="18" charset="0"/>
              </a:rPr>
              <a:t>Used mainly for concurrency, protocols, real-time systems.</a:t>
            </a:r>
          </a:p>
        </p:txBody>
      </p:sp>
    </p:spTree>
    <p:extLst>
      <p:ext uri="{BB962C8B-B14F-4D97-AF65-F5344CB8AC3E}">
        <p14:creationId xmlns:p14="http://schemas.microsoft.com/office/powerpoint/2010/main" val="1951269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title"/>
          </p:nvPr>
        </p:nvSpPr>
        <p:spPr/>
        <p:txBody>
          <a:bodyPr/>
          <a:lstStyle/>
          <a:p>
            <a:r>
              <a:rPr lang="en-GB"/>
              <a:t>Specification techniques</a:t>
            </a:r>
          </a:p>
        </p:txBody>
      </p:sp>
      <p:sp>
        <p:nvSpPr>
          <p:cNvPr id="67587" name="Rectangle 1027"/>
          <p:cNvSpPr>
            <a:spLocks noGrp="1" noChangeArrowheads="1"/>
          </p:cNvSpPr>
          <p:nvPr>
            <p:ph type="body" idx="1"/>
          </p:nvPr>
        </p:nvSpPr>
        <p:spPr>
          <a:xfrm>
            <a:off x="1739630" y="1948775"/>
            <a:ext cx="8413750" cy="4724400"/>
          </a:xfrm>
        </p:spPr>
        <p:txBody>
          <a:bodyPr/>
          <a:lstStyle/>
          <a:p>
            <a:r>
              <a:rPr lang="en-GB" b="1" dirty="0">
                <a:solidFill>
                  <a:srgbClr val="FF0000"/>
                </a:solidFill>
              </a:rPr>
              <a:t>Algebraic approach</a:t>
            </a:r>
          </a:p>
          <a:p>
            <a:pPr lvl="1"/>
            <a:r>
              <a:rPr lang="en-GB" sz="2400" dirty="0">
                <a:solidFill>
                  <a:srgbClr val="0000FF"/>
                </a:solidFill>
              </a:rPr>
              <a:t>The system is specified in terms of its operations and their relationships</a:t>
            </a:r>
          </a:p>
          <a:p>
            <a:r>
              <a:rPr lang="en-GB" b="1" dirty="0">
                <a:solidFill>
                  <a:srgbClr val="FF0000"/>
                </a:solidFill>
              </a:rPr>
              <a:t>Model-based approach</a:t>
            </a:r>
          </a:p>
          <a:p>
            <a:pPr lvl="1"/>
            <a:r>
              <a:rPr lang="en-GB" sz="2400" dirty="0">
                <a:solidFill>
                  <a:srgbClr val="0000FF"/>
                </a:solidFill>
              </a:rPr>
              <a:t>The system is specified in terms of a state model that is constructed using mathematical constructs </a:t>
            </a:r>
            <a:r>
              <a:rPr lang="en-GB" sz="2400" dirty="0"/>
              <a:t>such as sets and sequences. </a:t>
            </a:r>
          </a:p>
          <a:p>
            <a:pPr lvl="1"/>
            <a:r>
              <a:rPr lang="en-GB" sz="2400" dirty="0">
                <a:solidFill>
                  <a:srgbClr val="0000FF"/>
                </a:solidFill>
              </a:rPr>
              <a:t>Operations</a:t>
            </a:r>
            <a:r>
              <a:rPr lang="en-GB" sz="2400" dirty="0"/>
              <a:t> are defined by modifications to the system’s state</a:t>
            </a:r>
          </a:p>
        </p:txBody>
      </p:sp>
    </p:spTree>
    <p:extLst>
      <p:ext uri="{BB962C8B-B14F-4D97-AF65-F5344CB8AC3E}">
        <p14:creationId xmlns:p14="http://schemas.microsoft.com/office/powerpoint/2010/main" val="2304464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GB"/>
              <a:t>Formal specification languages</a:t>
            </a:r>
          </a:p>
        </p:txBody>
      </p:sp>
      <p:graphicFrame>
        <p:nvGraphicFramePr>
          <p:cNvPr id="68612" name="Object 4"/>
          <p:cNvGraphicFramePr>
            <a:graphicFrameLocks noChangeAspect="1"/>
          </p:cNvGraphicFramePr>
          <p:nvPr/>
        </p:nvGraphicFramePr>
        <p:xfrm>
          <a:off x="1828800" y="1676401"/>
          <a:ext cx="8229600" cy="2481263"/>
        </p:xfrm>
        <a:graphic>
          <a:graphicData uri="http://schemas.openxmlformats.org/presentationml/2006/ole">
            <mc:AlternateContent xmlns:mc="http://schemas.openxmlformats.org/markup-compatibility/2006">
              <mc:Choice xmlns:v="urn:schemas-microsoft-com:vml" Requires="v">
                <p:oleObj spid="_x0000_s3089" name="Document" r:id="rId3" imgW="5486400" imgH="1654920" progId="Word.Document.8">
                  <p:embed/>
                </p:oleObj>
              </mc:Choice>
              <mc:Fallback>
                <p:oleObj name="Document" r:id="rId3" imgW="5486400" imgH="16549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9615" r="9612" b="10696"/>
                      <a:stretch>
                        <a:fillRect/>
                      </a:stretch>
                    </p:blipFill>
                    <p:spPr bwMode="auto">
                      <a:xfrm>
                        <a:off x="1828800" y="1676401"/>
                        <a:ext cx="8229600"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8617" name="Group 9"/>
          <p:cNvGrpSpPr>
            <a:grpSpLocks/>
          </p:cNvGrpSpPr>
          <p:nvPr/>
        </p:nvGrpSpPr>
        <p:grpSpPr bwMode="auto">
          <a:xfrm>
            <a:off x="4038600" y="3429000"/>
            <a:ext cx="6248400" cy="2895600"/>
            <a:chOff x="1584" y="2160"/>
            <a:chExt cx="3936" cy="1824"/>
          </a:xfrm>
        </p:grpSpPr>
        <p:sp>
          <p:nvSpPr>
            <p:cNvPr id="68613" name="Text Box 5"/>
            <p:cNvSpPr txBox="1">
              <a:spLocks noChangeArrowheads="1"/>
            </p:cNvSpPr>
            <p:nvPr/>
          </p:nvSpPr>
          <p:spPr bwMode="auto">
            <a:xfrm>
              <a:off x="1776" y="3216"/>
              <a:ext cx="364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sz="2400" b="1">
                  <a:solidFill>
                    <a:srgbClr val="0000FF"/>
                  </a:solidFill>
                </a:rPr>
                <a:t>ASML - Abstract State Machine Language </a:t>
              </a:r>
            </a:p>
            <a:p>
              <a:pPr algn="ctr">
                <a:spcBef>
                  <a:spcPct val="50000"/>
                </a:spcBef>
              </a:pPr>
              <a:r>
                <a:rPr lang="en-GB" sz="2000"/>
                <a:t>Yuri. Gurevich, Microsoft Research, 2001</a:t>
              </a:r>
            </a:p>
          </p:txBody>
        </p:sp>
        <p:sp>
          <p:nvSpPr>
            <p:cNvPr id="68614" name="Oval 6"/>
            <p:cNvSpPr>
              <a:spLocks noChangeArrowheads="1"/>
            </p:cNvSpPr>
            <p:nvPr/>
          </p:nvSpPr>
          <p:spPr bwMode="auto">
            <a:xfrm>
              <a:off x="1584" y="2976"/>
              <a:ext cx="3936" cy="1008"/>
            </a:xfrm>
            <a:prstGeom prst="ellipse">
              <a:avLst/>
            </a:prstGeom>
            <a:noFill/>
            <a:ln w="57150">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5" name="AutoShape 7"/>
            <p:cNvSpPr>
              <a:spLocks noChangeArrowheads="1"/>
            </p:cNvSpPr>
            <p:nvPr/>
          </p:nvSpPr>
          <p:spPr bwMode="auto">
            <a:xfrm rot="14681870">
              <a:off x="2856" y="2568"/>
              <a:ext cx="864"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6" name="AutoShape 8"/>
            <p:cNvSpPr>
              <a:spLocks noChangeArrowheads="1"/>
            </p:cNvSpPr>
            <p:nvPr/>
          </p:nvSpPr>
          <p:spPr bwMode="auto">
            <a:xfrm rot="6918130" flipH="1">
              <a:off x="4241" y="2544"/>
              <a:ext cx="1008"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785903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8617"/>
                                        </p:tgtEl>
                                        <p:attrNameLst>
                                          <p:attrName>style.visibility</p:attrName>
                                        </p:attrNameLst>
                                      </p:cBhvr>
                                      <p:to>
                                        <p:strVal val="visible"/>
                                      </p:to>
                                    </p:set>
                                    <p:animEffect transition="in" filter="dissolve">
                                      <p:cBhvr>
                                        <p:cTn id="7" dur="500"/>
                                        <p:tgtEl>
                                          <p:spTgt spid="68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026"/>
          <p:cNvSpPr>
            <a:spLocks noGrp="1" noChangeArrowheads="1"/>
          </p:cNvSpPr>
          <p:nvPr>
            <p:ph type="title"/>
          </p:nvPr>
        </p:nvSpPr>
        <p:spPr/>
        <p:txBody>
          <a:bodyPr/>
          <a:lstStyle/>
          <a:p>
            <a:r>
              <a:rPr lang="en-GB"/>
              <a:t>Use of formal specification</a:t>
            </a:r>
          </a:p>
        </p:txBody>
      </p:sp>
      <p:sp>
        <p:nvSpPr>
          <p:cNvPr id="69635" name="Rectangle 1027"/>
          <p:cNvSpPr>
            <a:spLocks noGrp="1" noChangeArrowheads="1"/>
          </p:cNvSpPr>
          <p:nvPr>
            <p:ph type="body" idx="1"/>
          </p:nvPr>
        </p:nvSpPr>
        <p:spPr>
          <a:xfrm>
            <a:off x="1577502" y="2396247"/>
            <a:ext cx="8763000" cy="4800600"/>
          </a:xfrm>
        </p:spPr>
        <p:txBody>
          <a:bodyPr/>
          <a:lstStyle/>
          <a:p>
            <a:r>
              <a:rPr lang="en-GB" b="1" dirty="0">
                <a:solidFill>
                  <a:srgbClr val="0000FF"/>
                </a:solidFill>
              </a:rPr>
              <a:t>Formal specification</a:t>
            </a:r>
            <a:r>
              <a:rPr lang="en-GB" b="1" dirty="0">
                <a:solidFill>
                  <a:srgbClr val="FF0000"/>
                </a:solidFill>
              </a:rPr>
              <a:t> involves investing more effort in the early phases</a:t>
            </a:r>
            <a:r>
              <a:rPr lang="en-GB" dirty="0"/>
              <a:t> of software development </a:t>
            </a:r>
          </a:p>
          <a:p>
            <a:pPr>
              <a:buFont typeface="Wingdings" panose="05000000000000000000" pitchFamily="2" charset="2"/>
              <a:buChar char="q"/>
            </a:pPr>
            <a:r>
              <a:rPr lang="en-GB" dirty="0"/>
              <a:t> </a:t>
            </a:r>
            <a:r>
              <a:rPr lang="en-GB" dirty="0" smtClean="0"/>
              <a:t> This </a:t>
            </a:r>
            <a:r>
              <a:rPr lang="en-GB" b="1" dirty="0">
                <a:solidFill>
                  <a:srgbClr val="0000FF"/>
                </a:solidFill>
              </a:rPr>
              <a:t>reduces requirements errors</a:t>
            </a:r>
            <a:r>
              <a:rPr lang="en-GB" dirty="0"/>
              <a:t> as it </a:t>
            </a:r>
            <a:r>
              <a:rPr lang="en-GB" dirty="0" smtClean="0"/>
              <a:t>forces </a:t>
            </a:r>
            <a:r>
              <a:rPr lang="en-GB" dirty="0"/>
              <a:t>a detailed analysis of </a:t>
            </a:r>
            <a:r>
              <a:rPr lang="en-GB" dirty="0" smtClean="0"/>
              <a:t>the requirements </a:t>
            </a:r>
            <a:endParaRPr lang="en-GB" dirty="0"/>
          </a:p>
          <a:p>
            <a:r>
              <a:rPr lang="en-GB" b="1" dirty="0">
                <a:solidFill>
                  <a:srgbClr val="FF0000"/>
                </a:solidFill>
              </a:rPr>
              <a:t>Incompleteness</a:t>
            </a:r>
            <a:r>
              <a:rPr lang="en-GB" dirty="0"/>
              <a:t> and </a:t>
            </a:r>
            <a:r>
              <a:rPr lang="en-GB" b="1" dirty="0">
                <a:solidFill>
                  <a:srgbClr val="FF0000"/>
                </a:solidFill>
              </a:rPr>
              <a:t>inconsistencies</a:t>
            </a:r>
            <a:r>
              <a:rPr lang="en-GB" dirty="0"/>
              <a:t> can be discovered and resolved  </a:t>
            </a:r>
            <a:r>
              <a:rPr lang="en-GB" dirty="0">
                <a:solidFill>
                  <a:srgbClr val="0000FF"/>
                </a:solidFill>
              </a:rPr>
              <a:t>!!!</a:t>
            </a:r>
          </a:p>
          <a:p>
            <a:pPr>
              <a:buFont typeface="Wingdings" panose="05000000000000000000" pitchFamily="2" charset="2"/>
              <a:buChar char="q"/>
            </a:pPr>
            <a:r>
              <a:rPr lang="en-GB" dirty="0" smtClean="0"/>
              <a:t> Hence</a:t>
            </a:r>
            <a:r>
              <a:rPr lang="en-GB" dirty="0"/>
              <a:t>, </a:t>
            </a:r>
            <a:r>
              <a:rPr lang="en-GB" b="1" dirty="0">
                <a:solidFill>
                  <a:srgbClr val="0000FF"/>
                </a:solidFill>
              </a:rPr>
              <a:t>savings as made as the amount of </a:t>
            </a:r>
            <a:r>
              <a:rPr lang="en-GB" b="1" dirty="0" smtClean="0">
                <a:solidFill>
                  <a:srgbClr val="0000FF"/>
                </a:solidFill>
              </a:rPr>
              <a:t> rework</a:t>
            </a:r>
            <a:r>
              <a:rPr lang="en-GB" dirty="0" smtClean="0"/>
              <a:t> </a:t>
            </a:r>
            <a:r>
              <a:rPr lang="en-GB" dirty="0"/>
              <a:t>due to requirements problems is </a:t>
            </a:r>
            <a:r>
              <a:rPr lang="en-GB" dirty="0" smtClean="0"/>
              <a:t> reduced</a:t>
            </a:r>
            <a:endParaRPr lang="en-GB" dirty="0"/>
          </a:p>
        </p:txBody>
      </p:sp>
    </p:spTree>
    <p:extLst>
      <p:ext uri="{BB962C8B-B14F-4D97-AF65-F5344CB8AC3E}">
        <p14:creationId xmlns:p14="http://schemas.microsoft.com/office/powerpoint/2010/main" val="1785494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438401" y="263526"/>
            <a:ext cx="7529513" cy="1108075"/>
          </a:xfrm>
          <a:noFill/>
          <a:ln/>
        </p:spPr>
        <p:txBody>
          <a:bodyPr/>
          <a:lstStyle/>
          <a:p>
            <a:r>
              <a:rPr lang="en-GB" sz="2800"/>
              <a:t>Development costs with formal specification</a:t>
            </a:r>
            <a:endParaRPr lang="en-GB"/>
          </a:p>
        </p:txBody>
      </p:sp>
      <p:pic>
        <p:nvPicPr>
          <p:cNvPr id="28675"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5826" y="1465264"/>
            <a:ext cx="6975475" cy="525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401771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GB"/>
              <a:t>1. </a:t>
            </a:r>
            <a:r>
              <a:rPr lang="en-GB">
                <a:solidFill>
                  <a:srgbClr val="FF0000"/>
                </a:solidFill>
              </a:rPr>
              <a:t>Interface specification</a:t>
            </a:r>
          </a:p>
        </p:txBody>
      </p:sp>
      <p:sp>
        <p:nvSpPr>
          <p:cNvPr id="53251" name="Rectangle 3"/>
          <p:cNvSpPr>
            <a:spLocks noGrp="1" noChangeArrowheads="1"/>
          </p:cNvSpPr>
          <p:nvPr>
            <p:ph type="body" idx="1"/>
          </p:nvPr>
        </p:nvSpPr>
        <p:spPr>
          <a:xfrm>
            <a:off x="1817451" y="2133600"/>
            <a:ext cx="8413750" cy="4724400"/>
          </a:xfrm>
        </p:spPr>
        <p:txBody>
          <a:bodyPr/>
          <a:lstStyle/>
          <a:p>
            <a:pPr>
              <a:lnSpc>
                <a:spcPct val="90000"/>
              </a:lnSpc>
            </a:pPr>
            <a:r>
              <a:rPr lang="en-GB" dirty="0">
                <a:solidFill>
                  <a:srgbClr val="0000FF"/>
                </a:solidFill>
              </a:rPr>
              <a:t>Large systems are decomposed into subsystems</a:t>
            </a:r>
            <a:r>
              <a:rPr lang="en-GB" dirty="0"/>
              <a:t> with well-defined interfaces between these subsystems</a:t>
            </a:r>
          </a:p>
          <a:p>
            <a:pPr>
              <a:lnSpc>
                <a:spcPct val="90000"/>
              </a:lnSpc>
            </a:pPr>
            <a:r>
              <a:rPr lang="en-GB" dirty="0">
                <a:solidFill>
                  <a:srgbClr val="0000FF"/>
                </a:solidFill>
              </a:rPr>
              <a:t>Specification of subsystem interfaces</a:t>
            </a:r>
            <a:r>
              <a:rPr lang="en-GB" dirty="0"/>
              <a:t> </a:t>
            </a:r>
            <a:r>
              <a:rPr lang="en-GB" dirty="0">
                <a:solidFill>
                  <a:srgbClr val="FF0000"/>
                </a:solidFill>
              </a:rPr>
              <a:t>allows independent development of the different subsystems</a:t>
            </a:r>
          </a:p>
          <a:p>
            <a:pPr>
              <a:lnSpc>
                <a:spcPct val="90000"/>
              </a:lnSpc>
            </a:pPr>
            <a:r>
              <a:rPr lang="en-GB" dirty="0">
                <a:solidFill>
                  <a:srgbClr val="0000FF"/>
                </a:solidFill>
              </a:rPr>
              <a:t>Interfaces</a:t>
            </a:r>
            <a:r>
              <a:rPr lang="en-GB" dirty="0"/>
              <a:t> may be defined as </a:t>
            </a:r>
            <a:r>
              <a:rPr lang="en-GB" dirty="0">
                <a:solidFill>
                  <a:srgbClr val="FF0000"/>
                </a:solidFill>
              </a:rPr>
              <a:t>abstract data types</a:t>
            </a:r>
            <a:r>
              <a:rPr lang="en-GB" dirty="0"/>
              <a:t> or </a:t>
            </a:r>
            <a:r>
              <a:rPr lang="en-GB" dirty="0">
                <a:solidFill>
                  <a:srgbClr val="FF0000"/>
                </a:solidFill>
              </a:rPr>
              <a:t>object classes</a:t>
            </a:r>
          </a:p>
          <a:p>
            <a:pPr>
              <a:lnSpc>
                <a:spcPct val="90000"/>
              </a:lnSpc>
            </a:pPr>
            <a:endParaRPr lang="en-GB" sz="900" dirty="0">
              <a:solidFill>
                <a:srgbClr val="FF0000"/>
              </a:solidFill>
            </a:endParaRPr>
          </a:p>
          <a:p>
            <a:pPr algn="ctr">
              <a:lnSpc>
                <a:spcPct val="90000"/>
              </a:lnSpc>
              <a:buFont typeface="Zapf Dingbats" charset="2"/>
              <a:buNone/>
            </a:pPr>
            <a:r>
              <a:rPr lang="en-GB" dirty="0"/>
              <a:t>	</a:t>
            </a:r>
            <a:r>
              <a:rPr lang="en-GB" b="1" dirty="0">
                <a:solidFill>
                  <a:srgbClr val="009900"/>
                </a:solidFill>
              </a:rPr>
              <a:t>The algebraic approach to formal specification is particularly well-suited to interface specification</a:t>
            </a:r>
          </a:p>
        </p:txBody>
      </p:sp>
    </p:spTree>
    <p:extLst>
      <p:ext uri="{BB962C8B-B14F-4D97-AF65-F5344CB8AC3E}">
        <p14:creationId xmlns:p14="http://schemas.microsoft.com/office/powerpoint/2010/main" val="3561771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a:ln/>
        </p:spPr>
        <p:txBody>
          <a:bodyPr/>
          <a:lstStyle/>
          <a:p>
            <a:r>
              <a:rPr lang="en-GB"/>
              <a:t>Sub-system interfaces</a:t>
            </a:r>
          </a:p>
        </p:txBody>
      </p:sp>
      <p:pic>
        <p:nvPicPr>
          <p:cNvPr id="54275"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7726" y="2065338"/>
            <a:ext cx="8201025" cy="297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171640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2438400" y="263526"/>
            <a:ext cx="7816850" cy="1108075"/>
          </a:xfrm>
          <a:noFill/>
          <a:ln/>
        </p:spPr>
        <p:txBody>
          <a:bodyPr/>
          <a:lstStyle/>
          <a:p>
            <a:r>
              <a:rPr lang="en-GB" sz="3200" dirty="0"/>
              <a:t>The structure of an algebraic specification</a:t>
            </a:r>
            <a:endParaRPr lang="en-GB" dirty="0"/>
          </a:p>
        </p:txBody>
      </p:sp>
      <p:sp>
        <p:nvSpPr>
          <p:cNvPr id="71684" name="Rectangle 4"/>
          <p:cNvSpPr>
            <a:spLocks noChangeArrowheads="1"/>
          </p:cNvSpPr>
          <p:nvPr/>
        </p:nvSpPr>
        <p:spPr bwMode="auto">
          <a:xfrm>
            <a:off x="1954214" y="2549525"/>
            <a:ext cx="6123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b="1">
                <a:solidFill>
                  <a:srgbClr val="000000"/>
                </a:solidFill>
                <a:latin typeface="Arial" panose="020B0604020202020204" pitchFamily="34" charset="0"/>
              </a:rPr>
              <a:t>sort </a:t>
            </a:r>
            <a:endParaRPr lang="en-US" sz="2400">
              <a:latin typeface="Arial" panose="020B0604020202020204" pitchFamily="34" charset="0"/>
            </a:endParaRPr>
          </a:p>
        </p:txBody>
      </p:sp>
      <p:sp>
        <p:nvSpPr>
          <p:cNvPr id="71685" name="Rectangle 5"/>
          <p:cNvSpPr>
            <a:spLocks noChangeArrowheads="1"/>
          </p:cNvSpPr>
          <p:nvPr/>
        </p:nvSpPr>
        <p:spPr bwMode="auto">
          <a:xfrm>
            <a:off x="2557463" y="2549525"/>
            <a:ext cx="11942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&lt; name &gt;</a:t>
            </a:r>
            <a:endParaRPr lang="en-US" sz="2400">
              <a:latin typeface="Arial" panose="020B0604020202020204" pitchFamily="34" charset="0"/>
            </a:endParaRPr>
          </a:p>
        </p:txBody>
      </p:sp>
      <p:sp>
        <p:nvSpPr>
          <p:cNvPr id="71686" name="Rectangle 6"/>
          <p:cNvSpPr>
            <a:spLocks noChangeArrowheads="1"/>
          </p:cNvSpPr>
          <p:nvPr/>
        </p:nvSpPr>
        <p:spPr bwMode="auto">
          <a:xfrm>
            <a:off x="1954213" y="2865438"/>
            <a:ext cx="103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b="1">
                <a:solidFill>
                  <a:srgbClr val="000000"/>
                </a:solidFill>
                <a:latin typeface="Arial" panose="020B0604020202020204" pitchFamily="34" charset="0"/>
              </a:rPr>
              <a:t>imports</a:t>
            </a:r>
            <a:endParaRPr lang="en-US" sz="2400">
              <a:latin typeface="Arial" panose="020B0604020202020204" pitchFamily="34" charset="0"/>
            </a:endParaRPr>
          </a:p>
        </p:txBody>
      </p:sp>
      <p:sp>
        <p:nvSpPr>
          <p:cNvPr id="71687" name="Rectangle 7"/>
          <p:cNvSpPr>
            <a:spLocks noChangeArrowheads="1"/>
          </p:cNvSpPr>
          <p:nvPr/>
        </p:nvSpPr>
        <p:spPr bwMode="auto">
          <a:xfrm>
            <a:off x="2982914" y="2865438"/>
            <a:ext cx="9185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 &lt; LIST</a:t>
            </a:r>
            <a:endParaRPr lang="en-US" sz="2400">
              <a:latin typeface="Arial" panose="020B0604020202020204" pitchFamily="34" charset="0"/>
            </a:endParaRPr>
          </a:p>
        </p:txBody>
      </p:sp>
      <p:sp>
        <p:nvSpPr>
          <p:cNvPr id="71688" name="Rectangle 8"/>
          <p:cNvSpPr>
            <a:spLocks noChangeArrowheads="1"/>
          </p:cNvSpPr>
          <p:nvPr/>
        </p:nvSpPr>
        <p:spPr bwMode="auto">
          <a:xfrm>
            <a:off x="3903664" y="2865438"/>
            <a:ext cx="20374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 OF SPECIFICA</a:t>
            </a:r>
            <a:endParaRPr lang="en-US" sz="2400">
              <a:latin typeface="Arial" panose="020B0604020202020204" pitchFamily="34" charset="0"/>
            </a:endParaRPr>
          </a:p>
        </p:txBody>
      </p:sp>
      <p:sp>
        <p:nvSpPr>
          <p:cNvPr id="71689" name="Rectangle 9"/>
          <p:cNvSpPr>
            <a:spLocks noChangeArrowheads="1"/>
          </p:cNvSpPr>
          <p:nvPr/>
        </p:nvSpPr>
        <p:spPr bwMode="auto">
          <a:xfrm>
            <a:off x="5922964" y="2865438"/>
            <a:ext cx="19989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TION NAMES &gt;</a:t>
            </a:r>
            <a:endParaRPr lang="en-US" sz="2400">
              <a:latin typeface="Arial" panose="020B0604020202020204" pitchFamily="34" charset="0"/>
            </a:endParaRPr>
          </a:p>
        </p:txBody>
      </p:sp>
      <p:sp>
        <p:nvSpPr>
          <p:cNvPr id="71690" name="Rectangle 10"/>
          <p:cNvSpPr>
            <a:spLocks noChangeArrowheads="1"/>
          </p:cNvSpPr>
          <p:nvPr/>
        </p:nvSpPr>
        <p:spPr bwMode="auto">
          <a:xfrm>
            <a:off x="1954214" y="3535363"/>
            <a:ext cx="3141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Inf</a:t>
            </a:r>
            <a:endParaRPr lang="en-US" sz="2400">
              <a:latin typeface="Arial" panose="020B0604020202020204" pitchFamily="34" charset="0"/>
            </a:endParaRPr>
          </a:p>
        </p:txBody>
      </p:sp>
      <p:sp>
        <p:nvSpPr>
          <p:cNvPr id="71691" name="Rectangle 11"/>
          <p:cNvSpPr>
            <a:spLocks noChangeArrowheads="1"/>
          </p:cNvSpPr>
          <p:nvPr/>
        </p:nvSpPr>
        <p:spPr bwMode="auto">
          <a:xfrm>
            <a:off x="2238375" y="3535363"/>
            <a:ext cx="2516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or</a:t>
            </a:r>
            <a:endParaRPr lang="en-US" sz="2400">
              <a:latin typeface="Arial" panose="020B0604020202020204" pitchFamily="34" charset="0"/>
            </a:endParaRPr>
          </a:p>
        </p:txBody>
      </p:sp>
      <p:sp>
        <p:nvSpPr>
          <p:cNvPr id="71692" name="Rectangle 12"/>
          <p:cNvSpPr>
            <a:spLocks noChangeArrowheads="1"/>
          </p:cNvSpPr>
          <p:nvPr/>
        </p:nvSpPr>
        <p:spPr bwMode="auto">
          <a:xfrm>
            <a:off x="2486025" y="3535363"/>
            <a:ext cx="12246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mal descr</a:t>
            </a:r>
            <a:endParaRPr lang="en-US" sz="2400">
              <a:latin typeface="Arial" panose="020B0604020202020204" pitchFamily="34" charset="0"/>
            </a:endParaRPr>
          </a:p>
        </p:txBody>
      </p:sp>
      <p:sp>
        <p:nvSpPr>
          <p:cNvPr id="71693" name="Rectangle 13"/>
          <p:cNvSpPr>
            <a:spLocks noChangeArrowheads="1"/>
          </p:cNvSpPr>
          <p:nvPr/>
        </p:nvSpPr>
        <p:spPr bwMode="auto">
          <a:xfrm>
            <a:off x="3725864" y="3535363"/>
            <a:ext cx="19316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iption of the sor</a:t>
            </a:r>
            <a:endParaRPr lang="en-US" sz="2400">
              <a:latin typeface="Arial" panose="020B0604020202020204" pitchFamily="34" charset="0"/>
            </a:endParaRPr>
          </a:p>
        </p:txBody>
      </p:sp>
      <p:sp>
        <p:nvSpPr>
          <p:cNvPr id="71694" name="Rectangle 14"/>
          <p:cNvSpPr>
            <a:spLocks noChangeArrowheads="1"/>
          </p:cNvSpPr>
          <p:nvPr/>
        </p:nvSpPr>
        <p:spPr bwMode="auto">
          <a:xfrm>
            <a:off x="5675313" y="3535363"/>
            <a:ext cx="16334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t and its oper</a:t>
            </a:r>
            <a:endParaRPr lang="en-US" sz="2400">
              <a:latin typeface="Arial" panose="020B0604020202020204" pitchFamily="34" charset="0"/>
            </a:endParaRPr>
          </a:p>
        </p:txBody>
      </p:sp>
      <p:sp>
        <p:nvSpPr>
          <p:cNvPr id="71695" name="Rectangle 15"/>
          <p:cNvSpPr>
            <a:spLocks noChangeArrowheads="1"/>
          </p:cNvSpPr>
          <p:nvPr/>
        </p:nvSpPr>
        <p:spPr bwMode="auto">
          <a:xfrm>
            <a:off x="7304089" y="3535363"/>
            <a:ext cx="7534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ations</a:t>
            </a:r>
            <a:endParaRPr lang="en-US" sz="2400">
              <a:latin typeface="Arial" panose="020B0604020202020204" pitchFamily="34" charset="0"/>
            </a:endParaRPr>
          </a:p>
        </p:txBody>
      </p:sp>
      <p:sp>
        <p:nvSpPr>
          <p:cNvPr id="71696" name="Rectangle 16"/>
          <p:cNvSpPr>
            <a:spLocks noChangeArrowheads="1"/>
          </p:cNvSpPr>
          <p:nvPr/>
        </p:nvSpPr>
        <p:spPr bwMode="auto">
          <a:xfrm>
            <a:off x="1954214" y="4133850"/>
            <a:ext cx="6283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Oper</a:t>
            </a:r>
            <a:endParaRPr lang="en-US" sz="2400">
              <a:latin typeface="Arial" panose="020B0604020202020204" pitchFamily="34" charset="0"/>
            </a:endParaRPr>
          </a:p>
        </p:txBody>
      </p:sp>
      <p:sp>
        <p:nvSpPr>
          <p:cNvPr id="71697" name="Rectangle 17"/>
          <p:cNvSpPr>
            <a:spLocks noChangeArrowheads="1"/>
          </p:cNvSpPr>
          <p:nvPr/>
        </p:nvSpPr>
        <p:spPr bwMode="auto">
          <a:xfrm>
            <a:off x="2557463" y="4133850"/>
            <a:ext cx="68624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ation signatures setting out the names and the types of</a:t>
            </a:r>
            <a:endParaRPr lang="en-US" sz="2400">
              <a:latin typeface="Arial" panose="020B0604020202020204" pitchFamily="34" charset="0"/>
            </a:endParaRPr>
          </a:p>
        </p:txBody>
      </p:sp>
      <p:sp>
        <p:nvSpPr>
          <p:cNvPr id="71698" name="Rectangle 18"/>
          <p:cNvSpPr>
            <a:spLocks noChangeArrowheads="1"/>
          </p:cNvSpPr>
          <p:nvPr/>
        </p:nvSpPr>
        <p:spPr bwMode="auto">
          <a:xfrm>
            <a:off x="1954213" y="4449763"/>
            <a:ext cx="67390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the parameters to the operations defined over the sort</a:t>
            </a:r>
            <a:endParaRPr lang="en-US" sz="2400">
              <a:latin typeface="Arial" panose="020B0604020202020204" pitchFamily="34" charset="0"/>
            </a:endParaRPr>
          </a:p>
        </p:txBody>
      </p:sp>
      <p:sp>
        <p:nvSpPr>
          <p:cNvPr id="71699" name="Rectangle 19"/>
          <p:cNvSpPr>
            <a:spLocks noChangeArrowheads="1"/>
          </p:cNvSpPr>
          <p:nvPr/>
        </p:nvSpPr>
        <p:spPr bwMode="auto">
          <a:xfrm>
            <a:off x="1954214" y="5084763"/>
            <a:ext cx="31082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Axioms defining the oper</a:t>
            </a:r>
            <a:endParaRPr lang="en-US" sz="2400">
              <a:latin typeface="Arial" panose="020B0604020202020204" pitchFamily="34" charset="0"/>
            </a:endParaRPr>
          </a:p>
        </p:txBody>
      </p:sp>
      <p:sp>
        <p:nvSpPr>
          <p:cNvPr id="71700" name="Rectangle 20"/>
          <p:cNvSpPr>
            <a:spLocks noChangeArrowheads="1"/>
          </p:cNvSpPr>
          <p:nvPr/>
        </p:nvSpPr>
        <p:spPr bwMode="auto">
          <a:xfrm>
            <a:off x="5037139" y="5084763"/>
            <a:ext cx="9890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ations o</a:t>
            </a:r>
            <a:endParaRPr lang="en-US" sz="2400">
              <a:latin typeface="Arial" panose="020B0604020202020204" pitchFamily="34" charset="0"/>
            </a:endParaRPr>
          </a:p>
        </p:txBody>
      </p:sp>
      <p:sp>
        <p:nvSpPr>
          <p:cNvPr id="71701" name="Rectangle 21"/>
          <p:cNvSpPr>
            <a:spLocks noChangeArrowheads="1"/>
          </p:cNvSpPr>
          <p:nvPr/>
        </p:nvSpPr>
        <p:spPr bwMode="auto">
          <a:xfrm>
            <a:off x="6029325" y="5084763"/>
            <a:ext cx="1410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v</a:t>
            </a:r>
            <a:endParaRPr lang="en-US" sz="2400">
              <a:latin typeface="Arial" panose="020B0604020202020204" pitchFamily="34" charset="0"/>
            </a:endParaRPr>
          </a:p>
        </p:txBody>
      </p:sp>
      <p:sp>
        <p:nvSpPr>
          <p:cNvPr id="71702" name="Rectangle 22"/>
          <p:cNvSpPr>
            <a:spLocks noChangeArrowheads="1"/>
          </p:cNvSpPr>
          <p:nvPr/>
        </p:nvSpPr>
        <p:spPr bwMode="auto">
          <a:xfrm>
            <a:off x="6170613" y="5084763"/>
            <a:ext cx="11942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er the sor</a:t>
            </a:r>
            <a:endParaRPr lang="en-US" sz="2400">
              <a:latin typeface="Arial" panose="020B0604020202020204" pitchFamily="34" charset="0"/>
            </a:endParaRPr>
          </a:p>
        </p:txBody>
      </p:sp>
      <p:sp>
        <p:nvSpPr>
          <p:cNvPr id="71703" name="Rectangle 23"/>
          <p:cNvSpPr>
            <a:spLocks noChangeArrowheads="1"/>
          </p:cNvSpPr>
          <p:nvPr/>
        </p:nvSpPr>
        <p:spPr bwMode="auto">
          <a:xfrm>
            <a:off x="7375525" y="5084763"/>
            <a:ext cx="785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t</a:t>
            </a:r>
            <a:endParaRPr lang="en-US" sz="2400">
              <a:latin typeface="Arial" panose="020B0604020202020204" pitchFamily="34" charset="0"/>
            </a:endParaRPr>
          </a:p>
        </p:txBody>
      </p:sp>
      <p:sp>
        <p:nvSpPr>
          <p:cNvPr id="71704" name="Line 24"/>
          <p:cNvSpPr>
            <a:spLocks noChangeShapeType="1"/>
          </p:cNvSpPr>
          <p:nvPr/>
        </p:nvSpPr>
        <p:spPr bwMode="auto">
          <a:xfrm>
            <a:off x="1600201" y="5013325"/>
            <a:ext cx="8220075" cy="1588"/>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5" name="Line 25"/>
          <p:cNvSpPr>
            <a:spLocks noChangeShapeType="1"/>
          </p:cNvSpPr>
          <p:nvPr/>
        </p:nvSpPr>
        <p:spPr bwMode="auto">
          <a:xfrm>
            <a:off x="1600201" y="3992564"/>
            <a:ext cx="8220075" cy="1587"/>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6" name="Line 26"/>
          <p:cNvSpPr>
            <a:spLocks noChangeShapeType="1"/>
          </p:cNvSpPr>
          <p:nvPr/>
        </p:nvSpPr>
        <p:spPr bwMode="auto">
          <a:xfrm>
            <a:off x="1600201" y="3429000"/>
            <a:ext cx="8220075" cy="1588"/>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7" name="Rectangle 27"/>
          <p:cNvSpPr>
            <a:spLocks noChangeArrowheads="1"/>
          </p:cNvSpPr>
          <p:nvPr/>
        </p:nvSpPr>
        <p:spPr bwMode="auto">
          <a:xfrm>
            <a:off x="2097089" y="2055813"/>
            <a:ext cx="17312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dirty="0">
                <a:solidFill>
                  <a:srgbClr val="000000"/>
                </a:solidFill>
                <a:latin typeface="Arial" panose="020B0604020202020204" pitchFamily="34" charset="0"/>
              </a:rPr>
              <a:t>&lt; SPECIFICA</a:t>
            </a:r>
            <a:endParaRPr lang="en-US" sz="2400" dirty="0">
              <a:latin typeface="Arial" panose="020B0604020202020204" pitchFamily="34" charset="0"/>
            </a:endParaRPr>
          </a:p>
        </p:txBody>
      </p:sp>
      <p:sp>
        <p:nvSpPr>
          <p:cNvPr id="71708" name="Rectangle 28"/>
          <p:cNvSpPr>
            <a:spLocks noChangeArrowheads="1"/>
          </p:cNvSpPr>
          <p:nvPr/>
        </p:nvSpPr>
        <p:spPr bwMode="auto">
          <a:xfrm>
            <a:off x="3797301" y="2055813"/>
            <a:ext cx="27699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dirty="0">
                <a:solidFill>
                  <a:srgbClr val="000000"/>
                </a:solidFill>
                <a:latin typeface="Arial" panose="020B0604020202020204" pitchFamily="34" charset="0"/>
              </a:rPr>
              <a:t>TION NAME &gt; (</a:t>
            </a:r>
            <a:r>
              <a:rPr lang="en-US" sz="2200" dirty="0" err="1">
                <a:solidFill>
                  <a:srgbClr val="000000"/>
                </a:solidFill>
                <a:latin typeface="Arial" panose="020B0604020202020204" pitchFamily="34" charset="0"/>
              </a:rPr>
              <a:t>Gener</a:t>
            </a:r>
            <a:endParaRPr lang="en-US" sz="2400" dirty="0">
              <a:latin typeface="Arial" panose="020B0604020202020204" pitchFamily="34" charset="0"/>
            </a:endParaRPr>
          </a:p>
        </p:txBody>
      </p:sp>
      <p:sp>
        <p:nvSpPr>
          <p:cNvPr id="71709" name="Rectangle 29"/>
          <p:cNvSpPr>
            <a:spLocks noChangeArrowheads="1"/>
          </p:cNvSpPr>
          <p:nvPr/>
        </p:nvSpPr>
        <p:spPr bwMode="auto">
          <a:xfrm>
            <a:off x="6596063" y="2055813"/>
            <a:ext cx="4696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ic P</a:t>
            </a:r>
            <a:endParaRPr lang="en-US" sz="2400">
              <a:latin typeface="Arial" panose="020B0604020202020204" pitchFamily="34" charset="0"/>
            </a:endParaRPr>
          </a:p>
        </p:txBody>
      </p:sp>
      <p:sp>
        <p:nvSpPr>
          <p:cNvPr id="71710" name="Rectangle 30"/>
          <p:cNvSpPr>
            <a:spLocks noChangeArrowheads="1"/>
          </p:cNvSpPr>
          <p:nvPr/>
        </p:nvSpPr>
        <p:spPr bwMode="auto">
          <a:xfrm>
            <a:off x="7056438" y="2055813"/>
            <a:ext cx="2516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ar</a:t>
            </a:r>
            <a:endParaRPr lang="en-US" sz="2400">
              <a:latin typeface="Arial" panose="020B0604020202020204" pitchFamily="34" charset="0"/>
            </a:endParaRPr>
          </a:p>
        </p:txBody>
      </p:sp>
      <p:sp>
        <p:nvSpPr>
          <p:cNvPr id="71711" name="Rectangle 31"/>
          <p:cNvSpPr>
            <a:spLocks noChangeArrowheads="1"/>
          </p:cNvSpPr>
          <p:nvPr/>
        </p:nvSpPr>
        <p:spPr bwMode="auto">
          <a:xfrm>
            <a:off x="7304088" y="2055813"/>
            <a:ext cx="9746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2200">
                <a:solidFill>
                  <a:srgbClr val="000000"/>
                </a:solidFill>
                <a:latin typeface="Arial" panose="020B0604020202020204" pitchFamily="34" charset="0"/>
              </a:rPr>
              <a:t>ameter)</a:t>
            </a:r>
            <a:endParaRPr lang="en-US" sz="2400">
              <a:latin typeface="Arial" panose="020B0604020202020204" pitchFamily="34" charset="0"/>
            </a:endParaRPr>
          </a:p>
        </p:txBody>
      </p:sp>
      <p:sp>
        <p:nvSpPr>
          <p:cNvPr id="71712" name="Freeform 32"/>
          <p:cNvSpPr>
            <a:spLocks/>
          </p:cNvSpPr>
          <p:nvPr/>
        </p:nvSpPr>
        <p:spPr bwMode="auto">
          <a:xfrm>
            <a:off x="1600201" y="2232025"/>
            <a:ext cx="8220075" cy="3379788"/>
          </a:xfrm>
          <a:custGeom>
            <a:avLst/>
            <a:gdLst>
              <a:gd name="T0" fmla="*/ 4307 w 5178"/>
              <a:gd name="T1" fmla="*/ 0 h 2129"/>
              <a:gd name="T2" fmla="*/ 4932 w 5178"/>
              <a:gd name="T3" fmla="*/ 0 h 2129"/>
              <a:gd name="T4" fmla="*/ 5111 w 5178"/>
              <a:gd name="T5" fmla="*/ 88 h 2129"/>
              <a:gd name="T6" fmla="*/ 5155 w 5178"/>
              <a:gd name="T7" fmla="*/ 155 h 2129"/>
              <a:gd name="T8" fmla="*/ 5178 w 5178"/>
              <a:gd name="T9" fmla="*/ 266 h 2129"/>
              <a:gd name="T10" fmla="*/ 5178 w 5178"/>
              <a:gd name="T11" fmla="*/ 1863 h 2129"/>
              <a:gd name="T12" fmla="*/ 5155 w 5178"/>
              <a:gd name="T13" fmla="*/ 1974 h 2129"/>
              <a:gd name="T14" fmla="*/ 5111 w 5178"/>
              <a:gd name="T15" fmla="*/ 2040 h 2129"/>
              <a:gd name="T16" fmla="*/ 4932 w 5178"/>
              <a:gd name="T17" fmla="*/ 2129 h 2129"/>
              <a:gd name="T18" fmla="*/ 246 w 5178"/>
              <a:gd name="T19" fmla="*/ 2129 h 2129"/>
              <a:gd name="T20" fmla="*/ 67 w 5178"/>
              <a:gd name="T21" fmla="*/ 2040 h 2129"/>
              <a:gd name="T22" fmla="*/ 23 w 5178"/>
              <a:gd name="T23" fmla="*/ 1974 h 2129"/>
              <a:gd name="T24" fmla="*/ 0 w 5178"/>
              <a:gd name="T25" fmla="*/ 1863 h 2129"/>
              <a:gd name="T26" fmla="*/ 0 w 5178"/>
              <a:gd name="T27" fmla="*/ 266 h 2129"/>
              <a:gd name="T28" fmla="*/ 23 w 5178"/>
              <a:gd name="T29" fmla="*/ 155 h 2129"/>
              <a:gd name="T30" fmla="*/ 67 w 5178"/>
              <a:gd name="T31" fmla="*/ 88 h 2129"/>
              <a:gd name="T32" fmla="*/ 246 w 5178"/>
              <a:gd name="T33" fmla="*/ 0 h 2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78" h="2129">
                <a:moveTo>
                  <a:pt x="4307" y="0"/>
                </a:moveTo>
                <a:lnTo>
                  <a:pt x="4932" y="0"/>
                </a:lnTo>
                <a:lnTo>
                  <a:pt x="5111" y="88"/>
                </a:lnTo>
                <a:lnTo>
                  <a:pt x="5155" y="155"/>
                </a:lnTo>
                <a:lnTo>
                  <a:pt x="5178" y="266"/>
                </a:lnTo>
                <a:lnTo>
                  <a:pt x="5178" y="1863"/>
                </a:lnTo>
                <a:lnTo>
                  <a:pt x="5155" y="1974"/>
                </a:lnTo>
                <a:lnTo>
                  <a:pt x="5111" y="2040"/>
                </a:lnTo>
                <a:lnTo>
                  <a:pt x="4932" y="2129"/>
                </a:lnTo>
                <a:lnTo>
                  <a:pt x="246" y="2129"/>
                </a:lnTo>
                <a:lnTo>
                  <a:pt x="67" y="2040"/>
                </a:lnTo>
                <a:lnTo>
                  <a:pt x="23" y="1974"/>
                </a:lnTo>
                <a:lnTo>
                  <a:pt x="0" y="1863"/>
                </a:lnTo>
                <a:lnTo>
                  <a:pt x="0" y="266"/>
                </a:lnTo>
                <a:lnTo>
                  <a:pt x="23" y="155"/>
                </a:lnTo>
                <a:lnTo>
                  <a:pt x="67" y="88"/>
                </a:lnTo>
                <a:lnTo>
                  <a:pt x="246" y="0"/>
                </a:lnTo>
              </a:path>
            </a:pathLst>
          </a:custGeom>
          <a:noFill/>
          <a:ln w="349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713" name="Oval 33"/>
          <p:cNvSpPr>
            <a:spLocks noChangeArrowheads="1"/>
          </p:cNvSpPr>
          <p:nvPr/>
        </p:nvSpPr>
        <p:spPr bwMode="auto">
          <a:xfrm>
            <a:off x="8382000" y="2590800"/>
            <a:ext cx="1752600" cy="685800"/>
          </a:xfrm>
          <a:prstGeom prst="ellipse">
            <a:avLst/>
          </a:prstGeom>
          <a:solidFill>
            <a:srgbClr val="CC99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400"/>
              <a:t>introduction</a:t>
            </a:r>
          </a:p>
        </p:txBody>
      </p:sp>
      <p:sp>
        <p:nvSpPr>
          <p:cNvPr id="71714" name="Oval 34"/>
          <p:cNvSpPr>
            <a:spLocks noChangeArrowheads="1"/>
          </p:cNvSpPr>
          <p:nvPr/>
        </p:nvSpPr>
        <p:spPr bwMode="auto">
          <a:xfrm>
            <a:off x="8839200" y="3429000"/>
            <a:ext cx="1752600" cy="609600"/>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400">
                <a:latin typeface="Arial" panose="020B0604020202020204" pitchFamily="34" charset="0"/>
              </a:rPr>
              <a:t>description</a:t>
            </a:r>
          </a:p>
        </p:txBody>
      </p:sp>
      <p:sp>
        <p:nvSpPr>
          <p:cNvPr id="71715" name="Oval 35"/>
          <p:cNvSpPr>
            <a:spLocks noChangeArrowheads="1"/>
          </p:cNvSpPr>
          <p:nvPr/>
        </p:nvSpPr>
        <p:spPr bwMode="auto">
          <a:xfrm>
            <a:off x="8839200" y="4419600"/>
            <a:ext cx="1752600" cy="685800"/>
          </a:xfrm>
          <a:prstGeom prst="ellipse">
            <a:avLst/>
          </a:prstGeom>
          <a:solidFill>
            <a:srgbClr val="CCFFCC"/>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400">
                <a:latin typeface="Arial" panose="020B0604020202020204" pitchFamily="34" charset="0"/>
              </a:rPr>
              <a:t>signature</a:t>
            </a:r>
          </a:p>
        </p:txBody>
      </p:sp>
      <p:sp>
        <p:nvSpPr>
          <p:cNvPr id="71716" name="Oval 36"/>
          <p:cNvSpPr>
            <a:spLocks noChangeArrowheads="1"/>
          </p:cNvSpPr>
          <p:nvPr/>
        </p:nvSpPr>
        <p:spPr bwMode="auto">
          <a:xfrm>
            <a:off x="8458200" y="5181600"/>
            <a:ext cx="1752600" cy="685800"/>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800">
                <a:latin typeface="Arial" panose="020B0604020202020204" pitchFamily="34" charset="0"/>
              </a:rPr>
              <a:t>axioms</a:t>
            </a:r>
          </a:p>
        </p:txBody>
      </p:sp>
    </p:spTree>
    <p:extLst>
      <p:ext uri="{BB962C8B-B14F-4D97-AF65-F5344CB8AC3E}">
        <p14:creationId xmlns:p14="http://schemas.microsoft.com/office/powerpoint/2010/main" val="41684674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grpId="0" nodeType="clickEffect">
                                  <p:stCondLst>
                                    <p:cond delay="0"/>
                                  </p:stCondLst>
                                  <p:childTnLst>
                                    <p:set>
                                      <p:cBhvr>
                                        <p:cTn id="6" dur="1" fill="hold">
                                          <p:stCondLst>
                                            <p:cond delay="0"/>
                                          </p:stCondLst>
                                        </p:cTn>
                                        <p:tgtEl>
                                          <p:spTgt spid="71713"/>
                                        </p:tgtEl>
                                        <p:attrNameLst>
                                          <p:attrName>style.visibility</p:attrName>
                                        </p:attrNameLst>
                                      </p:cBhvr>
                                      <p:to>
                                        <p:strVal val="visible"/>
                                      </p:to>
                                    </p:set>
                                    <p:anim calcmode="lin" valueType="num">
                                      <p:cBhvr additive="base">
                                        <p:cTn id="7" dur="500" fill="hold"/>
                                        <p:tgtEl>
                                          <p:spTgt spid="71713"/>
                                        </p:tgtEl>
                                        <p:attrNameLst>
                                          <p:attrName>ppt_x</p:attrName>
                                        </p:attrNameLst>
                                      </p:cBhvr>
                                      <p:tavLst>
                                        <p:tav tm="0">
                                          <p:val>
                                            <p:strVal val="1+#ppt_w/2"/>
                                          </p:val>
                                        </p:tav>
                                        <p:tav tm="100000">
                                          <p:val>
                                            <p:strVal val="#ppt_x"/>
                                          </p:val>
                                        </p:tav>
                                      </p:tavLst>
                                    </p:anim>
                                    <p:anim calcmode="lin" valueType="num">
                                      <p:cBhvr additive="base">
                                        <p:cTn id="8" dur="500" fill="hold"/>
                                        <p:tgtEl>
                                          <p:spTgt spid="7171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71714"/>
                                        </p:tgtEl>
                                        <p:attrNameLst>
                                          <p:attrName>style.visibility</p:attrName>
                                        </p:attrNameLst>
                                      </p:cBhvr>
                                      <p:to>
                                        <p:strVal val="visible"/>
                                      </p:to>
                                    </p:set>
                                    <p:anim calcmode="lin" valueType="num">
                                      <p:cBhvr additive="base">
                                        <p:cTn id="13" dur="500" fill="hold"/>
                                        <p:tgtEl>
                                          <p:spTgt spid="71714"/>
                                        </p:tgtEl>
                                        <p:attrNameLst>
                                          <p:attrName>ppt_x</p:attrName>
                                        </p:attrNameLst>
                                      </p:cBhvr>
                                      <p:tavLst>
                                        <p:tav tm="0">
                                          <p:val>
                                            <p:strVal val="1+#ppt_w/2"/>
                                          </p:val>
                                        </p:tav>
                                        <p:tav tm="100000">
                                          <p:val>
                                            <p:strVal val="#ppt_x"/>
                                          </p:val>
                                        </p:tav>
                                      </p:tavLst>
                                    </p:anim>
                                    <p:anim calcmode="lin" valueType="num">
                                      <p:cBhvr additive="base">
                                        <p:cTn id="14" dur="500" fill="hold"/>
                                        <p:tgtEl>
                                          <p:spTgt spid="7171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71715"/>
                                        </p:tgtEl>
                                        <p:attrNameLst>
                                          <p:attrName>style.visibility</p:attrName>
                                        </p:attrNameLst>
                                      </p:cBhvr>
                                      <p:to>
                                        <p:strVal val="visible"/>
                                      </p:to>
                                    </p:set>
                                    <p:anim calcmode="lin" valueType="num">
                                      <p:cBhvr additive="base">
                                        <p:cTn id="19" dur="500" fill="hold"/>
                                        <p:tgtEl>
                                          <p:spTgt spid="71715"/>
                                        </p:tgtEl>
                                        <p:attrNameLst>
                                          <p:attrName>ppt_x</p:attrName>
                                        </p:attrNameLst>
                                      </p:cBhvr>
                                      <p:tavLst>
                                        <p:tav tm="0">
                                          <p:val>
                                            <p:strVal val="1+#ppt_w/2"/>
                                          </p:val>
                                        </p:tav>
                                        <p:tav tm="100000">
                                          <p:val>
                                            <p:strVal val="#ppt_x"/>
                                          </p:val>
                                        </p:tav>
                                      </p:tavLst>
                                    </p:anim>
                                    <p:anim calcmode="lin" valueType="num">
                                      <p:cBhvr additive="base">
                                        <p:cTn id="20" dur="500" fill="hold"/>
                                        <p:tgtEl>
                                          <p:spTgt spid="7171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71716"/>
                                        </p:tgtEl>
                                        <p:attrNameLst>
                                          <p:attrName>style.visibility</p:attrName>
                                        </p:attrNameLst>
                                      </p:cBhvr>
                                      <p:to>
                                        <p:strVal val="visible"/>
                                      </p:to>
                                    </p:set>
                                    <p:anim calcmode="lin" valueType="num">
                                      <p:cBhvr additive="base">
                                        <p:cTn id="25" dur="500" fill="hold"/>
                                        <p:tgtEl>
                                          <p:spTgt spid="71716"/>
                                        </p:tgtEl>
                                        <p:attrNameLst>
                                          <p:attrName>ppt_x</p:attrName>
                                        </p:attrNameLst>
                                      </p:cBhvr>
                                      <p:tavLst>
                                        <p:tav tm="0">
                                          <p:val>
                                            <p:strVal val="1+#ppt_w/2"/>
                                          </p:val>
                                        </p:tav>
                                        <p:tav tm="100000">
                                          <p:val>
                                            <p:strVal val="#ppt_x"/>
                                          </p:val>
                                        </p:tav>
                                      </p:tavLst>
                                    </p:anim>
                                    <p:anim calcmode="lin" valueType="num">
                                      <p:cBhvr additive="base">
                                        <p:cTn id="26" dur="500" fill="hold"/>
                                        <p:tgtEl>
                                          <p:spTgt spid="717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3" grpId="0" animBg="1" autoUpdateAnimBg="0"/>
      <p:bldP spid="71714" grpId="0" animBg="1" autoUpdateAnimBg="0"/>
      <p:bldP spid="71715" grpId="0" animBg="1" autoUpdateAnimBg="0"/>
      <p:bldP spid="71716"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The Structure of an Algebraic Specification</a:t>
            </a:r>
          </a:p>
        </p:txBody>
      </p:sp>
      <p:sp>
        <p:nvSpPr>
          <p:cNvPr id="3" name="Content Placeholder 2"/>
          <p:cNvSpPr>
            <a:spLocks noGrp="1"/>
          </p:cNvSpPr>
          <p:nvPr>
            <p:ph idx="1"/>
          </p:nvPr>
        </p:nvSpPr>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Introduction – </a:t>
            </a:r>
            <a:r>
              <a:rPr lang="en-US" sz="2400" dirty="0">
                <a:latin typeface="Times New Roman" panose="02020603050405020304" pitchFamily="18" charset="0"/>
                <a:cs typeface="Times New Roman" panose="02020603050405020304" pitchFamily="18" charset="0"/>
              </a:rPr>
              <a:t>Declares the sort (the type name) of the entity being specified, i.e., a set of objects with common characteristics. It also imports other specifications to use.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b="1" dirty="0" smtClean="0">
                <a:latin typeface="Times New Roman" panose="02020603050405020304" pitchFamily="18" charset="0"/>
                <a:cs typeface="Times New Roman" panose="02020603050405020304" pitchFamily="18" charset="0"/>
              </a:rPr>
              <a:t>Description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 informal description of the operations to aid understanding</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b="1" dirty="0" smtClean="0">
                <a:latin typeface="Times New Roman" panose="02020603050405020304" pitchFamily="18" charset="0"/>
                <a:cs typeface="Times New Roman" panose="02020603050405020304" pitchFamily="18" charset="0"/>
              </a:rPr>
              <a:t>Signature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Defines the syntax of the interface to the abstract data type (object), including their names, parameter list and return types</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b="1" dirty="0" smtClean="0">
                <a:latin typeface="Times New Roman" panose="02020603050405020304" pitchFamily="18" charset="0"/>
                <a:cs typeface="Times New Roman" panose="02020603050405020304" pitchFamily="18" charset="0"/>
              </a:rPr>
              <a:t>Axioms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Defines the semantics of the operations by defining axioms </a:t>
            </a:r>
            <a:r>
              <a:rPr lang="en-US" sz="2400" dirty="0" err="1">
                <a:latin typeface="Times New Roman" panose="02020603050405020304" pitchFamily="18" charset="0"/>
                <a:cs typeface="Times New Roman" panose="02020603050405020304" pitchFamily="18" charset="0"/>
              </a:rPr>
              <a:t>characterising</a:t>
            </a:r>
            <a:r>
              <a:rPr lang="en-US" sz="2400" dirty="0">
                <a:latin typeface="Times New Roman" panose="02020603050405020304" pitchFamily="18" charset="0"/>
                <a:cs typeface="Times New Roman" panose="02020603050405020304" pitchFamily="18" charset="0"/>
              </a:rPr>
              <a:t> the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46608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Specification Operations</a:t>
            </a:r>
          </a:p>
        </p:txBody>
      </p:sp>
      <p:sp>
        <p:nvSpPr>
          <p:cNvPr id="3" name="Content Placeholder 2"/>
          <p:cNvSpPr>
            <a:spLocks noGrp="1"/>
          </p:cNvSpPr>
          <p:nvPr>
            <p:ph idx="1"/>
          </p:nvPr>
        </p:nvSpPr>
        <p:spPr/>
        <p:txBody>
          <a:bodyPr>
            <a:normAutofit/>
          </a:bodyPr>
          <a:lstStyle/>
          <a:p>
            <a:r>
              <a:rPr lang="en-US" sz="2800" b="1" dirty="0" smtClean="0">
                <a:latin typeface="Times New Roman" panose="02020603050405020304" pitchFamily="18" charset="0"/>
                <a:cs typeface="Times New Roman" panose="02020603050405020304" pitchFamily="18" charset="0"/>
              </a:rPr>
              <a:t>Constructor operations. </a:t>
            </a:r>
            <a:r>
              <a:rPr lang="en-US" sz="2800" dirty="0" smtClean="0">
                <a:latin typeface="Times New Roman" panose="02020603050405020304" pitchFamily="18" charset="0"/>
                <a:cs typeface="Times New Roman" panose="02020603050405020304" pitchFamily="18" charset="0"/>
              </a:rPr>
              <a:t>Operations which create entities of the type being specified.</a:t>
            </a:r>
          </a:p>
          <a:p>
            <a:r>
              <a:rPr lang="en-US" sz="2800" b="1" dirty="0" smtClean="0">
                <a:latin typeface="Times New Roman" panose="02020603050405020304" pitchFamily="18" charset="0"/>
                <a:cs typeface="Times New Roman" panose="02020603050405020304" pitchFamily="18" charset="0"/>
              </a:rPr>
              <a:t>Inspection operations. </a:t>
            </a:r>
            <a:r>
              <a:rPr lang="en-US" sz="2800" dirty="0" smtClean="0">
                <a:latin typeface="Times New Roman" panose="02020603050405020304" pitchFamily="18" charset="0"/>
                <a:cs typeface="Times New Roman" panose="02020603050405020304" pitchFamily="18" charset="0"/>
              </a:rPr>
              <a:t>Operations which evaluate entities of the type being specified. </a:t>
            </a:r>
          </a:p>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To specify </a:t>
            </a:r>
            <a:r>
              <a:rPr lang="en-US" sz="2800" dirty="0" err="1" smtClean="0">
                <a:latin typeface="Times New Roman" panose="02020603050405020304" pitchFamily="18" charset="0"/>
                <a:cs typeface="Times New Roman" panose="02020603050405020304" pitchFamily="18" charset="0"/>
              </a:rPr>
              <a:t>behaviour</a:t>
            </a:r>
            <a:r>
              <a:rPr lang="en-US" sz="2800" dirty="0" smtClean="0">
                <a:latin typeface="Times New Roman" panose="02020603050405020304" pitchFamily="18" charset="0"/>
                <a:cs typeface="Times New Roman" panose="02020603050405020304" pitchFamily="18" charset="0"/>
              </a:rPr>
              <a:t>, define the inspector operations for each constructor operation.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1984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 Operations on a List ADT</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Let us take an example of a “list” abstract data type. </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list contains a sequence of elements of some type where elements may be added to the end and removed from the front (this is also called a queue, how does this differ from a stack</a:t>
            </a:r>
            <a:r>
              <a:rPr lang="en-US" sz="2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We </a:t>
            </a:r>
            <a:r>
              <a:rPr lang="en-US" sz="2800" dirty="0">
                <a:latin typeface="Times New Roman" panose="02020603050405020304" pitchFamily="18" charset="0"/>
                <a:cs typeface="Times New Roman" panose="02020603050405020304" pitchFamily="18" charset="0"/>
              </a:rPr>
              <a:t>want operations to Create, Cons (create a new list with an added member), Head (to evaluate the first element), Length and Tail (which creates a list by removing the first (head) element).</a:t>
            </a:r>
          </a:p>
        </p:txBody>
      </p:sp>
    </p:spTree>
    <p:extLst>
      <p:ext uri="{BB962C8B-B14F-4D97-AF65-F5344CB8AC3E}">
        <p14:creationId xmlns:p14="http://schemas.microsoft.com/office/powerpoint/2010/main" val="2536302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Operations on a List ADT</a:t>
            </a:r>
          </a:p>
        </p:txBody>
      </p:sp>
      <p:sp>
        <p:nvSpPr>
          <p:cNvPr id="3" name="Content Placeholder 2"/>
          <p:cNvSpPr>
            <a:spLocks noGrp="1"/>
          </p:cNvSpPr>
          <p:nvPr>
            <p:ph idx="1"/>
          </p:nvPr>
        </p:nvSpPr>
        <p:spPr/>
        <p:txBody>
          <a:bodyPr>
            <a:normAutofit/>
          </a:bodyPr>
          <a:lstStyle/>
          <a:p>
            <a:r>
              <a:rPr lang="en-US" sz="3200" b="1" dirty="0">
                <a:latin typeface="Times New Roman" panose="02020603050405020304" pitchFamily="18" charset="0"/>
                <a:cs typeface="Times New Roman" panose="02020603050405020304" pitchFamily="18" charset="0"/>
              </a:rPr>
              <a:t>Constructor operations </a:t>
            </a:r>
            <a:r>
              <a:rPr lang="en-US" sz="3200" dirty="0">
                <a:latin typeface="Times New Roman" panose="02020603050405020304" pitchFamily="18" charset="0"/>
                <a:cs typeface="Times New Roman" panose="02020603050405020304" pitchFamily="18" charset="0"/>
              </a:rPr>
              <a:t>which evaluate to sort List </a:t>
            </a:r>
          </a:p>
          <a:p>
            <a:pPr lvl="3">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Create</a:t>
            </a:r>
            <a:r>
              <a:rPr lang="en-US" sz="3200" dirty="0">
                <a:latin typeface="Times New Roman" panose="02020603050405020304" pitchFamily="18" charset="0"/>
                <a:cs typeface="Times New Roman" panose="02020603050405020304" pitchFamily="18" charset="0"/>
              </a:rPr>
              <a:t>, Cons and Tail. </a:t>
            </a:r>
            <a:endParaRPr lang="en-US" sz="3200" dirty="0" smtClean="0">
              <a:latin typeface="Times New Roman" panose="02020603050405020304" pitchFamily="18" charset="0"/>
              <a:cs typeface="Times New Roman" panose="02020603050405020304" pitchFamily="18" charset="0"/>
            </a:endParaRPr>
          </a:p>
          <a:p>
            <a:r>
              <a:rPr lang="en-US" sz="3200" b="1" dirty="0" smtClean="0">
                <a:latin typeface="Times New Roman" panose="02020603050405020304" pitchFamily="18" charset="0"/>
                <a:cs typeface="Times New Roman" panose="02020603050405020304" pitchFamily="18" charset="0"/>
              </a:rPr>
              <a:t>Inspection </a:t>
            </a:r>
            <a:r>
              <a:rPr lang="en-US" sz="3200" b="1" dirty="0">
                <a:latin typeface="Times New Roman" panose="02020603050405020304" pitchFamily="18" charset="0"/>
                <a:cs typeface="Times New Roman" panose="02020603050405020304" pitchFamily="18" charset="0"/>
              </a:rPr>
              <a:t>operations </a:t>
            </a:r>
            <a:r>
              <a:rPr lang="en-US" sz="3200" dirty="0">
                <a:latin typeface="Times New Roman" panose="02020603050405020304" pitchFamily="18" charset="0"/>
                <a:cs typeface="Times New Roman" panose="02020603050405020304" pitchFamily="18" charset="0"/>
              </a:rPr>
              <a:t>which take sort list as a parameter and return some other sort </a:t>
            </a:r>
          </a:p>
          <a:p>
            <a:pPr lvl="3">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Head and Length. </a:t>
            </a:r>
          </a:p>
          <a:p>
            <a:r>
              <a:rPr lang="en-US" sz="3200" b="1" dirty="0" smtClean="0">
                <a:latin typeface="Times New Roman" panose="02020603050405020304" pitchFamily="18" charset="0"/>
                <a:cs typeface="Times New Roman" panose="02020603050405020304" pitchFamily="18" charset="0"/>
              </a:rPr>
              <a:t>Tail</a:t>
            </a:r>
            <a:r>
              <a:rPr lang="en-US" sz="3200" dirty="0" smtClean="0">
                <a:latin typeface="Times New Roman" panose="02020603050405020304" pitchFamily="18" charset="0"/>
                <a:cs typeface="Times New Roman" panose="02020603050405020304" pitchFamily="18" charset="0"/>
              </a:rPr>
              <a:t> can be defined using the simpler constructors Create and Cons.  No need to define Head and Length with Tail.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8731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List Specification</a:t>
            </a:r>
          </a:p>
        </p:txBody>
      </p:sp>
      <p:pic>
        <p:nvPicPr>
          <p:cNvPr id="4" name="Content Placeholder 3"/>
          <p:cNvPicPr>
            <a:picLocks noGrp="1" noChangeAspect="1"/>
          </p:cNvPicPr>
          <p:nvPr>
            <p:ph idx="1"/>
          </p:nvPr>
        </p:nvPicPr>
        <p:blipFill>
          <a:blip r:embed="rId2"/>
          <a:stretch>
            <a:fillRect/>
          </a:stretch>
        </p:blipFill>
        <p:spPr>
          <a:xfrm>
            <a:off x="3521413" y="1846263"/>
            <a:ext cx="6099242" cy="4494179"/>
          </a:xfrm>
          <a:prstGeom prst="rect">
            <a:avLst/>
          </a:prstGeom>
        </p:spPr>
      </p:pic>
    </p:spTree>
    <p:extLst>
      <p:ext uri="{BB962C8B-B14F-4D97-AF65-F5344CB8AC3E}">
        <p14:creationId xmlns:p14="http://schemas.microsoft.com/office/powerpoint/2010/main" val="868324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 Specification in Critical Systems </a:t>
            </a:r>
          </a:p>
        </p:txBody>
      </p:sp>
      <p:sp>
        <p:nvSpPr>
          <p:cNvPr id="3" name="Content Placeholder 2"/>
          <p:cNvSpPr>
            <a:spLocks noGrp="1"/>
          </p:cNvSpPr>
          <p:nvPr>
            <p:ph idx="1"/>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Let us consider another example: an air traffic control system where aircraft fly through managed sectors of airspace. </a:t>
            </a:r>
            <a:r>
              <a:rPr lang="en-US" sz="2800" dirty="0" smtClean="0">
                <a:latin typeface="Times New Roman" panose="02020603050405020304" pitchFamily="18" charset="0"/>
                <a:cs typeface="Times New Roman" panose="02020603050405020304" pitchFamily="18" charset="0"/>
              </a:rPr>
              <a:t>Each </a:t>
            </a:r>
            <a:r>
              <a:rPr lang="en-US" sz="2800" dirty="0">
                <a:latin typeface="Times New Roman" panose="02020603050405020304" pitchFamily="18" charset="0"/>
                <a:cs typeface="Times New Roman" panose="02020603050405020304" pitchFamily="18" charset="0"/>
              </a:rPr>
              <a:t>sector may include a number of aircraft but, for safety reasons, these must be separated. </a:t>
            </a:r>
            <a:r>
              <a:rPr lang="en-US" sz="2800" dirty="0" smtClean="0">
                <a:latin typeface="Times New Roman" panose="02020603050405020304" pitchFamily="18" charset="0"/>
                <a:cs typeface="Times New Roman" panose="02020603050405020304" pitchFamily="18" charset="0"/>
              </a:rPr>
              <a:t>In </a:t>
            </a:r>
            <a:r>
              <a:rPr lang="en-US" sz="2800" dirty="0">
                <a:latin typeface="Times New Roman" panose="02020603050405020304" pitchFamily="18" charset="0"/>
                <a:cs typeface="Times New Roman" panose="02020603050405020304" pitchFamily="18" charset="0"/>
              </a:rPr>
              <a:t>this example, a simple vertical separation of 300m is proposed. </a:t>
            </a:r>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system should warn the controller if aircraft are instructed to move so that the separation rule is breached. </a:t>
            </a:r>
          </a:p>
        </p:txBody>
      </p:sp>
    </p:spTree>
    <p:extLst>
      <p:ext uri="{BB962C8B-B14F-4D97-AF65-F5344CB8AC3E}">
        <p14:creationId xmlns:p14="http://schemas.microsoft.com/office/powerpoint/2010/main" val="2681170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Sector Object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Critical operations on an object representing a controlled sector are </a:t>
            </a:r>
          </a:p>
          <a:p>
            <a:r>
              <a:rPr lang="en-US" b="1" dirty="0" smtClean="0">
                <a:latin typeface="Times New Roman" panose="02020603050405020304" pitchFamily="18" charset="0"/>
                <a:cs typeface="Times New Roman" panose="02020603050405020304" pitchFamily="18" charset="0"/>
              </a:rPr>
              <a:t>Enter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Add an aircraft to the controlled airspace; </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Leave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Remove an aircraft from the controlled airspace; </a:t>
            </a:r>
          </a:p>
          <a:p>
            <a:r>
              <a:rPr lang="en-US" b="1" dirty="0" smtClean="0">
                <a:latin typeface="Times New Roman" panose="02020603050405020304" pitchFamily="18" charset="0"/>
                <a:cs typeface="Times New Roman" panose="02020603050405020304" pitchFamily="18" charset="0"/>
              </a:rPr>
              <a:t>Move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Move an aircraft from one height to another;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Lookup - </a:t>
            </a:r>
            <a:r>
              <a:rPr lang="en-US" dirty="0">
                <a:latin typeface="Times New Roman" panose="02020603050405020304" pitchFamily="18" charset="0"/>
                <a:cs typeface="Times New Roman" panose="02020603050405020304" pitchFamily="18" charset="0"/>
              </a:rPr>
              <a:t>Given an aircraft identifier, return its current height; </a:t>
            </a:r>
          </a:p>
        </p:txBody>
      </p:sp>
    </p:spTree>
    <p:extLst>
      <p:ext uri="{BB962C8B-B14F-4D97-AF65-F5344CB8AC3E}">
        <p14:creationId xmlns:p14="http://schemas.microsoft.com/office/powerpoint/2010/main" val="2327141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Primitive Operations </a:t>
            </a:r>
          </a:p>
        </p:txBody>
      </p:sp>
      <p:sp>
        <p:nvSpPr>
          <p:cNvPr id="3" name="Content Placeholder 2"/>
          <p:cNvSpPr>
            <a:spLocks noGrp="1"/>
          </p:cNvSpPr>
          <p:nvPr>
            <p:ph idx="1"/>
          </p:nvPr>
        </p:nvSpPr>
        <p:spPr/>
        <p:txBody>
          <a:bodyPr>
            <a:noAutofit/>
          </a:bodyPr>
          <a:lstStyle/>
          <a:p>
            <a:r>
              <a:rPr lang="en-US" sz="2400" dirty="0">
                <a:latin typeface="Times New Roman" panose="02020603050405020304" pitchFamily="18" charset="0"/>
                <a:cs typeface="Times New Roman" panose="02020603050405020304" pitchFamily="18" charset="0"/>
              </a:rPr>
              <a:t>It is sometimes necessary to introduce additional operations to simplify the specification. </a:t>
            </a: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other operations can then be defined using these more primitive operations. </a:t>
            </a:r>
          </a:p>
          <a:p>
            <a:r>
              <a:rPr lang="en-US" sz="2400" b="1" dirty="0" smtClean="0">
                <a:latin typeface="Times New Roman" panose="02020603050405020304" pitchFamily="18" charset="0"/>
                <a:cs typeface="Times New Roman" panose="02020603050405020304" pitchFamily="18" charset="0"/>
              </a:rPr>
              <a:t>Primitive </a:t>
            </a:r>
            <a:r>
              <a:rPr lang="en-US" sz="2400" b="1" dirty="0">
                <a:latin typeface="Times New Roman" panose="02020603050405020304" pitchFamily="18" charset="0"/>
                <a:cs typeface="Times New Roman" panose="02020603050405020304" pitchFamily="18" charset="0"/>
              </a:rPr>
              <a:t>operations </a:t>
            </a:r>
          </a:p>
          <a:p>
            <a:r>
              <a:rPr lang="en-US" sz="2400" b="1" dirty="0" smtClean="0">
                <a:latin typeface="Times New Roman" panose="02020603050405020304" pitchFamily="18" charset="0"/>
                <a:cs typeface="Times New Roman" panose="02020603050405020304" pitchFamily="18" charset="0"/>
              </a:rPr>
              <a:t>Create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Bring an instance of a sector into existence; </a:t>
            </a:r>
            <a:endParaRPr lang="en-US" sz="2400"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Put - </a:t>
            </a:r>
            <a:r>
              <a:rPr lang="en-US" sz="2400" dirty="0">
                <a:latin typeface="Times New Roman" panose="02020603050405020304" pitchFamily="18" charset="0"/>
                <a:cs typeface="Times New Roman" panose="02020603050405020304" pitchFamily="18" charset="0"/>
              </a:rPr>
              <a:t>Add an aircraft without safety checks; </a:t>
            </a:r>
          </a:p>
          <a:p>
            <a:r>
              <a:rPr lang="en-US" sz="2400" b="1" dirty="0" smtClean="0">
                <a:latin typeface="Times New Roman" panose="02020603050405020304" pitchFamily="18" charset="0"/>
                <a:cs typeface="Times New Roman" panose="02020603050405020304" pitchFamily="18" charset="0"/>
              </a:rPr>
              <a:t>In-space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Determine if a given aircraft is in the sector; </a:t>
            </a:r>
          </a:p>
          <a:p>
            <a:r>
              <a:rPr lang="en-US" sz="2400" b="1" dirty="0" smtClean="0">
                <a:latin typeface="Times New Roman" panose="02020603050405020304" pitchFamily="18" charset="0"/>
                <a:cs typeface="Times New Roman" panose="02020603050405020304" pitchFamily="18" charset="0"/>
              </a:rPr>
              <a:t>Occupied </a:t>
            </a:r>
            <a:r>
              <a:rPr lang="en-US" sz="2400" dirty="0">
                <a:latin typeface="Times New Roman" panose="02020603050405020304" pitchFamily="18" charset="0"/>
                <a:cs typeface="Times New Roman" panose="02020603050405020304" pitchFamily="18" charset="0"/>
              </a:rPr>
              <a:t>- Given a height, determine if there is an aircraft within 300m of that height. </a:t>
            </a:r>
          </a:p>
        </p:txBody>
      </p:sp>
    </p:spTree>
    <p:extLst>
      <p:ext uri="{BB962C8B-B14F-4D97-AF65-F5344CB8AC3E}">
        <p14:creationId xmlns:p14="http://schemas.microsoft.com/office/powerpoint/2010/main" val="2910330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Sector Specification (1)</a:t>
            </a:r>
          </a:p>
        </p:txBody>
      </p:sp>
      <p:pic>
        <p:nvPicPr>
          <p:cNvPr id="4" name="Content Placeholder 3"/>
          <p:cNvPicPr>
            <a:picLocks noGrp="1" noChangeAspect="1"/>
          </p:cNvPicPr>
          <p:nvPr>
            <p:ph idx="1"/>
          </p:nvPr>
        </p:nvPicPr>
        <p:blipFill>
          <a:blip r:embed="rId2"/>
          <a:stretch>
            <a:fillRect/>
          </a:stretch>
        </p:blipFill>
        <p:spPr>
          <a:xfrm>
            <a:off x="3175038" y="1836535"/>
            <a:ext cx="6377524" cy="4346652"/>
          </a:xfrm>
          <a:prstGeom prst="rect">
            <a:avLst/>
          </a:prstGeom>
        </p:spPr>
      </p:pic>
    </p:spTree>
    <p:extLst>
      <p:ext uri="{BB962C8B-B14F-4D97-AF65-F5344CB8AC3E}">
        <p14:creationId xmlns:p14="http://schemas.microsoft.com/office/powerpoint/2010/main" val="3143351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Sector Specification </a:t>
            </a:r>
            <a:r>
              <a:rPr lang="en-US" dirty="0" smtClean="0"/>
              <a:t>(2)</a:t>
            </a:r>
            <a:endParaRPr lang="en-US" dirty="0"/>
          </a:p>
        </p:txBody>
      </p:sp>
      <p:pic>
        <p:nvPicPr>
          <p:cNvPr id="5" name="Content Placeholder 4"/>
          <p:cNvPicPr>
            <a:picLocks noGrp="1" noChangeAspect="1"/>
          </p:cNvPicPr>
          <p:nvPr>
            <p:ph idx="1"/>
          </p:nvPr>
        </p:nvPicPr>
        <p:blipFill>
          <a:blip r:embed="rId2"/>
          <a:stretch>
            <a:fillRect/>
          </a:stretch>
        </p:blipFill>
        <p:spPr>
          <a:xfrm>
            <a:off x="3545796" y="1846263"/>
            <a:ext cx="5763573" cy="4492632"/>
          </a:xfrm>
          <a:prstGeom prst="rect">
            <a:avLst/>
          </a:prstGeom>
        </p:spPr>
      </p:pic>
    </p:spTree>
    <p:extLst>
      <p:ext uri="{BB962C8B-B14F-4D97-AF65-F5344CB8AC3E}">
        <p14:creationId xmlns:p14="http://schemas.microsoft.com/office/powerpoint/2010/main" val="1893621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pic>
        <p:nvPicPr>
          <p:cNvPr id="4" name="Content Placeholder 3"/>
          <p:cNvPicPr>
            <a:picLocks noGrp="1" noChangeAspect="1"/>
          </p:cNvPicPr>
          <p:nvPr>
            <p:ph idx="1"/>
          </p:nvPr>
        </p:nvPicPr>
        <p:blipFill>
          <a:blip r:embed="rId2"/>
          <a:stretch>
            <a:fillRect/>
          </a:stretch>
        </p:blipFill>
        <p:spPr>
          <a:xfrm>
            <a:off x="593387" y="1846263"/>
            <a:ext cx="9173183" cy="4402483"/>
          </a:xfrm>
          <a:prstGeom prst="rect">
            <a:avLst/>
          </a:prstGeom>
        </p:spPr>
      </p:pic>
    </p:spTree>
    <p:extLst>
      <p:ext uri="{BB962C8B-B14F-4D97-AF65-F5344CB8AC3E}">
        <p14:creationId xmlns:p14="http://schemas.microsoft.com/office/powerpoint/2010/main" val="4119736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202122"/>
                </a:solidFill>
                <a:latin typeface="Arial" panose="020B0604020202020204" pitchFamily="34" charset="0"/>
              </a:rPr>
              <a:t>Design by contract</a:t>
            </a:r>
            <a:endParaRPr lang="en-US" dirty="0"/>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Design by contract (</a:t>
            </a:r>
            <a:r>
              <a:rPr lang="en-US" dirty="0" err="1">
                <a:latin typeface="Times New Roman" panose="02020603050405020304" pitchFamily="18" charset="0"/>
                <a:cs typeface="Times New Roman" panose="02020603050405020304" pitchFamily="18" charset="0"/>
              </a:rPr>
              <a:t>DbC</a:t>
            </a:r>
            <a:r>
              <a:rPr lang="en-US" dirty="0">
                <a:latin typeface="Times New Roman" panose="02020603050405020304" pitchFamily="18" charset="0"/>
                <a:cs typeface="Times New Roman" panose="02020603050405020304" pitchFamily="18" charset="0"/>
              </a:rPr>
              <a:t>), also known as contract programming, programming by contract and design-by-contract programming, is an approach for designing </a:t>
            </a:r>
            <a:r>
              <a:rPr lang="en-US" dirty="0" smtClean="0">
                <a:latin typeface="Times New Roman" panose="02020603050405020304" pitchFamily="18" charset="0"/>
                <a:cs typeface="Times New Roman" panose="02020603050405020304" pitchFamily="18" charset="0"/>
              </a:rPr>
              <a:t>software.</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prescribes that software designers should define formal, precise and verifiable interface specifications for software components, which extend the ordinary definition of abstract data types with preconditions, </a:t>
            </a:r>
            <a:r>
              <a:rPr lang="en-US" dirty="0" err="1">
                <a:latin typeface="Times New Roman" panose="02020603050405020304" pitchFamily="18" charset="0"/>
                <a:cs typeface="Times New Roman" panose="02020603050405020304" pitchFamily="18" charset="0"/>
              </a:rPr>
              <a:t>postconditions</a:t>
            </a:r>
            <a:r>
              <a:rPr lang="en-US" dirty="0">
                <a:latin typeface="Times New Roman" panose="02020603050405020304" pitchFamily="18" charset="0"/>
                <a:cs typeface="Times New Roman" panose="02020603050405020304" pitchFamily="18" charset="0"/>
              </a:rPr>
              <a:t> and invariants. These specifications are referred to as "contracts", in accordance with a conceptual metaphor with the conditions and obligations of business contracts.</a:t>
            </a:r>
          </a:p>
        </p:txBody>
      </p:sp>
    </p:spTree>
    <p:extLst>
      <p:ext uri="{BB962C8B-B14F-4D97-AF65-F5344CB8AC3E}">
        <p14:creationId xmlns:p14="http://schemas.microsoft.com/office/powerpoint/2010/main" val="3185763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202122"/>
                </a:solidFill>
                <a:latin typeface="Arial" panose="020B0604020202020204" pitchFamily="34" charset="0"/>
              </a:rPr>
              <a:t>Design by contract</a:t>
            </a:r>
            <a:endParaRPr lang="en-US" dirty="0"/>
          </a:p>
        </p:txBody>
      </p:sp>
      <p:pic>
        <p:nvPicPr>
          <p:cNvPr id="4" name="Content Placeholder 3"/>
          <p:cNvPicPr>
            <a:picLocks noGrp="1" noChangeAspect="1"/>
          </p:cNvPicPr>
          <p:nvPr>
            <p:ph idx="1"/>
          </p:nvPr>
        </p:nvPicPr>
        <p:blipFill>
          <a:blip r:embed="rId2"/>
          <a:stretch>
            <a:fillRect/>
          </a:stretch>
        </p:blipFill>
        <p:spPr>
          <a:xfrm>
            <a:off x="942804" y="2196086"/>
            <a:ext cx="9546585" cy="1393420"/>
          </a:xfrm>
          <a:prstGeom prst="rect">
            <a:avLst/>
          </a:prstGeom>
        </p:spPr>
      </p:pic>
    </p:spTree>
    <p:extLst>
      <p:ext uri="{BB962C8B-B14F-4D97-AF65-F5344CB8AC3E}">
        <p14:creationId xmlns:p14="http://schemas.microsoft.com/office/powerpoint/2010/main" val="401202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202122"/>
                </a:solidFill>
                <a:latin typeface="Arial" panose="020B0604020202020204" pitchFamily="34" charset="0"/>
              </a:rPr>
              <a:t>Design by contract</a:t>
            </a:r>
            <a:endParaRPr lang="en-US" dirty="0"/>
          </a:p>
        </p:txBody>
      </p:sp>
      <p:sp>
        <p:nvSpPr>
          <p:cNvPr id="3" name="Content Placeholder 2"/>
          <p:cNvSpPr>
            <a:spLocks noGrp="1"/>
          </p:cNvSpPr>
          <p:nvPr>
            <p:ph idx="1"/>
          </p:nvPr>
        </p:nvSpPr>
        <p:spPr/>
        <p:txBody>
          <a:bodyPr>
            <a:normAutofit fontScale="85000" lnSpcReduction="20000"/>
          </a:bodyPr>
          <a:lstStyle/>
          <a:p>
            <a:r>
              <a:rPr lang="en-US" dirty="0"/>
              <a:t>Operation: withdraw(amount)</a:t>
            </a:r>
          </a:p>
          <a:p>
            <a:endParaRPr lang="en-US" dirty="0"/>
          </a:p>
          <a:p>
            <a:r>
              <a:rPr lang="en-US" dirty="0"/>
              <a:t>Client obligations (Preconditions):</a:t>
            </a:r>
          </a:p>
          <a:p>
            <a:r>
              <a:rPr lang="en-US" dirty="0"/>
              <a:t>    amount &gt; 0</a:t>
            </a:r>
          </a:p>
          <a:p>
            <a:r>
              <a:rPr lang="en-US" dirty="0"/>
              <a:t>    balance &gt;= amount</a:t>
            </a:r>
          </a:p>
          <a:p>
            <a:endParaRPr lang="en-US" dirty="0"/>
          </a:p>
          <a:p>
            <a:r>
              <a:rPr lang="en-US" dirty="0"/>
              <a:t>Supplier guarantees (</a:t>
            </a:r>
            <a:r>
              <a:rPr lang="en-US" dirty="0" err="1"/>
              <a:t>Postconditions</a:t>
            </a:r>
            <a:r>
              <a:rPr lang="en-US" dirty="0"/>
              <a:t>):</a:t>
            </a:r>
          </a:p>
          <a:p>
            <a:r>
              <a:rPr lang="en-US" dirty="0"/>
              <a:t>    balance = old(balance) - amount</a:t>
            </a:r>
          </a:p>
          <a:p>
            <a:endParaRPr lang="en-US" dirty="0"/>
          </a:p>
          <a:p>
            <a:r>
              <a:rPr lang="en-US" dirty="0"/>
              <a:t>Class invariants:</a:t>
            </a:r>
          </a:p>
          <a:p>
            <a:r>
              <a:rPr lang="en-US" dirty="0"/>
              <a:t>    balance &gt;= 0</a:t>
            </a:r>
          </a:p>
          <a:p>
            <a:endParaRPr lang="en-US" dirty="0"/>
          </a:p>
        </p:txBody>
      </p:sp>
    </p:spTree>
    <p:extLst>
      <p:ext uri="{BB962C8B-B14F-4D97-AF65-F5344CB8AC3E}">
        <p14:creationId xmlns:p14="http://schemas.microsoft.com/office/powerpoint/2010/main" val="3027067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537001" cy="1450757"/>
          </a:xfrm>
        </p:spPr>
        <p:txBody>
          <a:bodyPr/>
          <a:lstStyle/>
          <a:p>
            <a:r>
              <a:rPr lang="en-US" b="1" dirty="0">
                <a:solidFill>
                  <a:srgbClr val="202122"/>
                </a:solidFill>
                <a:latin typeface="Arial" panose="020B0604020202020204" pitchFamily="34" charset="0"/>
              </a:rPr>
              <a:t>Design by </a:t>
            </a:r>
            <a:r>
              <a:rPr lang="en-US" b="1" dirty="0" smtClean="0">
                <a:solidFill>
                  <a:srgbClr val="202122"/>
                </a:solidFill>
                <a:latin typeface="Arial" panose="020B0604020202020204" pitchFamily="34" charset="0"/>
              </a:rPr>
              <a:t>contract (</a:t>
            </a:r>
            <a:r>
              <a:rPr lang="en-US" b="1" dirty="0">
                <a:solidFill>
                  <a:srgbClr val="202122"/>
                </a:solidFill>
                <a:latin typeface="Arial" panose="020B0604020202020204" pitchFamily="34" charset="0"/>
              </a:rPr>
              <a:t>stack example)</a:t>
            </a:r>
          </a:p>
        </p:txBody>
      </p:sp>
      <p:sp>
        <p:nvSpPr>
          <p:cNvPr id="3" name="Content Placeholder 2"/>
          <p:cNvSpPr>
            <a:spLocks noGrp="1"/>
          </p:cNvSpPr>
          <p:nvPr>
            <p:ph idx="1"/>
          </p:nvPr>
        </p:nvSpPr>
        <p:spPr/>
        <p:txBody>
          <a:bodyPr>
            <a:normAutofit fontScale="85000" lnSpcReduction="20000"/>
          </a:bodyPr>
          <a:lstStyle/>
          <a:p>
            <a:r>
              <a:rPr lang="en-US" b="1" dirty="0"/>
              <a:t>Contract</a:t>
            </a:r>
            <a:r>
              <a:rPr lang="en-US" dirty="0"/>
              <a:t> for pop():</a:t>
            </a:r>
          </a:p>
          <a:p>
            <a:endParaRPr lang="en-US" dirty="0"/>
          </a:p>
          <a:p>
            <a:r>
              <a:rPr lang="en-US" b="1" dirty="0"/>
              <a:t>Client</a:t>
            </a:r>
            <a:r>
              <a:rPr lang="en-US" dirty="0"/>
              <a:t> obligations (Pre):</a:t>
            </a:r>
          </a:p>
          <a:p>
            <a:r>
              <a:rPr lang="en-US" dirty="0"/>
              <a:t>    stack is not empty</a:t>
            </a:r>
          </a:p>
          <a:p>
            <a:endParaRPr lang="en-US" dirty="0"/>
          </a:p>
          <a:p>
            <a:r>
              <a:rPr lang="en-US" b="1" dirty="0"/>
              <a:t>Supplier</a:t>
            </a:r>
            <a:r>
              <a:rPr lang="en-US" dirty="0"/>
              <a:t> guarantees (Post):</a:t>
            </a:r>
          </a:p>
          <a:p>
            <a:r>
              <a:rPr lang="en-US" dirty="0"/>
              <a:t>    size' = size - 1</a:t>
            </a:r>
          </a:p>
          <a:p>
            <a:r>
              <a:rPr lang="en-US" dirty="0"/>
              <a:t>    returned = top element</a:t>
            </a:r>
          </a:p>
          <a:p>
            <a:endParaRPr lang="en-US" dirty="0"/>
          </a:p>
          <a:p>
            <a:r>
              <a:rPr lang="en-US" b="1" dirty="0"/>
              <a:t>Invariant</a:t>
            </a:r>
            <a:r>
              <a:rPr lang="en-US" dirty="0"/>
              <a:t>:</a:t>
            </a:r>
          </a:p>
          <a:p>
            <a:r>
              <a:rPr lang="en-US" dirty="0"/>
              <a:t>    size ≥ 0</a:t>
            </a:r>
          </a:p>
          <a:p>
            <a:endParaRPr lang="en-US" dirty="0"/>
          </a:p>
        </p:txBody>
      </p:sp>
    </p:spTree>
    <p:extLst>
      <p:ext uri="{BB962C8B-B14F-4D97-AF65-F5344CB8AC3E}">
        <p14:creationId xmlns:p14="http://schemas.microsoft.com/office/powerpoint/2010/main" val="490643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797CB811-39E4-44B4-8472-3DFC98B85762}"/>
              </a:ext>
            </a:extLst>
          </p:cNvPr>
          <p:cNvSpPr/>
          <p:nvPr/>
        </p:nvSpPr>
        <p:spPr>
          <a:xfrm>
            <a:off x="4563272" y="2676390"/>
            <a:ext cx="3065455" cy="1107996"/>
          </a:xfrm>
          <a:prstGeom prst="rect">
            <a:avLst/>
          </a:prstGeom>
          <a:noFill/>
        </p:spPr>
        <p:txBody>
          <a:bodyPr wrap="none" lIns="91440" tIns="45720" rIns="91440" bIns="45720">
            <a:spAutoFit/>
          </a:bodyPr>
          <a:lstStyle/>
          <a:p>
            <a:pPr algn="ctr"/>
            <a:r>
              <a:rPr lang="en-US" sz="66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THANKS</a:t>
            </a:r>
          </a:p>
        </p:txBody>
      </p:sp>
    </p:spTree>
    <p:extLst>
      <p:ext uri="{BB962C8B-B14F-4D97-AF65-F5344CB8AC3E}">
        <p14:creationId xmlns:p14="http://schemas.microsoft.com/office/powerpoint/2010/main" val="2384178030"/>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1537</TotalTime>
  <Words>1326</Words>
  <Application>Microsoft Office PowerPoint</Application>
  <PresentationFormat>Widescreen</PresentationFormat>
  <Paragraphs>175</Paragraphs>
  <Slides>33</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2" baseType="lpstr">
      <vt:lpstr>Arial</vt:lpstr>
      <vt:lpstr>Calibri</vt:lpstr>
      <vt:lpstr>Calibri Light</vt:lpstr>
      <vt:lpstr>Helvetica</vt:lpstr>
      <vt:lpstr>Times New Roman</vt:lpstr>
      <vt:lpstr>Wingdings</vt:lpstr>
      <vt:lpstr>Zapf Dingbats</vt:lpstr>
      <vt:lpstr>Retrospect</vt:lpstr>
      <vt:lpstr>Document</vt:lpstr>
      <vt:lpstr>Software Construction &amp; Development</vt:lpstr>
      <vt:lpstr>Requirements vs. Specifications</vt:lpstr>
      <vt:lpstr>Requirements vs. Specifications</vt:lpstr>
      <vt:lpstr>Informal Specifications</vt:lpstr>
      <vt:lpstr>Informal Specifications (Example)</vt:lpstr>
      <vt:lpstr>Formal Specifications</vt:lpstr>
      <vt:lpstr>Formal Specifications</vt:lpstr>
      <vt:lpstr>Formal vs. Informal Example</vt:lpstr>
      <vt:lpstr>Formal Specification Techniques </vt:lpstr>
      <vt:lpstr>Formal Specification Techniques </vt:lpstr>
      <vt:lpstr>Specification techniques</vt:lpstr>
      <vt:lpstr>Formal specification languages</vt:lpstr>
      <vt:lpstr>Use of formal specification</vt:lpstr>
      <vt:lpstr>Development costs with formal specification</vt:lpstr>
      <vt:lpstr>1. Interface specification</vt:lpstr>
      <vt:lpstr>Sub-system interfaces</vt:lpstr>
      <vt:lpstr>The structure of an algebraic specification</vt:lpstr>
      <vt:lpstr>The Structure of an Algebraic Specification</vt:lpstr>
      <vt:lpstr>Specification Operations</vt:lpstr>
      <vt:lpstr>Example: Operations on a List ADT</vt:lpstr>
      <vt:lpstr>Example: Operations on a List ADT</vt:lpstr>
      <vt:lpstr>Example: List Specification</vt:lpstr>
      <vt:lpstr>Interface Specification in Critical Systems </vt:lpstr>
      <vt:lpstr>A Sector Object</vt:lpstr>
      <vt:lpstr>Primitive Operations </vt:lpstr>
      <vt:lpstr>Sector Specification (1)</vt:lpstr>
      <vt:lpstr>Sector Specification (2)</vt:lpstr>
      <vt:lpstr>Advantages</vt:lpstr>
      <vt:lpstr>Design by contract</vt:lpstr>
      <vt:lpstr>Design by contract</vt:lpstr>
      <vt:lpstr>Design by contract</vt:lpstr>
      <vt:lpstr>Design by contract (stack example)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Construction and   Development</dc:title>
  <dc:creator>Maria Batool</dc:creator>
  <cp:lastModifiedBy>Microsoft account</cp:lastModifiedBy>
  <cp:revision>42</cp:revision>
  <dcterms:created xsi:type="dcterms:W3CDTF">2024-02-20T04:23:32Z</dcterms:created>
  <dcterms:modified xsi:type="dcterms:W3CDTF">2026-02-21T10:59:33Z</dcterms:modified>
</cp:coreProperties>
</file>