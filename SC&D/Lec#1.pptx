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8"/>
  </p:notesMasterIdLst>
  <p:sldIdLst>
    <p:sldId id="467" r:id="rId2"/>
    <p:sldId id="257" r:id="rId3"/>
    <p:sldId id="258" r:id="rId4"/>
    <p:sldId id="259" r:id="rId5"/>
    <p:sldId id="461" r:id="rId6"/>
    <p:sldId id="453" r:id="rId7"/>
    <p:sldId id="260" r:id="rId8"/>
    <p:sldId id="462" r:id="rId9"/>
    <p:sldId id="261" r:id="rId10"/>
    <p:sldId id="262" r:id="rId11"/>
    <p:sldId id="460" r:id="rId12"/>
    <p:sldId id="463" r:id="rId13"/>
    <p:sldId id="464" r:id="rId14"/>
    <p:sldId id="465" r:id="rId15"/>
    <p:sldId id="466" r:id="rId16"/>
    <p:sldId id="263" r:id="rId17"/>
    <p:sldId id="264" r:id="rId18"/>
    <p:sldId id="265" r:id="rId19"/>
    <p:sldId id="266" r:id="rId20"/>
    <p:sldId id="454" r:id="rId21"/>
    <p:sldId id="267" r:id="rId22"/>
    <p:sldId id="268" r:id="rId23"/>
    <p:sldId id="269" r:id="rId24"/>
    <p:sldId id="271" r:id="rId25"/>
    <p:sldId id="468" r:id="rId26"/>
    <p:sldId id="469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018DEA9-7CA1-4A1A-92C5-8326BC3190D2}">
          <p14:sldIdLst>
            <p14:sldId id="467"/>
            <p14:sldId id="257"/>
            <p14:sldId id="258"/>
            <p14:sldId id="259"/>
            <p14:sldId id="461"/>
            <p14:sldId id="453"/>
            <p14:sldId id="260"/>
            <p14:sldId id="462"/>
            <p14:sldId id="261"/>
            <p14:sldId id="262"/>
            <p14:sldId id="460"/>
            <p14:sldId id="463"/>
            <p14:sldId id="464"/>
            <p14:sldId id="465"/>
            <p14:sldId id="466"/>
            <p14:sldId id="263"/>
            <p14:sldId id="264"/>
            <p14:sldId id="265"/>
            <p14:sldId id="266"/>
            <p14:sldId id="454"/>
            <p14:sldId id="267"/>
            <p14:sldId id="268"/>
            <p14:sldId id="269"/>
            <p14:sldId id="271"/>
            <p14:sldId id="468"/>
            <p14:sldId id="4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416" autoAdjust="0"/>
  </p:normalViewPr>
  <p:slideViewPr>
    <p:cSldViewPr snapToGrid="0">
      <p:cViewPr varScale="1">
        <p:scale>
          <a:sx n="79" d="100"/>
          <a:sy n="79" d="100"/>
        </p:scale>
        <p:origin x="821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40F543-996E-4C04-BA92-4A6226A3907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1986E-0B3A-4003-B9F8-DCB60AA4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13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1986E-0B3A-4003-B9F8-DCB60AA4980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05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="" xmlns:a16="http://schemas.microsoft.com/office/drawing/2014/main" id="{4840605F-EC74-4C0A-BCF4-17D4E40F9AD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8750" y="8824913"/>
            <a:ext cx="3035300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04" tIns="46552" rIns="93104" bIns="46552" anchor="b"/>
          <a:lstStyle>
            <a:lvl1pPr defTabSz="930275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F4783224-1061-40E4-BE18-FD84EE514056}" type="slidenum">
              <a:rPr lang="en-US" altLang="en-US" sz="1200"/>
              <a:pPr algn="r"/>
              <a:t>6</a:t>
            </a:fld>
            <a:endParaRPr lang="en-US" altLang="en-US" sz="1200"/>
          </a:p>
        </p:txBody>
      </p:sp>
      <p:sp>
        <p:nvSpPr>
          <p:cNvPr id="34819" name="Rectangle 2">
            <a:extLst>
              <a:ext uri="{FF2B5EF4-FFF2-40B4-BE49-F238E27FC236}">
                <a16:creationId xmlns="" xmlns:a16="http://schemas.microsoft.com/office/drawing/2014/main" id="{B0137E13-097F-42DB-BB78-B04751095E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1250" cy="3482975"/>
          </a:xfrm>
          <a:ln/>
        </p:spPr>
      </p:sp>
      <p:sp>
        <p:nvSpPr>
          <p:cNvPr id="34820" name="Rectangle 3">
            <a:extLst>
              <a:ext uri="{FF2B5EF4-FFF2-40B4-BE49-F238E27FC236}">
                <a16:creationId xmlns="" xmlns:a16="http://schemas.microsoft.com/office/drawing/2014/main" id="{03186161-B5CF-4BAC-B19D-9A23209840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413250"/>
            <a:ext cx="5137150" cy="4179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04" tIns="46552" rIns="93104" bIns="46552"/>
          <a:lstStyle/>
          <a:p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892277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1986E-0B3A-4003-B9F8-DCB60AA4980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639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1986E-0B3A-4003-B9F8-DCB60AA4980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037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1986E-0B3A-4003-B9F8-DCB60AA4980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23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1986E-0B3A-4003-B9F8-DCB60AA4980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738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1986E-0B3A-4003-B9F8-DCB60AA4980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039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1986E-0B3A-4003-B9F8-DCB60AA4980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941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1986E-0B3A-4003-B9F8-DCB60AA4980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0074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1986E-0B3A-4003-B9F8-DCB60AA4980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94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B596F-9ACE-421A-8895-958F67F0321B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r>
              <a:rPr lang="en-US" sz="1800" cap="none" smtClean="0">
                <a:latin typeface="Times New Roman" pitchFamily="18" charset="0"/>
                <a:cs typeface="Times New Roman" pitchFamily="18" charset="0"/>
              </a:rPr>
              <a:t>COMSATS University Islamabad, Wah Campus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9D398-7DEE-42C1-AE4D-1C8CB494F7C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338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18D63-D848-4794-B716-0C8B57CDD5F5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r>
              <a:rPr lang="en-US" sz="1800" cap="none" smtClean="0">
                <a:latin typeface="Times New Roman" pitchFamily="18" charset="0"/>
                <a:cs typeface="Times New Roman" pitchFamily="18" charset="0"/>
              </a:rPr>
              <a:t>SED, UET Taxila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9D398-7DEE-42C1-AE4D-1C8CB494F7C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CEE5960D-F5EB-4BD5-AE37-3EC25A85273E}"/>
              </a:ext>
            </a:extLst>
          </p:cNvPr>
          <p:cNvSpPr/>
          <p:nvPr userDrawn="1"/>
        </p:nvSpPr>
        <p:spPr>
          <a:xfrm>
            <a:off x="30480" y="1737360"/>
            <a:ext cx="12192000" cy="57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14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127AA-101C-4389-B0A1-245512DFAFDE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COMSATS University Islamabad, Wah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9D398-7DEE-42C1-AE4D-1C8CB494F7C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726B9F4A-240C-4A56-B33D-52F28B08B9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1646" y="3429000"/>
            <a:ext cx="1325562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419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7B5B6-B544-437B-94B5-21C0D70C1150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r>
              <a:rPr lang="en-US" cap="none" smtClean="0">
                <a:latin typeface="Times New Roman" pitchFamily="18" charset="0"/>
                <a:cs typeface="Times New Roman" pitchFamily="18" charset="0"/>
              </a:rPr>
              <a:t>SED, UET Taxila</a:t>
            </a:r>
            <a:endParaRPr lang="en-US" cap="none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9D398-7DEE-42C1-AE4D-1C8CB494F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800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2B694-2CAE-4232-B132-966CF9BB78E0}" type="datetime1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r>
              <a:rPr lang="en-US" cap="none" smtClean="0">
                <a:latin typeface="Times New Roman" pitchFamily="18" charset="0"/>
                <a:cs typeface="Times New Roman" pitchFamily="18" charset="0"/>
              </a:rPr>
              <a:t>SED, UET Taxila</a:t>
            </a:r>
            <a:endParaRPr lang="en-US" cap="none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9D398-7DEE-42C1-AE4D-1C8CB494F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98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667EF-0DC7-4F4D-B30B-99B5F675AD91}" type="datetime1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r>
              <a:rPr lang="en-US" sz="1800" cap="none" smtClean="0">
                <a:latin typeface="Times New Roman" pitchFamily="18" charset="0"/>
                <a:cs typeface="Times New Roman" pitchFamily="18" charset="0"/>
              </a:rPr>
              <a:t>SED, UET Taxila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9D398-7DEE-42C1-AE4D-1C8CB494F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54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BDE44-FA80-4D53-8C98-938C5711FE51}" type="datetime1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defTabSz="914400"/>
            <a:r>
              <a:rPr lang="en-US" sz="1800" cap="none" smtClean="0">
                <a:latin typeface="Times New Roman" pitchFamily="18" charset="0"/>
                <a:cs typeface="Times New Roman" pitchFamily="18" charset="0"/>
              </a:rPr>
              <a:t>COMSATS University Islamabad, Wah Campus</a:t>
            </a:r>
          </a:p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9D398-7DEE-42C1-AE4D-1C8CB494F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54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8D35285-2EF4-4F19-A263-14AC9EF51C5C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COMSATS University Islamabad, Wah Campus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D9D398-7DEE-42C1-AE4D-1C8CB494F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294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7D42-B348-46B2-8A21-F1924C2439B3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COMSATS University Islamabad, Wah Campus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9D398-7DEE-42C1-AE4D-1C8CB494F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9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FB30-5F3D-49CF-9FE6-4EC750B6DEA7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COMSATS University Islamabad, Wah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9D398-7DEE-42C1-AE4D-1C8CB494F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560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E4B3C-2229-4753-918E-5B2AB2F806D2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COMSATS University Islamabad, Wah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9D398-7DEE-42C1-AE4D-1C8CB494F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8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1503212-F5B8-4803-8A87-F27DA8223FC6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COMSATS University Islamabad, Wah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5D9D398-7DEE-42C1-AE4D-1C8CB494F7C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485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Software Construction &amp; Development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Course Instructor: </a:t>
            </a:r>
            <a:r>
              <a:rPr lang="en-GB" dirty="0" err="1" smtClean="0"/>
              <a:t>Dr.</a:t>
            </a:r>
            <a:r>
              <a:rPr lang="en-GB" dirty="0" smtClean="0"/>
              <a:t> Marriam Nawaz</a:t>
            </a:r>
          </a:p>
          <a:p>
            <a:r>
              <a:rPr lang="en-GB" dirty="0" smtClean="0"/>
              <a:t>Lecture: 01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r>
              <a:rPr lang="en-US" sz="1800" cap="none" dirty="0" smtClean="0">
                <a:latin typeface="Times New Roman" pitchFamily="18" charset="0"/>
                <a:cs typeface="Times New Roman" pitchFamily="18" charset="0"/>
              </a:rPr>
              <a:t>SED, UET </a:t>
            </a:r>
            <a:r>
              <a:rPr lang="en-US" sz="1800" cap="none" dirty="0" err="1" smtClean="0">
                <a:latin typeface="Times New Roman" pitchFamily="18" charset="0"/>
                <a:cs typeface="Times New Roman" pitchFamily="18" charset="0"/>
              </a:rPr>
              <a:t>Taxila</a:t>
            </a:r>
            <a:endParaRPr lang="en-US" sz="1800" cap="none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658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DD1C182-866E-4DCC-8249-B6C12963E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Course Outline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1882F40B-BBEC-4A54-BC9A-BCE954003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r>
              <a:rPr lang="en-US" sz="1800" cap="none" dirty="0">
                <a:latin typeface="Times New Roman" pitchFamily="18" charset="0"/>
                <a:cs typeface="Times New Roman" pitchFamily="18" charset="0"/>
              </a:rPr>
              <a:t>SED, UET </a:t>
            </a:r>
            <a:r>
              <a:rPr lang="en-US" sz="1800" cap="none" dirty="0" err="1">
                <a:latin typeface="Times New Roman" pitchFamily="18" charset="0"/>
                <a:cs typeface="Times New Roman" pitchFamily="18" charset="0"/>
              </a:rPr>
              <a:t>Taxila</a:t>
            </a:r>
            <a:endParaRPr lang="en-US" sz="1800" cap="none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22541BE8-0EDF-4C5C-837F-8C94EA524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497" y="1999556"/>
            <a:ext cx="6553282" cy="409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800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05445A-B1D9-4986-B495-824676A6E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F6B846D-1CF0-42C1-8D7E-F144B95F1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6686" y="2548037"/>
            <a:ext cx="3691393" cy="4023360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25%      	Mid Term</a:t>
            </a:r>
          </a:p>
          <a:p>
            <a:r>
              <a:rPr lang="en-US" altLang="en-US" sz="2800" dirty="0" smtClean="0"/>
              <a:t>10%      </a:t>
            </a:r>
            <a:r>
              <a:rPr lang="en-US" altLang="en-US" sz="2800" dirty="0"/>
              <a:t>	Quiz </a:t>
            </a:r>
          </a:p>
          <a:p>
            <a:r>
              <a:rPr lang="en-US" altLang="en-US" sz="2800" dirty="0" smtClean="0"/>
              <a:t>15%</a:t>
            </a:r>
            <a:r>
              <a:rPr lang="en-US" altLang="en-US" sz="2800" dirty="0"/>
              <a:t>		Assignments</a:t>
            </a:r>
          </a:p>
          <a:p>
            <a:r>
              <a:rPr lang="en-US" altLang="en-US" sz="2800" dirty="0"/>
              <a:t>50%    	Final Exam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36482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19E8C84-F3E6-40E9-9D2B-B8C810BFD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59F4A66-9A7E-46FE-827E-AB7A9412B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7663" indent="-347663">
              <a:buFont typeface="Wingdings" panose="05000000000000000000" pitchFamily="2" charset="2"/>
              <a:buChar char="§"/>
            </a:pPr>
            <a:r>
              <a:rPr lang="en-US" altLang="en-US" sz="2400" dirty="0"/>
              <a:t>A Software Process is</a:t>
            </a:r>
          </a:p>
          <a:p>
            <a:pPr marL="640271" lvl="1" indent="-347663">
              <a:buFont typeface="Wingdings" panose="05000000000000000000" pitchFamily="2" charset="2"/>
              <a:buChar char="§"/>
            </a:pPr>
            <a:r>
              <a:rPr lang="en-US" altLang="en-US" sz="2000" dirty="0"/>
              <a:t>A set of activities (e.g. requirements, analysis, design, coding, testing) combined and sequenced in a particular fashion to produce software</a:t>
            </a:r>
            <a:endParaRPr lang="en-US" altLang="en-US" dirty="0"/>
          </a:p>
          <a:p>
            <a:pPr marL="396875" indent="-396875">
              <a:buFont typeface="Wingdings" panose="05000000000000000000" pitchFamily="2" charset="2"/>
              <a:buChar char="§"/>
            </a:pPr>
            <a:r>
              <a:rPr lang="en-US" altLang="en-US" sz="2400" dirty="0"/>
              <a:t>Recent trend: Agile Software Development</a:t>
            </a:r>
          </a:p>
          <a:p>
            <a:pPr marL="689483" lvl="1" indent="-396875">
              <a:buFont typeface="Wingdings" panose="05000000000000000000" pitchFamily="2" charset="2"/>
              <a:buChar char="§"/>
            </a:pPr>
            <a:r>
              <a:rPr lang="en-US" altLang="en-US" sz="2000" dirty="0"/>
              <a:t>Customer needs evolve with time</a:t>
            </a:r>
          </a:p>
          <a:p>
            <a:pPr marL="689483" lvl="1" indent="-396875">
              <a:buFont typeface="Wingdings" panose="05000000000000000000" pitchFamily="2" charset="2"/>
              <a:buChar char="§"/>
            </a:pPr>
            <a:r>
              <a:rPr lang="en-US" altLang="en-US" sz="2000" dirty="0"/>
              <a:t>Satisfying customers at delivery time (rather than at project initiation) is more important than conforming to initial customer requirements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462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1679560-1EF2-4731-A023-552E4386C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6E0A5BD-385D-4B11-911F-E44A7324C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570" y="1919475"/>
            <a:ext cx="10058400" cy="4023360"/>
          </a:xfrm>
        </p:spPr>
        <p:txBody>
          <a:bodyPr>
            <a:normAutofit/>
          </a:bodyPr>
          <a:lstStyle/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sz="2400" b="1" dirty="0"/>
              <a:t>Construction</a:t>
            </a:r>
            <a:r>
              <a:rPr lang="en-US" dirty="0"/>
              <a:t> is the work “construction workers” do when they build a house, a school, or a skyscraper.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dirty="0"/>
              <a:t>In common usage, construction refers to the process of building.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dirty="0"/>
              <a:t>The construction process might include some aspects of planning, designing, and checking the work, but mostly construction refers to the hands-on part of creating something.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sz="2400" b="1" dirty="0"/>
              <a:t>Software construction </a:t>
            </a:r>
            <a:r>
              <a:rPr lang="en-US" dirty="0"/>
              <a:t>is a software engineering discipline. 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dirty="0"/>
              <a:t>It is detailed creation of working, meaningful software through a combination of coding, verification, unit testing, integration testing, and debugging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172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8">
            <a:extLst>
              <a:ext uri="{FF2B5EF4-FFF2-40B4-BE49-F238E27FC236}">
                <a16:creationId xmlns="" xmlns:a16="http://schemas.microsoft.com/office/drawing/2014/main" id="{91664F18-3BDC-4669-B332-8E81CA996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122" y="1295400"/>
            <a:ext cx="8782878" cy="5181600"/>
          </a:xfrm>
          <a:prstGeom prst="ellipse">
            <a:avLst/>
          </a:prstGeom>
          <a:solidFill>
            <a:srgbClr val="FFFF66"/>
          </a:solidFill>
          <a:ln>
            <a:noFill/>
          </a:ln>
          <a:effectLst>
            <a:prstShdw prst="shdw17" dist="17961" dir="2700000">
              <a:srgbClr val="99993D"/>
            </a:prstShdw>
          </a:effectLst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400"/>
          </a:p>
        </p:txBody>
      </p:sp>
      <p:sp>
        <p:nvSpPr>
          <p:cNvPr id="10" name="Slide Number Placeholder 2">
            <a:extLst>
              <a:ext uri="{FF2B5EF4-FFF2-40B4-BE49-F238E27FC236}">
                <a16:creationId xmlns="" xmlns:a16="http://schemas.microsoft.com/office/drawing/2014/main" id="{953706CB-1E16-449F-891C-19FB09336767}"/>
              </a:ext>
            </a:extLst>
          </p:cNvPr>
          <p:cNvSpPr txBox="1">
            <a:spLocks noGrp="1"/>
          </p:cNvSpPr>
          <p:nvPr/>
        </p:nvSpPr>
        <p:spPr bwMode="auto">
          <a:xfrm>
            <a:off x="10210800" y="6553200"/>
            <a:ext cx="4572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fld id="{1B0ED1F7-BA6D-4C06-A4E0-A5DE9093CB42}" type="slidenum">
              <a:rPr lang="en-US" altLang="en-US" sz="1400">
                <a:latin typeface="Helvetica" panose="020B0604020202020204" pitchFamily="34" charset="0"/>
              </a:rPr>
              <a:pPr algn="ctr"/>
              <a:t>6</a:t>
            </a:fld>
            <a:endParaRPr lang="en-US" altLang="en-US" sz="1400">
              <a:latin typeface="Helvetica" panose="020B0604020202020204" pitchFamily="34" charset="0"/>
            </a:endParaRPr>
          </a:p>
        </p:txBody>
      </p:sp>
      <p:sp>
        <p:nvSpPr>
          <p:cNvPr id="9220" name="Rectangle 2">
            <a:extLst>
              <a:ext uri="{FF2B5EF4-FFF2-40B4-BE49-F238E27FC236}">
                <a16:creationId xmlns="" xmlns:a16="http://schemas.microsoft.com/office/drawing/2014/main" id="{38365654-1A97-4D8B-B5A6-EBBAFDBF79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133600" y="287338"/>
            <a:ext cx="10058400" cy="931862"/>
          </a:xfr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 altLang="en-US" dirty="0"/>
              <a:t>Software Development Phases</a:t>
            </a:r>
          </a:p>
        </p:txBody>
      </p:sp>
      <p:sp>
        <p:nvSpPr>
          <p:cNvPr id="158723" name="Rectangle 3">
            <a:extLst>
              <a:ext uri="{FF2B5EF4-FFF2-40B4-BE49-F238E27FC236}">
                <a16:creationId xmlns="" xmlns:a16="http://schemas.microsoft.com/office/drawing/2014/main" id="{CB396E15-6C78-4665-9E8B-E8985A77D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1753244"/>
            <a:ext cx="2209800" cy="685800"/>
          </a:xfrm>
          <a:prstGeom prst="rect">
            <a:avLst/>
          </a:prstGeom>
          <a:solidFill>
            <a:srgbClr val="D9F1FF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D9F1FF">
                <a:gamma/>
                <a:shade val="60000"/>
                <a:invGamma/>
              </a:srgbClr>
            </a:prstShdw>
          </a:effectLst>
        </p:spPr>
        <p:txBody>
          <a:bodyPr rIns="0"/>
          <a:lstStyle/>
          <a:p>
            <a:pPr marL="342900" indent="-342900">
              <a:lnSpc>
                <a:spcPct val="90000"/>
              </a:lnSpc>
              <a:buClr>
                <a:srgbClr val="006EB6"/>
              </a:buClr>
              <a:buSzPct val="40000"/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rPr>
              <a:t>Requirements</a:t>
            </a:r>
          </a:p>
          <a:p>
            <a:pPr marL="342900" indent="-342900">
              <a:lnSpc>
                <a:spcPct val="90000"/>
              </a:lnSpc>
              <a:buClr>
                <a:srgbClr val="006EB6"/>
              </a:buClr>
              <a:buSzPct val="40000"/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rPr>
              <a:t>	</a:t>
            </a:r>
            <a:r>
              <a:rPr lang="en-US" sz="1600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rPr>
              <a:t>What needs to be done</a:t>
            </a:r>
          </a:p>
        </p:txBody>
      </p:sp>
      <p:sp>
        <p:nvSpPr>
          <p:cNvPr id="158724" name="Rectangle 4">
            <a:extLst>
              <a:ext uri="{FF2B5EF4-FFF2-40B4-BE49-F238E27FC236}">
                <a16:creationId xmlns="" xmlns:a16="http://schemas.microsoft.com/office/drawing/2014/main" id="{D601BA63-608D-411F-B529-291A8010D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3124200"/>
            <a:ext cx="2133600" cy="609600"/>
          </a:xfrm>
          <a:prstGeom prst="rect">
            <a:avLst/>
          </a:prstGeom>
          <a:solidFill>
            <a:srgbClr val="C5C5FF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C5C5FF">
                <a:gamma/>
                <a:shade val="60000"/>
                <a:invGamma/>
              </a:srgbClr>
            </a:prstShdw>
          </a:effectLst>
        </p:spPr>
        <p:txBody>
          <a:bodyPr rIns="0"/>
          <a:lstStyle/>
          <a:p>
            <a:pPr marL="342900" indent="-342900">
              <a:lnSpc>
                <a:spcPct val="90000"/>
              </a:lnSpc>
              <a:buClr>
                <a:srgbClr val="006EB6"/>
              </a:buClr>
              <a:buSzPct val="40000"/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rPr>
              <a:t>Analysis</a:t>
            </a:r>
          </a:p>
          <a:p>
            <a:pPr marL="342900" indent="-342900">
              <a:lnSpc>
                <a:spcPct val="90000"/>
              </a:lnSpc>
              <a:buClr>
                <a:srgbClr val="006EB6"/>
              </a:buClr>
              <a:buSzPct val="40000"/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rPr>
              <a:t>	</a:t>
            </a:r>
            <a:r>
              <a:rPr lang="en-US" sz="1600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rPr>
              <a:t>How it should be done</a:t>
            </a:r>
          </a:p>
        </p:txBody>
      </p:sp>
      <p:sp>
        <p:nvSpPr>
          <p:cNvPr id="158725" name="Rectangle 5">
            <a:extLst>
              <a:ext uri="{FF2B5EF4-FFF2-40B4-BE49-F238E27FC236}">
                <a16:creationId xmlns="" xmlns:a16="http://schemas.microsoft.com/office/drawing/2014/main" id="{F2574975-1C0F-4CFB-8A2C-D518F86C6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5100" y="4796748"/>
            <a:ext cx="2514600" cy="1028700"/>
          </a:xfrm>
          <a:prstGeom prst="rect">
            <a:avLst/>
          </a:prstGeom>
          <a:solidFill>
            <a:srgbClr val="FFB445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FFB445">
                <a:gamma/>
                <a:shade val="60000"/>
                <a:invGamma/>
              </a:srgbClr>
            </a:prstShdw>
          </a:effectLst>
        </p:spPr>
        <p:txBody>
          <a:bodyPr rIns="0">
            <a:spAutoFit/>
          </a:bodyPr>
          <a:lstStyle/>
          <a:p>
            <a:pPr marL="342900" indent="-342900">
              <a:lnSpc>
                <a:spcPct val="90000"/>
              </a:lnSpc>
              <a:buClr>
                <a:srgbClr val="006EB6"/>
              </a:buClr>
              <a:buSzPct val="40000"/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rPr>
              <a:t>Design</a:t>
            </a:r>
          </a:p>
          <a:p>
            <a:pPr marL="342900" indent="-342900">
              <a:lnSpc>
                <a:spcPct val="90000"/>
              </a:lnSpc>
              <a:buClr>
                <a:srgbClr val="006EB6"/>
              </a:buClr>
              <a:buSzPct val="40000"/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rPr>
              <a:t>	</a:t>
            </a:r>
            <a:r>
              <a:rPr lang="en-US" sz="1600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rPr>
              <a:t>Create a software structure (architecture) around which code will be built </a:t>
            </a:r>
          </a:p>
        </p:txBody>
      </p:sp>
      <p:sp>
        <p:nvSpPr>
          <p:cNvPr id="158726" name="Rectangle 6">
            <a:extLst>
              <a:ext uri="{FF2B5EF4-FFF2-40B4-BE49-F238E27FC236}">
                <a16:creationId xmlns="" xmlns:a16="http://schemas.microsoft.com/office/drawing/2014/main" id="{781BB667-0064-4217-AD2F-ABC825E17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5822" y="5050481"/>
            <a:ext cx="1905000" cy="781050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FFCCCC">
                <a:gamma/>
                <a:shade val="60000"/>
                <a:invGamma/>
              </a:srgbClr>
            </a:prstShdw>
          </a:effectLst>
        </p:spPr>
        <p:txBody>
          <a:bodyPr rIns="0">
            <a:spAutoFit/>
          </a:bodyPr>
          <a:lstStyle/>
          <a:p>
            <a:pPr marL="342900" indent="-342900">
              <a:lnSpc>
                <a:spcPct val="90000"/>
              </a:lnSpc>
              <a:buClr>
                <a:srgbClr val="006EB6"/>
              </a:buClr>
              <a:buSzPct val="40000"/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rPr>
              <a:t>Coding</a:t>
            </a:r>
          </a:p>
          <a:p>
            <a:pPr marL="342900" indent="-342900">
              <a:lnSpc>
                <a:spcPct val="90000"/>
              </a:lnSpc>
              <a:buClr>
                <a:srgbClr val="006EB6"/>
              </a:buClr>
              <a:buSzPct val="40000"/>
              <a:defRPr/>
            </a:pPr>
            <a:r>
              <a:rPr lang="en-US" sz="1600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rPr>
              <a:t>	Fill in the software structure with code</a:t>
            </a:r>
          </a:p>
        </p:txBody>
      </p:sp>
      <p:sp>
        <p:nvSpPr>
          <p:cNvPr id="158727" name="Rectangle 7">
            <a:extLst>
              <a:ext uri="{FF2B5EF4-FFF2-40B4-BE49-F238E27FC236}">
                <a16:creationId xmlns="" xmlns:a16="http://schemas.microsoft.com/office/drawing/2014/main" id="{87B80B92-ED9E-4318-84CA-4E4B019AE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971927"/>
            <a:ext cx="2743200" cy="1028700"/>
          </a:xfrm>
          <a:prstGeom prst="rect">
            <a:avLst/>
          </a:prstGeom>
          <a:solidFill>
            <a:srgbClr val="CCFF99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CCFF99">
                <a:gamma/>
                <a:shade val="60000"/>
                <a:invGamma/>
              </a:srgbClr>
            </a:prstShdw>
          </a:effectLst>
        </p:spPr>
        <p:txBody>
          <a:bodyPr rIns="0">
            <a:spAutoFit/>
          </a:bodyPr>
          <a:lstStyle/>
          <a:p>
            <a:pPr marL="342900" indent="-342900">
              <a:lnSpc>
                <a:spcPct val="90000"/>
              </a:lnSpc>
              <a:buClr>
                <a:srgbClr val="006EB6"/>
              </a:buClr>
              <a:buSzPct val="40000"/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rPr>
              <a:t>Testing</a:t>
            </a:r>
          </a:p>
          <a:p>
            <a:pPr marL="342900" indent="-342900">
              <a:lnSpc>
                <a:spcPct val="90000"/>
              </a:lnSpc>
              <a:buClr>
                <a:srgbClr val="006EB6"/>
              </a:buClr>
              <a:buSzPct val="40000"/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rPr>
              <a:t>	</a:t>
            </a:r>
            <a:r>
              <a:rPr lang="en-US" sz="1600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rPr>
              <a:t>Check that the code does what it is supposed to (functionality, performance, reliability, …)</a:t>
            </a:r>
          </a:p>
        </p:txBody>
      </p:sp>
      <p:sp>
        <p:nvSpPr>
          <p:cNvPr id="158729" name="Rectangle 9">
            <a:extLst>
              <a:ext uri="{FF2B5EF4-FFF2-40B4-BE49-F238E27FC236}">
                <a16:creationId xmlns="" xmlns:a16="http://schemas.microsoft.com/office/drawing/2014/main" id="{BD5FB784-3111-46AF-AB09-9847A7AB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582687"/>
            <a:ext cx="2362200" cy="822325"/>
          </a:xfrm>
          <a:prstGeom prst="rect">
            <a:avLst/>
          </a:prstGeom>
          <a:solidFill>
            <a:srgbClr val="1C1C1C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1C1C1C">
                <a:gamma/>
                <a:shade val="60000"/>
                <a:invGamma/>
              </a:srgbClr>
            </a:prstShdw>
          </a:effectLst>
        </p:spPr>
        <p:txBody>
          <a:bodyPr rIns="0"/>
          <a:lstStyle/>
          <a:p>
            <a:pPr marL="342900" indent="-342900">
              <a:lnSpc>
                <a:spcPct val="90000"/>
              </a:lnSpc>
              <a:buClr>
                <a:srgbClr val="006EB6"/>
              </a:buClr>
              <a:buSzPct val="40000"/>
              <a:defRPr/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Project Management</a:t>
            </a:r>
          </a:p>
          <a:p>
            <a:pPr marL="342900" indent="-342900">
              <a:lnSpc>
                <a:spcPct val="90000"/>
              </a:lnSpc>
              <a:buClr>
                <a:srgbClr val="006EB6"/>
              </a:buClr>
              <a:buSzPct val="40000"/>
              <a:defRPr/>
            </a:pPr>
            <a:r>
              <a:rPr lang="en-US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	</a:t>
            </a:r>
            <a:r>
              <a:rPr lang="en-US" sz="16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Devise a plan,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 </a:t>
            </a:r>
            <a:r>
              <a:rPr lang="en-US" sz="16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manage resources, costs, time,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292786D-CF0F-44DA-92FF-4CBCD68CE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Software Phases Related to Software Construction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49912E66-22AC-4D59-86A5-4ACE7DE34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r>
              <a:rPr lang="en-US" sz="1800" cap="none">
                <a:latin typeface="Times New Roman" pitchFamily="18" charset="0"/>
                <a:cs typeface="Times New Roman" pitchFamily="18" charset="0"/>
              </a:rPr>
              <a:t>COMSATS University Islamabad, Wah Campus</a:t>
            </a:r>
          </a:p>
          <a:p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FD7CEEAF-E1ED-47DA-B1AC-002052332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4635" y="1811725"/>
            <a:ext cx="8093765" cy="4573694"/>
          </a:xfrm>
          <a:prstGeom prst="ellipse">
            <a:avLst/>
          </a:prstGeom>
          <a:solidFill>
            <a:srgbClr val="FFFF66"/>
          </a:solidFill>
          <a:ln>
            <a:noFill/>
          </a:ln>
          <a:effectLst>
            <a:prstShdw prst="shdw17" dist="17961" dir="2700000">
              <a:srgbClr val="99993D"/>
            </a:prstShdw>
          </a:effectLst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400"/>
          </a:p>
        </p:txBody>
      </p:sp>
      <p:sp>
        <p:nvSpPr>
          <p:cNvPr id="12" name="Rectangle 5">
            <a:extLst>
              <a:ext uri="{FF2B5EF4-FFF2-40B4-BE49-F238E27FC236}">
                <a16:creationId xmlns="" xmlns:a16="http://schemas.microsoft.com/office/drawing/2014/main" id="{5FB5814F-5906-4492-956D-31E0C3AC8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9181" y="4536131"/>
            <a:ext cx="2514600" cy="1028700"/>
          </a:xfrm>
          <a:prstGeom prst="rect">
            <a:avLst/>
          </a:prstGeom>
          <a:solidFill>
            <a:srgbClr val="FFB445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FFB445">
                <a:gamma/>
                <a:shade val="60000"/>
                <a:invGamma/>
              </a:srgbClr>
            </a:prstShdw>
          </a:effectLst>
        </p:spPr>
        <p:txBody>
          <a:bodyPr rIns="0">
            <a:spAutoFit/>
          </a:bodyPr>
          <a:lstStyle/>
          <a:p>
            <a:pPr marL="342900" indent="-342900">
              <a:lnSpc>
                <a:spcPct val="90000"/>
              </a:lnSpc>
              <a:buClr>
                <a:srgbClr val="006EB6"/>
              </a:buClr>
              <a:buSzPct val="40000"/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rPr>
              <a:t>Design</a:t>
            </a:r>
          </a:p>
          <a:p>
            <a:pPr marL="342900" indent="-342900">
              <a:lnSpc>
                <a:spcPct val="90000"/>
              </a:lnSpc>
              <a:buClr>
                <a:srgbClr val="006EB6"/>
              </a:buClr>
              <a:buSzPct val="40000"/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rPr>
              <a:t>	</a:t>
            </a:r>
            <a:r>
              <a:rPr lang="en-US" sz="1600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rPr>
              <a:t>Create a software structure (architecture) around which code will be built 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="" xmlns:a16="http://schemas.microsoft.com/office/drawing/2014/main" id="{33EB6AEC-0A6E-46A3-9DF8-EC59D06C9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5822" y="5050481"/>
            <a:ext cx="1905000" cy="781050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FFCCCC">
                <a:gamma/>
                <a:shade val="60000"/>
                <a:invGamma/>
              </a:srgbClr>
            </a:prstShdw>
          </a:effectLst>
        </p:spPr>
        <p:txBody>
          <a:bodyPr rIns="0">
            <a:spAutoFit/>
          </a:bodyPr>
          <a:lstStyle/>
          <a:p>
            <a:pPr marL="342900" indent="-342900">
              <a:lnSpc>
                <a:spcPct val="90000"/>
              </a:lnSpc>
              <a:buClr>
                <a:srgbClr val="006EB6"/>
              </a:buClr>
              <a:buSzPct val="40000"/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rPr>
              <a:t>Coding</a:t>
            </a:r>
          </a:p>
          <a:p>
            <a:pPr marL="342900" indent="-342900">
              <a:lnSpc>
                <a:spcPct val="90000"/>
              </a:lnSpc>
              <a:buClr>
                <a:srgbClr val="006EB6"/>
              </a:buClr>
              <a:buSzPct val="40000"/>
              <a:defRPr/>
            </a:pPr>
            <a:r>
              <a:rPr lang="en-US" sz="1600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rPr>
              <a:t>	Fill in the software structure with code</a:t>
            </a:r>
          </a:p>
        </p:txBody>
      </p:sp>
      <p:sp>
        <p:nvSpPr>
          <p:cNvPr id="16" name="Rectangle 7">
            <a:extLst>
              <a:ext uri="{FF2B5EF4-FFF2-40B4-BE49-F238E27FC236}">
                <a16:creationId xmlns="" xmlns:a16="http://schemas.microsoft.com/office/drawing/2014/main" id="{514F5D0B-74C5-4480-8739-78EA06E27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4222" y="3260162"/>
            <a:ext cx="2743200" cy="1028700"/>
          </a:xfrm>
          <a:prstGeom prst="rect">
            <a:avLst/>
          </a:prstGeom>
          <a:solidFill>
            <a:srgbClr val="CCFF99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CCFF99">
                <a:gamma/>
                <a:shade val="60000"/>
                <a:invGamma/>
              </a:srgbClr>
            </a:prstShdw>
          </a:effectLst>
        </p:spPr>
        <p:txBody>
          <a:bodyPr rIns="0">
            <a:spAutoFit/>
          </a:bodyPr>
          <a:lstStyle/>
          <a:p>
            <a:pPr marL="342900" indent="-342900">
              <a:lnSpc>
                <a:spcPct val="90000"/>
              </a:lnSpc>
              <a:buClr>
                <a:srgbClr val="006EB6"/>
              </a:buClr>
              <a:buSzPct val="40000"/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rPr>
              <a:t>Testing</a:t>
            </a:r>
          </a:p>
          <a:p>
            <a:pPr marL="342900" indent="-342900">
              <a:lnSpc>
                <a:spcPct val="90000"/>
              </a:lnSpc>
              <a:buClr>
                <a:srgbClr val="006EB6"/>
              </a:buClr>
              <a:buSzPct val="40000"/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rPr>
              <a:t>	</a:t>
            </a:r>
            <a:r>
              <a:rPr lang="en-US" sz="1600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rPr>
              <a:t>Check that the code does what it is supposed to (functionality, performance, reliability, …)</a:t>
            </a:r>
          </a:p>
        </p:txBody>
      </p:sp>
    </p:spTree>
    <p:extLst>
      <p:ext uri="{BB962C8B-B14F-4D97-AF65-F5344CB8AC3E}">
        <p14:creationId xmlns:p14="http://schemas.microsoft.com/office/powerpoint/2010/main" val="304315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34BB329-167B-44FC-936F-F6A2C2F4D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81FEEBD-DC38-4699-97B6-E087656FE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Important non-construction activities include</a:t>
            </a:r>
          </a:p>
          <a:p>
            <a:pPr marL="280988" indent="-280988">
              <a:buFont typeface="Wingdings" panose="05000000000000000000" pitchFamily="2" charset="2"/>
              <a:buChar char="§"/>
              <a:tabLst>
                <a:tab pos="231775" algn="l"/>
              </a:tabLst>
            </a:pPr>
            <a:r>
              <a:rPr lang="en-US" dirty="0"/>
              <a:t>Management</a:t>
            </a:r>
          </a:p>
          <a:p>
            <a:pPr marL="280988" indent="-280988">
              <a:buFont typeface="Wingdings" panose="05000000000000000000" pitchFamily="2" charset="2"/>
              <a:buChar char="§"/>
              <a:tabLst>
                <a:tab pos="231775" algn="l"/>
              </a:tabLst>
            </a:pPr>
            <a:r>
              <a:rPr lang="en-US" dirty="0" smtClean="0"/>
              <a:t> Requirements development </a:t>
            </a:r>
          </a:p>
          <a:p>
            <a:pPr marL="280988" indent="-280988">
              <a:buFont typeface="Wingdings" panose="05000000000000000000" pitchFamily="2" charset="2"/>
              <a:buChar char="§"/>
              <a:tabLst>
                <a:tab pos="231775" algn="l"/>
              </a:tabLst>
            </a:pPr>
            <a:r>
              <a:rPr lang="en-US" dirty="0" smtClean="0"/>
              <a:t>Software architecture </a:t>
            </a:r>
          </a:p>
          <a:p>
            <a:pPr marL="280988" indent="-280988">
              <a:buFont typeface="Wingdings" panose="05000000000000000000" pitchFamily="2" charset="2"/>
              <a:buChar char="§"/>
              <a:tabLst>
                <a:tab pos="231775" algn="l"/>
              </a:tabLst>
            </a:pPr>
            <a:r>
              <a:rPr lang="en-US" dirty="0" smtClean="0"/>
              <a:t>User-interface </a:t>
            </a:r>
            <a:r>
              <a:rPr lang="en-US" dirty="0"/>
              <a:t>design</a:t>
            </a:r>
          </a:p>
          <a:p>
            <a:pPr marL="280988" indent="-280988">
              <a:buFont typeface="Wingdings" panose="05000000000000000000" pitchFamily="2" charset="2"/>
              <a:buChar char="§"/>
              <a:tabLst>
                <a:tab pos="231775" algn="l"/>
              </a:tabLst>
            </a:pPr>
            <a:r>
              <a:rPr lang="en-US" dirty="0"/>
              <a:t> System testing</a:t>
            </a:r>
          </a:p>
          <a:p>
            <a:pPr marL="280988" indent="-280988">
              <a:buFont typeface="Wingdings" panose="05000000000000000000" pitchFamily="2" charset="2"/>
              <a:buChar char="§"/>
              <a:tabLst>
                <a:tab pos="231775" algn="l"/>
              </a:tabLst>
            </a:pPr>
            <a:r>
              <a:rPr lang="en-US" dirty="0"/>
              <a:t>Maintenance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20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E6DB1EF-8CC8-4814-83F2-FEC2ED6EB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8EDDFD4-AFA6-43B7-9661-CFAA72E05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95429"/>
            <a:ext cx="10058400" cy="4023360"/>
          </a:xfrm>
        </p:spPr>
        <p:txBody>
          <a:bodyPr>
            <a:normAutofit/>
          </a:bodyPr>
          <a:lstStyle/>
          <a:p>
            <a:pPr marL="347663" indent="-347663">
              <a:buFont typeface="Wingdings" panose="05000000000000000000" pitchFamily="2" charset="2"/>
              <a:buChar char="§"/>
            </a:pPr>
            <a:r>
              <a:rPr lang="en-US" dirty="0"/>
              <a:t>Software construction is a fundamental aspect of software engineering.</a:t>
            </a:r>
          </a:p>
          <a:p>
            <a:pPr marL="347663" indent="-347663">
              <a:buFont typeface="Wingdings" panose="05000000000000000000" pitchFamily="2" charset="2"/>
              <a:buChar char="§"/>
            </a:pPr>
            <a:r>
              <a:rPr lang="en-US" dirty="0"/>
              <a:t>It involves the creation of functional software through coding, validation, and testing by programmers.</a:t>
            </a:r>
          </a:p>
          <a:p>
            <a:pPr marL="347663" indent="-347663">
              <a:buFont typeface="Wingdings" panose="05000000000000000000" pitchFamily="2" charset="2"/>
              <a:buChar char="§"/>
            </a:pPr>
            <a:r>
              <a:rPr lang="en-US" dirty="0"/>
              <a:t>Contrary to a simple translation of design into software, it delves into complex issues of software engineering.</a:t>
            </a:r>
          </a:p>
          <a:p>
            <a:pPr marL="347663" indent="-347663">
              <a:buFont typeface="Wingdings" panose="05000000000000000000" pitchFamily="2" charset="2"/>
              <a:buChar char="§"/>
            </a:pPr>
            <a:r>
              <a:rPr lang="en-US" dirty="0"/>
              <a:t>The process requires a meaningful dialogue between humans and computers, bridging the gap between human intent and computer execution.</a:t>
            </a:r>
          </a:p>
          <a:p>
            <a:pPr marL="347663" indent="-347663">
              <a:buFont typeface="Wingdings" panose="05000000000000000000" pitchFamily="2" charset="2"/>
              <a:buChar char="§"/>
            </a:pPr>
            <a:r>
              <a:rPr lang="en-US" dirty="0"/>
              <a:t>Each side contributes unique capabilities: computers offer reliability and speed, while humans bring creativity and problem-solving skills.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245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E0DFA5F-1A83-4294-BAD9-E63709CE3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891CA5D-1BCC-4C06-94DE-9A8177647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7663" indent="-347663">
              <a:buFont typeface="Wingdings" panose="05000000000000000000" pitchFamily="2" charset="2"/>
              <a:buChar char="§"/>
            </a:pPr>
            <a:r>
              <a:rPr lang="en-US" sz="2400" b="1" dirty="0"/>
              <a:t>Key aspects of Software Construction</a:t>
            </a:r>
          </a:p>
          <a:p>
            <a:pPr marL="347663" indent="-347663">
              <a:buFont typeface="Wingdings" panose="05000000000000000000" pitchFamily="2" charset="2"/>
              <a:buChar char="§"/>
            </a:pPr>
            <a:r>
              <a:rPr lang="en-US" dirty="0"/>
              <a:t>Software construction entails a dialogue between humans and computers.</a:t>
            </a:r>
          </a:p>
          <a:p>
            <a:pPr marL="347663" indent="-347663">
              <a:buFont typeface="Wingdings" panose="05000000000000000000" pitchFamily="2" charset="2"/>
              <a:buChar char="§"/>
            </a:pPr>
            <a:r>
              <a:rPr lang="en-US" dirty="0"/>
              <a:t>Humans must be logical, precise, and thorough in expressing their intentions.</a:t>
            </a:r>
          </a:p>
          <a:p>
            <a:pPr marL="347663" indent="-347663">
              <a:buFont typeface="Wingdings" panose="05000000000000000000" pitchFamily="2" charset="2"/>
              <a:buChar char="§"/>
            </a:pPr>
            <a:r>
              <a:rPr lang="en-US" dirty="0"/>
              <a:t>Computers, despite their limitations, provide reliability and speed in executing tasks.</a:t>
            </a:r>
          </a:p>
          <a:p>
            <a:pPr marL="347663" indent="-347663">
              <a:buFont typeface="Wingdings" panose="05000000000000000000" pitchFamily="2" charset="2"/>
              <a:buChar char="§"/>
            </a:pPr>
            <a:r>
              <a:rPr lang="en-US" dirty="0"/>
              <a:t>The symbiotic relationship between humans and computers in software construction results in the creation of meaningful and functional software.</a:t>
            </a:r>
          </a:p>
          <a:p>
            <a:pPr marL="347663" indent="-347663">
              <a:buFont typeface="Wingdings" panose="05000000000000000000" pitchFamily="2" charset="2"/>
              <a:buChar char="§"/>
            </a:pPr>
            <a:r>
              <a:rPr lang="en-US" dirty="0"/>
              <a:t>Successful software construction requires a balance between human creativity and computer precision.</a:t>
            </a:r>
          </a:p>
        </p:txBody>
      </p:sp>
    </p:spTree>
    <p:extLst>
      <p:ext uri="{BB962C8B-B14F-4D97-AF65-F5344CB8AC3E}">
        <p14:creationId xmlns:p14="http://schemas.microsoft.com/office/powerpoint/2010/main" val="3865130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C8A7227-F8F2-4331-B96F-027FA7F07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2B5E111-3435-461A-8DFD-9370FC477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74679"/>
          </a:xfrm>
        </p:spPr>
        <p:txBody>
          <a:bodyPr>
            <a:normAutofit fontScale="85000" lnSpcReduction="20000"/>
          </a:bodyPr>
          <a:lstStyle/>
          <a:p>
            <a:r>
              <a:rPr lang="en-US" sz="2600" b="1" dirty="0"/>
              <a:t>Some of the specific tasks involved in construction are:</a:t>
            </a:r>
          </a:p>
          <a:p>
            <a:pPr marL="280988" indent="-220663">
              <a:buFont typeface="Wingdings" panose="05000000000000000000" pitchFamily="2" charset="2"/>
              <a:buChar char="§"/>
            </a:pPr>
            <a:r>
              <a:rPr lang="en-US" sz="2300" dirty="0"/>
              <a:t>– Verifying that the groundwork has been laid so that construction can proceed successfully</a:t>
            </a:r>
          </a:p>
          <a:p>
            <a:pPr marL="280988" indent="-220663">
              <a:buFont typeface="Wingdings" panose="05000000000000000000" pitchFamily="2" charset="2"/>
              <a:buChar char="§"/>
            </a:pPr>
            <a:r>
              <a:rPr lang="en-US" sz="2300" dirty="0"/>
              <a:t>– Determining how your code will be tested</a:t>
            </a:r>
          </a:p>
          <a:p>
            <a:pPr marL="280988" indent="-220663">
              <a:buFont typeface="Wingdings" panose="05000000000000000000" pitchFamily="2" charset="2"/>
              <a:buChar char="§"/>
            </a:pPr>
            <a:r>
              <a:rPr lang="en-US" sz="2300" dirty="0"/>
              <a:t>– Designing and writing classes and routines</a:t>
            </a:r>
          </a:p>
          <a:p>
            <a:pPr marL="280988" indent="-220663">
              <a:buFont typeface="Wingdings" panose="05000000000000000000" pitchFamily="2" charset="2"/>
              <a:buChar char="§"/>
            </a:pPr>
            <a:r>
              <a:rPr lang="en-US" sz="2300" dirty="0"/>
              <a:t>– Creating and naming variables and named constants</a:t>
            </a:r>
          </a:p>
          <a:p>
            <a:pPr marL="280988" indent="-220663">
              <a:buFont typeface="Wingdings" panose="05000000000000000000" pitchFamily="2" charset="2"/>
              <a:buChar char="§"/>
            </a:pPr>
            <a:r>
              <a:rPr lang="en-US" sz="2300" dirty="0"/>
              <a:t>– Selecting control structures and organizing blocks of statements</a:t>
            </a:r>
          </a:p>
          <a:p>
            <a:pPr marL="280988" indent="-220663">
              <a:buFont typeface="Wingdings" panose="05000000000000000000" pitchFamily="2" charset="2"/>
              <a:buChar char="§"/>
            </a:pPr>
            <a:r>
              <a:rPr lang="en-US" sz="2300" dirty="0"/>
              <a:t>– Unit testing, integration testing, and debugging your own code</a:t>
            </a:r>
          </a:p>
          <a:p>
            <a:pPr marL="280988" indent="-220663">
              <a:buFont typeface="Wingdings" panose="05000000000000000000" pitchFamily="2" charset="2"/>
              <a:buChar char="§"/>
            </a:pPr>
            <a:r>
              <a:rPr lang="en-US" sz="2300" dirty="0"/>
              <a:t>– Reviewing other team members’ low-level designs and code and having them review yours</a:t>
            </a:r>
          </a:p>
          <a:p>
            <a:pPr marL="280988" indent="-220663">
              <a:buFont typeface="Wingdings" panose="05000000000000000000" pitchFamily="2" charset="2"/>
              <a:buChar char="§"/>
            </a:pPr>
            <a:r>
              <a:rPr lang="en-US" sz="2300" dirty="0"/>
              <a:t>– Polishing code by carefully formatting and commenting it</a:t>
            </a:r>
          </a:p>
          <a:p>
            <a:pPr marL="280988" indent="-220663">
              <a:buFont typeface="Wingdings" panose="05000000000000000000" pitchFamily="2" charset="2"/>
              <a:buChar char="§"/>
            </a:pPr>
            <a:r>
              <a:rPr lang="en-US" sz="2300" dirty="0"/>
              <a:t>– Integrating software components that were created separately</a:t>
            </a:r>
          </a:p>
          <a:p>
            <a:pPr marL="280988" indent="-220663">
              <a:buFont typeface="Wingdings" panose="05000000000000000000" pitchFamily="2" charset="2"/>
              <a:buChar char="§"/>
            </a:pPr>
            <a:r>
              <a:rPr lang="en-US" sz="2300" dirty="0"/>
              <a:t>– Tuning code to make it faster and use fewer resources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765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A48CC5-0199-4638-AAA2-A84912072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Significance of Software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BAFA24C-DB5C-4FFD-AE59-560FACBF9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85928"/>
            <a:ext cx="10058400" cy="4023360"/>
          </a:xfrm>
        </p:spPr>
        <p:txBody>
          <a:bodyPr>
            <a:normAutofit/>
          </a:bodyPr>
          <a:lstStyle/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dirty="0"/>
              <a:t>Construction is a large part of software development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dirty="0"/>
              <a:t>Construction is the central activity in software development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dirty="0"/>
              <a:t>With a focus on construction, the individual programmer’s productivity can improve enormously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dirty="0"/>
              <a:t>Construction’s product, the source code, is often the only accurate description of the software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dirty="0"/>
              <a:t>Construction is the only activity that’s guaranteed to be done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37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DAE4662-E8C1-45D5-8748-3A4E5A9F3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SWEBOK Guide (2004 Edition)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CE0D5F-FBAE-4C37-8B85-D7626C299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dirty="0"/>
              <a:t>SWEBOK stands for Software Engineering Body of Knowledge.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dirty="0"/>
              <a:t>The IEEE Computer Society has developed a Guide to the Software Engineering Body of Knowledge. 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dirty="0"/>
              <a:t>The guide represents an extraction of all of the generally accepted principles from the entire body of knowledge.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22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9D09019-E03F-401A-BC2E-2E5A31B28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SWEBOK Guide (2004 Edition)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AA5ACF6-9B44-4B2C-AD8A-1A68FB569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400" b="1" dirty="0"/>
              <a:t>The Guide to the SWEBOK contains 10 knowledge areas.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sz="2100" dirty="0"/>
              <a:t>Software requirements 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sz="2100" dirty="0"/>
              <a:t>Software design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sz="2100" dirty="0"/>
              <a:t>Software construction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sz="2100" dirty="0"/>
              <a:t>Software testing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sz="2100" dirty="0"/>
              <a:t>Software maintenance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sz="2100" dirty="0"/>
              <a:t>Software configuration management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sz="2100" dirty="0"/>
              <a:t>Software engineering management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sz="2100" dirty="0"/>
              <a:t>Software engineering process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sz="2100" dirty="0"/>
              <a:t>Software engineering tools and methods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sz="2100" dirty="0"/>
              <a:t>Software quality</a:t>
            </a:r>
          </a:p>
        </p:txBody>
      </p:sp>
    </p:spTree>
    <p:extLst>
      <p:ext uri="{BB962C8B-B14F-4D97-AF65-F5344CB8AC3E}">
        <p14:creationId xmlns:p14="http://schemas.microsoft.com/office/powerpoint/2010/main" val="4153645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ACA8B6-D7E0-452B-9CAB-B45F160C0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SWEBOK Guide (2004 Edition)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244F633-1FBF-43CF-B55B-A2FD0380E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Software construction is a software engineering discipline.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dirty="0"/>
              <a:t>It is the detailed creation of working meaningful software through a combination of coding, verification, unit testing, integration testing, and debugging.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dirty="0"/>
              <a:t>It is linked to all the other software engineering disciplines, most strongly to software design and software testing.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985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4DC6C9A-25D6-414F-ABB3-2D1A9E16C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Construction’s Links to other Knowledge Areas.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A52F184-6FBD-451C-B9A1-7C2BA990D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Software Construction and Software Design</a:t>
            </a:r>
          </a:p>
          <a:p>
            <a:pPr marL="347663" indent="-347663">
              <a:buFont typeface="Wingdings" panose="05000000000000000000" pitchFamily="2" charset="2"/>
              <a:buChar char="§"/>
            </a:pPr>
            <a:r>
              <a:rPr lang="en-US" dirty="0"/>
              <a:t>Software design and construction are closely intertwined processes in software engineering.</a:t>
            </a:r>
          </a:p>
          <a:p>
            <a:pPr marL="347663" indent="-347663">
              <a:buFont typeface="Wingdings" panose="05000000000000000000" pitchFamily="2" charset="2"/>
              <a:buChar char="§"/>
            </a:pPr>
            <a:r>
              <a:rPr lang="en-US" dirty="0"/>
              <a:t>Design analyzes requirements and structures the system, setting the stage for construction.</a:t>
            </a:r>
          </a:p>
          <a:p>
            <a:pPr marL="347663" indent="-347663">
              <a:buFont typeface="Wingdings" panose="05000000000000000000" pitchFamily="2" charset="2"/>
              <a:buChar char="§"/>
            </a:pPr>
            <a:r>
              <a:rPr lang="en-US" dirty="0"/>
              <a:t>Construction begins when the design breaks down the problem into manageable parts.</a:t>
            </a:r>
          </a:p>
          <a:p>
            <a:pPr marL="347663" indent="-347663">
              <a:buFont typeface="Wingdings" panose="05000000000000000000" pitchFamily="2" charset="2"/>
              <a:buChar char="§"/>
            </a:pPr>
            <a:r>
              <a:rPr lang="en-US" dirty="0"/>
              <a:t>The distinction between design and construction is often blurred, influenced by project scale and complexity.</a:t>
            </a:r>
          </a:p>
          <a:p>
            <a:pPr marL="347663" indent="-347663">
              <a:buFont typeface="Wingdings" panose="05000000000000000000" pitchFamily="2" charset="2"/>
              <a:buChar char="§"/>
            </a:pPr>
            <a:r>
              <a:rPr lang="en-US" dirty="0"/>
              <a:t>Both activities require sophisticated problem-solving skills, with design focusing on partitioning and construction on solution implementation.</a:t>
            </a:r>
          </a:p>
          <a:p>
            <a:pPr marL="347663" indent="-347663">
              <a:buFont typeface="Wingdings" panose="05000000000000000000" pitchFamily="2" charset="2"/>
              <a:buChar char="§"/>
            </a:pPr>
            <a:r>
              <a:rPr lang="en-US" dirty="0"/>
              <a:t>Automation of well-defined construction tasks allows engineers to tackle more complex challenges effectively.</a:t>
            </a:r>
          </a:p>
        </p:txBody>
      </p:sp>
    </p:spTree>
    <p:extLst>
      <p:ext uri="{BB962C8B-B14F-4D97-AF65-F5344CB8AC3E}">
        <p14:creationId xmlns:p14="http://schemas.microsoft.com/office/powerpoint/2010/main" val="2746064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F280E02-27F0-40B2-8D12-35AF34080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Construction’s Links to other Knowledge Areas.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1516FC-08EF-432B-A328-29C4AA144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60325" indent="0">
              <a:buNone/>
            </a:pPr>
            <a:r>
              <a:rPr lang="en-US" sz="2200" b="1" dirty="0"/>
              <a:t>The Relationship between Tools and Software Construction</a:t>
            </a:r>
          </a:p>
          <a:p>
            <a:pPr marL="457200" indent="-396875">
              <a:buFont typeface="Wingdings" panose="05000000000000000000" pitchFamily="2" charset="2"/>
              <a:buChar char="§"/>
            </a:pPr>
            <a:r>
              <a:rPr lang="en-US" dirty="0"/>
              <a:t>In software engineering, tools are hardware or software devices supporting various processes.</a:t>
            </a:r>
          </a:p>
          <a:p>
            <a:pPr marL="457200" indent="-396875">
              <a:buFont typeface="Wingdings" panose="05000000000000000000" pitchFamily="2" charset="2"/>
              <a:buChar char="§"/>
            </a:pPr>
            <a:r>
              <a:rPr lang="en-US" dirty="0"/>
              <a:t>An effective tool significantly improves productivity and/or quality.</a:t>
            </a:r>
          </a:p>
          <a:p>
            <a:pPr marL="457200" indent="-396875">
              <a:buFont typeface="Wingdings" panose="05000000000000000000" pitchFamily="2" charset="2"/>
              <a:buChar char="§"/>
            </a:pPr>
            <a:r>
              <a:rPr lang="en-US" dirty="0"/>
              <a:t>Software construction tools are software-based tools used primarily within the construction process.</a:t>
            </a:r>
          </a:p>
          <a:p>
            <a:pPr marL="457200" indent="-396875">
              <a:buFont typeface="Wingdings" panose="05000000000000000000" pitchFamily="2" charset="2"/>
              <a:buChar char="§"/>
            </a:pPr>
            <a:r>
              <a:rPr lang="en-US" b="1" dirty="0"/>
              <a:t>Examples</a:t>
            </a:r>
            <a:r>
              <a:rPr lang="en-US" dirty="0"/>
              <a:t> include compilers, version control systems, debuggers, code generators, specialized editors, and testing tools.</a:t>
            </a:r>
          </a:p>
          <a:p>
            <a:pPr marL="457200" indent="-396875">
              <a:buFont typeface="Wingdings" panose="05000000000000000000" pitchFamily="2" charset="2"/>
              <a:buChar char="§"/>
            </a:pPr>
            <a:r>
              <a:rPr lang="en-US" dirty="0"/>
              <a:t>These tools </a:t>
            </a:r>
            <a:r>
              <a:rPr lang="en-US" b="1" dirty="0"/>
              <a:t>bridge the gap between computer efficiency and human creativity</a:t>
            </a:r>
            <a:r>
              <a:rPr lang="en-US" dirty="0"/>
              <a:t>, facilitating expression of ideas while enforcing rigor.</a:t>
            </a:r>
          </a:p>
          <a:p>
            <a:pPr marL="457200" indent="-396875">
              <a:buFont typeface="Wingdings" panose="05000000000000000000" pitchFamily="2" charset="2"/>
              <a:buChar char="§"/>
            </a:pPr>
            <a:r>
              <a:rPr lang="en-US" dirty="0"/>
              <a:t>They enhance software quality by allowing individuals to avoid repetitive or precise tasks better suited for computers.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525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919A73-76E3-40AA-ABC4-E2FCC8E01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Construction’s Links to other Knowledge Areas.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BAC9951-A672-4C1B-8638-921D007DB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300" b="1" dirty="0"/>
              <a:t>Integrated Evaluation in Software Construction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dirty="0"/>
              <a:t>Evaluation of software products is a crucial theme in software engineering, encompassing peer code review, testing, quality assurance, and measures.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dirty="0"/>
              <a:t>Integrated evaluation ensures continuous or periodic internal checks within the development process to maintain correctness.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dirty="0"/>
              <a:t>Product evaluations include design reviews, module compilations, and unit tests, while process-level evaluations involve periodic reassessment of development artifacts.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dirty="0"/>
              <a:t>Integrated evaluation in software engineering is not as advanced as in hardware engineering, where self-test logic and error recovery are built into components.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dirty="0"/>
              <a:t>Historically, software construction has often lacked sufficient evaluation, with developers sometimes omitting necessary checks due to overconfidence.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dirty="0"/>
              <a:t>Automated, semi-automated, and manual evaluation methods are available for software construction, including unit testing, compile-time checks, run-time checks, code reviews, and measurement tools.</a:t>
            </a:r>
          </a:p>
          <a:p>
            <a:pPr marL="280988" indent="-280988">
              <a:buFont typeface="Wingdings" panose="05000000000000000000" pitchFamily="2" charset="2"/>
              <a:buChar char="§"/>
            </a:pPr>
            <a:r>
              <a:rPr lang="en-US" dirty="0"/>
              <a:t>Measurement tools are particularly useful during the integration of large software suites, ensuring collected measurements are relevant to the development process goals</a:t>
            </a:r>
          </a:p>
        </p:txBody>
      </p:sp>
    </p:spTree>
    <p:extLst>
      <p:ext uri="{BB962C8B-B14F-4D97-AF65-F5344CB8AC3E}">
        <p14:creationId xmlns:p14="http://schemas.microsoft.com/office/powerpoint/2010/main" val="3877445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615160E-D47B-4835-8608-1EFC6FB12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Construction’s Links to other Knowledge Areas.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832E0A2-5842-4860-B26C-194E1C4B5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Importance of Standards in Software Construction</a:t>
            </a:r>
          </a:p>
          <a:p>
            <a:pPr marL="339725" indent="-339725">
              <a:buFont typeface="Wingdings" panose="05000000000000000000" pitchFamily="2" charset="2"/>
              <a:buChar char="§"/>
            </a:pPr>
            <a:r>
              <a:rPr lang="en-US" dirty="0"/>
              <a:t>Successful communication relies on a common language, and standards serve as agreements that facilitate this shared understanding within a community of users.</a:t>
            </a:r>
          </a:p>
          <a:p>
            <a:pPr marL="339725" indent="-339725">
              <a:buFont typeface="Wingdings" panose="05000000000000000000" pitchFamily="2" charset="2"/>
              <a:buChar char="§"/>
            </a:pPr>
            <a:r>
              <a:rPr lang="en-US" dirty="0"/>
              <a:t>Standards, whether selected by customers or organizations, integrate concepts and technologies into a broader language for effective communication.</a:t>
            </a:r>
          </a:p>
          <a:p>
            <a:pPr marL="339725" indent="-339725">
              <a:buFont typeface="Wingdings" panose="05000000000000000000" pitchFamily="2" charset="2"/>
              <a:buChar char="§"/>
            </a:pPr>
            <a:r>
              <a:rPr lang="en-US" dirty="0"/>
              <a:t>Project managers should consider incorporating additional standards tailored to the project's specific characteristics to enhance efficiency and interoperability.</a:t>
            </a:r>
          </a:p>
          <a:p>
            <a:pPr marL="339725" indent="-339725">
              <a:buFont typeface="Wingdings" panose="05000000000000000000" pitchFamily="2" charset="2"/>
              <a:buChar char="§"/>
            </a:pPr>
            <a:r>
              <a:rPr lang="en-US" dirty="0"/>
              <a:t>Software construction is particularly influenced by standard selection, impacting critical aspects such as programming languages, databases, communication methods, platforms, and tools.</a:t>
            </a:r>
          </a:p>
          <a:p>
            <a:pPr marL="339725" indent="-339725">
              <a:buFont typeface="Wingdings" panose="05000000000000000000" pitchFamily="2" charset="2"/>
              <a:buChar char="§"/>
            </a:pPr>
            <a:r>
              <a:rPr lang="en-US" dirty="0"/>
              <a:t>While standards are often chosen before construction begins, it's essential for the overall software development process to account for construction needs when selecting standards.</a:t>
            </a:r>
          </a:p>
        </p:txBody>
      </p:sp>
    </p:spTree>
    <p:extLst>
      <p:ext uri="{BB962C8B-B14F-4D97-AF65-F5344CB8AC3E}">
        <p14:creationId xmlns:p14="http://schemas.microsoft.com/office/powerpoint/2010/main" val="102787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D23028F-E676-47AB-8FFD-F52AB5462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Construction’s Links to other Knowledge Areas.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9B3F107-7094-4FED-9EC5-677380450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17475" indent="0">
              <a:buNone/>
            </a:pPr>
            <a:r>
              <a:rPr lang="en-US" sz="2400" b="1" dirty="0"/>
              <a:t>Construction Languages</a:t>
            </a:r>
          </a:p>
          <a:p>
            <a:pPr marL="457200" indent="-339725">
              <a:buFont typeface="Wingdings" panose="05000000000000000000" pitchFamily="2" charset="2"/>
              <a:buChar char="§"/>
            </a:pPr>
            <a:r>
              <a:rPr lang="en-US" sz="2100" b="1" dirty="0"/>
              <a:t>Definition: </a:t>
            </a:r>
            <a:r>
              <a:rPr lang="en-US" dirty="0"/>
              <a:t>Construction languages encompass all forms of communication enabling humans to specify executable problem solutions to computers.</a:t>
            </a:r>
          </a:p>
          <a:p>
            <a:pPr marL="457200" indent="-339725">
              <a:buFont typeface="Wingdings" panose="05000000000000000000" pitchFamily="2" charset="2"/>
              <a:buChar char="§"/>
            </a:pPr>
            <a:r>
              <a:rPr lang="en-US" b="1" dirty="0"/>
              <a:t>Configuration Languages: </a:t>
            </a:r>
            <a:r>
              <a:rPr lang="en-US" dirty="0"/>
              <a:t>Simplest form where developers select from predefined options to create new or custom software installations.</a:t>
            </a:r>
          </a:p>
          <a:p>
            <a:pPr marL="457200" indent="-339725">
              <a:buFont typeface="Wingdings" panose="05000000000000000000" pitchFamily="2" charset="2"/>
              <a:buChar char="§"/>
            </a:pPr>
            <a:r>
              <a:rPr lang="en-US" b="1" dirty="0"/>
              <a:t>Example: </a:t>
            </a:r>
            <a:r>
              <a:rPr lang="en-US" dirty="0"/>
              <a:t>Text-based configuration files in Windows and Unix operating systems.</a:t>
            </a:r>
          </a:p>
          <a:p>
            <a:pPr marL="457200" indent="-339725">
              <a:buFont typeface="Wingdings" panose="05000000000000000000" pitchFamily="2" charset="2"/>
              <a:buChar char="§"/>
            </a:pPr>
            <a:r>
              <a:rPr lang="en-US" b="1" dirty="0"/>
              <a:t>Toolkit Languages: </a:t>
            </a:r>
            <a:r>
              <a:rPr lang="en-US" dirty="0"/>
              <a:t>Utilized for building applications from toolkits, consisting of reusable parts.</a:t>
            </a:r>
          </a:p>
          <a:p>
            <a:pPr marL="457200" indent="-339725">
              <a:buFont typeface="Wingdings" panose="05000000000000000000" pitchFamily="2" charset="2"/>
              <a:buChar char="§"/>
            </a:pPr>
            <a:r>
              <a:rPr lang="en-US" b="1" dirty="0"/>
              <a:t>Example: </a:t>
            </a:r>
            <a:r>
              <a:rPr lang="en-US" dirty="0"/>
              <a:t>Application programming languages (e.g., scripts) or implied by toolkit interfaces.</a:t>
            </a:r>
          </a:p>
          <a:p>
            <a:pPr marL="457200" indent="-339725">
              <a:buFont typeface="Wingdings" panose="05000000000000000000" pitchFamily="2" charset="2"/>
              <a:buChar char="§"/>
            </a:pPr>
            <a:r>
              <a:rPr lang="en-US" b="1" dirty="0"/>
              <a:t>Programming Languages: </a:t>
            </a:r>
            <a:r>
              <a:rPr lang="en-US" dirty="0"/>
              <a:t>Most flexible construction languages requiring extensive training and skill.</a:t>
            </a:r>
          </a:p>
          <a:p>
            <a:pPr marL="457200" indent="-339725">
              <a:buFont typeface="Wingdings" panose="05000000000000000000" pitchFamily="2" charset="2"/>
              <a:buChar char="§"/>
            </a:pPr>
            <a:r>
              <a:rPr lang="en-US" dirty="0"/>
              <a:t>Implications: Each type of construction language offers varying levels of complexity and flexibility, impacting development processes differently.</a:t>
            </a:r>
          </a:p>
        </p:txBody>
      </p:sp>
    </p:spTree>
    <p:extLst>
      <p:ext uri="{BB962C8B-B14F-4D97-AF65-F5344CB8AC3E}">
        <p14:creationId xmlns:p14="http://schemas.microsoft.com/office/powerpoint/2010/main" val="321018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C4A9BD-AD6D-496A-A5C9-BE8306CC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Construction’s Links to other Knowledge Areas.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EA55B8D-49BB-4FFF-8116-8E4CB85C0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8738" indent="0">
              <a:buNone/>
            </a:pPr>
            <a:r>
              <a:rPr lang="en-US" sz="2400" b="1" dirty="0"/>
              <a:t>Programming Languages in Software Construction</a:t>
            </a:r>
          </a:p>
          <a:p>
            <a:pPr marL="398463" indent="-339725">
              <a:buFont typeface="Wingdings" panose="05000000000000000000" pitchFamily="2" charset="2"/>
              <a:buChar char="§"/>
            </a:pPr>
            <a:r>
              <a:rPr lang="en-US" dirty="0"/>
              <a:t>Software construction aims to communicate intent unambiguously between humans and computers, with programming languages serving as the interface between the two.</a:t>
            </a:r>
          </a:p>
          <a:p>
            <a:pPr marL="398463" indent="-339725">
              <a:buFont typeface="Wingdings" panose="05000000000000000000" pitchFamily="2" charset="2"/>
              <a:buChar char="§"/>
            </a:pPr>
            <a:r>
              <a:rPr lang="en-US" dirty="0"/>
              <a:t>Unlike natural languages, programming languages are more literal and lack the contextual understanding of the natural world.</a:t>
            </a:r>
          </a:p>
          <a:p>
            <a:pPr marL="398463" indent="-339725">
              <a:buFont typeface="Wingdings" panose="05000000000000000000" pitchFamily="2" charset="2"/>
              <a:buChar char="§"/>
            </a:pPr>
            <a:r>
              <a:rPr lang="en-US" dirty="0"/>
              <a:t>Programming languages enable precise expression of instructions and commands that computers can understand and execute.</a:t>
            </a:r>
          </a:p>
          <a:p>
            <a:pPr marL="398463" indent="-339725">
              <a:buFont typeface="Wingdings" panose="05000000000000000000" pitchFamily="2" charset="2"/>
              <a:buChar char="§"/>
            </a:pPr>
            <a:r>
              <a:rPr lang="en-US" dirty="0"/>
              <a:t>Depending on the application domain, specialized, domain-specific languages like </a:t>
            </a:r>
            <a:r>
              <a:rPr lang="en-US" dirty="0" err="1"/>
              <a:t>PhP</a:t>
            </a:r>
            <a:r>
              <a:rPr lang="en-US" dirty="0"/>
              <a:t>, Python, SQL, may be developed or utilized to meet specific requirements</a:t>
            </a:r>
          </a:p>
        </p:txBody>
      </p:sp>
    </p:spTree>
    <p:extLst>
      <p:ext uri="{BB962C8B-B14F-4D97-AF65-F5344CB8AC3E}">
        <p14:creationId xmlns:p14="http://schemas.microsoft.com/office/powerpoint/2010/main" val="58165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D02E274-18BE-48FC-9715-AE62FA777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Manual and Automated Construction: </a:t>
            </a:r>
            <a:br>
              <a:rPr lang="en-US" dirty="0"/>
            </a:br>
            <a:r>
              <a:rPr lang="en-US" dirty="0"/>
              <a:t>The Spectrum of Construction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2383D99-AB0F-4913-ACFE-E62229008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98463" indent="-339725">
              <a:buFont typeface="Wingdings" panose="05000000000000000000" pitchFamily="2" charset="2"/>
              <a:buChar char="§"/>
            </a:pPr>
            <a:r>
              <a:rPr lang="en-US" sz="2600" b="1" dirty="0"/>
              <a:t>Manual Construction:</a:t>
            </a:r>
          </a:p>
          <a:p>
            <a:pPr marL="398463" indent="-339725">
              <a:buFont typeface="Wingdings" panose="05000000000000000000" pitchFamily="2" charset="2"/>
              <a:buChar char="§"/>
            </a:pPr>
            <a:r>
              <a:rPr lang="en-US" dirty="0"/>
              <a:t>Manual construction involves solving complex problems using a language that computers can execute.</a:t>
            </a:r>
          </a:p>
          <a:p>
            <a:pPr marL="398463" indent="-339725">
              <a:buFont typeface="Wingdings" panose="05000000000000000000" pitchFamily="2" charset="2"/>
              <a:buChar char="§"/>
            </a:pPr>
            <a:r>
              <a:rPr lang="en-US" dirty="0"/>
              <a:t>Practitioners of manual construction require a diverse skill set, including problem decomposition, formal analysis, and forecasting changes over time.</a:t>
            </a:r>
          </a:p>
          <a:p>
            <a:pPr marL="398463" indent="-339725">
              <a:buFont typeface="Wingdings" panose="05000000000000000000" pitchFamily="2" charset="2"/>
              <a:buChar char="§"/>
            </a:pPr>
            <a:r>
              <a:rPr lang="en-US" dirty="0"/>
              <a:t>Expert manual constructors leverage advanced logical skills within dynamic environments such as computers or networks.</a:t>
            </a:r>
          </a:p>
          <a:p>
            <a:pPr marL="398463" indent="-339725">
              <a:buFont typeface="Wingdings" panose="05000000000000000000" pitchFamily="2" charset="2"/>
              <a:buChar char="§"/>
            </a:pPr>
            <a:r>
              <a:rPr lang="en-US" dirty="0"/>
              <a:t>While coding in a programming language is a component of manual construction, it's not the sole definition.</a:t>
            </a:r>
          </a:p>
          <a:p>
            <a:pPr marL="398463" indent="-339725">
              <a:buFont typeface="Wingdings" panose="05000000000000000000" pitchFamily="2" charset="2"/>
              <a:buChar char="§"/>
            </a:pPr>
            <a:r>
              <a:rPr lang="en-US" dirty="0"/>
              <a:t>Effective manual construction results in code that processes data accurately, handles errors effectively, runs efficiently, and is structured for resilience and adaptability.</a:t>
            </a:r>
          </a:p>
          <a:p>
            <a:pPr marL="398463" indent="-339725">
              <a:buFont typeface="Wingdings" panose="05000000000000000000" pitchFamily="2" charset="2"/>
              <a:buChar char="§"/>
            </a:pPr>
            <a:r>
              <a:rPr lang="en-US" dirty="0"/>
              <a:t>Inadequate manual construction may lead to code resembling an unprofessional painting, lacking critical details and poorly stitched together.</a:t>
            </a:r>
          </a:p>
        </p:txBody>
      </p:sp>
    </p:spTree>
    <p:extLst>
      <p:ext uri="{BB962C8B-B14F-4D97-AF65-F5344CB8AC3E}">
        <p14:creationId xmlns:p14="http://schemas.microsoft.com/office/powerpoint/2010/main" val="2356612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4FC858-71AB-480D-8756-71DAFC9F0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Manual and Automated Construction: </a:t>
            </a:r>
            <a:br>
              <a:rPr lang="en-US" dirty="0"/>
            </a:br>
            <a:r>
              <a:rPr lang="en-US" dirty="0"/>
              <a:t>The Spectrum of Construction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B2190BF-0E25-4947-92D3-28C72EA34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39725" indent="-339725">
              <a:buFont typeface="Wingdings" panose="05000000000000000000" pitchFamily="2" charset="2"/>
              <a:buChar char="§"/>
            </a:pPr>
            <a:r>
              <a:rPr lang="en-US" sz="2400" b="1" dirty="0"/>
              <a:t>Automated Construction</a:t>
            </a:r>
          </a:p>
          <a:p>
            <a:pPr marL="339725" indent="-339725">
              <a:buFont typeface="Wingdings" panose="05000000000000000000" pitchFamily="2" charset="2"/>
              <a:buChar char="§"/>
            </a:pPr>
            <a:r>
              <a:rPr lang="en-US" dirty="0"/>
              <a:t>Automated construction refers to software construction where overall coordination is primarily handled by automated tools or environments.</a:t>
            </a:r>
          </a:p>
          <a:p>
            <a:pPr marL="339725" indent="-339725">
              <a:buFont typeface="Wingdings" panose="05000000000000000000" pitchFamily="2" charset="2"/>
              <a:buChar char="§"/>
            </a:pPr>
            <a:r>
              <a:rPr lang="en-US" dirty="0"/>
              <a:t>While complete automation of software construction is not feasible, the control of the construction process can be largely automated, shifting coordination from people to computers.</a:t>
            </a:r>
          </a:p>
          <a:p>
            <a:pPr marL="339725" indent="-339725">
              <a:buFont typeface="Wingdings" panose="05000000000000000000" pitchFamily="2" charset="2"/>
              <a:buChar char="§"/>
            </a:pPr>
            <a:r>
              <a:rPr lang="en-US" dirty="0"/>
              <a:t>This automation impacts the complexity of the construction process by breaking human contributions into smaller, more manageable chunks.</a:t>
            </a:r>
          </a:p>
          <a:p>
            <a:pPr marL="339725" indent="-339725">
              <a:buFont typeface="Wingdings" panose="05000000000000000000" pitchFamily="2" charset="2"/>
              <a:buChar char="§"/>
            </a:pPr>
            <a:r>
              <a:rPr lang="en-US" dirty="0"/>
              <a:t>Automated construction emphasizes reuse, leveraging existing software solutions effectively by limiting human options.</a:t>
            </a:r>
          </a:p>
          <a:p>
            <a:pPr marL="339725" indent="-339725">
              <a:buFont typeface="Wingdings" panose="05000000000000000000" pitchFamily="2" charset="2"/>
              <a:buChar char="§"/>
            </a:pPr>
            <a:r>
              <a:rPr lang="en-US" dirty="0"/>
              <a:t>However, automated construction may not always result in lower costs, as the initial setup costs for the machinery may outweigh the savings from its use.</a:t>
            </a:r>
          </a:p>
        </p:txBody>
      </p:sp>
    </p:spTree>
    <p:extLst>
      <p:ext uri="{BB962C8B-B14F-4D97-AF65-F5344CB8AC3E}">
        <p14:creationId xmlns:p14="http://schemas.microsoft.com/office/powerpoint/2010/main" val="48385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E6C9F1-2DE0-4681-B0E5-7F411E192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Towards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3BCC945-C7CB-432D-8928-91D05D777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39725" indent="-339725">
              <a:buFont typeface="Wingdings" panose="05000000000000000000" pitchFamily="2" charset="2"/>
              <a:buChar char="§"/>
            </a:pPr>
            <a:r>
              <a:rPr lang="en-US" b="1" dirty="0"/>
              <a:t>Objective: </a:t>
            </a:r>
            <a:r>
              <a:rPr lang="en-US" dirty="0"/>
              <a:t>Advance construction processes towards higher levels of automation.</a:t>
            </a:r>
          </a:p>
          <a:p>
            <a:pPr marL="339725" indent="-339725">
              <a:buFont typeface="Wingdings" panose="05000000000000000000" pitchFamily="2" charset="2"/>
              <a:buChar char="§"/>
            </a:pPr>
            <a:r>
              <a:rPr lang="en-US" b="1" dirty="0"/>
              <a:t>Goal: </a:t>
            </a:r>
            <a:r>
              <a:rPr lang="en-US" dirty="0"/>
              <a:t>Simplify software systems to the extent that selecting from a simple set of options is sufficient for operation.</a:t>
            </a:r>
          </a:p>
          <a:p>
            <a:pPr marL="339725" indent="-339725">
              <a:buFont typeface="Wingdings" panose="05000000000000000000" pitchFamily="2" charset="2"/>
              <a:buChar char="§"/>
            </a:pPr>
            <a:r>
              <a:rPr lang="en-US" b="1" dirty="0"/>
              <a:t>Implications: </a:t>
            </a:r>
            <a:r>
              <a:rPr lang="en-US" dirty="0"/>
              <a:t>Enhance accessibility, safety, and reliability by minimizing opportunities for error.</a:t>
            </a:r>
          </a:p>
          <a:p>
            <a:pPr marL="339725" indent="-339725">
              <a:buFont typeface="Wingdings" panose="05000000000000000000" pitchFamily="2" charset="2"/>
              <a:buChar char="§"/>
            </a:pPr>
            <a:r>
              <a:rPr lang="en-US" b="1" dirty="0"/>
              <a:t>Scope of Automation</a:t>
            </a:r>
            <a:r>
              <a:rPr lang="en-US" dirty="0"/>
              <a:t>: Automation goal is evident across all aspects of software development.</a:t>
            </a:r>
          </a:p>
          <a:p>
            <a:pPr marL="339725" indent="-339725">
              <a:buFont typeface="Wingdings" panose="05000000000000000000" pitchFamily="2" charset="2"/>
              <a:buChar char="§"/>
            </a:pPr>
            <a:r>
              <a:rPr lang="en-US" dirty="0"/>
              <a:t>Examples:</a:t>
            </a:r>
          </a:p>
          <a:p>
            <a:pPr marL="339725" indent="-339725">
              <a:buFont typeface="Wingdings" panose="05000000000000000000" pitchFamily="2" charset="2"/>
              <a:buChar char="§"/>
            </a:pPr>
            <a:r>
              <a:rPr lang="en-US" dirty="0"/>
              <a:t>Application-specific toolkits offer a degree of control beyond basic selections.</a:t>
            </a:r>
          </a:p>
          <a:p>
            <a:pPr marL="339725" indent="-339725">
              <a:buFont typeface="Wingdings" panose="05000000000000000000" pitchFamily="2" charset="2"/>
              <a:buChar char="§"/>
            </a:pPr>
            <a:r>
              <a:rPr lang="en-US" dirty="0"/>
              <a:t>Coding techniques and programming practices reflect automation principles.</a:t>
            </a:r>
          </a:p>
          <a:p>
            <a:pPr marL="632333" lvl="1" indent="-339725">
              <a:buFont typeface="Wingdings" panose="05000000000000000000" pitchFamily="2" charset="2"/>
              <a:buChar char="§"/>
            </a:pPr>
            <a:r>
              <a:rPr lang="en-US" dirty="0"/>
              <a:t>Defining constants automates value insertion during program modifications.</a:t>
            </a:r>
          </a:p>
          <a:p>
            <a:pPr marL="632333" lvl="1" indent="-339725">
              <a:buFont typeface="Wingdings" panose="05000000000000000000" pitchFamily="2" charset="2"/>
              <a:buChar char="§"/>
            </a:pPr>
            <a:r>
              <a:rPr lang="en-US" dirty="0"/>
              <a:t>Class inheritance in object-oriented programming automates method conveyance into new or derived classes.</a:t>
            </a:r>
          </a:p>
          <a:p>
            <a:pPr marL="339725" indent="-339725">
              <a:buFont typeface="Wingdings" panose="05000000000000000000" pitchFamily="2" charset="2"/>
              <a:buChar char="§"/>
            </a:pPr>
            <a:r>
              <a:rPr lang="en-US" dirty="0"/>
              <a:t>Benefits: Streamline development processes, foster reliability, and optimize system performance.</a:t>
            </a:r>
          </a:p>
        </p:txBody>
      </p:sp>
    </p:spTree>
    <p:extLst>
      <p:ext uri="{BB962C8B-B14F-4D97-AF65-F5344CB8AC3E}">
        <p14:creationId xmlns:p14="http://schemas.microsoft.com/office/powerpoint/2010/main" val="1737860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Quality Attributes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793" y="2132934"/>
            <a:ext cx="9533446" cy="321591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r>
              <a:rPr lang="en-US" sz="1800" cap="none" smtClean="0">
                <a:latin typeface="Times New Roman" pitchFamily="18" charset="0"/>
                <a:cs typeface="Times New Roman" pitchFamily="18" charset="0"/>
              </a:rPr>
              <a:t>SED, UET Taxila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45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Software Quality Attributes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149" y="1910409"/>
            <a:ext cx="10257387" cy="3614902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r>
              <a:rPr lang="en-US" sz="1800" cap="none" smtClean="0">
                <a:latin typeface="Times New Roman" pitchFamily="18" charset="0"/>
                <a:cs typeface="Times New Roman" pitchFamily="18" charset="0"/>
              </a:rPr>
              <a:t>SED, UET Taxila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121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</TotalTime>
  <Words>1848</Words>
  <Application>Microsoft Office PowerPoint</Application>
  <PresentationFormat>Widescreen</PresentationFormat>
  <Paragraphs>193</Paragraphs>
  <Slides>26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 Narrow</vt:lpstr>
      <vt:lpstr>Calibri</vt:lpstr>
      <vt:lpstr>Calibri Light</vt:lpstr>
      <vt:lpstr>Helvetica</vt:lpstr>
      <vt:lpstr>Times New Roman</vt:lpstr>
      <vt:lpstr>Wingdings</vt:lpstr>
      <vt:lpstr>Retrospect</vt:lpstr>
      <vt:lpstr>Software Construction &amp; Development</vt:lpstr>
      <vt:lpstr>Course Outline</vt:lpstr>
      <vt:lpstr>Grading Criteria</vt:lpstr>
      <vt:lpstr>Software Processes</vt:lpstr>
      <vt:lpstr>Software Construction</vt:lpstr>
      <vt:lpstr>Software Development Phases</vt:lpstr>
      <vt:lpstr> Software Phases Related to Software Construction</vt:lpstr>
      <vt:lpstr>Software Construction</vt:lpstr>
      <vt:lpstr>Software Construction</vt:lpstr>
      <vt:lpstr>Software Construction</vt:lpstr>
      <vt:lpstr>Software Construction</vt:lpstr>
      <vt:lpstr>Significance of Software Construction</vt:lpstr>
      <vt:lpstr>SWEBOK Guide (2004 Edition)</vt:lpstr>
      <vt:lpstr>SWEBOK Guide (2004 Edition)</vt:lpstr>
      <vt:lpstr>SWEBOK Guide (2004 Edition) </vt:lpstr>
      <vt:lpstr>Software Construction’s Links to other Knowledge Areas. </vt:lpstr>
      <vt:lpstr>Software Construction’s Links to other Knowledge Areas. </vt:lpstr>
      <vt:lpstr>Software Construction’s Links to other Knowledge Areas. </vt:lpstr>
      <vt:lpstr>Software Construction’s Links to other Knowledge Areas. </vt:lpstr>
      <vt:lpstr>Software Construction’s Links to other Knowledge Areas. </vt:lpstr>
      <vt:lpstr>Software Construction’s Links to other Knowledge Areas. </vt:lpstr>
      <vt:lpstr>Manual and Automated Construction:  The Spectrum of Construction Techniques</vt:lpstr>
      <vt:lpstr>Manual and Automated Construction:  The Spectrum of Construction Techniques</vt:lpstr>
      <vt:lpstr>Moving Towards Automation</vt:lpstr>
      <vt:lpstr>Software Quality Attributes</vt:lpstr>
      <vt:lpstr>Software Quality Attributes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Construction and Development</dc:title>
  <dc:creator>Maria Batool</dc:creator>
  <cp:lastModifiedBy>Microsoft account</cp:lastModifiedBy>
  <cp:revision>32</cp:revision>
  <dcterms:created xsi:type="dcterms:W3CDTF">2024-02-12T09:27:10Z</dcterms:created>
  <dcterms:modified xsi:type="dcterms:W3CDTF">2026-01-28T13:56:57Z</dcterms:modified>
</cp:coreProperties>
</file>