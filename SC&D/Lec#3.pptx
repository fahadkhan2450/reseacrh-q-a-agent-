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499" r:id="rId2"/>
    <p:sldId id="462" r:id="rId3"/>
    <p:sldId id="463" r:id="rId4"/>
    <p:sldId id="464" r:id="rId5"/>
    <p:sldId id="465" r:id="rId6"/>
    <p:sldId id="466" r:id="rId7"/>
    <p:sldId id="500" r:id="rId8"/>
    <p:sldId id="501" r:id="rId9"/>
    <p:sldId id="487" r:id="rId10"/>
    <p:sldId id="478" r:id="rId11"/>
    <p:sldId id="470" r:id="rId12"/>
    <p:sldId id="467" r:id="rId13"/>
    <p:sldId id="469" r:id="rId14"/>
    <p:sldId id="472" r:id="rId15"/>
    <p:sldId id="468" r:id="rId16"/>
    <p:sldId id="473" r:id="rId17"/>
    <p:sldId id="495" r:id="rId18"/>
    <p:sldId id="496" r:id="rId19"/>
    <p:sldId id="474" r:id="rId20"/>
    <p:sldId id="477" r:id="rId21"/>
    <p:sldId id="488" r:id="rId22"/>
    <p:sldId id="489" r:id="rId23"/>
    <p:sldId id="479" r:id="rId24"/>
    <p:sldId id="480" r:id="rId25"/>
    <p:sldId id="490" r:id="rId26"/>
    <p:sldId id="491" r:id="rId27"/>
    <p:sldId id="492" r:id="rId28"/>
    <p:sldId id="493" r:id="rId29"/>
    <p:sldId id="494" r:id="rId30"/>
    <p:sldId id="486" r:id="rId31"/>
    <p:sldId id="502" r:id="rId32"/>
    <p:sldId id="503" r:id="rId33"/>
    <p:sldId id="504" r:id="rId34"/>
    <p:sldId id="505" r:id="rId35"/>
    <p:sldId id="506" r:id="rId36"/>
    <p:sldId id="507" r:id="rId37"/>
    <p:sldId id="49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18DEA9-7CA1-4A1A-92C5-8326BC3190D2}">
          <p14:sldIdLst>
            <p14:sldId id="499"/>
            <p14:sldId id="462"/>
            <p14:sldId id="463"/>
            <p14:sldId id="464"/>
            <p14:sldId id="465"/>
            <p14:sldId id="466"/>
            <p14:sldId id="500"/>
            <p14:sldId id="501"/>
            <p14:sldId id="487"/>
            <p14:sldId id="478"/>
            <p14:sldId id="470"/>
            <p14:sldId id="467"/>
            <p14:sldId id="469"/>
            <p14:sldId id="472"/>
            <p14:sldId id="468"/>
            <p14:sldId id="473"/>
            <p14:sldId id="495"/>
            <p14:sldId id="496"/>
            <p14:sldId id="474"/>
            <p14:sldId id="477"/>
            <p14:sldId id="488"/>
            <p14:sldId id="489"/>
            <p14:sldId id="479"/>
            <p14:sldId id="480"/>
            <p14:sldId id="490"/>
            <p14:sldId id="491"/>
            <p14:sldId id="492"/>
            <p14:sldId id="493"/>
            <p14:sldId id="494"/>
            <p14:sldId id="486"/>
            <p14:sldId id="502"/>
            <p14:sldId id="503"/>
            <p14:sldId id="504"/>
            <p14:sldId id="505"/>
            <p14:sldId id="506"/>
            <p14:sldId id="507"/>
            <p14:sldId id="49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0416" autoAdjust="0"/>
  </p:normalViewPr>
  <p:slideViewPr>
    <p:cSldViewPr snapToGrid="0">
      <p:cViewPr varScale="1">
        <p:scale>
          <a:sx n="79" d="100"/>
          <a:sy n="79" d="100"/>
        </p:scale>
        <p:origin x="773"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40F543-996E-4C04-BA92-4A6226A39079}"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11986E-0B3A-4003-B9F8-DCB60AA49808}" type="slidenum">
              <a:rPr lang="en-US" smtClean="0"/>
              <a:t>‹#›</a:t>
            </a:fld>
            <a:endParaRPr lang="en-US"/>
          </a:p>
        </p:txBody>
      </p:sp>
    </p:spTree>
    <p:extLst>
      <p:ext uri="{BB962C8B-B14F-4D97-AF65-F5344CB8AC3E}">
        <p14:creationId xmlns:p14="http://schemas.microsoft.com/office/powerpoint/2010/main" val="3254213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11986E-0B3A-4003-B9F8-DCB60AA49808}" type="slidenum">
              <a:rPr lang="en-US" smtClean="0"/>
              <a:t>18</a:t>
            </a:fld>
            <a:endParaRPr lang="en-US"/>
          </a:p>
        </p:txBody>
      </p:sp>
    </p:spTree>
    <p:extLst>
      <p:ext uri="{BB962C8B-B14F-4D97-AF65-F5344CB8AC3E}">
        <p14:creationId xmlns:p14="http://schemas.microsoft.com/office/powerpoint/2010/main" val="1819549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11986E-0B3A-4003-B9F8-DCB60AA49808}" type="slidenum">
              <a:rPr lang="en-US" smtClean="0"/>
              <a:t>23</a:t>
            </a:fld>
            <a:endParaRPr lang="en-US"/>
          </a:p>
        </p:txBody>
      </p:sp>
    </p:spTree>
    <p:extLst>
      <p:ext uri="{BB962C8B-B14F-4D97-AF65-F5344CB8AC3E}">
        <p14:creationId xmlns:p14="http://schemas.microsoft.com/office/powerpoint/2010/main" val="2637003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0B596F-9ACE-421A-8895-958F67F0321B}" type="datetime1">
              <a:rPr lang="en-US" smtClean="0"/>
              <a:t>2/13/2026</a:t>
            </a:fld>
            <a:endParaRPr lang="en-US"/>
          </a:p>
        </p:txBody>
      </p:sp>
      <p:sp>
        <p:nvSpPr>
          <p:cNvPr id="6" name="Slide Number Placeholder 5"/>
          <p:cNvSpPr>
            <a:spLocks noGrp="1"/>
          </p:cNvSpPr>
          <p:nvPr>
            <p:ph type="sldNum" sz="quarter" idx="12"/>
          </p:nvPr>
        </p:nvSpPr>
        <p:spPr>
          <a:xfrm>
            <a:off x="17610368" y="1061427"/>
            <a:ext cx="73096" cy="60027"/>
          </a:xfrm>
        </p:spPr>
        <p:txBody>
          <a:bodyPr/>
          <a:lstStyle/>
          <a:p>
            <a:fld id="{45D9D398-7DEE-42C1-AE4D-1C8CB494F7CD}"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39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18D63-D848-4794-B716-0C8B57CDD5F5}" type="datetime1">
              <a:rPr lang="en-US" smtClean="0"/>
              <a:t>2/13/2026</a:t>
            </a:fld>
            <a:endParaRPr lang="en-US"/>
          </a:p>
        </p:txBody>
      </p:sp>
      <p:sp>
        <p:nvSpPr>
          <p:cNvPr id="6" name="Slide Number Placeholder 5"/>
          <p:cNvSpPr>
            <a:spLocks noGrp="1"/>
          </p:cNvSpPr>
          <p:nvPr>
            <p:ph type="sldNum" sz="quarter" idx="12"/>
          </p:nvPr>
        </p:nvSpPr>
        <p:spPr>
          <a:xfrm>
            <a:off x="17780998" y="6768987"/>
            <a:ext cx="100916" cy="52650"/>
          </a:xfrm>
        </p:spPr>
        <p:txBody>
          <a:bodyPr/>
          <a:lstStyle/>
          <a:p>
            <a:fld id="{45D9D398-7DEE-42C1-AE4D-1C8CB494F7CD}" type="slidenum">
              <a:rPr lang="en-US" smtClean="0"/>
              <a:t>‹#›</a:t>
            </a:fld>
            <a:endParaRPr lang="en-US"/>
          </a:p>
        </p:txBody>
      </p:sp>
      <p:sp>
        <p:nvSpPr>
          <p:cNvPr id="8" name="Rectangle 7">
            <a:extLst>
              <a:ext uri="{FF2B5EF4-FFF2-40B4-BE49-F238E27FC236}">
                <a16:creationId xmlns="" xmlns:a16="http://schemas.microsoft.com/office/drawing/2014/main" id="{CEE5960D-F5EB-4BD5-AE37-3EC25A85273E}"/>
              </a:ext>
            </a:extLst>
          </p:cNvPr>
          <p:cNvSpPr/>
          <p:nvPr userDrawn="1"/>
        </p:nvSpPr>
        <p:spPr>
          <a:xfrm>
            <a:off x="30480" y="1737360"/>
            <a:ext cx="12192000" cy="57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15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2014058"/>
          </a:xfrm>
        </p:spPr>
        <p:txBody>
          <a:bodyPr anchor="b" anchorCtr="0">
            <a:normAutofit/>
          </a:bodyPr>
          <a:lstStyle>
            <a:lvl1pPr algn="ct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2831995"/>
            <a:ext cx="10058400" cy="3469231"/>
          </a:xfrm>
        </p:spPr>
        <p:txBody>
          <a:bodyPr lIns="91440" rIns="91440" anchor="t" anchorCtr="0">
            <a:normAutofit/>
          </a:bodyPr>
          <a:lstStyle>
            <a:lvl1pPr marL="0" indent="0" algn="ct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a:p>
            <a:pPr lvl="0"/>
            <a:endParaRPr lang="en-US" dirty="0"/>
          </a:p>
          <a:p>
            <a:pPr lvl="0"/>
            <a:endParaRPr lang="en-US" dirty="0"/>
          </a:p>
          <a:p>
            <a:pPr lvl="0"/>
            <a:endParaRPr lang="en-US" dirty="0"/>
          </a:p>
          <a:p>
            <a:pPr lvl="0"/>
            <a:r>
              <a:rPr lang="en-US" dirty="0"/>
              <a:t>Comsats Institute Of Information Technology </a:t>
            </a:r>
          </a:p>
          <a:p>
            <a:pPr lvl="0"/>
            <a:r>
              <a:rPr lang="en-US" dirty="0"/>
              <a:t>Islamabad Pakistan</a:t>
            </a:r>
          </a:p>
        </p:txBody>
      </p:sp>
      <p:sp>
        <p:nvSpPr>
          <p:cNvPr id="4" name="Date Placeholder 3"/>
          <p:cNvSpPr>
            <a:spLocks noGrp="1"/>
          </p:cNvSpPr>
          <p:nvPr>
            <p:ph type="dt" sz="half" idx="10"/>
          </p:nvPr>
        </p:nvSpPr>
        <p:spPr/>
        <p:txBody>
          <a:bodyPr/>
          <a:lstStyle/>
          <a:p>
            <a:fld id="{DE5127AA-101C-4389-B0A1-245512DFAFDE}" type="datetime1">
              <a:rPr lang="en-US" smtClean="0"/>
              <a:t>2/13/2026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1350158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27B5B6-B544-437B-94B5-21C0D70C1150}" type="datetime1">
              <a:rPr lang="en-US" smtClean="0"/>
              <a:t>2/13/2026</a:t>
            </a:fld>
            <a:endParaRPr lang="en-US"/>
          </a:p>
        </p:txBody>
      </p:sp>
      <p:sp>
        <p:nvSpPr>
          <p:cNvPr id="7" name="Slide Number Placeholder 6"/>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82752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52B694-2CAE-4232-B132-966CF9BB78E0}" type="datetime1">
              <a:rPr lang="en-US" smtClean="0"/>
              <a:t>2/13/2026</a:t>
            </a:fld>
            <a:endParaRPr lang="en-US"/>
          </a:p>
        </p:txBody>
      </p:sp>
      <p:sp>
        <p:nvSpPr>
          <p:cNvPr id="8" name="Footer Placeholder 7"/>
          <p:cNvSpPr>
            <a:spLocks noGrp="1"/>
          </p:cNvSpPr>
          <p:nvPr>
            <p:ph type="ftr" sz="quarter" idx="11"/>
          </p:nvPr>
        </p:nvSpPr>
        <p:spPr/>
        <p:txBody>
          <a:bodyPr/>
          <a:lstStyle/>
          <a:p>
            <a:r>
              <a:rPr lang="en-US" dirty="0" smtClean="0"/>
              <a:t>CMSATS </a:t>
            </a:r>
            <a:r>
              <a:rPr lang="en-US" dirty="0"/>
              <a:t>University Islamabad, </a:t>
            </a:r>
            <a:r>
              <a:rPr lang="en-US" dirty="0" err="1"/>
              <a:t>Wah</a:t>
            </a:r>
            <a:r>
              <a:rPr lang="en-US" dirty="0"/>
              <a:t> Campus </a:t>
            </a:r>
          </a:p>
        </p:txBody>
      </p:sp>
      <p:sp>
        <p:nvSpPr>
          <p:cNvPr id="9" name="Slide Number Placeholder 8"/>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1770239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667EF-0DC7-4F4D-B30B-99B5F675AD91}" type="datetime1">
              <a:rPr lang="en-US" smtClean="0"/>
              <a:t>2/13/2026</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pPr defTabSz="914400"/>
            <a:r>
              <a:rPr lang="en-US" sz="1800" cap="none" dirty="0">
                <a:latin typeface="Times New Roman" pitchFamily="18" charset="0"/>
                <a:cs typeface="Times New Roman" pitchFamily="18" charset="0"/>
              </a:rPr>
              <a:t>COMSATS University Islamabad, Wah Campus</a:t>
            </a:r>
          </a:p>
          <a:p>
            <a:endParaRPr lang="en-US" dirty="0"/>
          </a:p>
        </p:txBody>
      </p:sp>
      <p:sp>
        <p:nvSpPr>
          <p:cNvPr id="5" name="Slide Number Placeholder 4"/>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574583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0BDE44-FA80-4D53-8C98-938C5711FE51}" type="datetime1">
              <a:rPr lang="en-US" smtClean="0"/>
              <a:t>2/13/2026</a:t>
            </a:fld>
            <a:endParaRPr lang="en-US"/>
          </a:p>
        </p:txBody>
      </p:sp>
      <p:sp>
        <p:nvSpPr>
          <p:cNvPr id="8" name="Footer Placeholder 7"/>
          <p:cNvSpPr>
            <a:spLocks noGrp="1"/>
          </p:cNvSpPr>
          <p:nvPr>
            <p:ph type="ftr" sz="quarter" idx="11"/>
          </p:nvPr>
        </p:nvSpPr>
        <p:spPr/>
        <p:txBody>
          <a:bodyPr/>
          <a:lstStyle>
            <a:lvl1pPr>
              <a:defRPr>
                <a:solidFill>
                  <a:schemeClr val="bg1"/>
                </a:solidFill>
              </a:defRPr>
            </a:lvl1pPr>
          </a:lstStyle>
          <a:p>
            <a:pPr defTabSz="914400"/>
            <a:r>
              <a:rPr lang="en-US" sz="1800" cap="none" dirty="0">
                <a:latin typeface="Times New Roman" pitchFamily="18" charset="0"/>
                <a:cs typeface="Times New Roman" pitchFamily="18" charset="0"/>
              </a:rPr>
              <a:t>COMSATS University Islamabad, Wah Campus</a:t>
            </a:r>
          </a:p>
          <a:p>
            <a:endParaRPr lang="en-US" dirty="0"/>
          </a:p>
        </p:txBody>
      </p:sp>
      <p:sp>
        <p:nvSpPr>
          <p:cNvPr id="9" name="Slide Number Placeholder 8"/>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59222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8D35285-2EF4-4F19-A263-14AC9EF51C5C}" type="datetime1">
              <a:rPr lang="en-US" smtClean="0"/>
              <a:t>2/13/2026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COMSATS University Islamabad, Wah Campus </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5D9D398-7DEE-42C1-AE4D-1C8CB494F7CD}" type="slidenum">
              <a:rPr lang="en-US" smtClean="0"/>
              <a:t>‹#›</a:t>
            </a:fld>
            <a:endParaRPr lang="en-US"/>
          </a:p>
        </p:txBody>
      </p:sp>
    </p:spTree>
    <p:extLst>
      <p:ext uri="{BB962C8B-B14F-4D97-AF65-F5344CB8AC3E}">
        <p14:creationId xmlns:p14="http://schemas.microsoft.com/office/powerpoint/2010/main" val="382295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8E7D42-B348-46B2-8A21-F1924C2439B3}" type="datetime1">
              <a:rPr lang="en-US" smtClean="0"/>
              <a:t>2/13/2026</a:t>
            </a:fld>
            <a:endParaRPr lang="en-US"/>
          </a:p>
        </p:txBody>
      </p:sp>
      <p:sp>
        <p:nvSpPr>
          <p:cNvPr id="6" name="Footer Placeholder 5"/>
          <p:cNvSpPr>
            <a:spLocks noGrp="1"/>
          </p:cNvSpPr>
          <p:nvPr>
            <p:ph type="ftr" sz="quarter" idx="11"/>
          </p:nvPr>
        </p:nvSpPr>
        <p:spPr/>
        <p:txBody>
          <a:bodyPr/>
          <a:lstStyle/>
          <a:p>
            <a:r>
              <a:rPr lang="en-US"/>
              <a:t>COMSATS University Islamabad, Wah Campus </a:t>
            </a:r>
          </a:p>
        </p:txBody>
      </p:sp>
      <p:sp>
        <p:nvSpPr>
          <p:cNvPr id="7" name="Slide Number Placeholder 6"/>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2033859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4BFB30-5F3D-49CF-9FE6-4EC750B6DEA7}" type="datetime1">
              <a:rPr lang="en-US" smtClean="0"/>
              <a:t>2/13/2026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165711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DE4B3C-2229-4753-918E-5B2AB2F806D2}" type="datetime1">
              <a:rPr lang="en-US" smtClean="0"/>
              <a:t>2/13/2026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151873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503212-F5B8-4803-8A87-F27DA8223FC6}" type="datetime1">
              <a:rPr lang="en-US" smtClean="0"/>
              <a:t>2/13/2026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COMSATS University Islamabad, Wah Campus </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5D9D398-7DEE-42C1-AE4D-1C8CB494F7C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2982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Software Construction &amp; Development</a:t>
            </a:r>
            <a:endParaRPr lang="en-GB" dirty="0"/>
          </a:p>
        </p:txBody>
      </p:sp>
      <p:sp>
        <p:nvSpPr>
          <p:cNvPr id="3" name="Subtitle 2"/>
          <p:cNvSpPr>
            <a:spLocks noGrp="1"/>
          </p:cNvSpPr>
          <p:nvPr>
            <p:ph type="subTitle" idx="1"/>
          </p:nvPr>
        </p:nvSpPr>
        <p:spPr/>
        <p:txBody>
          <a:bodyPr/>
          <a:lstStyle/>
          <a:p>
            <a:r>
              <a:rPr lang="en-GB" dirty="0" smtClean="0"/>
              <a:t>Course Instructor: DR. Marriam </a:t>
            </a:r>
            <a:r>
              <a:rPr lang="en-GB" dirty="0" err="1" smtClean="0"/>
              <a:t>nawaz</a:t>
            </a:r>
            <a:endParaRPr lang="en-GB" dirty="0" smtClean="0"/>
          </a:p>
          <a:p>
            <a:r>
              <a:rPr lang="en-GB" dirty="0" smtClean="0"/>
              <a:t>Lecture: </a:t>
            </a:r>
            <a:r>
              <a:rPr lang="en-GB" dirty="0"/>
              <a:t>0</a:t>
            </a:r>
            <a:r>
              <a:rPr lang="en-GB" dirty="0" smtClean="0"/>
              <a:t>3</a:t>
            </a:r>
            <a:endParaRPr lang="en-GB" dirty="0"/>
          </a:p>
        </p:txBody>
      </p:sp>
    </p:spTree>
    <p:extLst>
      <p:ext uri="{BB962C8B-B14F-4D97-AF65-F5344CB8AC3E}">
        <p14:creationId xmlns:p14="http://schemas.microsoft.com/office/powerpoint/2010/main" val="59016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B8AF4A-56AF-480F-B5F8-CEC638015797}"/>
              </a:ext>
            </a:extLst>
          </p:cNvPr>
          <p:cNvSpPr>
            <a:spLocks noGrp="1"/>
          </p:cNvSpPr>
          <p:nvPr>
            <p:ph type="title"/>
          </p:nvPr>
        </p:nvSpPr>
        <p:spPr/>
        <p:txBody>
          <a:bodyPr/>
          <a:lstStyle/>
          <a:p>
            <a:r>
              <a:rPr lang="en-US" altLang="en-US" dirty="0">
                <a:latin typeface="Helvetica" panose="020B0604020202020204" pitchFamily="34" charset="0"/>
                <a:cs typeface="Helvetica" panose="020B0604020202020204" pitchFamily="34" charset="0"/>
              </a:rPr>
              <a:t>Fundamentals of Software Construction</a:t>
            </a:r>
            <a:endParaRPr lang="en-US" dirty="0"/>
          </a:p>
        </p:txBody>
      </p:sp>
      <p:sp>
        <p:nvSpPr>
          <p:cNvPr id="3" name="Content Placeholder 2"/>
          <p:cNvSpPr>
            <a:spLocks noGrp="1"/>
          </p:cNvSpPr>
          <p:nvPr>
            <p:ph idx="1"/>
          </p:nvPr>
        </p:nvSpPr>
        <p:spPr/>
        <p:txBody>
          <a:bodyPr/>
          <a:lstStyle/>
          <a:p>
            <a:pPr marL="342900" lvl="0" indent="-342900" algn="just">
              <a:lnSpc>
                <a:spcPct val="100000"/>
              </a:lnSpc>
              <a:spcBef>
                <a:spcPct val="20000"/>
              </a:spcBef>
              <a:spcAft>
                <a:spcPts val="0"/>
              </a:spcAft>
              <a:buClrTx/>
              <a:buSzTx/>
              <a:buFont typeface="Arial" panose="020B0604020202020204" pitchFamily="34" charset="0"/>
              <a:buChar char="•"/>
            </a:pPr>
            <a:r>
              <a:rPr lang="en-US" sz="3200" dirty="0">
                <a:solidFill>
                  <a:prstClr val="black"/>
                </a:solidFill>
              </a:rPr>
              <a:t>According to the SWEBOK CH#3, the basic fundamentals of Software construction are</a:t>
            </a:r>
          </a:p>
          <a:p>
            <a:pPr marL="742950" lvl="1" indent="-285750" algn="just">
              <a:lnSpc>
                <a:spcPct val="100000"/>
              </a:lnSpc>
              <a:spcBef>
                <a:spcPct val="20000"/>
              </a:spcBef>
              <a:spcAft>
                <a:spcPts val="0"/>
              </a:spcAft>
              <a:buClrTx/>
              <a:buFont typeface="Arial" panose="020B0604020202020204" pitchFamily="34" charset="0"/>
              <a:buChar char="–"/>
            </a:pPr>
            <a:r>
              <a:rPr lang="en-US" sz="2800" dirty="0">
                <a:solidFill>
                  <a:prstClr val="black"/>
                </a:solidFill>
              </a:rPr>
              <a:t>Minimizing Complexity</a:t>
            </a:r>
          </a:p>
          <a:p>
            <a:pPr marL="742950" lvl="1" indent="-285750" algn="just">
              <a:lnSpc>
                <a:spcPct val="100000"/>
              </a:lnSpc>
              <a:spcBef>
                <a:spcPct val="20000"/>
              </a:spcBef>
              <a:spcAft>
                <a:spcPts val="0"/>
              </a:spcAft>
              <a:buClrTx/>
              <a:buFont typeface="Arial" panose="020B0604020202020204" pitchFamily="34" charset="0"/>
              <a:buChar char="–"/>
            </a:pPr>
            <a:r>
              <a:rPr lang="en-US" sz="2800" dirty="0">
                <a:solidFill>
                  <a:prstClr val="black"/>
                </a:solidFill>
              </a:rPr>
              <a:t>Anticipating Change</a:t>
            </a:r>
          </a:p>
          <a:p>
            <a:pPr marL="742950" lvl="1" indent="-285750" algn="just">
              <a:lnSpc>
                <a:spcPct val="100000"/>
              </a:lnSpc>
              <a:spcBef>
                <a:spcPct val="20000"/>
              </a:spcBef>
              <a:spcAft>
                <a:spcPts val="0"/>
              </a:spcAft>
              <a:buClrTx/>
              <a:buFont typeface="Arial" panose="020B0604020202020204" pitchFamily="34" charset="0"/>
              <a:buChar char="–"/>
            </a:pPr>
            <a:r>
              <a:rPr lang="en-US" sz="2800" dirty="0">
                <a:solidFill>
                  <a:prstClr val="black"/>
                </a:solidFill>
              </a:rPr>
              <a:t>Constructing for Verification</a:t>
            </a:r>
          </a:p>
          <a:p>
            <a:pPr marL="742950" lvl="1" indent="-285750" algn="just">
              <a:lnSpc>
                <a:spcPct val="100000"/>
              </a:lnSpc>
              <a:spcBef>
                <a:spcPct val="20000"/>
              </a:spcBef>
              <a:spcAft>
                <a:spcPts val="0"/>
              </a:spcAft>
              <a:buClrTx/>
              <a:buFont typeface="Arial" panose="020B0604020202020204" pitchFamily="34" charset="0"/>
              <a:buChar char="–"/>
            </a:pPr>
            <a:r>
              <a:rPr lang="en-US" sz="2800" dirty="0">
                <a:solidFill>
                  <a:prstClr val="black"/>
                </a:solidFill>
              </a:rPr>
              <a:t>Reuse</a:t>
            </a:r>
          </a:p>
          <a:p>
            <a:pPr marL="742950" lvl="1" indent="-285750" algn="just">
              <a:lnSpc>
                <a:spcPct val="100000"/>
              </a:lnSpc>
              <a:spcBef>
                <a:spcPct val="20000"/>
              </a:spcBef>
              <a:spcAft>
                <a:spcPts val="0"/>
              </a:spcAft>
              <a:buClrTx/>
              <a:buFont typeface="Arial" panose="020B0604020202020204" pitchFamily="34" charset="0"/>
              <a:buChar char="–"/>
            </a:pPr>
            <a:r>
              <a:rPr lang="en-US" sz="2800" dirty="0">
                <a:solidFill>
                  <a:prstClr val="black"/>
                </a:solidFill>
              </a:rPr>
              <a:t>Standards in Verification</a:t>
            </a:r>
          </a:p>
          <a:p>
            <a:endParaRPr lang="en-US" dirty="0"/>
          </a:p>
        </p:txBody>
      </p:sp>
    </p:spTree>
    <p:extLst>
      <p:ext uri="{BB962C8B-B14F-4D97-AF65-F5344CB8AC3E}">
        <p14:creationId xmlns:p14="http://schemas.microsoft.com/office/powerpoint/2010/main" val="3744872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8A6D53-B04E-4DD6-B9C7-96294F9C250D}"/>
              </a:ext>
            </a:extLst>
          </p:cNvPr>
          <p:cNvSpPr>
            <a:spLocks noGrp="1"/>
          </p:cNvSpPr>
          <p:nvPr>
            <p:ph type="title"/>
          </p:nvPr>
        </p:nvSpPr>
        <p:spPr/>
        <p:txBody>
          <a:bodyPr/>
          <a:lstStyle/>
          <a:p>
            <a:r>
              <a:rPr lang="en-US" dirty="0"/>
              <a:t>Minimizing Complexity</a:t>
            </a:r>
          </a:p>
        </p:txBody>
      </p:sp>
      <p:sp>
        <p:nvSpPr>
          <p:cNvPr id="3" name="Content Placeholder 2">
            <a:extLst>
              <a:ext uri="{FF2B5EF4-FFF2-40B4-BE49-F238E27FC236}">
                <a16:creationId xmlns="" xmlns:a16="http://schemas.microsoft.com/office/drawing/2014/main" id="{47075CEA-8DB5-443C-8926-9FD46A3815BA}"/>
              </a:ext>
            </a:extLst>
          </p:cNvPr>
          <p:cNvSpPr>
            <a:spLocks noGrp="1"/>
          </p:cNvSpPr>
          <p:nvPr>
            <p:ph idx="1"/>
          </p:nvPr>
        </p:nvSpPr>
        <p:spPr>
          <a:xfrm>
            <a:off x="1097280" y="1737360"/>
            <a:ext cx="11094720" cy="4023360"/>
          </a:xfrm>
        </p:spPr>
        <p:txBody>
          <a:bodyPr>
            <a:noAutofit/>
          </a:bodyPr>
          <a:lstStyle/>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Humans are severely limited in our ability to hold complex information in our working memories</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 So minimizing complexity is one of the strongest drivers in software</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 construction</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Need to reduce complexity throughout the lifecycle</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As functionality increases, so does complexity</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Accomplished through use of standards</a:t>
            </a:r>
          </a:p>
          <a:p>
            <a:pPr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Examples:</a:t>
            </a:r>
          </a:p>
          <a:p>
            <a:pPr marL="800100" lvl="1" indent="-342900" eaLnBrk="0" fontAlgn="base" hangingPunct="0">
              <a:lnSpc>
                <a:spcPct val="100000"/>
              </a:lnSpc>
              <a:spcBef>
                <a:spcPct val="10000"/>
              </a:spcBef>
              <a:spcAft>
                <a:spcPct val="0"/>
              </a:spcAft>
              <a:buClrTx/>
              <a:buFont typeface="Wingdings" panose="05000000000000000000" pitchFamily="2" charset="2"/>
              <a:buChar char="§"/>
            </a:pPr>
            <a:r>
              <a:rPr lang="en-US" altLang="en-US" sz="2000" dirty="0">
                <a:solidFill>
                  <a:srgbClr val="000000"/>
                </a:solidFill>
                <a:latin typeface="Helvetica"/>
              </a:rPr>
              <a:t>J2EE for complex, distributed Java applications</a:t>
            </a:r>
          </a:p>
          <a:p>
            <a:pPr marL="800100" lvl="1" indent="-342900" eaLnBrk="0" fontAlgn="base" hangingPunct="0">
              <a:lnSpc>
                <a:spcPct val="100000"/>
              </a:lnSpc>
              <a:spcBef>
                <a:spcPct val="10000"/>
              </a:spcBef>
              <a:spcAft>
                <a:spcPct val="0"/>
              </a:spcAft>
              <a:buClrTx/>
              <a:buFont typeface="Wingdings" panose="05000000000000000000" pitchFamily="2" charset="2"/>
              <a:buChar char="§"/>
            </a:pPr>
            <a:r>
              <a:rPr lang="en-US" altLang="en-US" sz="2000" dirty="0">
                <a:solidFill>
                  <a:srgbClr val="000000"/>
                </a:solidFill>
                <a:latin typeface="Helvetica"/>
              </a:rPr>
              <a:t>UML for modeling all aspects of complex systems</a:t>
            </a:r>
          </a:p>
          <a:p>
            <a:pPr marL="800100" lvl="1" indent="-342900" eaLnBrk="0" fontAlgn="base" hangingPunct="0">
              <a:lnSpc>
                <a:spcPct val="100000"/>
              </a:lnSpc>
              <a:spcBef>
                <a:spcPct val="10000"/>
              </a:spcBef>
              <a:spcAft>
                <a:spcPct val="0"/>
              </a:spcAft>
              <a:buClrTx/>
              <a:buFont typeface="Wingdings" panose="05000000000000000000" pitchFamily="2" charset="2"/>
              <a:buChar char="§"/>
            </a:pPr>
            <a:r>
              <a:rPr lang="en-US" altLang="en-US" sz="2000" dirty="0">
                <a:solidFill>
                  <a:srgbClr val="000000"/>
                </a:solidFill>
                <a:latin typeface="Helvetica"/>
              </a:rPr>
              <a:t>High-order programming languages such as C++ and Java</a:t>
            </a:r>
          </a:p>
          <a:p>
            <a:pPr marL="800100" lvl="1" indent="-342900" eaLnBrk="0" fontAlgn="base" hangingPunct="0">
              <a:lnSpc>
                <a:spcPct val="100000"/>
              </a:lnSpc>
              <a:spcBef>
                <a:spcPct val="10000"/>
              </a:spcBef>
              <a:spcAft>
                <a:spcPct val="0"/>
              </a:spcAft>
              <a:buClrTx/>
              <a:buFont typeface="Wingdings" panose="05000000000000000000" pitchFamily="2" charset="2"/>
              <a:buChar char="§"/>
            </a:pPr>
            <a:r>
              <a:rPr lang="en-US" altLang="en-US" sz="2000" dirty="0">
                <a:solidFill>
                  <a:srgbClr val="000000"/>
                </a:solidFill>
                <a:latin typeface="Helvetica"/>
              </a:rPr>
              <a:t>Source code formatting rules to aid readability</a:t>
            </a:r>
          </a:p>
        </p:txBody>
      </p:sp>
    </p:spTree>
    <p:extLst>
      <p:ext uri="{BB962C8B-B14F-4D97-AF65-F5344CB8AC3E}">
        <p14:creationId xmlns:p14="http://schemas.microsoft.com/office/powerpoint/2010/main" val="287172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53C3F2-835E-4207-9571-04F3D297363C}"/>
              </a:ext>
            </a:extLst>
          </p:cNvPr>
          <p:cNvSpPr>
            <a:spLocks noGrp="1"/>
          </p:cNvSpPr>
          <p:nvPr>
            <p:ph type="title"/>
          </p:nvPr>
        </p:nvSpPr>
        <p:spPr/>
        <p:txBody>
          <a:bodyPr/>
          <a:lstStyle/>
          <a:p>
            <a:r>
              <a:rPr lang="en-US" dirty="0"/>
              <a:t>Anticipating Change</a:t>
            </a:r>
          </a:p>
        </p:txBody>
      </p:sp>
      <p:sp>
        <p:nvSpPr>
          <p:cNvPr id="3" name="Content Placeholder 2">
            <a:extLst>
              <a:ext uri="{FF2B5EF4-FFF2-40B4-BE49-F238E27FC236}">
                <a16:creationId xmlns="" xmlns:a16="http://schemas.microsoft.com/office/drawing/2014/main" id="{A06758B5-6100-4CD9-9B22-D522B8878ADB}"/>
              </a:ext>
            </a:extLst>
          </p:cNvPr>
          <p:cNvSpPr>
            <a:spLocks noGrp="1"/>
          </p:cNvSpPr>
          <p:nvPr>
            <p:ph idx="1"/>
          </p:nvPr>
        </p:nvSpPr>
        <p:spPr/>
        <p:txBody>
          <a:bodyPr>
            <a:normAutofit/>
          </a:bodyPr>
          <a:lstStyle/>
          <a:p>
            <a:pPr>
              <a:buFont typeface="Wingdings" panose="05000000000000000000" pitchFamily="2" charset="2"/>
              <a:buChar char="§"/>
            </a:pPr>
            <a:r>
              <a:rPr lang="en-US" altLang="en-US" sz="2400" dirty="0">
                <a:solidFill>
                  <a:srgbClr val="000000"/>
                </a:solidFill>
                <a:latin typeface="Helvetica"/>
              </a:rPr>
              <a:t>Software changes over time</a:t>
            </a:r>
          </a:p>
          <a:p>
            <a:pPr>
              <a:buFont typeface="Wingdings" panose="05000000000000000000" pitchFamily="2" charset="2"/>
              <a:buChar char="§"/>
            </a:pPr>
            <a:r>
              <a:rPr lang="en-US" altLang="en-US" sz="2400" dirty="0">
                <a:solidFill>
                  <a:srgbClr val="000000"/>
                </a:solidFill>
                <a:latin typeface="Helvetica"/>
              </a:rPr>
              <a:t>Anticipation of change affects how software is constructed</a:t>
            </a:r>
          </a:p>
          <a:p>
            <a:pPr>
              <a:buFont typeface="Wingdings" panose="05000000000000000000" pitchFamily="2" charset="2"/>
              <a:buChar char="§"/>
            </a:pPr>
            <a:r>
              <a:rPr lang="en-US" altLang="en-US" sz="2400" dirty="0">
                <a:solidFill>
                  <a:srgbClr val="000000"/>
                </a:solidFill>
                <a:latin typeface="Helvetica"/>
              </a:rPr>
              <a:t>This can effect</a:t>
            </a:r>
          </a:p>
          <a:p>
            <a:pPr lvl="2">
              <a:buFont typeface="Wingdings" panose="05000000000000000000" pitchFamily="2" charset="2"/>
              <a:buChar char="§"/>
            </a:pPr>
            <a:r>
              <a:rPr lang="en-US" altLang="en-US" sz="2400" dirty="0">
                <a:solidFill>
                  <a:srgbClr val="000000"/>
                </a:solidFill>
                <a:latin typeface="Helvetica"/>
              </a:rPr>
              <a:t>Use of control structures</a:t>
            </a:r>
          </a:p>
          <a:p>
            <a:pPr lvl="2">
              <a:buFont typeface="Wingdings" panose="05000000000000000000" pitchFamily="2" charset="2"/>
              <a:buChar char="§"/>
            </a:pPr>
            <a:r>
              <a:rPr lang="en-US" altLang="en-US" sz="2400" dirty="0">
                <a:solidFill>
                  <a:srgbClr val="000000"/>
                </a:solidFill>
                <a:latin typeface="Helvetica"/>
              </a:rPr>
              <a:t>Handling of errors</a:t>
            </a:r>
          </a:p>
          <a:p>
            <a:pPr lvl="2">
              <a:buFont typeface="Wingdings" panose="05000000000000000000" pitchFamily="2" charset="2"/>
              <a:buChar char="§"/>
            </a:pPr>
            <a:r>
              <a:rPr lang="en-US" altLang="en-US" sz="2400" dirty="0">
                <a:solidFill>
                  <a:srgbClr val="000000"/>
                </a:solidFill>
                <a:latin typeface="Helvetica"/>
              </a:rPr>
              <a:t>Source code organization</a:t>
            </a:r>
          </a:p>
          <a:p>
            <a:pPr lvl="2">
              <a:buFont typeface="Wingdings" panose="05000000000000000000" pitchFamily="2" charset="2"/>
              <a:buChar char="§"/>
            </a:pPr>
            <a:r>
              <a:rPr lang="en-US" altLang="en-US" sz="2400" dirty="0">
                <a:solidFill>
                  <a:srgbClr val="000000"/>
                </a:solidFill>
                <a:latin typeface="Helvetica"/>
              </a:rPr>
              <a:t>Code documentation</a:t>
            </a:r>
          </a:p>
          <a:p>
            <a:pPr lvl="2">
              <a:buFont typeface="Wingdings" panose="05000000000000000000" pitchFamily="2" charset="2"/>
              <a:buChar char="§"/>
            </a:pPr>
            <a:r>
              <a:rPr lang="en-US" altLang="en-US" sz="2400" dirty="0">
                <a:solidFill>
                  <a:srgbClr val="000000"/>
                </a:solidFill>
                <a:latin typeface="Helvetica"/>
              </a:rPr>
              <a:t>Coding standards</a:t>
            </a:r>
          </a:p>
        </p:txBody>
      </p:sp>
    </p:spTree>
    <p:extLst>
      <p:ext uri="{BB962C8B-B14F-4D97-AF65-F5344CB8AC3E}">
        <p14:creationId xmlns:p14="http://schemas.microsoft.com/office/powerpoint/2010/main" val="2352336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912B21-B2C2-413D-84BF-F10F8B8D1EE5}"/>
              </a:ext>
            </a:extLst>
          </p:cNvPr>
          <p:cNvSpPr>
            <a:spLocks noGrp="1"/>
          </p:cNvSpPr>
          <p:nvPr>
            <p:ph type="title"/>
          </p:nvPr>
        </p:nvSpPr>
        <p:spPr/>
        <p:txBody>
          <a:bodyPr/>
          <a:lstStyle/>
          <a:p>
            <a:r>
              <a:rPr lang="en-US" dirty="0"/>
              <a:t>Constructing for Validation</a:t>
            </a:r>
          </a:p>
        </p:txBody>
      </p:sp>
      <p:sp>
        <p:nvSpPr>
          <p:cNvPr id="3" name="Content Placeholder 2">
            <a:extLst>
              <a:ext uri="{FF2B5EF4-FFF2-40B4-BE49-F238E27FC236}">
                <a16:creationId xmlns="" xmlns:a16="http://schemas.microsoft.com/office/drawing/2014/main" id="{DC34A166-5586-4EE2-9353-A7A10593812C}"/>
              </a:ext>
            </a:extLst>
          </p:cNvPr>
          <p:cNvSpPr>
            <a:spLocks noGrp="1"/>
          </p:cNvSpPr>
          <p:nvPr>
            <p:ph idx="1"/>
          </p:nvPr>
        </p:nvSpPr>
        <p:spPr/>
        <p:txBody>
          <a:bodyPr>
            <a:normAutofit/>
          </a:bodyPr>
          <a:lstStyle/>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Construct software that allows bugs to be easily found and fixed</a:t>
            </a:r>
          </a:p>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Examples:</a:t>
            </a:r>
          </a:p>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Enforce coding standards </a:t>
            </a:r>
          </a:p>
          <a:p>
            <a:pPr marL="800100" lvl="1" indent="-342900" eaLnBrk="0" fontAlgn="base" hangingPunct="0">
              <a:lnSpc>
                <a:spcPct val="100000"/>
              </a:lnSpc>
              <a:spcBef>
                <a:spcPct val="10000"/>
              </a:spcBef>
              <a:spcAft>
                <a:spcPct val="0"/>
              </a:spcAft>
              <a:buClrTx/>
              <a:buFont typeface="Wingdings" panose="05000000000000000000" pitchFamily="2" charset="2"/>
              <a:buChar char="§"/>
            </a:pPr>
            <a:r>
              <a:rPr lang="en-US" altLang="en-US" sz="2400" dirty="0">
                <a:solidFill>
                  <a:srgbClr val="000000"/>
                </a:solidFill>
                <a:latin typeface="Helvetica"/>
              </a:rPr>
              <a:t>Helps support code reviews</a:t>
            </a:r>
          </a:p>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Unit testing</a:t>
            </a:r>
          </a:p>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Organizing code to support automated testing</a:t>
            </a:r>
          </a:p>
          <a:p>
            <a:pPr lvl="0" eaLnBrk="0" fontAlgn="base" hangingPunct="0">
              <a:lnSpc>
                <a:spcPct val="100000"/>
              </a:lnSpc>
              <a:spcBef>
                <a:spcPct val="20000"/>
              </a:spcBef>
              <a:spcAft>
                <a:spcPct val="0"/>
              </a:spcAft>
              <a:buClrTx/>
              <a:buSzTx/>
              <a:buFont typeface="Wingdings" panose="05000000000000000000" pitchFamily="2" charset="2"/>
              <a:buChar char="§"/>
            </a:pPr>
            <a:r>
              <a:rPr lang="en-US" altLang="en-US" sz="2400" dirty="0">
                <a:solidFill>
                  <a:srgbClr val="000000"/>
                </a:solidFill>
                <a:latin typeface="Helvetica"/>
              </a:rPr>
              <a:t>Restricted use of complex or hard-to-understand language structures</a:t>
            </a:r>
          </a:p>
          <a:p>
            <a:endParaRPr lang="en-US" sz="2400" dirty="0"/>
          </a:p>
        </p:txBody>
      </p:sp>
      <p:pic>
        <p:nvPicPr>
          <p:cNvPr id="5" name="Picture 5">
            <a:extLst>
              <a:ext uri="{FF2B5EF4-FFF2-40B4-BE49-F238E27FC236}">
                <a16:creationId xmlns="" xmlns:a16="http://schemas.microsoft.com/office/drawing/2014/main" id="{1DA64876-267F-44EC-A7EC-A6F9DAD6F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3098" y="2494054"/>
            <a:ext cx="1869891" cy="1869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478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D95487-9D5A-4A1C-B479-3D11C5273DE1}"/>
              </a:ext>
            </a:extLst>
          </p:cNvPr>
          <p:cNvSpPr>
            <a:spLocks noGrp="1"/>
          </p:cNvSpPr>
          <p:nvPr>
            <p:ph type="title"/>
          </p:nvPr>
        </p:nvSpPr>
        <p:spPr/>
        <p:txBody>
          <a:bodyPr/>
          <a:lstStyle/>
          <a:p>
            <a:r>
              <a:rPr lang="en-US" dirty="0"/>
              <a:t>Standards in Constructions</a:t>
            </a:r>
          </a:p>
        </p:txBody>
      </p:sp>
      <p:sp>
        <p:nvSpPr>
          <p:cNvPr id="3" name="Content Placeholder 2">
            <a:extLst>
              <a:ext uri="{FF2B5EF4-FFF2-40B4-BE49-F238E27FC236}">
                <a16:creationId xmlns="" xmlns:a16="http://schemas.microsoft.com/office/drawing/2014/main" id="{2CD83D37-8489-402C-A2C2-ED30464F967C}"/>
              </a:ext>
            </a:extLst>
          </p:cNvPr>
          <p:cNvSpPr>
            <a:spLocks noGrp="1"/>
          </p:cNvSpPr>
          <p:nvPr>
            <p:ph idx="1"/>
          </p:nvPr>
        </p:nvSpPr>
        <p:spPr>
          <a:xfrm>
            <a:off x="1097280" y="1895609"/>
            <a:ext cx="10058400" cy="4023360"/>
          </a:xfrm>
        </p:spPr>
        <p:txBody>
          <a:bodyPr>
            <a:noAutofit/>
          </a:bodyPr>
          <a:lstStyle/>
          <a:p>
            <a:pPr>
              <a:buFont typeface="Wingdings" panose="05000000000000000000" pitchFamily="2" charset="2"/>
              <a:buChar char="§"/>
            </a:pPr>
            <a:r>
              <a:rPr lang="en-US" altLang="en-US" sz="2400" dirty="0">
                <a:latin typeface="Helvetica" panose="020B0604020202020204" pitchFamily="34" charset="0"/>
                <a:cs typeface="Helvetica" panose="020B0604020202020204" pitchFamily="34" charset="0"/>
              </a:rPr>
              <a:t>Standards which directly affect construction issues include:</a:t>
            </a:r>
          </a:p>
          <a:p>
            <a:pPr>
              <a:buFont typeface="Wingdings" panose="05000000000000000000" pitchFamily="2" charset="2"/>
              <a:buChar char="§"/>
            </a:pPr>
            <a:r>
              <a:rPr lang="en-US" altLang="en-US" sz="2400" dirty="0">
                <a:latin typeface="Helvetica" panose="020B0604020202020204" pitchFamily="34" charset="0"/>
                <a:cs typeface="Helvetica" panose="020B0604020202020204" pitchFamily="34" charset="0"/>
              </a:rPr>
              <a:t>Programming languages</a:t>
            </a:r>
          </a:p>
          <a:p>
            <a:pPr lvl="1">
              <a:buFont typeface="Wingdings" panose="05000000000000000000" pitchFamily="2" charset="2"/>
              <a:buChar char="§"/>
            </a:pPr>
            <a:r>
              <a:rPr lang="en-US" altLang="en-US" sz="2200" dirty="0">
                <a:latin typeface="Helvetica" panose="020B0604020202020204" pitchFamily="34" charset="0"/>
                <a:cs typeface="Helvetica" panose="020B0604020202020204" pitchFamily="34" charset="0"/>
              </a:rPr>
              <a:t> E.g. standards for languages like Java and C++</a:t>
            </a:r>
          </a:p>
          <a:p>
            <a:pPr>
              <a:buFont typeface="Wingdings" panose="05000000000000000000" pitchFamily="2" charset="2"/>
              <a:buChar char="§"/>
            </a:pPr>
            <a:r>
              <a:rPr lang="en-US" altLang="en-US" sz="2400" dirty="0">
                <a:latin typeface="Helvetica" panose="020B0604020202020204" pitchFamily="34" charset="0"/>
                <a:cs typeface="Helvetica" panose="020B0604020202020204" pitchFamily="34" charset="0"/>
              </a:rPr>
              <a:t>Communication methods </a:t>
            </a:r>
          </a:p>
          <a:p>
            <a:pPr lvl="1">
              <a:buFont typeface="Wingdings" panose="05000000000000000000" pitchFamily="2" charset="2"/>
              <a:buChar char="§"/>
            </a:pPr>
            <a:r>
              <a:rPr lang="en-US" altLang="en-US" sz="2200" dirty="0">
                <a:latin typeface="Helvetica" panose="020B0604020202020204" pitchFamily="34" charset="0"/>
                <a:cs typeface="Helvetica" panose="020B0604020202020204" pitchFamily="34" charset="0"/>
              </a:rPr>
              <a:t>E.g. standards for document formats and contents</a:t>
            </a:r>
          </a:p>
          <a:p>
            <a:pPr>
              <a:buFont typeface="Wingdings" panose="05000000000000000000" pitchFamily="2" charset="2"/>
              <a:buChar char="§"/>
            </a:pPr>
            <a:r>
              <a:rPr lang="en-US" altLang="en-US" sz="2400" dirty="0">
                <a:latin typeface="Helvetica" panose="020B0604020202020204" pitchFamily="34" charset="0"/>
                <a:cs typeface="Helvetica" panose="020B0604020202020204" pitchFamily="34" charset="0"/>
              </a:rPr>
              <a:t>Platforms</a:t>
            </a:r>
          </a:p>
          <a:p>
            <a:pPr lvl="1">
              <a:buFont typeface="Wingdings" panose="05000000000000000000" pitchFamily="2" charset="2"/>
              <a:buChar char="§"/>
            </a:pPr>
            <a:r>
              <a:rPr lang="en-US" altLang="en-US" sz="2200" dirty="0">
                <a:latin typeface="Helvetica" panose="020B0604020202020204" pitchFamily="34" charset="0"/>
                <a:cs typeface="Helvetica" panose="020B0604020202020204" pitchFamily="34" charset="0"/>
              </a:rPr>
              <a:t>E.g. programmer interface standards for operating system calls, J2EE</a:t>
            </a:r>
          </a:p>
          <a:p>
            <a:pPr>
              <a:buFont typeface="Wingdings" panose="05000000000000000000" pitchFamily="2" charset="2"/>
              <a:buChar char="§"/>
            </a:pPr>
            <a:r>
              <a:rPr lang="en-US" altLang="en-US" sz="2400" dirty="0">
                <a:latin typeface="Helvetica" panose="020B0604020202020204" pitchFamily="34" charset="0"/>
                <a:cs typeface="Helvetica" panose="020B0604020202020204" pitchFamily="34" charset="0"/>
              </a:rPr>
              <a:t>Tools</a:t>
            </a:r>
          </a:p>
          <a:p>
            <a:pPr lvl="1">
              <a:buFont typeface="Wingdings" panose="05000000000000000000" pitchFamily="2" charset="2"/>
              <a:buChar char="§"/>
            </a:pPr>
            <a:r>
              <a:rPr lang="en-US" altLang="en-US" sz="2200" dirty="0">
                <a:latin typeface="Helvetica" panose="020B0604020202020204" pitchFamily="34" charset="0"/>
                <a:cs typeface="Helvetica" panose="020B0604020202020204" pitchFamily="34" charset="0"/>
              </a:rPr>
              <a:t>E.g. diagrammatic standards for notations like the Unified Modeling Language</a:t>
            </a:r>
          </a:p>
          <a:p>
            <a:pPr>
              <a:buFont typeface="Wingdings" panose="05000000000000000000" pitchFamily="2" charset="2"/>
              <a:buChar char="§"/>
            </a:pPr>
            <a:endParaRPr lang="en-US" sz="2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83977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spc="0" dirty="0">
                <a:solidFill>
                  <a:prstClr val="black"/>
                </a:solidFill>
                <a:latin typeface="Calibri"/>
              </a:rPr>
              <a:t>Reuse</a:t>
            </a:r>
            <a:endParaRPr lang="en-US" dirty="0"/>
          </a:p>
        </p:txBody>
      </p:sp>
      <p:sp>
        <p:nvSpPr>
          <p:cNvPr id="3" name="Content Placeholder 2"/>
          <p:cNvSpPr>
            <a:spLocks noGrp="1"/>
          </p:cNvSpPr>
          <p:nvPr>
            <p:ph idx="1"/>
          </p:nvPr>
        </p:nvSpPr>
        <p:spPr/>
        <p:txBody>
          <a:bodyPr>
            <a:normAutofit fontScale="92500"/>
          </a:bodyPr>
          <a:lstStyle/>
          <a:p>
            <a:pPr marL="342900" lvl="0" indent="-342900" algn="just">
              <a:lnSpc>
                <a:spcPct val="100000"/>
              </a:lnSpc>
              <a:spcBef>
                <a:spcPct val="20000"/>
              </a:spcBef>
              <a:spcAft>
                <a:spcPts val="0"/>
              </a:spcAft>
              <a:buClrTx/>
              <a:buSzTx/>
              <a:buFont typeface="Arial" panose="020B0604020202020204" pitchFamily="34" charset="0"/>
              <a:buChar char="•"/>
            </a:pPr>
            <a:r>
              <a:rPr lang="en-US" sz="3000" dirty="0">
                <a:solidFill>
                  <a:prstClr val="black"/>
                </a:solidFill>
              </a:rPr>
              <a:t>Reuse refers to using existing assets in solving different problems. </a:t>
            </a:r>
          </a:p>
          <a:p>
            <a:pPr marL="342900" lvl="0" indent="-342900" algn="just">
              <a:lnSpc>
                <a:spcPct val="100000"/>
              </a:lnSpc>
              <a:spcBef>
                <a:spcPct val="20000"/>
              </a:spcBef>
              <a:spcAft>
                <a:spcPts val="0"/>
              </a:spcAft>
              <a:buClrTx/>
              <a:buSzTx/>
              <a:buFont typeface="Arial" panose="020B0604020202020204" pitchFamily="34" charset="0"/>
              <a:buChar char="•"/>
            </a:pPr>
            <a:r>
              <a:rPr lang="en-US" sz="3000" dirty="0">
                <a:solidFill>
                  <a:prstClr val="black"/>
                </a:solidFill>
              </a:rPr>
              <a:t>In software construction, typical assets that are reused include libraries, modules, components, source code, and commercial off-the-shelf (COTS) assets. </a:t>
            </a:r>
          </a:p>
          <a:p>
            <a:pPr marL="342900" lvl="0" indent="-342900" algn="just">
              <a:lnSpc>
                <a:spcPct val="100000"/>
              </a:lnSpc>
              <a:spcBef>
                <a:spcPct val="20000"/>
              </a:spcBef>
              <a:spcAft>
                <a:spcPts val="0"/>
              </a:spcAft>
              <a:buClrTx/>
              <a:buSzTx/>
              <a:buFont typeface="Arial" panose="020B0604020202020204" pitchFamily="34" charset="0"/>
              <a:buChar char="•"/>
            </a:pPr>
            <a:r>
              <a:rPr lang="en-US" sz="3000" dirty="0">
                <a:solidFill>
                  <a:prstClr val="black"/>
                </a:solidFill>
              </a:rPr>
              <a:t>Reuse is best practiced systematically, according to a well-defined, repeatable process. </a:t>
            </a:r>
          </a:p>
          <a:p>
            <a:pPr marL="342900" lvl="0" indent="-342900" algn="just">
              <a:lnSpc>
                <a:spcPct val="100000"/>
              </a:lnSpc>
              <a:spcBef>
                <a:spcPct val="20000"/>
              </a:spcBef>
              <a:spcAft>
                <a:spcPts val="0"/>
              </a:spcAft>
              <a:buClrTx/>
              <a:buSzTx/>
              <a:buFont typeface="Arial" panose="020B0604020202020204" pitchFamily="34" charset="0"/>
              <a:buChar char="•"/>
            </a:pPr>
            <a:r>
              <a:rPr lang="en-US" sz="3000" dirty="0">
                <a:solidFill>
                  <a:prstClr val="black"/>
                </a:solidFill>
              </a:rPr>
              <a:t>Systematic reuse can enable significant software productivity, quality, and cost improvements. </a:t>
            </a:r>
          </a:p>
          <a:p>
            <a:endParaRPr lang="en-US" dirty="0"/>
          </a:p>
        </p:txBody>
      </p:sp>
    </p:spTree>
    <p:extLst>
      <p:ext uri="{BB962C8B-B14F-4D97-AF65-F5344CB8AC3E}">
        <p14:creationId xmlns:p14="http://schemas.microsoft.com/office/powerpoint/2010/main" val="122089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spc="0" dirty="0">
                <a:solidFill>
                  <a:prstClr val="black"/>
                </a:solidFill>
                <a:latin typeface="Calibri"/>
              </a:rPr>
              <a:t>Reuse</a:t>
            </a:r>
            <a:endParaRPr lang="en-US" dirty="0"/>
          </a:p>
        </p:txBody>
      </p:sp>
      <p:sp>
        <p:nvSpPr>
          <p:cNvPr id="3" name="Content Placeholder 2"/>
          <p:cNvSpPr>
            <a:spLocks noGrp="1"/>
          </p:cNvSpPr>
          <p:nvPr>
            <p:ph idx="1"/>
          </p:nvPr>
        </p:nvSpPr>
        <p:spPr/>
        <p:txBody>
          <a:bodyPr>
            <a:normAutofit lnSpcReduction="10000"/>
          </a:bodyPr>
          <a:lstStyle/>
          <a:p>
            <a:pPr marL="342900" indent="-342900" algn="just">
              <a:lnSpc>
                <a:spcPct val="100000"/>
              </a:lnSpc>
              <a:spcBef>
                <a:spcPct val="20000"/>
              </a:spcBef>
              <a:spcAft>
                <a:spcPts val="0"/>
              </a:spcAft>
              <a:buClrTx/>
              <a:buSzTx/>
              <a:buFont typeface="Arial" panose="020B0604020202020204" pitchFamily="34" charset="0"/>
              <a:buChar char="•"/>
            </a:pPr>
            <a:r>
              <a:rPr lang="en-US" sz="2800" dirty="0">
                <a:solidFill>
                  <a:prstClr val="black"/>
                </a:solidFill>
              </a:rPr>
              <a:t>Reuse has two closely related facets</a:t>
            </a:r>
          </a:p>
          <a:p>
            <a:pPr marL="342900" indent="-342900" algn="just">
              <a:lnSpc>
                <a:spcPct val="100000"/>
              </a:lnSpc>
              <a:spcBef>
                <a:spcPct val="20000"/>
              </a:spcBef>
              <a:spcAft>
                <a:spcPts val="0"/>
              </a:spcAft>
              <a:buClrTx/>
              <a:buSzTx/>
              <a:buFont typeface="Arial" panose="020B0604020202020204" pitchFamily="34" charset="0"/>
              <a:buChar char="•"/>
            </a:pPr>
            <a:r>
              <a:rPr lang="en-US" sz="2800" dirty="0">
                <a:solidFill>
                  <a:prstClr val="black"/>
                </a:solidFill>
              </a:rPr>
              <a:t>construction for reuse</a:t>
            </a:r>
          </a:p>
          <a:p>
            <a:pPr marL="342900" indent="-342900" algn="just">
              <a:lnSpc>
                <a:spcPct val="100000"/>
              </a:lnSpc>
              <a:spcBef>
                <a:spcPct val="20000"/>
              </a:spcBef>
              <a:spcAft>
                <a:spcPts val="0"/>
              </a:spcAft>
              <a:buClrTx/>
              <a:buSzTx/>
              <a:buFont typeface="Arial" panose="020B0604020202020204" pitchFamily="34" charset="0"/>
              <a:buChar char="•"/>
            </a:pPr>
            <a:r>
              <a:rPr lang="en-US" sz="2800" dirty="0">
                <a:solidFill>
                  <a:prstClr val="black"/>
                </a:solidFill>
              </a:rPr>
              <a:t>construction with reuse</a:t>
            </a:r>
          </a:p>
          <a:p>
            <a:pPr marL="342900" indent="-342900" algn="just">
              <a:lnSpc>
                <a:spcPct val="100000"/>
              </a:lnSpc>
              <a:spcBef>
                <a:spcPct val="20000"/>
              </a:spcBef>
              <a:spcAft>
                <a:spcPts val="0"/>
              </a:spcAft>
              <a:buClrTx/>
              <a:buSzTx/>
              <a:buFont typeface="Arial" panose="020B0604020202020204" pitchFamily="34" charset="0"/>
              <a:buChar char="•"/>
            </a:pPr>
            <a:r>
              <a:rPr lang="en-US" sz="2800" dirty="0">
                <a:solidFill>
                  <a:prstClr val="black"/>
                </a:solidFill>
              </a:rPr>
              <a:t>The former means to create reusable software assets, while the latter means to reuse software assets in the construction of a new solution.</a:t>
            </a:r>
          </a:p>
          <a:p>
            <a:pPr marL="342900" indent="-342900" algn="just">
              <a:lnSpc>
                <a:spcPct val="100000"/>
              </a:lnSpc>
              <a:spcBef>
                <a:spcPct val="20000"/>
              </a:spcBef>
              <a:spcAft>
                <a:spcPts val="0"/>
              </a:spcAft>
              <a:buClrTx/>
              <a:buSzTx/>
              <a:buFont typeface="Arial" panose="020B0604020202020204" pitchFamily="34" charset="0"/>
              <a:buChar char="•"/>
            </a:pPr>
            <a:r>
              <a:rPr lang="en-US" sz="2800" dirty="0">
                <a:solidFill>
                  <a:prstClr val="black"/>
                </a:solidFill>
              </a:rPr>
              <a:t>Reuse often transcends the boundary of projects, which means reused assets can be constructed in other projects or organizations. </a:t>
            </a:r>
          </a:p>
          <a:p>
            <a:endParaRPr lang="en-US" dirty="0"/>
          </a:p>
        </p:txBody>
      </p:sp>
    </p:spTree>
    <p:extLst>
      <p:ext uri="{BB962C8B-B14F-4D97-AF65-F5344CB8AC3E}">
        <p14:creationId xmlns:p14="http://schemas.microsoft.com/office/powerpoint/2010/main" val="372518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2EF1A8B-013D-4A82-BB62-431A0AF88EA2}"/>
              </a:ext>
            </a:extLst>
          </p:cNvPr>
          <p:cNvSpPr>
            <a:spLocks noGrp="1"/>
          </p:cNvSpPr>
          <p:nvPr>
            <p:ph idx="4294967295"/>
          </p:nvPr>
        </p:nvSpPr>
        <p:spPr>
          <a:xfrm>
            <a:off x="3235036" y="2781445"/>
            <a:ext cx="5992091" cy="803275"/>
          </a:xfrm>
        </p:spPr>
        <p:txBody>
          <a:bodyPr>
            <a:normAutofit/>
          </a:bodyPr>
          <a:lstStyle/>
          <a:p>
            <a:r>
              <a:rPr lang="en-US" sz="4800" dirty="0">
                <a:latin typeface="+mj-lt"/>
              </a:rPr>
              <a:t>Minimizing Complexity</a:t>
            </a:r>
          </a:p>
        </p:txBody>
      </p:sp>
    </p:spTree>
    <p:extLst>
      <p:ext uri="{BB962C8B-B14F-4D97-AF65-F5344CB8AC3E}">
        <p14:creationId xmlns:p14="http://schemas.microsoft.com/office/powerpoint/2010/main" val="3492925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7106B0-F14D-4279-9324-B8B6B0CE2179}"/>
              </a:ext>
            </a:extLst>
          </p:cNvPr>
          <p:cNvSpPr>
            <a:spLocks noGrp="1"/>
          </p:cNvSpPr>
          <p:nvPr>
            <p:ph type="title"/>
          </p:nvPr>
        </p:nvSpPr>
        <p:spPr/>
        <p:txBody>
          <a:bodyPr/>
          <a:lstStyle/>
          <a:p>
            <a:r>
              <a:rPr lang="en-US" dirty="0"/>
              <a:t>Potential Disadvantages of Complexity</a:t>
            </a:r>
          </a:p>
        </p:txBody>
      </p:sp>
      <p:pic>
        <p:nvPicPr>
          <p:cNvPr id="5" name="Content Placeholder 4">
            <a:extLst>
              <a:ext uri="{FF2B5EF4-FFF2-40B4-BE49-F238E27FC236}">
                <a16:creationId xmlns="" xmlns:a16="http://schemas.microsoft.com/office/drawing/2014/main" id="{E8EB03E4-11F5-4707-9FBB-1EF672D4B926}"/>
              </a:ext>
            </a:extLst>
          </p:cNvPr>
          <p:cNvPicPr>
            <a:picLocks noGrp="1" noChangeAspect="1"/>
          </p:cNvPicPr>
          <p:nvPr>
            <p:ph idx="1"/>
          </p:nvPr>
        </p:nvPicPr>
        <p:blipFill>
          <a:blip r:embed="rId2"/>
          <a:stretch>
            <a:fillRect/>
          </a:stretch>
        </p:blipFill>
        <p:spPr>
          <a:xfrm>
            <a:off x="3000560" y="1939781"/>
            <a:ext cx="6133049" cy="4383913"/>
          </a:xfrm>
          <a:prstGeom prst="rect">
            <a:avLst/>
          </a:prstGeom>
        </p:spPr>
      </p:pic>
    </p:spTree>
    <p:extLst>
      <p:ext uri="{BB962C8B-B14F-4D97-AF65-F5344CB8AC3E}">
        <p14:creationId xmlns:p14="http://schemas.microsoft.com/office/powerpoint/2010/main" val="737510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7D0C13-4A3D-402C-B487-76B8495CB51C}"/>
              </a:ext>
            </a:extLst>
          </p:cNvPr>
          <p:cNvSpPr>
            <a:spLocks noGrp="1"/>
          </p:cNvSpPr>
          <p:nvPr>
            <p:ph type="title"/>
          </p:nvPr>
        </p:nvSpPr>
        <p:spPr/>
        <p:txBody>
          <a:bodyPr/>
          <a:lstStyle/>
          <a:p>
            <a:r>
              <a:rPr lang="en-US" dirty="0"/>
              <a:t>Minimizing Complexity</a:t>
            </a:r>
          </a:p>
        </p:txBody>
      </p:sp>
      <p:sp>
        <p:nvSpPr>
          <p:cNvPr id="3" name="Content Placeholder 2">
            <a:extLst>
              <a:ext uri="{FF2B5EF4-FFF2-40B4-BE49-F238E27FC236}">
                <a16:creationId xmlns="" xmlns:a16="http://schemas.microsoft.com/office/drawing/2014/main" id="{600D9498-404C-4170-97C9-F07E1ADBDCB1}"/>
              </a:ext>
            </a:extLst>
          </p:cNvPr>
          <p:cNvSpPr>
            <a:spLocks noGrp="1"/>
          </p:cNvSpPr>
          <p:nvPr>
            <p:ph idx="1"/>
          </p:nvPr>
        </p:nvSpPr>
        <p:spPr/>
        <p:txBody>
          <a:bodyPr>
            <a:normAutofit/>
          </a:bodyPr>
          <a:lstStyle/>
          <a:p>
            <a:r>
              <a:rPr lang="en-US" b="1" dirty="0"/>
              <a:t>Potential disadvantages of Software complexity: </a:t>
            </a:r>
          </a:p>
          <a:p>
            <a:pPr marL="863600" lvl="1" indent="-292100">
              <a:buFont typeface="Wingdings" panose="05000000000000000000" pitchFamily="2" charset="2"/>
              <a:buChar char="§"/>
            </a:pPr>
            <a:r>
              <a:rPr lang="en-US" dirty="0"/>
              <a:t>Increased Maintenance Effort</a:t>
            </a:r>
          </a:p>
          <a:p>
            <a:pPr marL="863600" lvl="1" indent="-292100">
              <a:buFont typeface="Wingdings" panose="05000000000000000000" pitchFamily="2" charset="2"/>
              <a:buChar char="§"/>
            </a:pPr>
            <a:r>
              <a:rPr lang="en-US" dirty="0"/>
              <a:t>Higher Probability of Bugs and Errors</a:t>
            </a:r>
          </a:p>
          <a:p>
            <a:pPr marL="863600" lvl="1" indent="-292100">
              <a:buFont typeface="Wingdings" panose="05000000000000000000" pitchFamily="2" charset="2"/>
              <a:buChar char="§"/>
            </a:pPr>
            <a:r>
              <a:rPr lang="en-US" dirty="0"/>
              <a:t>Difficulty in Understanding and Debugging</a:t>
            </a:r>
          </a:p>
          <a:p>
            <a:pPr marL="863600" lvl="1" indent="-292100">
              <a:buFont typeface="Wingdings" panose="05000000000000000000" pitchFamily="2" charset="2"/>
              <a:buChar char="§"/>
            </a:pPr>
            <a:r>
              <a:rPr lang="en-US" dirty="0"/>
              <a:t>Longer Development Time</a:t>
            </a:r>
          </a:p>
          <a:p>
            <a:pPr marL="863600" lvl="1" indent="-292100">
              <a:buFont typeface="Wingdings" panose="05000000000000000000" pitchFamily="2" charset="2"/>
              <a:buChar char="§"/>
            </a:pPr>
            <a:r>
              <a:rPr lang="en-US" dirty="0"/>
              <a:t>Reduced Performance</a:t>
            </a:r>
          </a:p>
          <a:p>
            <a:pPr marL="863600" lvl="1" indent="-292100">
              <a:buFont typeface="Wingdings" panose="05000000000000000000" pitchFamily="2" charset="2"/>
              <a:buChar char="§"/>
            </a:pPr>
            <a:r>
              <a:rPr lang="en-US" dirty="0"/>
              <a:t>Higher Cost of Development and Maintenance</a:t>
            </a:r>
          </a:p>
          <a:p>
            <a:pPr marL="863600" lvl="1" indent="-292100">
              <a:buFont typeface="Wingdings" panose="05000000000000000000" pitchFamily="2" charset="2"/>
              <a:buChar char="§"/>
            </a:pPr>
            <a:r>
              <a:rPr lang="en-US" dirty="0"/>
              <a:t>Limited Scalability</a:t>
            </a:r>
          </a:p>
          <a:p>
            <a:pPr marL="863600" lvl="1" indent="-292100">
              <a:buFont typeface="Wingdings" panose="05000000000000000000" pitchFamily="2" charset="2"/>
              <a:buChar char="§"/>
            </a:pPr>
            <a:r>
              <a:rPr lang="en-US" dirty="0"/>
              <a:t>Reduced Reusability</a:t>
            </a:r>
          </a:p>
          <a:p>
            <a:pPr marL="863600" lvl="1" indent="-292100">
              <a:buFont typeface="Wingdings" panose="05000000000000000000" pitchFamily="2" charset="2"/>
              <a:buChar char="§"/>
            </a:pPr>
            <a:r>
              <a:rPr lang="en-US" dirty="0"/>
              <a:t>Lower Testability</a:t>
            </a:r>
          </a:p>
          <a:p>
            <a:pPr marL="863600" lvl="1" indent="-292100">
              <a:buFont typeface="Wingdings" panose="05000000000000000000" pitchFamily="2" charset="2"/>
              <a:buChar char="§"/>
            </a:pPr>
            <a:r>
              <a:rPr lang="en-US" dirty="0"/>
              <a:t>Increased Risk of System Failures</a:t>
            </a:r>
          </a:p>
        </p:txBody>
      </p:sp>
    </p:spTree>
    <p:extLst>
      <p:ext uri="{BB962C8B-B14F-4D97-AF65-F5344CB8AC3E}">
        <p14:creationId xmlns:p14="http://schemas.microsoft.com/office/powerpoint/2010/main" val="1129176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BF2A9E-27D1-4702-987F-31D94F6B2E60}"/>
              </a:ext>
            </a:extLst>
          </p:cNvPr>
          <p:cNvSpPr>
            <a:spLocks noGrp="1"/>
          </p:cNvSpPr>
          <p:nvPr>
            <p:ph type="title"/>
          </p:nvPr>
        </p:nvSpPr>
        <p:spPr/>
        <p:txBody>
          <a:bodyPr/>
          <a:lstStyle/>
          <a:p>
            <a:r>
              <a:rPr lang="en-US" dirty="0"/>
              <a:t>Measuring Complexity</a:t>
            </a:r>
          </a:p>
        </p:txBody>
      </p:sp>
      <p:sp>
        <p:nvSpPr>
          <p:cNvPr id="3" name="Content Placeholder 2">
            <a:extLst>
              <a:ext uri="{FF2B5EF4-FFF2-40B4-BE49-F238E27FC236}">
                <a16:creationId xmlns="" xmlns:a16="http://schemas.microsoft.com/office/drawing/2014/main" id="{EE8F1EEB-2F35-4022-B6E1-05E0B62A097B}"/>
              </a:ext>
            </a:extLst>
          </p:cNvPr>
          <p:cNvSpPr>
            <a:spLocks noGrp="1"/>
          </p:cNvSpPr>
          <p:nvPr>
            <p:ph idx="1"/>
          </p:nvPr>
        </p:nvSpPr>
        <p:spPr/>
        <p:txBody>
          <a:bodyPr>
            <a:normAutofit fontScale="92500" lnSpcReduction="10000"/>
          </a:bodyPr>
          <a:lstStyle/>
          <a:p>
            <a:pPr marL="0" indent="0">
              <a:buNone/>
            </a:pPr>
            <a:r>
              <a:rPr lang="en-US" sz="2200" b="1" dirty="0">
                <a:solidFill>
                  <a:schemeClr val="accent2">
                    <a:lumMod val="75000"/>
                  </a:schemeClr>
                </a:solidFill>
              </a:rPr>
              <a:t>Common metrics for software complexity include:</a:t>
            </a:r>
          </a:p>
          <a:p>
            <a:r>
              <a:rPr lang="en-US" b="1" dirty="0"/>
              <a:t>1. Cyclomatic Complexity</a:t>
            </a:r>
            <a:r>
              <a:rPr lang="en-US" dirty="0"/>
              <a:t>: </a:t>
            </a:r>
          </a:p>
          <a:p>
            <a:pPr lvl="1"/>
            <a:r>
              <a:rPr lang="en-US" dirty="0"/>
              <a:t>Measures the complexity of a program's control flow by counting the number of linearly independent paths through the source code.</a:t>
            </a:r>
          </a:p>
          <a:p>
            <a:r>
              <a:rPr lang="en-US" b="1" dirty="0"/>
              <a:t>2. Halstead's Software Science Metrics</a:t>
            </a:r>
            <a:r>
              <a:rPr lang="en-US" dirty="0"/>
              <a:t>: </a:t>
            </a:r>
          </a:p>
          <a:p>
            <a:pPr lvl="1"/>
            <a:r>
              <a:rPr lang="en-US" dirty="0"/>
              <a:t>Include measures such as program length, vocabulary size, program volume, program difficulty, and program effort, based on the </a:t>
            </a:r>
            <a:r>
              <a:rPr lang="en-US" b="1" dirty="0">
                <a:solidFill>
                  <a:schemeClr val="accent2">
                    <a:lumMod val="75000"/>
                  </a:schemeClr>
                </a:solidFill>
              </a:rPr>
              <a:t>number of unique operators and operands </a:t>
            </a:r>
            <a:r>
              <a:rPr lang="en-US" dirty="0">
                <a:solidFill>
                  <a:schemeClr val="accent2">
                    <a:lumMod val="75000"/>
                  </a:schemeClr>
                </a:solidFill>
              </a:rPr>
              <a:t>in the code</a:t>
            </a:r>
            <a:r>
              <a:rPr lang="en-US" dirty="0"/>
              <a:t>.</a:t>
            </a:r>
          </a:p>
          <a:p>
            <a:r>
              <a:rPr lang="en-US" b="1" dirty="0"/>
              <a:t>3. McCabe's Complexity</a:t>
            </a:r>
            <a:r>
              <a:rPr lang="en-US" dirty="0"/>
              <a:t>: </a:t>
            </a:r>
          </a:p>
          <a:p>
            <a:pPr lvl="1"/>
            <a:r>
              <a:rPr lang="en-US" dirty="0"/>
              <a:t>Similar to cyclomatic complexity, it quantifies the complexity of a program by counting </a:t>
            </a:r>
            <a:r>
              <a:rPr lang="en-US" b="1" dirty="0">
                <a:solidFill>
                  <a:schemeClr val="accent2">
                    <a:lumMod val="75000"/>
                  </a:schemeClr>
                </a:solidFill>
              </a:rPr>
              <a:t>the number of decision points</a:t>
            </a:r>
            <a:r>
              <a:rPr lang="en-US" dirty="0"/>
              <a:t> in the code.</a:t>
            </a:r>
          </a:p>
          <a:p>
            <a:r>
              <a:rPr lang="en-US" b="1" dirty="0"/>
              <a:t>4. Lines of Code (LOC)</a:t>
            </a:r>
            <a:r>
              <a:rPr lang="en-US" dirty="0"/>
              <a:t>: </a:t>
            </a:r>
          </a:p>
          <a:p>
            <a:pPr lvl="1"/>
            <a:r>
              <a:rPr lang="en-US" dirty="0"/>
              <a:t>Measures the size of a program by counting the </a:t>
            </a:r>
            <a:r>
              <a:rPr lang="en-US" b="1" dirty="0">
                <a:solidFill>
                  <a:schemeClr val="accent2">
                    <a:lumMod val="75000"/>
                  </a:schemeClr>
                </a:solidFill>
              </a:rPr>
              <a:t>number of lines </a:t>
            </a:r>
            <a:r>
              <a:rPr lang="en-US" dirty="0"/>
              <a:t>in the source code. While not a direct measure of complexity, larger programs tend to be more complex.</a:t>
            </a:r>
          </a:p>
        </p:txBody>
      </p:sp>
    </p:spTree>
    <p:extLst>
      <p:ext uri="{BB962C8B-B14F-4D97-AF65-F5344CB8AC3E}">
        <p14:creationId xmlns:p14="http://schemas.microsoft.com/office/powerpoint/2010/main" val="869104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BF2A9E-27D1-4702-987F-31D94F6B2E60}"/>
              </a:ext>
            </a:extLst>
          </p:cNvPr>
          <p:cNvSpPr>
            <a:spLocks noGrp="1"/>
          </p:cNvSpPr>
          <p:nvPr>
            <p:ph type="title"/>
          </p:nvPr>
        </p:nvSpPr>
        <p:spPr/>
        <p:txBody>
          <a:bodyPr/>
          <a:lstStyle/>
          <a:p>
            <a:r>
              <a:rPr lang="en-US" dirty="0"/>
              <a:t>Measuring Complexity</a:t>
            </a:r>
          </a:p>
        </p:txBody>
      </p:sp>
      <p:sp>
        <p:nvSpPr>
          <p:cNvPr id="3" name="Content Placeholder 2">
            <a:extLst>
              <a:ext uri="{FF2B5EF4-FFF2-40B4-BE49-F238E27FC236}">
                <a16:creationId xmlns="" xmlns:a16="http://schemas.microsoft.com/office/drawing/2014/main" id="{EE8F1EEB-2F35-4022-B6E1-05E0B62A097B}"/>
              </a:ext>
            </a:extLst>
          </p:cNvPr>
          <p:cNvSpPr>
            <a:spLocks noGrp="1"/>
          </p:cNvSpPr>
          <p:nvPr>
            <p:ph idx="1"/>
          </p:nvPr>
        </p:nvSpPr>
        <p:spPr/>
        <p:txBody>
          <a:bodyPr>
            <a:normAutofit fontScale="92500" lnSpcReduction="10000"/>
          </a:bodyPr>
          <a:lstStyle/>
          <a:p>
            <a:pPr marL="0" indent="0">
              <a:buNone/>
            </a:pPr>
            <a:r>
              <a:rPr lang="en-US" sz="2200" b="1" dirty="0">
                <a:solidFill>
                  <a:schemeClr val="accent2">
                    <a:lumMod val="75000"/>
                  </a:schemeClr>
                </a:solidFill>
              </a:rPr>
              <a:t>Common metrics for software complexity include:</a:t>
            </a:r>
          </a:p>
          <a:p>
            <a:r>
              <a:rPr lang="en-US" b="1" dirty="0"/>
              <a:t>5. Depth of Inheritance Tree (DIT)</a:t>
            </a:r>
            <a:r>
              <a:rPr lang="en-US" dirty="0"/>
              <a:t>: </a:t>
            </a:r>
          </a:p>
          <a:p>
            <a:pPr lvl="1"/>
            <a:r>
              <a:rPr lang="en-US" dirty="0"/>
              <a:t>Measures the number of levels in the inheritance hierarchy of classes in object-oriented programming. Higher DIT values can indicate increased complexity due to deeper class hierarchies.</a:t>
            </a:r>
          </a:p>
          <a:p>
            <a:r>
              <a:rPr lang="en-US" b="1" dirty="0"/>
              <a:t>6. Coupling and Cohesion Metrics</a:t>
            </a:r>
            <a:r>
              <a:rPr lang="en-US" dirty="0"/>
              <a:t>: </a:t>
            </a:r>
          </a:p>
          <a:p>
            <a:pPr lvl="1"/>
            <a:r>
              <a:rPr lang="en-US" dirty="0"/>
              <a:t>Measure the relationships between modules or components in a software system. High coupling and low cohesion can indicate higher complexity and potential maintenance issues.</a:t>
            </a:r>
          </a:p>
          <a:p>
            <a:r>
              <a:rPr lang="en-US" b="1" dirty="0"/>
              <a:t>7. Function Point Analysis (FPA)</a:t>
            </a:r>
            <a:r>
              <a:rPr lang="en-US" dirty="0"/>
              <a:t>: </a:t>
            </a:r>
          </a:p>
          <a:p>
            <a:pPr lvl="1"/>
            <a:r>
              <a:rPr lang="en-US" dirty="0"/>
              <a:t>Measures the software system’s functionality based on the user's perspective. It considers inputs, outputs, inquiries, internal logical files, and external interface files.</a:t>
            </a:r>
          </a:p>
          <a:p>
            <a:r>
              <a:rPr lang="en-US" b="1" dirty="0"/>
              <a:t>8. Maintainability Index</a:t>
            </a:r>
            <a:r>
              <a:rPr lang="en-US" dirty="0"/>
              <a:t>: </a:t>
            </a:r>
          </a:p>
          <a:p>
            <a:pPr lvl="1"/>
            <a:r>
              <a:rPr lang="en-US" dirty="0"/>
              <a:t>An aggregate metric that combines various aspects of software complexity, such as cyclomatic complexity, lines of code, and code blend, to assess the ease of maintaining the software.</a:t>
            </a:r>
          </a:p>
        </p:txBody>
      </p:sp>
    </p:spTree>
    <p:extLst>
      <p:ext uri="{BB962C8B-B14F-4D97-AF65-F5344CB8AC3E}">
        <p14:creationId xmlns:p14="http://schemas.microsoft.com/office/powerpoint/2010/main" val="3288313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BF2A9E-27D1-4702-987F-31D94F6B2E60}"/>
              </a:ext>
            </a:extLst>
          </p:cNvPr>
          <p:cNvSpPr>
            <a:spLocks noGrp="1"/>
          </p:cNvSpPr>
          <p:nvPr>
            <p:ph type="title"/>
          </p:nvPr>
        </p:nvSpPr>
        <p:spPr/>
        <p:txBody>
          <a:bodyPr/>
          <a:lstStyle/>
          <a:p>
            <a:r>
              <a:rPr lang="en-US" dirty="0"/>
              <a:t>Measuring Complexity</a:t>
            </a:r>
          </a:p>
        </p:txBody>
      </p:sp>
      <p:sp>
        <p:nvSpPr>
          <p:cNvPr id="3" name="Content Placeholder 2">
            <a:extLst>
              <a:ext uri="{FF2B5EF4-FFF2-40B4-BE49-F238E27FC236}">
                <a16:creationId xmlns="" xmlns:a16="http://schemas.microsoft.com/office/drawing/2014/main" id="{EE8F1EEB-2F35-4022-B6E1-05E0B62A097B}"/>
              </a:ext>
            </a:extLst>
          </p:cNvPr>
          <p:cNvSpPr>
            <a:spLocks noGrp="1"/>
          </p:cNvSpPr>
          <p:nvPr>
            <p:ph idx="1"/>
          </p:nvPr>
        </p:nvSpPr>
        <p:spPr/>
        <p:txBody>
          <a:bodyPr>
            <a:normAutofit lnSpcReduction="10000"/>
          </a:bodyPr>
          <a:lstStyle/>
          <a:p>
            <a:pPr marL="0" indent="0">
              <a:buNone/>
            </a:pPr>
            <a:r>
              <a:rPr lang="en-US" sz="2400" b="1" dirty="0">
                <a:solidFill>
                  <a:schemeClr val="accent2">
                    <a:lumMod val="75000"/>
                  </a:schemeClr>
                </a:solidFill>
              </a:rPr>
              <a:t>Three main approaches to minimize complexity throughout the construction phase:</a:t>
            </a:r>
          </a:p>
          <a:p>
            <a:pPr marL="457200" indent="-280988">
              <a:buFont typeface="Wingdings" panose="05000000000000000000" pitchFamily="2" charset="2"/>
              <a:buChar char="§"/>
            </a:pPr>
            <a:r>
              <a:rPr lang="en-US" sz="2400" b="1" dirty="0"/>
              <a:t>Removal of Complexity</a:t>
            </a:r>
          </a:p>
          <a:p>
            <a:pPr marL="749808" lvl="1" indent="-280988">
              <a:buFont typeface="Wingdings" panose="05000000000000000000" pitchFamily="2" charset="2"/>
              <a:buChar char="§"/>
            </a:pPr>
            <a:r>
              <a:rPr lang="en-US" sz="2000" b="1" dirty="0">
                <a:solidFill>
                  <a:schemeClr val="accent2">
                    <a:lumMod val="75000"/>
                  </a:schemeClr>
                </a:solidFill>
              </a:rPr>
              <a:t>Principle of parsimony </a:t>
            </a:r>
            <a:r>
              <a:rPr lang="en-US" sz="2000" dirty="0"/>
              <a:t>– </a:t>
            </a:r>
            <a:r>
              <a:rPr lang="en-US" sz="2000" dirty="0">
                <a:solidFill>
                  <a:srgbClr val="0D0D0D"/>
                </a:solidFill>
                <a:latin typeface="Söhne"/>
              </a:rPr>
              <a:t>suggesting that unnecessarily complex theories should be avoided</a:t>
            </a:r>
            <a:endParaRPr lang="en-US" sz="2000" b="1" dirty="0"/>
          </a:p>
          <a:p>
            <a:pPr marL="457200" indent="-280988">
              <a:buFont typeface="Wingdings" panose="05000000000000000000" pitchFamily="2" charset="2"/>
              <a:buChar char="§"/>
            </a:pPr>
            <a:r>
              <a:rPr lang="en-US" sz="2400" b="1" dirty="0"/>
              <a:t>Automation of Complexity</a:t>
            </a:r>
          </a:p>
          <a:p>
            <a:pPr marL="749808" lvl="1" indent="-280988">
              <a:buFont typeface="Wingdings" panose="05000000000000000000" pitchFamily="2" charset="2"/>
              <a:buChar char="§"/>
            </a:pPr>
            <a:r>
              <a:rPr lang="en-US" sz="2000" dirty="0"/>
              <a:t>Reuse of code modules</a:t>
            </a:r>
          </a:p>
          <a:p>
            <a:pPr marL="457200" indent="-280988">
              <a:buFont typeface="Wingdings" panose="05000000000000000000" pitchFamily="2" charset="2"/>
              <a:buChar char="§"/>
            </a:pPr>
            <a:r>
              <a:rPr lang="en-US" sz="2400" b="1" dirty="0"/>
              <a:t>Localization of Complexity</a:t>
            </a:r>
          </a:p>
          <a:p>
            <a:pPr marL="749808" lvl="1" indent="-280988">
              <a:buFont typeface="Wingdings" panose="05000000000000000000" pitchFamily="2" charset="2"/>
              <a:buChar char="§"/>
            </a:pPr>
            <a:r>
              <a:rPr lang="en-US" sz="2000" i="1" dirty="0"/>
              <a:t>Localize </a:t>
            </a:r>
            <a:r>
              <a:rPr lang="en-US" sz="2000" dirty="0"/>
              <a:t>complexity into small “units” or “modules” that are small enough for a person to understand </a:t>
            </a:r>
          </a:p>
          <a:p>
            <a:pPr marL="749808" lvl="1" indent="-280988">
              <a:buFont typeface="Wingdings" panose="05000000000000000000" pitchFamily="2" charset="2"/>
              <a:buChar char="§"/>
            </a:pPr>
            <a:r>
              <a:rPr lang="en-US" sz="2000" dirty="0"/>
              <a:t>Ensuring low coupling and high cohesion</a:t>
            </a:r>
          </a:p>
        </p:txBody>
      </p:sp>
    </p:spTree>
    <p:extLst>
      <p:ext uri="{BB962C8B-B14F-4D97-AF65-F5344CB8AC3E}">
        <p14:creationId xmlns:p14="http://schemas.microsoft.com/office/powerpoint/2010/main" val="540346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AC8C45-CF5B-4316-B9F3-5D61443418DF}"/>
              </a:ext>
            </a:extLst>
          </p:cNvPr>
          <p:cNvSpPr>
            <a:spLocks noGrp="1"/>
          </p:cNvSpPr>
          <p:nvPr>
            <p:ph type="title"/>
          </p:nvPr>
        </p:nvSpPr>
        <p:spPr/>
        <p:txBody>
          <a:bodyPr/>
          <a:lstStyle/>
          <a:p>
            <a:r>
              <a:rPr lang="en-US" dirty="0"/>
              <a:t>Minimizing Complexity</a:t>
            </a:r>
          </a:p>
        </p:txBody>
      </p:sp>
      <p:sp>
        <p:nvSpPr>
          <p:cNvPr id="3" name="Content Placeholder 2">
            <a:extLst>
              <a:ext uri="{FF2B5EF4-FFF2-40B4-BE49-F238E27FC236}">
                <a16:creationId xmlns="" xmlns:a16="http://schemas.microsoft.com/office/drawing/2014/main" id="{A62D629D-CAA2-48FF-A934-AEA1FCD66B4C}"/>
              </a:ext>
            </a:extLst>
          </p:cNvPr>
          <p:cNvSpPr>
            <a:spLocks noGrp="1"/>
          </p:cNvSpPr>
          <p:nvPr>
            <p:ph idx="1"/>
          </p:nvPr>
        </p:nvSpPr>
        <p:spPr/>
        <p:txBody>
          <a:bodyPr>
            <a:normAutofit/>
          </a:bodyPr>
          <a:lstStyle/>
          <a:p>
            <a:r>
              <a:rPr lang="en-US" sz="2400" dirty="0">
                <a:latin typeface="Helvetica" panose="020B0604020202020204" pitchFamily="34" charset="0"/>
                <a:cs typeface="Helvetica" panose="020B0604020202020204" pitchFamily="34" charset="0"/>
              </a:rPr>
              <a:t>Complexity can be controlled at two stages:</a:t>
            </a:r>
          </a:p>
          <a:p>
            <a:r>
              <a:rPr lang="en-US" sz="2400" dirty="0">
                <a:latin typeface="Helvetica" panose="020B0604020202020204" pitchFamily="34" charset="0"/>
                <a:cs typeface="Helvetica" panose="020B0604020202020204" pitchFamily="34" charset="0"/>
              </a:rPr>
              <a:t> </a:t>
            </a:r>
          </a:p>
          <a:p>
            <a:pPr marL="685800" lvl="1" indent="-280988">
              <a:buFont typeface="Wingdings" panose="05000000000000000000" pitchFamily="2" charset="2"/>
              <a:buChar char="§"/>
            </a:pPr>
            <a:r>
              <a:rPr lang="en-US" sz="2400" dirty="0">
                <a:latin typeface="Helvetica" panose="020B0604020202020204" pitchFamily="34" charset="0"/>
                <a:cs typeface="Helvetica" panose="020B0604020202020204" pitchFamily="34" charset="0"/>
              </a:rPr>
              <a:t>Software Design Phase</a:t>
            </a:r>
          </a:p>
          <a:p>
            <a:pPr marL="685800" lvl="1" indent="-280988">
              <a:buFont typeface="Wingdings" panose="05000000000000000000" pitchFamily="2" charset="2"/>
              <a:buChar char="§"/>
            </a:pPr>
            <a:r>
              <a:rPr lang="en-US" sz="2400" dirty="0">
                <a:latin typeface="Helvetica" panose="020B0604020202020204" pitchFamily="34" charset="0"/>
                <a:cs typeface="Helvetica" panose="020B0604020202020204" pitchFamily="34" charset="0"/>
              </a:rPr>
              <a:t>Implementation Phase</a:t>
            </a:r>
          </a:p>
        </p:txBody>
      </p:sp>
    </p:spTree>
    <p:extLst>
      <p:ext uri="{BB962C8B-B14F-4D97-AF65-F5344CB8AC3E}">
        <p14:creationId xmlns:p14="http://schemas.microsoft.com/office/powerpoint/2010/main" val="1921711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AC8C45-CF5B-4316-B9F3-5D61443418DF}"/>
              </a:ext>
            </a:extLst>
          </p:cNvPr>
          <p:cNvSpPr>
            <a:spLocks noGrp="1"/>
          </p:cNvSpPr>
          <p:nvPr>
            <p:ph type="title"/>
          </p:nvPr>
        </p:nvSpPr>
        <p:spPr/>
        <p:txBody>
          <a:bodyPr/>
          <a:lstStyle/>
          <a:p>
            <a:r>
              <a:rPr lang="en-US" dirty="0"/>
              <a:t>Minimizing Complexity</a:t>
            </a:r>
          </a:p>
        </p:txBody>
      </p:sp>
      <p:sp>
        <p:nvSpPr>
          <p:cNvPr id="3" name="Content Placeholder 2">
            <a:extLst>
              <a:ext uri="{FF2B5EF4-FFF2-40B4-BE49-F238E27FC236}">
                <a16:creationId xmlns="" xmlns:a16="http://schemas.microsoft.com/office/drawing/2014/main" id="{A62D629D-CAA2-48FF-A934-AEA1FCD66B4C}"/>
              </a:ext>
            </a:extLst>
          </p:cNvPr>
          <p:cNvSpPr>
            <a:spLocks noGrp="1"/>
          </p:cNvSpPr>
          <p:nvPr>
            <p:ph idx="1"/>
          </p:nvPr>
        </p:nvSpPr>
        <p:spPr/>
        <p:txBody>
          <a:bodyPr>
            <a:normAutofit/>
          </a:bodyPr>
          <a:lstStyle/>
          <a:p>
            <a:pPr marL="404813"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Techniques to minimize complexity in Design Phase: </a:t>
            </a:r>
          </a:p>
          <a:p>
            <a:pPr marL="6974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Modularization</a:t>
            </a:r>
          </a:p>
          <a:p>
            <a:pPr marL="6974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Abstraction</a:t>
            </a:r>
          </a:p>
          <a:p>
            <a:pPr marL="6974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Hierarchical Design</a:t>
            </a:r>
          </a:p>
          <a:p>
            <a:pPr marL="6974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Design Patterns</a:t>
            </a:r>
          </a:p>
          <a:p>
            <a:pPr marL="6974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Prototyping</a:t>
            </a:r>
          </a:p>
        </p:txBody>
      </p:sp>
    </p:spTree>
    <p:extLst>
      <p:ext uri="{BB962C8B-B14F-4D97-AF65-F5344CB8AC3E}">
        <p14:creationId xmlns:p14="http://schemas.microsoft.com/office/powerpoint/2010/main" val="3314218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010C96-FB70-4D46-A03F-5325DD3D3947}"/>
              </a:ext>
            </a:extLst>
          </p:cNvPr>
          <p:cNvSpPr>
            <a:spLocks noGrp="1"/>
          </p:cNvSpPr>
          <p:nvPr>
            <p:ph type="title"/>
          </p:nvPr>
        </p:nvSpPr>
        <p:spPr>
          <a:xfrm>
            <a:off x="775162" y="1738814"/>
            <a:ext cx="10966566" cy="883227"/>
          </a:xfrm>
        </p:spPr>
        <p:txBody>
          <a:bodyPr>
            <a:normAutofit/>
          </a:bodyPr>
          <a:lstStyle/>
          <a:p>
            <a:r>
              <a:rPr lang="en-US" sz="2800" dirty="0"/>
              <a:t>Modularization     		 Hierarchical			       Design Abstraction</a:t>
            </a:r>
          </a:p>
        </p:txBody>
      </p:sp>
      <p:pic>
        <p:nvPicPr>
          <p:cNvPr id="11266" name="Picture 2" descr="Importance Of Modularity In Programming - AOSD.net">
            <a:extLst>
              <a:ext uri="{FF2B5EF4-FFF2-40B4-BE49-F238E27FC236}">
                <a16:creationId xmlns="" xmlns:a16="http://schemas.microsoft.com/office/drawing/2014/main" id="{4113B248-337A-4B96-A4F0-E871B62D5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399" y="3730337"/>
            <a:ext cx="3393786" cy="2232276"/>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Software Modularity">
            <a:extLst>
              <a:ext uri="{FF2B5EF4-FFF2-40B4-BE49-F238E27FC236}">
                <a16:creationId xmlns="" xmlns:a16="http://schemas.microsoft.com/office/drawing/2014/main" id="{AD1382C9-059B-4D7B-80C2-836A135BA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550"/>
          <a:stretch/>
        </p:blipFill>
        <p:spPr bwMode="auto">
          <a:xfrm>
            <a:off x="4098698" y="2870627"/>
            <a:ext cx="2655394" cy="3091986"/>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Abstraction in Software: Exploring Real-World Examples | by TayfunKalayci |  Medium">
            <a:extLst>
              <a:ext uri="{FF2B5EF4-FFF2-40B4-BE49-F238E27FC236}">
                <a16:creationId xmlns="" xmlns:a16="http://schemas.microsoft.com/office/drawing/2014/main" id="{BB0D99D6-48A3-4D00-AE5A-CFE3776BD8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0955" y="4066560"/>
            <a:ext cx="4450773" cy="1854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094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3">
            <a:extLst>
              <a:ext uri="{FF2B5EF4-FFF2-40B4-BE49-F238E27FC236}">
                <a16:creationId xmlns="" xmlns:a16="http://schemas.microsoft.com/office/drawing/2014/main" id="{E9BA134F-37B6-498A-B46D-040B86E5DA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1" name="Rectangle 15">
            <a:extLst>
              <a:ext uri="{FF2B5EF4-FFF2-40B4-BE49-F238E27FC236}">
                <a16:creationId xmlns="" xmlns:a16="http://schemas.microsoft.com/office/drawing/2014/main" id="{2BFE3F30-11E0-4842-8523-7222538C8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 y="0"/>
            <a:ext cx="7547879" cy="6858000"/>
          </a:xfrm>
          <a:prstGeom prst="rect">
            <a:avLst/>
          </a:prstGeom>
          <a:solidFill>
            <a:srgbClr val="665559"/>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 xmlns:a16="http://schemas.microsoft.com/office/drawing/2014/main" id="{84605E0D-DF0D-4244-9B44-14F8053CE0DE}"/>
              </a:ext>
            </a:extLst>
          </p:cNvPr>
          <p:cNvSpPr>
            <a:spLocks noGrp="1"/>
          </p:cNvSpPr>
          <p:nvPr>
            <p:ph type="title"/>
          </p:nvPr>
        </p:nvSpPr>
        <p:spPr>
          <a:xfrm>
            <a:off x="1097280" y="516835"/>
            <a:ext cx="5977937" cy="1666501"/>
          </a:xfrm>
        </p:spPr>
        <p:txBody>
          <a:bodyPr>
            <a:normAutofit/>
          </a:bodyPr>
          <a:lstStyle/>
          <a:p>
            <a:r>
              <a:rPr lang="en-US" sz="4000">
                <a:solidFill>
                  <a:srgbClr val="FFFFFF"/>
                </a:solidFill>
              </a:rPr>
              <a:t>Design Patterns</a:t>
            </a:r>
          </a:p>
        </p:txBody>
      </p:sp>
      <p:sp>
        <p:nvSpPr>
          <p:cNvPr id="3" name="Content Placeholder 2">
            <a:extLst>
              <a:ext uri="{FF2B5EF4-FFF2-40B4-BE49-F238E27FC236}">
                <a16:creationId xmlns="" xmlns:a16="http://schemas.microsoft.com/office/drawing/2014/main" id="{3A10A57C-AC2B-42E9-9077-6E04E779240A}"/>
              </a:ext>
            </a:extLst>
          </p:cNvPr>
          <p:cNvSpPr>
            <a:spLocks noGrp="1"/>
          </p:cNvSpPr>
          <p:nvPr>
            <p:ph idx="1"/>
          </p:nvPr>
        </p:nvSpPr>
        <p:spPr>
          <a:xfrm>
            <a:off x="1097279" y="2236304"/>
            <a:ext cx="6301048" cy="3652667"/>
          </a:xfrm>
        </p:spPr>
        <p:txBody>
          <a:bodyPr>
            <a:normAutofit/>
          </a:bodyPr>
          <a:lstStyle/>
          <a:p>
            <a:r>
              <a:rPr lang="en-US" sz="2400" dirty="0">
                <a:solidFill>
                  <a:srgbClr val="FFFFFF"/>
                </a:solidFill>
                <a:latin typeface="Helvetica" panose="020B0604020202020204" pitchFamily="34" charset="0"/>
                <a:cs typeface="Helvetica" panose="020B0604020202020204" pitchFamily="34" charset="0"/>
              </a:rPr>
              <a:t>Providing proven templates to address specific design challenges and promote best practices for building robust, maintainable, and scalable software systems.</a:t>
            </a:r>
          </a:p>
        </p:txBody>
      </p:sp>
      <p:sp>
        <p:nvSpPr>
          <p:cNvPr id="22" name="Rectangle 17">
            <a:extLst>
              <a:ext uri="{FF2B5EF4-FFF2-40B4-BE49-F238E27FC236}">
                <a16:creationId xmlns="" xmlns:a16="http://schemas.microsoft.com/office/drawing/2014/main" id="{3BC04142-131F-4352-8F66-1B161AF72EB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547894" y="0"/>
            <a:ext cx="64008" cy="6858000"/>
          </a:xfrm>
          <a:prstGeom prst="rect">
            <a:avLst/>
          </a:prstGeom>
          <a:solidFill>
            <a:srgbClr val="AD9BF9"/>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9" name="Picture 8">
            <a:extLst>
              <a:ext uri="{FF2B5EF4-FFF2-40B4-BE49-F238E27FC236}">
                <a16:creationId xmlns="" xmlns:a16="http://schemas.microsoft.com/office/drawing/2014/main" id="{C6522A5B-2D4A-4F6C-91CB-E30E3BA65FAF}"/>
              </a:ext>
            </a:extLst>
          </p:cNvPr>
          <p:cNvPicPr>
            <a:picLocks noChangeAspect="1"/>
          </p:cNvPicPr>
          <p:nvPr/>
        </p:nvPicPr>
        <p:blipFill>
          <a:blip r:embed="rId3"/>
          <a:stretch>
            <a:fillRect/>
          </a:stretch>
        </p:blipFill>
        <p:spPr>
          <a:xfrm>
            <a:off x="8251982" y="844469"/>
            <a:ext cx="3294253" cy="5147270"/>
          </a:xfrm>
          <a:prstGeom prst="rect">
            <a:avLst/>
          </a:prstGeom>
        </p:spPr>
      </p:pic>
    </p:spTree>
    <p:extLst>
      <p:ext uri="{BB962C8B-B14F-4D97-AF65-F5344CB8AC3E}">
        <p14:creationId xmlns:p14="http://schemas.microsoft.com/office/powerpoint/2010/main" val="274392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AC8C45-CF5B-4316-B9F3-5D61443418DF}"/>
              </a:ext>
            </a:extLst>
          </p:cNvPr>
          <p:cNvSpPr>
            <a:spLocks noGrp="1"/>
          </p:cNvSpPr>
          <p:nvPr>
            <p:ph type="title"/>
          </p:nvPr>
        </p:nvSpPr>
        <p:spPr/>
        <p:txBody>
          <a:bodyPr/>
          <a:lstStyle/>
          <a:p>
            <a:r>
              <a:rPr lang="en-US" dirty="0"/>
              <a:t>Minimizing Complexity</a:t>
            </a:r>
          </a:p>
        </p:txBody>
      </p:sp>
      <p:sp>
        <p:nvSpPr>
          <p:cNvPr id="3" name="Content Placeholder 2">
            <a:extLst>
              <a:ext uri="{FF2B5EF4-FFF2-40B4-BE49-F238E27FC236}">
                <a16:creationId xmlns="" xmlns:a16="http://schemas.microsoft.com/office/drawing/2014/main" id="{A62D629D-CAA2-48FF-A934-AEA1FCD66B4C}"/>
              </a:ext>
            </a:extLst>
          </p:cNvPr>
          <p:cNvSpPr>
            <a:spLocks noGrp="1"/>
          </p:cNvSpPr>
          <p:nvPr>
            <p:ph idx="1"/>
          </p:nvPr>
        </p:nvSpPr>
        <p:spPr/>
        <p:txBody>
          <a:bodyPr>
            <a:normAutofit/>
          </a:bodyPr>
          <a:lstStyle/>
          <a:p>
            <a:pPr marL="404813"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Techniques to minimize complexity in the Implementation Phase: </a:t>
            </a:r>
          </a:p>
          <a:p>
            <a:pPr marL="9260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Functional Decomposition</a:t>
            </a:r>
          </a:p>
          <a:p>
            <a:pPr marL="9260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Modular Programming</a:t>
            </a:r>
          </a:p>
          <a:p>
            <a:pPr marL="9260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Clean Code Practices</a:t>
            </a:r>
          </a:p>
          <a:p>
            <a:pPr marL="9260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Code Refactoring</a:t>
            </a:r>
          </a:p>
          <a:p>
            <a:pPr marL="926021" lvl="1" indent="-228600">
              <a:buFont typeface="Wingdings" panose="05000000000000000000" pitchFamily="2" charset="2"/>
              <a:buChar char="§"/>
            </a:pPr>
            <a:r>
              <a:rPr lang="en-US" sz="2400" dirty="0">
                <a:latin typeface="Helvetica" panose="020B0604020202020204" pitchFamily="34" charset="0"/>
                <a:cs typeface="Helvetica" panose="020B0604020202020204" pitchFamily="34" charset="0"/>
              </a:rPr>
              <a:t>Test-Driven Development (TDD)</a:t>
            </a:r>
          </a:p>
        </p:txBody>
      </p:sp>
    </p:spTree>
    <p:extLst>
      <p:ext uri="{BB962C8B-B14F-4D97-AF65-F5344CB8AC3E}">
        <p14:creationId xmlns:p14="http://schemas.microsoft.com/office/powerpoint/2010/main" val="4117550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AB8F4F-01B1-4D50-975F-F78C1F3E526A}"/>
              </a:ext>
            </a:extLst>
          </p:cNvPr>
          <p:cNvSpPr>
            <a:spLocks noGrp="1"/>
          </p:cNvSpPr>
          <p:nvPr>
            <p:ph type="title"/>
          </p:nvPr>
        </p:nvSpPr>
        <p:spPr/>
        <p:txBody>
          <a:bodyPr>
            <a:normAutofit/>
          </a:bodyPr>
          <a:lstStyle/>
          <a:p>
            <a:r>
              <a:rPr lang="en-US" sz="4400" dirty="0"/>
              <a:t>Implementing DevOps and Agile to Reduce Complexity and Cost</a:t>
            </a:r>
          </a:p>
        </p:txBody>
      </p:sp>
      <p:sp>
        <p:nvSpPr>
          <p:cNvPr id="3" name="Content Placeholder 2">
            <a:extLst>
              <a:ext uri="{FF2B5EF4-FFF2-40B4-BE49-F238E27FC236}">
                <a16:creationId xmlns="" xmlns:a16="http://schemas.microsoft.com/office/drawing/2014/main" id="{0C73E7D6-84ED-4772-B96A-31BDB4958BCD}"/>
              </a:ext>
            </a:extLst>
          </p:cNvPr>
          <p:cNvSpPr>
            <a:spLocks noGrp="1"/>
          </p:cNvSpPr>
          <p:nvPr>
            <p:ph idx="1"/>
          </p:nvPr>
        </p:nvSpPr>
        <p:spPr>
          <a:xfrm>
            <a:off x="1097280" y="1845733"/>
            <a:ext cx="10058400" cy="4614051"/>
          </a:xfrm>
        </p:spPr>
        <p:txBody>
          <a:bodyPr>
            <a:normAutofit/>
          </a:bodyPr>
          <a:lstStyle/>
          <a:p>
            <a:pPr marL="342900" indent="-342900">
              <a:buFont typeface="Wingdings" panose="05000000000000000000" pitchFamily="2" charset="2"/>
              <a:buChar char="§"/>
            </a:pPr>
            <a:r>
              <a:rPr lang="en-US" sz="2400" b="1" dirty="0"/>
              <a:t>Continuous Integration/Continuous Deployment:</a:t>
            </a:r>
            <a:r>
              <a:rPr lang="en-US" sz="2400" dirty="0"/>
              <a:t> Streamlines development and deployment processes, ensuring faster and more reliable delivery.</a:t>
            </a:r>
          </a:p>
          <a:p>
            <a:pPr marL="342900" indent="-342900">
              <a:buFont typeface="Wingdings" panose="05000000000000000000" pitchFamily="2" charset="2"/>
              <a:buChar char="§"/>
            </a:pPr>
            <a:r>
              <a:rPr lang="en-US" sz="2400" b="1" dirty="0"/>
              <a:t>Collaborative Culture:</a:t>
            </a:r>
            <a:r>
              <a:rPr lang="en-US" sz="2400" dirty="0"/>
              <a:t> Encourages teamwork between developers and operations, leading to better problem-solving and innovation.</a:t>
            </a:r>
          </a:p>
          <a:p>
            <a:pPr marL="342900" indent="-342900">
              <a:buFont typeface="Wingdings" panose="05000000000000000000" pitchFamily="2" charset="2"/>
              <a:buChar char="§"/>
            </a:pPr>
            <a:r>
              <a:rPr lang="en-US" sz="2400" b="1" dirty="0"/>
              <a:t>Iterative Development:</a:t>
            </a:r>
            <a:r>
              <a:rPr lang="en-US" sz="2400" dirty="0"/>
              <a:t> Allows for regular feedback and quick adaptation to changes, reducing errors and rework.</a:t>
            </a:r>
          </a:p>
          <a:p>
            <a:pPr marL="342900" indent="-342900">
              <a:buFont typeface="Wingdings" panose="05000000000000000000" pitchFamily="2" charset="2"/>
              <a:buChar char="§"/>
            </a:pPr>
            <a:r>
              <a:rPr lang="en-US" sz="2400" b="1" dirty="0"/>
              <a:t>Resource Optimization:</a:t>
            </a:r>
            <a:r>
              <a:rPr lang="en-US" sz="2400" dirty="0"/>
              <a:t> Efficiently uses resources, reducing waste and lowering operational costs.</a:t>
            </a:r>
          </a:p>
          <a:p>
            <a:pPr marL="342900" indent="-342900">
              <a:buFont typeface="Wingdings" panose="05000000000000000000" pitchFamily="2" charset="2"/>
              <a:buChar char="§"/>
            </a:pPr>
            <a:r>
              <a:rPr lang="en-US" sz="2400" b="1" dirty="0"/>
              <a:t>Rapid Problem Resolution:</a:t>
            </a:r>
            <a:r>
              <a:rPr lang="en-US" sz="2400" dirty="0"/>
              <a:t> Quick identification and resolution of issues, improving system stability and user satisfaction.</a:t>
            </a:r>
          </a:p>
        </p:txBody>
      </p:sp>
    </p:spTree>
    <p:extLst>
      <p:ext uri="{BB962C8B-B14F-4D97-AF65-F5344CB8AC3E}">
        <p14:creationId xmlns:p14="http://schemas.microsoft.com/office/powerpoint/2010/main" val="2160936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788DCC-BA79-4F64-9B52-DAC4AD09B8D9}"/>
              </a:ext>
            </a:extLst>
          </p:cNvPr>
          <p:cNvSpPr>
            <a:spLocks noGrp="1"/>
          </p:cNvSpPr>
          <p:nvPr>
            <p:ph type="title"/>
          </p:nvPr>
        </p:nvSpPr>
        <p:spPr/>
        <p:txBody>
          <a:bodyPr/>
          <a:lstStyle/>
          <a:p>
            <a:r>
              <a:rPr lang="en-US" dirty="0"/>
              <a:t>DevOps</a:t>
            </a:r>
          </a:p>
        </p:txBody>
      </p:sp>
      <p:pic>
        <p:nvPicPr>
          <p:cNvPr id="4098" name="Picture 2" descr="DevOps Tutorial">
            <a:extLst>
              <a:ext uri="{FF2B5EF4-FFF2-40B4-BE49-F238E27FC236}">
                <a16:creationId xmlns="" xmlns:a16="http://schemas.microsoft.com/office/drawing/2014/main" id="{196E9EBF-C30E-492C-8480-56B321803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382" y="1841268"/>
            <a:ext cx="7602682" cy="4333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800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5C5DCA-404D-4765-8D3E-8FB4378963DA}"/>
              </a:ext>
            </a:extLst>
          </p:cNvPr>
          <p:cNvSpPr>
            <a:spLocks noGrp="1"/>
          </p:cNvSpPr>
          <p:nvPr>
            <p:ph type="title"/>
          </p:nvPr>
        </p:nvSpPr>
        <p:spPr/>
        <p:txBody>
          <a:bodyPr/>
          <a:lstStyle/>
          <a:p>
            <a:r>
              <a:rPr lang="en-US" dirty="0"/>
              <a:t>Agile Development Method</a:t>
            </a:r>
          </a:p>
        </p:txBody>
      </p:sp>
      <p:pic>
        <p:nvPicPr>
          <p:cNvPr id="1026" name="Picture 2" descr="What is Agile software development? - K&amp;C">
            <a:extLst>
              <a:ext uri="{FF2B5EF4-FFF2-40B4-BE49-F238E27FC236}">
                <a16:creationId xmlns="" xmlns:a16="http://schemas.microsoft.com/office/drawing/2014/main" id="{59968985-BE7B-4BD1-8A06-D9B0695D4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452" y="1948391"/>
            <a:ext cx="8884227" cy="4129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283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9770D4-8966-45A4-983E-ECAA14C81830}"/>
              </a:ext>
            </a:extLst>
          </p:cNvPr>
          <p:cNvSpPr>
            <a:spLocks noGrp="1"/>
          </p:cNvSpPr>
          <p:nvPr>
            <p:ph type="title"/>
          </p:nvPr>
        </p:nvSpPr>
        <p:spPr/>
        <p:txBody>
          <a:bodyPr/>
          <a:lstStyle/>
          <a:p>
            <a:r>
              <a:rPr lang="en-US" dirty="0"/>
              <a:t>Anticipating Change</a:t>
            </a:r>
          </a:p>
        </p:txBody>
      </p:sp>
      <p:sp>
        <p:nvSpPr>
          <p:cNvPr id="3" name="Content Placeholder 2">
            <a:extLst>
              <a:ext uri="{FF2B5EF4-FFF2-40B4-BE49-F238E27FC236}">
                <a16:creationId xmlns="" xmlns:a16="http://schemas.microsoft.com/office/drawing/2014/main" id="{EC54D40C-B66A-4563-AFD6-64A43D9C2674}"/>
              </a:ext>
            </a:extLst>
          </p:cNvPr>
          <p:cNvSpPr>
            <a:spLocks noGrp="1"/>
          </p:cNvSpPr>
          <p:nvPr>
            <p:ph idx="1"/>
          </p:nvPr>
        </p:nvSpPr>
        <p:spPr/>
        <p:txBody>
          <a:bodyPr>
            <a:normAutofit fontScale="25000" lnSpcReduction="20000"/>
          </a:bodyPr>
          <a:lstStyle/>
          <a:p>
            <a:r>
              <a:rPr lang="en-US" sz="9600" b="1" dirty="0">
                <a:latin typeface="Helvetica" panose="020B0604020202020204" pitchFamily="34" charset="0"/>
                <a:cs typeface="Helvetica" panose="020B0604020202020204" pitchFamily="34" charset="0"/>
              </a:rPr>
              <a:t>Techniques and methods that help anticipate diversity include:</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Information hiding</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Embedded documentation (commenting)</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Object-oriented methods</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Creation of “glue languages” for linking legacy components</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Table-driven software</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 Configuration files, internationalization</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Naming and coding styles</a:t>
            </a:r>
          </a:p>
          <a:p>
            <a:pPr lvl="1">
              <a:lnSpc>
                <a:spcPct val="120000"/>
              </a:lnSpc>
              <a:buFont typeface="Wingdings" panose="05000000000000000000" pitchFamily="2" charset="2"/>
              <a:buChar char="§"/>
            </a:pPr>
            <a:r>
              <a:rPr lang="en-US" sz="9400" dirty="0">
                <a:latin typeface="Helvetica" panose="020B0604020202020204" pitchFamily="34" charset="0"/>
                <a:cs typeface="Helvetica" panose="020B0604020202020204" pitchFamily="34" charset="0"/>
              </a:rPr>
              <a:t>Reuse and repositories</a:t>
            </a:r>
          </a:p>
        </p:txBody>
      </p:sp>
    </p:spTree>
    <p:extLst>
      <p:ext uri="{BB962C8B-B14F-4D97-AF65-F5344CB8AC3E}">
        <p14:creationId xmlns:p14="http://schemas.microsoft.com/office/powerpoint/2010/main" val="679392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E73F27-1FDD-4B49-B2C2-F76ECD6BE5F2}"/>
              </a:ext>
            </a:extLst>
          </p:cNvPr>
          <p:cNvSpPr>
            <a:spLocks noGrp="1"/>
          </p:cNvSpPr>
          <p:nvPr>
            <p:ph type="title"/>
          </p:nvPr>
        </p:nvSpPr>
        <p:spPr/>
        <p:txBody>
          <a:bodyPr/>
          <a:lstStyle/>
          <a:p>
            <a:r>
              <a:rPr lang="en-US" dirty="0"/>
              <a:t>Structuring for Validation</a:t>
            </a:r>
          </a:p>
        </p:txBody>
      </p:sp>
      <p:sp>
        <p:nvSpPr>
          <p:cNvPr id="3" name="Content Placeholder 2">
            <a:extLst>
              <a:ext uri="{FF2B5EF4-FFF2-40B4-BE49-F238E27FC236}">
                <a16:creationId xmlns="" xmlns:a16="http://schemas.microsoft.com/office/drawing/2014/main" id="{C847FF17-C3EC-409D-B6D3-4B737A55C2C3}"/>
              </a:ext>
            </a:extLst>
          </p:cNvPr>
          <p:cNvSpPr>
            <a:spLocks noGrp="1"/>
          </p:cNvSpPr>
          <p:nvPr>
            <p:ph idx="1"/>
          </p:nvPr>
        </p:nvSpPr>
        <p:spPr/>
        <p:txBody>
          <a:bodyPr>
            <a:normAutofit/>
          </a:bodyPr>
          <a:lstStyle/>
          <a:p>
            <a:pPr marL="519113" indent="-404813">
              <a:buFont typeface="Wingdings" panose="05000000000000000000" pitchFamily="2" charset="2"/>
              <a:buChar char="§"/>
            </a:pPr>
            <a:r>
              <a:rPr lang="en-US" sz="2400" dirty="0">
                <a:latin typeface="Helvetica" panose="020B0604020202020204" pitchFamily="34" charset="0"/>
                <a:cs typeface="Helvetica" panose="020B0604020202020204" pitchFamily="34" charset="0"/>
              </a:rPr>
              <a:t>Modular design </a:t>
            </a:r>
          </a:p>
          <a:p>
            <a:pPr marL="519113" indent="-404813">
              <a:buFont typeface="Wingdings" panose="05000000000000000000" pitchFamily="2" charset="2"/>
              <a:buChar char="§"/>
            </a:pPr>
            <a:r>
              <a:rPr lang="en-US" sz="2400" dirty="0">
                <a:latin typeface="Helvetica" panose="020B0604020202020204" pitchFamily="34" charset="0"/>
                <a:cs typeface="Helvetica" panose="020B0604020202020204" pitchFamily="34" charset="0"/>
              </a:rPr>
              <a:t>Structured programming </a:t>
            </a:r>
          </a:p>
          <a:p>
            <a:pPr marL="519113" indent="-404813">
              <a:buFont typeface="Wingdings" panose="05000000000000000000" pitchFamily="2" charset="2"/>
              <a:buChar char="§"/>
            </a:pPr>
            <a:r>
              <a:rPr lang="en-US" sz="2400" dirty="0">
                <a:latin typeface="Helvetica" panose="020B0604020202020204" pitchFamily="34" charset="0"/>
                <a:cs typeface="Helvetica" panose="020B0604020202020204" pitchFamily="34" charset="0"/>
              </a:rPr>
              <a:t>Style guides </a:t>
            </a:r>
          </a:p>
          <a:p>
            <a:pPr marL="519113" indent="-404813">
              <a:buFont typeface="Wingdings" panose="05000000000000000000" pitchFamily="2" charset="2"/>
              <a:buChar char="§"/>
            </a:pPr>
            <a:r>
              <a:rPr lang="en-US" sz="2400" dirty="0">
                <a:latin typeface="Helvetica" panose="020B0604020202020204" pitchFamily="34" charset="0"/>
                <a:cs typeface="Helvetica" panose="020B0604020202020204" pitchFamily="34" charset="0"/>
              </a:rPr>
              <a:t>Test Driven Development TDD</a:t>
            </a:r>
          </a:p>
          <a:p>
            <a:pPr marL="519113" indent="-404813">
              <a:buFont typeface="Wingdings" panose="05000000000000000000" pitchFamily="2" charset="2"/>
              <a:buChar char="§"/>
            </a:pPr>
            <a:r>
              <a:rPr lang="en-US" sz="2400" dirty="0">
                <a:latin typeface="Helvetica" panose="020B0604020202020204" pitchFamily="34" charset="0"/>
                <a:cs typeface="Helvetica" panose="020B0604020202020204" pitchFamily="34" charset="0"/>
              </a:rPr>
              <a:t>Continuous Integration (CI)</a:t>
            </a:r>
          </a:p>
        </p:txBody>
      </p:sp>
    </p:spTree>
    <p:extLst>
      <p:ext uri="{BB962C8B-B14F-4D97-AF65-F5344CB8AC3E}">
        <p14:creationId xmlns:p14="http://schemas.microsoft.com/office/powerpoint/2010/main" val="3856460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AE36F1-10ED-417A-9D99-AD3A03F865EF}"/>
              </a:ext>
            </a:extLst>
          </p:cNvPr>
          <p:cNvSpPr>
            <a:spLocks noGrp="1"/>
          </p:cNvSpPr>
          <p:nvPr>
            <p:ph type="title"/>
          </p:nvPr>
        </p:nvSpPr>
        <p:spPr/>
        <p:txBody>
          <a:bodyPr/>
          <a:lstStyle/>
          <a:p>
            <a:r>
              <a:rPr lang="en-US" dirty="0"/>
              <a:t>Modular Design</a:t>
            </a:r>
          </a:p>
        </p:txBody>
      </p:sp>
      <p:pic>
        <p:nvPicPr>
          <p:cNvPr id="5122" name="Picture 2" descr="How to Develop a University Management Software | KindGeek">
            <a:extLst>
              <a:ext uri="{FF2B5EF4-FFF2-40B4-BE49-F238E27FC236}">
                <a16:creationId xmlns="" xmlns:a16="http://schemas.microsoft.com/office/drawing/2014/main" id="{D06B7C86-F98B-4E4A-878A-5164599E9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2015" y="1845734"/>
            <a:ext cx="4390655" cy="4308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546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8E2BBA-A570-4376-A19C-A08B893E5FE3}"/>
              </a:ext>
            </a:extLst>
          </p:cNvPr>
          <p:cNvSpPr>
            <a:spLocks noGrp="1"/>
          </p:cNvSpPr>
          <p:nvPr>
            <p:ph type="title"/>
          </p:nvPr>
        </p:nvSpPr>
        <p:spPr/>
        <p:txBody>
          <a:bodyPr/>
          <a:lstStyle/>
          <a:p>
            <a:r>
              <a:rPr lang="en-US" dirty="0"/>
              <a:t>Structured Programming</a:t>
            </a:r>
          </a:p>
        </p:txBody>
      </p:sp>
      <p:sp>
        <p:nvSpPr>
          <p:cNvPr id="4" name="Footer Placeholder 3">
            <a:extLst>
              <a:ext uri="{FF2B5EF4-FFF2-40B4-BE49-F238E27FC236}">
                <a16:creationId xmlns="" xmlns:a16="http://schemas.microsoft.com/office/drawing/2014/main" id="{17E47C6C-5CA6-4CBB-B13C-015E4B216F66}"/>
              </a:ext>
            </a:extLst>
          </p:cNvPr>
          <p:cNvSpPr>
            <a:spLocks noGrp="1"/>
          </p:cNvSpPr>
          <p:nvPr>
            <p:ph type="ftr" sz="quarter" idx="4294967295"/>
          </p:nvPr>
        </p:nvSpPr>
        <p:spPr>
          <a:xfrm>
            <a:off x="3686185" y="6459785"/>
            <a:ext cx="4822804" cy="365125"/>
          </a:xfrm>
        </p:spPr>
        <p:txBody>
          <a:bodyPr/>
          <a:lstStyle/>
          <a:p>
            <a:pPr defTabSz="914400"/>
            <a:r>
              <a:rPr lang="en-US" sz="1800" cap="none">
                <a:latin typeface="Times New Roman" pitchFamily="18" charset="0"/>
                <a:cs typeface="Times New Roman" pitchFamily="18" charset="0"/>
              </a:rPr>
              <a:t>COMSATS University Islamabad, Wah Campus</a:t>
            </a:r>
          </a:p>
          <a:p>
            <a:endParaRPr lang="en-US" dirty="0"/>
          </a:p>
        </p:txBody>
      </p:sp>
      <p:pic>
        <p:nvPicPr>
          <p:cNvPr id="6146" name="Picture 2" descr="Structured programming - Wikipedia">
            <a:extLst>
              <a:ext uri="{FF2B5EF4-FFF2-40B4-BE49-F238E27FC236}">
                <a16:creationId xmlns="" xmlns:a16="http://schemas.microsoft.com/office/drawing/2014/main" id="{3751E12F-3C5D-4304-A69E-6658C1AFE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820" y="2962611"/>
            <a:ext cx="11055407" cy="197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434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266C94-4738-4C24-952F-6264641F9FFA}"/>
              </a:ext>
            </a:extLst>
          </p:cNvPr>
          <p:cNvSpPr>
            <a:spLocks noGrp="1"/>
          </p:cNvSpPr>
          <p:nvPr>
            <p:ph type="title"/>
          </p:nvPr>
        </p:nvSpPr>
        <p:spPr/>
        <p:txBody>
          <a:bodyPr/>
          <a:lstStyle/>
          <a:p>
            <a:r>
              <a:rPr lang="en-US" dirty="0"/>
              <a:t>Style Guides</a:t>
            </a:r>
          </a:p>
        </p:txBody>
      </p:sp>
      <p:pic>
        <p:nvPicPr>
          <p:cNvPr id="7170" name="Picture 2" descr="Software Engineering | Coding - javatpoint">
            <a:extLst>
              <a:ext uri="{FF2B5EF4-FFF2-40B4-BE49-F238E27FC236}">
                <a16:creationId xmlns="" xmlns:a16="http://schemas.microsoft.com/office/drawing/2014/main" id="{35A1EC2D-C371-431A-906F-9EB4F8ABFF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34534" y="1886256"/>
            <a:ext cx="3574184" cy="4424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784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AD7AC-7C4C-408A-89E1-9B06EF1FCC24}"/>
              </a:ext>
            </a:extLst>
          </p:cNvPr>
          <p:cNvSpPr>
            <a:spLocks noGrp="1"/>
          </p:cNvSpPr>
          <p:nvPr>
            <p:ph type="title"/>
          </p:nvPr>
        </p:nvSpPr>
        <p:spPr/>
        <p:txBody>
          <a:bodyPr/>
          <a:lstStyle/>
          <a:p>
            <a:r>
              <a:rPr lang="en-US" dirty="0"/>
              <a:t>Test Driven Development</a:t>
            </a:r>
          </a:p>
        </p:txBody>
      </p:sp>
      <p:pic>
        <p:nvPicPr>
          <p:cNvPr id="8194" name="Picture 2" descr="Django 1.6 Test Driven Development – Real Python">
            <a:extLst>
              <a:ext uri="{FF2B5EF4-FFF2-40B4-BE49-F238E27FC236}">
                <a16:creationId xmlns="" xmlns:a16="http://schemas.microsoft.com/office/drawing/2014/main" id="{32593EE4-A810-455F-B51C-09862C6B1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195" y="1848267"/>
            <a:ext cx="4543414" cy="447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342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750F40-C235-4D46-A0CF-518C7CC65C1F}"/>
              </a:ext>
            </a:extLst>
          </p:cNvPr>
          <p:cNvSpPr>
            <a:spLocks noGrp="1"/>
          </p:cNvSpPr>
          <p:nvPr>
            <p:ph type="title"/>
          </p:nvPr>
        </p:nvSpPr>
        <p:spPr/>
        <p:txBody>
          <a:bodyPr/>
          <a:lstStyle/>
          <a:p>
            <a:r>
              <a:rPr lang="en-US" dirty="0"/>
              <a:t>Continuous Integration</a:t>
            </a:r>
          </a:p>
        </p:txBody>
      </p:sp>
      <p:pic>
        <p:nvPicPr>
          <p:cNvPr id="9218" name="Picture 2" descr="Continuous integration: why is it important for your business? – Kapernikov">
            <a:extLst>
              <a:ext uri="{FF2B5EF4-FFF2-40B4-BE49-F238E27FC236}">
                <a16:creationId xmlns="" xmlns:a16="http://schemas.microsoft.com/office/drawing/2014/main" id="{67F402A4-390C-4557-936A-8D40AD422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281" y="1954107"/>
            <a:ext cx="8940802" cy="4023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591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 xmlns:a16="http://schemas.microsoft.com/office/drawing/2014/main" id="{311973C2-EB8B-452A-A698-4A252FD3AE2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49" name="Rectangle 10248">
            <a:extLst>
              <a:ext uri="{FF2B5EF4-FFF2-40B4-BE49-F238E27FC236}">
                <a16:creationId xmlns="" xmlns:a16="http://schemas.microsoft.com/office/drawing/2014/main" id="{10162E77-11AD-44A7-84EC-40C59EEFBD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4616881-DC51-4BBF-833E-1A2970E9495C}"/>
              </a:ext>
            </a:extLst>
          </p:cNvPr>
          <p:cNvSpPr>
            <a:spLocks noGrp="1"/>
          </p:cNvSpPr>
          <p:nvPr>
            <p:ph type="title"/>
          </p:nvPr>
        </p:nvSpPr>
        <p:spPr>
          <a:xfrm>
            <a:off x="5090161" y="272361"/>
            <a:ext cx="6368142" cy="1450757"/>
          </a:xfrm>
        </p:spPr>
        <p:txBody>
          <a:bodyPr>
            <a:normAutofit/>
          </a:bodyPr>
          <a:lstStyle/>
          <a:p>
            <a:r>
              <a:rPr lang="en-US" sz="5000" dirty="0">
                <a:solidFill>
                  <a:srgbClr val="348A27"/>
                </a:solidFill>
              </a:rPr>
              <a:t>Standards in Construction</a:t>
            </a:r>
          </a:p>
        </p:txBody>
      </p:sp>
      <p:pic>
        <p:nvPicPr>
          <p:cNvPr id="10242" name="Picture 2" descr="Top 20 Best Programming Languages To Learn in 2024 | Simplilearn">
            <a:extLst>
              <a:ext uri="{FF2B5EF4-FFF2-40B4-BE49-F238E27FC236}">
                <a16:creationId xmlns="" xmlns:a16="http://schemas.microsoft.com/office/drawing/2014/main" id="{B1139208-3138-48B7-BDC7-4A6260804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34" r="44859"/>
          <a:stretch/>
        </p:blipFill>
        <p:spPr bwMode="auto">
          <a:xfrm>
            <a:off x="20" y="-12128"/>
            <a:ext cx="4654276" cy="6870127"/>
          </a:xfrm>
          <a:prstGeom prst="rect">
            <a:avLst/>
          </a:prstGeom>
          <a:noFill/>
          <a:extLst>
            <a:ext uri="{909E8E84-426E-40DD-AFC4-6F175D3DCCD1}">
              <a14:hiddenFill xmlns:a14="http://schemas.microsoft.com/office/drawing/2010/main">
                <a:solidFill>
                  <a:srgbClr val="FFFFFF"/>
                </a:solidFill>
              </a14:hiddenFill>
            </a:ext>
          </a:extLst>
        </p:spPr>
      </p:pic>
      <p:cxnSp>
        <p:nvCxnSpPr>
          <p:cNvPr id="10251" name="Straight Connector 10250">
            <a:extLst>
              <a:ext uri="{FF2B5EF4-FFF2-40B4-BE49-F238E27FC236}">
                <a16:creationId xmlns="" xmlns:a16="http://schemas.microsoft.com/office/drawing/2014/main" id="{5AB158E9-1B40-4CD6-95F0-95CA11DF7B7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 xmlns:a16="http://schemas.microsoft.com/office/drawing/2014/main" id="{5007DEE3-80AF-4E35-8146-E01D0F9C40FB}"/>
              </a:ext>
            </a:extLst>
          </p:cNvPr>
          <p:cNvSpPr>
            <a:spLocks noGrp="1"/>
          </p:cNvSpPr>
          <p:nvPr>
            <p:ph idx="1"/>
          </p:nvPr>
        </p:nvSpPr>
        <p:spPr>
          <a:xfrm>
            <a:off x="5181601" y="2198913"/>
            <a:ext cx="6368142" cy="4024121"/>
          </a:xfrm>
        </p:spPr>
        <p:txBody>
          <a:bodyPr>
            <a:noAutofit/>
          </a:bodyPr>
          <a:lstStyle/>
          <a:p>
            <a:r>
              <a:rPr lang="en-US" sz="1600" b="1" dirty="0">
                <a:latin typeface="Helvetica" panose="020B0604020202020204" pitchFamily="34" charset="0"/>
                <a:cs typeface="Helvetica" panose="020B0604020202020204" pitchFamily="34" charset="0"/>
              </a:rPr>
              <a:t>Standardized Programming Languages</a:t>
            </a:r>
            <a:r>
              <a:rPr lang="en-US" sz="1600" dirty="0">
                <a:latin typeface="Helvetica" panose="020B0604020202020204" pitchFamily="34" charset="0"/>
                <a:cs typeface="Helvetica" panose="020B0604020202020204" pitchFamily="34" charset="0"/>
              </a:rPr>
              <a:t>:</a:t>
            </a:r>
          </a:p>
          <a:p>
            <a:pPr lvl="1"/>
            <a:r>
              <a:rPr lang="en-US" sz="1600" dirty="0">
                <a:latin typeface="Helvetica" panose="020B0604020202020204" pitchFamily="34" charset="0"/>
                <a:cs typeface="Helvetica" panose="020B0604020202020204" pitchFamily="34" charset="0"/>
              </a:rPr>
              <a:t>Ada 95</a:t>
            </a:r>
          </a:p>
          <a:p>
            <a:pPr lvl="1"/>
            <a:r>
              <a:rPr lang="en-US" sz="1600" dirty="0">
                <a:latin typeface="Helvetica" panose="020B0604020202020204" pitchFamily="34" charset="0"/>
                <a:cs typeface="Helvetica" panose="020B0604020202020204" pitchFamily="34" charset="0"/>
              </a:rPr>
              <a:t>C++</a:t>
            </a:r>
          </a:p>
          <a:p>
            <a:pPr lvl="1"/>
            <a:r>
              <a:rPr lang="en-US" sz="1600" dirty="0">
                <a:latin typeface="Helvetica" panose="020B0604020202020204" pitchFamily="34" charset="0"/>
                <a:cs typeface="Helvetica" panose="020B0604020202020204" pitchFamily="34" charset="0"/>
              </a:rPr>
              <a:t>Java</a:t>
            </a:r>
          </a:p>
          <a:p>
            <a:r>
              <a:rPr lang="en-US" sz="1600" b="1" dirty="0">
                <a:latin typeface="Helvetica" panose="020B0604020202020204" pitchFamily="34" charset="0"/>
                <a:cs typeface="Helvetica" panose="020B0604020202020204" pitchFamily="34" charset="0"/>
              </a:rPr>
              <a:t>Standardized Data Description Languages</a:t>
            </a:r>
            <a:r>
              <a:rPr lang="en-US" sz="1600" dirty="0">
                <a:latin typeface="Helvetica" panose="020B0604020202020204" pitchFamily="34" charset="0"/>
                <a:cs typeface="Helvetica" panose="020B0604020202020204" pitchFamily="34" charset="0"/>
              </a:rPr>
              <a:t>:</a:t>
            </a:r>
          </a:p>
          <a:p>
            <a:pPr lvl="1"/>
            <a:r>
              <a:rPr lang="en-US" sz="1600" dirty="0">
                <a:latin typeface="Helvetica" panose="020B0604020202020204" pitchFamily="34" charset="0"/>
                <a:cs typeface="Helvetica" panose="020B0604020202020204" pitchFamily="34" charset="0"/>
              </a:rPr>
              <a:t>XML (</a:t>
            </a:r>
            <a:r>
              <a:rPr lang="en-US" sz="1600" dirty="0" err="1">
                <a:latin typeface="Helvetica" panose="020B0604020202020204" pitchFamily="34" charset="0"/>
                <a:cs typeface="Helvetica" panose="020B0604020202020204" pitchFamily="34" charset="0"/>
              </a:rPr>
              <a:t>eXtensible</a:t>
            </a:r>
            <a:r>
              <a:rPr lang="en-US" sz="1600" dirty="0">
                <a:latin typeface="Helvetica" panose="020B0604020202020204" pitchFamily="34" charset="0"/>
                <a:cs typeface="Helvetica" panose="020B0604020202020204" pitchFamily="34" charset="0"/>
              </a:rPr>
              <a:t> Markup Language)</a:t>
            </a:r>
          </a:p>
          <a:p>
            <a:pPr lvl="1"/>
            <a:r>
              <a:rPr lang="en-US" sz="1600" dirty="0">
                <a:latin typeface="Helvetica" panose="020B0604020202020204" pitchFamily="34" charset="0"/>
                <a:cs typeface="Helvetica" panose="020B0604020202020204" pitchFamily="34" charset="0"/>
              </a:rPr>
              <a:t>SQL (Structured Query Language)</a:t>
            </a:r>
          </a:p>
          <a:p>
            <a:pPr lvl="1"/>
            <a:r>
              <a:rPr lang="en-US" sz="1600" dirty="0">
                <a:latin typeface="Helvetica" panose="020B0604020202020204" pitchFamily="34" charset="0"/>
                <a:cs typeface="Helvetica" panose="020B0604020202020204" pitchFamily="34" charset="0"/>
              </a:rPr>
              <a:t>JSON (JavaScript Object Notation)</a:t>
            </a:r>
          </a:p>
          <a:p>
            <a:r>
              <a:rPr lang="en-US" sz="1600" b="1" dirty="0">
                <a:latin typeface="Helvetica" panose="020B0604020202020204" pitchFamily="34" charset="0"/>
                <a:cs typeface="Helvetica" panose="020B0604020202020204" pitchFamily="34" charset="0"/>
              </a:rPr>
              <a:t>Standardized Alphabet Representations</a:t>
            </a:r>
            <a:r>
              <a:rPr lang="en-US" sz="1600" dirty="0">
                <a:latin typeface="Helvetica" panose="020B0604020202020204" pitchFamily="34" charset="0"/>
                <a:cs typeface="Helvetica" panose="020B0604020202020204" pitchFamily="34" charset="0"/>
              </a:rPr>
              <a:t>:</a:t>
            </a:r>
          </a:p>
          <a:p>
            <a:pPr lvl="1"/>
            <a:r>
              <a:rPr lang="en-US" sz="1600" dirty="0">
                <a:latin typeface="Helvetica" panose="020B0604020202020204" pitchFamily="34" charset="0"/>
                <a:cs typeface="Helvetica" panose="020B0604020202020204" pitchFamily="34" charset="0"/>
              </a:rPr>
              <a:t>Unicode</a:t>
            </a:r>
          </a:p>
          <a:p>
            <a:pPr lvl="1"/>
            <a:r>
              <a:rPr lang="en-US" sz="1600" dirty="0">
                <a:latin typeface="Helvetica" panose="020B0604020202020204" pitchFamily="34" charset="0"/>
                <a:cs typeface="Helvetica" panose="020B0604020202020204" pitchFamily="34" charset="0"/>
              </a:rPr>
              <a:t>ASCII (American Standard Code for Information Interchange)</a:t>
            </a:r>
          </a:p>
          <a:p>
            <a:pPr lvl="1"/>
            <a:r>
              <a:rPr lang="en-US" sz="1600" dirty="0">
                <a:latin typeface="Helvetica" panose="020B0604020202020204" pitchFamily="34" charset="0"/>
                <a:cs typeface="Helvetica" panose="020B0604020202020204" pitchFamily="34" charset="0"/>
              </a:rPr>
              <a:t>ISO 8859 (International Organization for Standardization 8859)</a:t>
            </a:r>
          </a:p>
        </p:txBody>
      </p:sp>
      <p:sp>
        <p:nvSpPr>
          <p:cNvPr id="4" name="Footer Placeholder 3">
            <a:extLst>
              <a:ext uri="{FF2B5EF4-FFF2-40B4-BE49-F238E27FC236}">
                <a16:creationId xmlns="" xmlns:a16="http://schemas.microsoft.com/office/drawing/2014/main" id="{63FF491E-5981-4172-B0EE-A1B6E1C85FF1}"/>
              </a:ext>
            </a:extLst>
          </p:cNvPr>
          <p:cNvSpPr>
            <a:spLocks noGrp="1"/>
          </p:cNvSpPr>
          <p:nvPr>
            <p:ph type="ftr" sz="quarter" idx="4294967295"/>
          </p:nvPr>
        </p:nvSpPr>
        <p:spPr>
          <a:xfrm>
            <a:off x="5181601" y="6459785"/>
            <a:ext cx="3739340" cy="365125"/>
          </a:xfrm>
        </p:spPr>
        <p:txBody>
          <a:bodyPr>
            <a:normAutofit/>
          </a:bodyPr>
          <a:lstStyle/>
          <a:p>
            <a:pPr algn="l" defTabSz="914400">
              <a:spcAft>
                <a:spcPts val="600"/>
              </a:spcAft>
            </a:pPr>
            <a:r>
              <a:rPr lang="en-US" cap="none">
                <a:solidFill>
                  <a:schemeClr val="tx1">
                    <a:lumMod val="75000"/>
                    <a:lumOff val="25000"/>
                  </a:schemeClr>
                </a:solidFill>
                <a:latin typeface="Times New Roman" pitchFamily="18" charset="0"/>
                <a:cs typeface="Times New Roman" pitchFamily="18" charset="0"/>
              </a:rPr>
              <a:t>COMSATS University Islamabad, Wah Campus</a:t>
            </a:r>
          </a:p>
          <a:p>
            <a:pPr algn="l">
              <a:spcAft>
                <a:spcPts val="600"/>
              </a:spcAft>
            </a:pPr>
            <a:endParaRPr lang="en-US">
              <a:solidFill>
                <a:schemeClr val="tx1">
                  <a:lumMod val="75000"/>
                  <a:lumOff val="25000"/>
                </a:schemeClr>
              </a:solidFill>
            </a:endParaRPr>
          </a:p>
        </p:txBody>
      </p:sp>
    </p:spTree>
    <p:extLst>
      <p:ext uri="{BB962C8B-B14F-4D97-AF65-F5344CB8AC3E}">
        <p14:creationId xmlns:p14="http://schemas.microsoft.com/office/powerpoint/2010/main" val="3334031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Managing Construction</a:t>
            </a:r>
            <a:endParaRPr lang="en-US" b="1" u="sng" dirty="0"/>
          </a:p>
        </p:txBody>
      </p:sp>
      <p:sp>
        <p:nvSpPr>
          <p:cNvPr id="3" name="Content Placeholder 2"/>
          <p:cNvSpPr>
            <a:spLocks noGrp="1"/>
          </p:cNvSpPr>
          <p:nvPr>
            <p:ph idx="1"/>
          </p:nvPr>
        </p:nvSpPr>
        <p:spPr/>
        <p:txBody>
          <a:bodyPr/>
          <a:lstStyle/>
          <a:p>
            <a:pPr algn="just"/>
            <a:r>
              <a:rPr lang="en-US" dirty="0" smtClean="0"/>
              <a:t>According SWEBOK guide, software construction is managed by following activities</a:t>
            </a:r>
          </a:p>
          <a:p>
            <a:pPr lvl="1" algn="just"/>
            <a:r>
              <a:rPr lang="en-US" dirty="0" smtClean="0"/>
              <a:t>Construction Models</a:t>
            </a:r>
          </a:p>
          <a:p>
            <a:pPr lvl="1" algn="just"/>
            <a:r>
              <a:rPr lang="en-US" dirty="0" smtClean="0"/>
              <a:t>Construction Planning</a:t>
            </a:r>
          </a:p>
          <a:p>
            <a:pPr lvl="1" algn="just"/>
            <a:r>
              <a:rPr lang="en-US" dirty="0" smtClean="0"/>
              <a:t>Construction Management</a:t>
            </a:r>
          </a:p>
          <a:p>
            <a:pPr lvl="1" algn="just"/>
            <a:endParaRPr lang="en-US" dirty="0"/>
          </a:p>
        </p:txBody>
      </p:sp>
    </p:spTree>
    <p:extLst>
      <p:ext uri="{BB962C8B-B14F-4D97-AF65-F5344CB8AC3E}">
        <p14:creationId xmlns:p14="http://schemas.microsoft.com/office/powerpoint/2010/main" val="2262641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Construction Models</a:t>
            </a:r>
            <a:endParaRPr lang="en-US" b="1" u="sng" dirty="0"/>
          </a:p>
        </p:txBody>
      </p:sp>
      <p:sp>
        <p:nvSpPr>
          <p:cNvPr id="3" name="Content Placeholder 2"/>
          <p:cNvSpPr>
            <a:spLocks noGrp="1"/>
          </p:cNvSpPr>
          <p:nvPr>
            <p:ph idx="1"/>
          </p:nvPr>
        </p:nvSpPr>
        <p:spPr/>
        <p:txBody>
          <a:bodyPr>
            <a:normAutofit/>
          </a:bodyPr>
          <a:lstStyle/>
          <a:p>
            <a:pPr algn="just"/>
            <a:r>
              <a:rPr lang="en-US" dirty="0"/>
              <a:t>Numerous models have been created to develop software; some emphasize construction more than others. </a:t>
            </a:r>
            <a:endParaRPr lang="en-US" dirty="0" smtClean="0"/>
          </a:p>
          <a:p>
            <a:pPr algn="just"/>
            <a:r>
              <a:rPr lang="en-US" dirty="0" smtClean="0"/>
              <a:t>Some </a:t>
            </a:r>
            <a:r>
              <a:rPr lang="en-US" dirty="0"/>
              <a:t>models are more linear from the construction point of view—such as the waterfall and staged-delivery life cycle models. </a:t>
            </a:r>
            <a:endParaRPr lang="en-US" dirty="0" smtClean="0"/>
          </a:p>
          <a:p>
            <a:pPr algn="just"/>
            <a:r>
              <a:rPr lang="en-US" dirty="0" smtClean="0"/>
              <a:t>These </a:t>
            </a:r>
            <a:r>
              <a:rPr lang="en-US" dirty="0"/>
              <a:t>models treat construction as an activity that occurs only after significant prerequisite work has been completed—including detailed requirements work, extensive design work, and detailed planning. </a:t>
            </a:r>
            <a:endParaRPr lang="en-US" dirty="0" smtClean="0"/>
          </a:p>
          <a:p>
            <a:pPr algn="just"/>
            <a:r>
              <a:rPr lang="en-US" dirty="0" smtClean="0"/>
              <a:t>The </a:t>
            </a:r>
            <a:r>
              <a:rPr lang="en-US" dirty="0"/>
              <a:t>more linear approaches tend to emphasize the activities that precede construction (requirements and design) and to create more distinct separations between activities. </a:t>
            </a:r>
            <a:endParaRPr lang="en-US" dirty="0" smtClean="0"/>
          </a:p>
          <a:p>
            <a:pPr algn="just"/>
            <a:r>
              <a:rPr lang="en-US" dirty="0" smtClean="0"/>
              <a:t>In </a:t>
            </a:r>
            <a:r>
              <a:rPr lang="en-US" dirty="0"/>
              <a:t>these models, the main emphasis of construction may be coding. </a:t>
            </a:r>
          </a:p>
        </p:txBody>
      </p:sp>
    </p:spTree>
    <p:extLst>
      <p:ext uri="{BB962C8B-B14F-4D97-AF65-F5344CB8AC3E}">
        <p14:creationId xmlns:p14="http://schemas.microsoft.com/office/powerpoint/2010/main" val="2841865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Construction Models</a:t>
            </a:r>
            <a:endParaRPr lang="en-US" b="1" u="sng" dirty="0"/>
          </a:p>
        </p:txBody>
      </p:sp>
      <p:sp>
        <p:nvSpPr>
          <p:cNvPr id="3" name="Content Placeholder 2"/>
          <p:cNvSpPr>
            <a:spLocks noGrp="1"/>
          </p:cNvSpPr>
          <p:nvPr>
            <p:ph idx="1"/>
          </p:nvPr>
        </p:nvSpPr>
        <p:spPr/>
        <p:txBody>
          <a:bodyPr>
            <a:normAutofit/>
          </a:bodyPr>
          <a:lstStyle/>
          <a:p>
            <a:pPr algn="just"/>
            <a:r>
              <a:rPr lang="en-US" dirty="0"/>
              <a:t>Other models are more </a:t>
            </a:r>
            <a:r>
              <a:rPr lang="en-US" dirty="0" smtClean="0"/>
              <a:t>iterative such </a:t>
            </a:r>
            <a:r>
              <a:rPr lang="en-US" dirty="0"/>
              <a:t>as </a:t>
            </a:r>
            <a:r>
              <a:rPr lang="en-US" dirty="0" smtClean="0"/>
              <a:t>evolutionary, </a:t>
            </a:r>
            <a:r>
              <a:rPr lang="en-US" dirty="0"/>
              <a:t>prototyping and agile </a:t>
            </a:r>
            <a:r>
              <a:rPr lang="en-US" dirty="0" smtClean="0"/>
              <a:t>development.</a:t>
            </a:r>
          </a:p>
          <a:p>
            <a:pPr algn="just"/>
            <a:r>
              <a:rPr lang="en-US" dirty="0" smtClean="0"/>
              <a:t>These </a:t>
            </a:r>
            <a:r>
              <a:rPr lang="en-US" dirty="0"/>
              <a:t>approaches tend to treat construction as an activity that occurs concurrently with other software development activities (including requirements, design, and </a:t>
            </a:r>
            <a:r>
              <a:rPr lang="en-US" dirty="0" smtClean="0"/>
              <a:t>planning).</a:t>
            </a:r>
          </a:p>
          <a:p>
            <a:pPr algn="just"/>
            <a:r>
              <a:rPr lang="en-US" dirty="0" smtClean="0"/>
              <a:t>These </a:t>
            </a:r>
            <a:r>
              <a:rPr lang="en-US" dirty="0"/>
              <a:t>approaches tend to mix design, coding, and testing activities, and they often treat the combination of activities as </a:t>
            </a:r>
            <a:r>
              <a:rPr lang="en-US" dirty="0" smtClean="0"/>
              <a:t>construction.</a:t>
            </a:r>
            <a:endParaRPr lang="en-US" dirty="0"/>
          </a:p>
        </p:txBody>
      </p:sp>
    </p:spTree>
    <p:extLst>
      <p:ext uri="{BB962C8B-B14F-4D97-AF65-F5344CB8AC3E}">
        <p14:creationId xmlns:p14="http://schemas.microsoft.com/office/powerpoint/2010/main" val="491393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Construction Planning</a:t>
            </a:r>
            <a:endParaRPr lang="en-US" b="1" u="sng" dirty="0"/>
          </a:p>
        </p:txBody>
      </p:sp>
      <p:sp>
        <p:nvSpPr>
          <p:cNvPr id="3" name="Content Placeholder 2"/>
          <p:cNvSpPr>
            <a:spLocks noGrp="1"/>
          </p:cNvSpPr>
          <p:nvPr>
            <p:ph idx="1"/>
          </p:nvPr>
        </p:nvSpPr>
        <p:spPr/>
        <p:txBody>
          <a:bodyPr/>
          <a:lstStyle/>
          <a:p>
            <a:pPr algn="just"/>
            <a:r>
              <a:rPr lang="en-US" dirty="0"/>
              <a:t>The choice of construction method is a key aspect of the construction-planning </a:t>
            </a:r>
            <a:r>
              <a:rPr lang="en-US" dirty="0" smtClean="0"/>
              <a:t>activity.</a:t>
            </a:r>
          </a:p>
          <a:p>
            <a:pPr algn="just"/>
            <a:r>
              <a:rPr lang="en-US" dirty="0" smtClean="0"/>
              <a:t>The </a:t>
            </a:r>
            <a:r>
              <a:rPr lang="en-US" dirty="0"/>
              <a:t>choice of construction method affects the extent to which construction prerequisites are performed, the order in which they are performed, and the degree to which they should be completed before construction work begins.</a:t>
            </a:r>
          </a:p>
        </p:txBody>
      </p:sp>
    </p:spTree>
    <p:extLst>
      <p:ext uri="{BB962C8B-B14F-4D97-AF65-F5344CB8AC3E}">
        <p14:creationId xmlns:p14="http://schemas.microsoft.com/office/powerpoint/2010/main" val="606191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Construction Planning</a:t>
            </a:r>
            <a:endParaRPr lang="en-US" dirty="0"/>
          </a:p>
        </p:txBody>
      </p:sp>
      <p:sp>
        <p:nvSpPr>
          <p:cNvPr id="3" name="Content Placeholder 2"/>
          <p:cNvSpPr>
            <a:spLocks noGrp="1"/>
          </p:cNvSpPr>
          <p:nvPr>
            <p:ph idx="1"/>
          </p:nvPr>
        </p:nvSpPr>
        <p:spPr/>
        <p:txBody>
          <a:bodyPr/>
          <a:lstStyle/>
          <a:p>
            <a:pPr algn="just"/>
            <a:r>
              <a:rPr lang="en-US" dirty="0"/>
              <a:t>Construction planning also </a:t>
            </a:r>
            <a:r>
              <a:rPr lang="en-US" dirty="0" smtClean="0"/>
              <a:t>defines</a:t>
            </a:r>
          </a:p>
          <a:p>
            <a:pPr lvl="1" algn="just"/>
            <a:r>
              <a:rPr lang="en-US" dirty="0" smtClean="0"/>
              <a:t>the </a:t>
            </a:r>
            <a:r>
              <a:rPr lang="en-US" dirty="0"/>
              <a:t>order in which components are created and </a:t>
            </a:r>
            <a:r>
              <a:rPr lang="en-US" dirty="0" smtClean="0"/>
              <a:t>integrated</a:t>
            </a:r>
          </a:p>
          <a:p>
            <a:pPr lvl="1" algn="just"/>
            <a:r>
              <a:rPr lang="en-US" dirty="0" smtClean="0"/>
              <a:t>the </a:t>
            </a:r>
            <a:r>
              <a:rPr lang="en-US" dirty="0"/>
              <a:t>integration </a:t>
            </a:r>
            <a:r>
              <a:rPr lang="en-US" dirty="0" smtClean="0"/>
              <a:t>strategy</a:t>
            </a:r>
          </a:p>
          <a:p>
            <a:pPr lvl="1" algn="just"/>
            <a:r>
              <a:rPr lang="en-US" dirty="0" smtClean="0"/>
              <a:t>the </a:t>
            </a:r>
            <a:r>
              <a:rPr lang="en-US" dirty="0"/>
              <a:t>software quality management </a:t>
            </a:r>
            <a:r>
              <a:rPr lang="en-US" dirty="0" smtClean="0"/>
              <a:t>processes</a:t>
            </a:r>
          </a:p>
          <a:p>
            <a:pPr lvl="1" algn="just"/>
            <a:r>
              <a:rPr lang="en-US" dirty="0" smtClean="0"/>
              <a:t>the </a:t>
            </a:r>
            <a:r>
              <a:rPr lang="en-US" dirty="0"/>
              <a:t>allocation of task assignments to specific software </a:t>
            </a:r>
            <a:r>
              <a:rPr lang="en-US" dirty="0" smtClean="0"/>
              <a:t>engineers according </a:t>
            </a:r>
            <a:r>
              <a:rPr lang="en-US" dirty="0"/>
              <a:t>to the chosen method. </a:t>
            </a:r>
          </a:p>
        </p:txBody>
      </p:sp>
    </p:spTree>
    <p:extLst>
      <p:ext uri="{BB962C8B-B14F-4D97-AF65-F5344CB8AC3E}">
        <p14:creationId xmlns:p14="http://schemas.microsoft.com/office/powerpoint/2010/main" val="2381904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Construction Measurement</a:t>
            </a:r>
            <a:endParaRPr lang="en-US" b="1" u="sng" dirty="0"/>
          </a:p>
        </p:txBody>
      </p:sp>
      <p:sp>
        <p:nvSpPr>
          <p:cNvPr id="3" name="Content Placeholder 2"/>
          <p:cNvSpPr>
            <a:spLocks noGrp="1"/>
          </p:cNvSpPr>
          <p:nvPr>
            <p:ph idx="1"/>
          </p:nvPr>
        </p:nvSpPr>
        <p:spPr/>
        <p:txBody>
          <a:bodyPr>
            <a:normAutofit/>
          </a:bodyPr>
          <a:lstStyle/>
          <a:p>
            <a:pPr algn="just"/>
            <a:r>
              <a:rPr lang="en-US" dirty="0"/>
              <a:t>Numerous construction activities and artifacts can be </a:t>
            </a:r>
            <a:r>
              <a:rPr lang="en-US" dirty="0" smtClean="0"/>
              <a:t>measured including </a:t>
            </a:r>
            <a:r>
              <a:rPr lang="en-US" dirty="0"/>
              <a:t>code developed, code modified, code reused, code destroyed, code complexity, code inspection statistics, fault-fix and fault-find rates, effort, and scheduling. </a:t>
            </a:r>
            <a:endParaRPr lang="en-US" dirty="0" smtClean="0"/>
          </a:p>
          <a:p>
            <a:pPr algn="just"/>
            <a:r>
              <a:rPr lang="en-US" dirty="0" smtClean="0"/>
              <a:t>These </a:t>
            </a:r>
            <a:r>
              <a:rPr lang="en-US" dirty="0"/>
              <a:t>measurements can be useful for purposes of managing construction, ensuring quality during construction, and improving the construction process</a:t>
            </a:r>
          </a:p>
        </p:txBody>
      </p:sp>
    </p:spTree>
    <p:extLst>
      <p:ext uri="{BB962C8B-B14F-4D97-AF65-F5344CB8AC3E}">
        <p14:creationId xmlns:p14="http://schemas.microsoft.com/office/powerpoint/2010/main" val="525694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797CB811-39E4-44B4-8472-3DFC98B85762}"/>
              </a:ext>
            </a:extLst>
          </p:cNvPr>
          <p:cNvSpPr/>
          <p:nvPr/>
        </p:nvSpPr>
        <p:spPr>
          <a:xfrm>
            <a:off x="4563272" y="2676390"/>
            <a:ext cx="3065455" cy="1107996"/>
          </a:xfrm>
          <a:prstGeom prst="rect">
            <a:avLst/>
          </a:prstGeom>
          <a:noFill/>
        </p:spPr>
        <p:txBody>
          <a:bodyPr wrap="none" lIns="91440" tIns="45720" rIns="91440" bIns="45720">
            <a:spAutoFit/>
          </a:bodyPr>
          <a:lstStyle/>
          <a:p>
            <a:pPr algn="ctr"/>
            <a:r>
              <a:rPr lang="en-US" sz="6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THANKS</a:t>
            </a:r>
          </a:p>
        </p:txBody>
      </p:sp>
    </p:spTree>
    <p:extLst>
      <p:ext uri="{BB962C8B-B14F-4D97-AF65-F5344CB8AC3E}">
        <p14:creationId xmlns:p14="http://schemas.microsoft.com/office/powerpoint/2010/main" val="2384178030"/>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1380</Words>
  <Application>Microsoft Office PowerPoint</Application>
  <PresentationFormat>Widescreen</PresentationFormat>
  <Paragraphs>199</Paragraphs>
  <Slides>37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Calibri Light</vt:lpstr>
      <vt:lpstr>Helvetica</vt:lpstr>
      <vt:lpstr>Söhne</vt:lpstr>
      <vt:lpstr>Times New Roman</vt:lpstr>
      <vt:lpstr>Wingdings</vt:lpstr>
      <vt:lpstr>Retrospect</vt:lpstr>
      <vt:lpstr>Software Construction &amp; Development</vt:lpstr>
      <vt:lpstr>Fundamentals of Software Construction</vt:lpstr>
      <vt:lpstr>Minimizing Complexity</vt:lpstr>
      <vt:lpstr>Anticipating Change</vt:lpstr>
      <vt:lpstr>Constructing for Validation</vt:lpstr>
      <vt:lpstr>Standards in Constructions</vt:lpstr>
      <vt:lpstr>Reuse</vt:lpstr>
      <vt:lpstr>Reuse</vt:lpstr>
      <vt:lpstr>PowerPoint Presentation</vt:lpstr>
      <vt:lpstr>Potential Disadvantages of Complexity</vt:lpstr>
      <vt:lpstr>Minimizing Complexity</vt:lpstr>
      <vt:lpstr>Measuring Complexity</vt:lpstr>
      <vt:lpstr>Measuring Complexity</vt:lpstr>
      <vt:lpstr>Measuring Complexity</vt:lpstr>
      <vt:lpstr>Minimizing Complexity</vt:lpstr>
      <vt:lpstr>Minimizing Complexity</vt:lpstr>
      <vt:lpstr>Modularization        Hierarchical          Design Abstraction</vt:lpstr>
      <vt:lpstr>Design Patterns</vt:lpstr>
      <vt:lpstr>Minimizing Complexity</vt:lpstr>
      <vt:lpstr>Implementing DevOps and Agile to Reduce Complexity and Cost</vt:lpstr>
      <vt:lpstr>DevOps</vt:lpstr>
      <vt:lpstr>Agile Development Method</vt:lpstr>
      <vt:lpstr>Anticipating Change</vt:lpstr>
      <vt:lpstr>Structuring for Validation</vt:lpstr>
      <vt:lpstr>Modular Design</vt:lpstr>
      <vt:lpstr>Structured Programming</vt:lpstr>
      <vt:lpstr>Style Guides</vt:lpstr>
      <vt:lpstr>Test Driven Development</vt:lpstr>
      <vt:lpstr>Continuous Integration</vt:lpstr>
      <vt:lpstr>Standards in Construction</vt:lpstr>
      <vt:lpstr>Managing Construction</vt:lpstr>
      <vt:lpstr>Construction Models</vt:lpstr>
      <vt:lpstr>Construction Models</vt:lpstr>
      <vt:lpstr>Construction Planning</vt:lpstr>
      <vt:lpstr>Construction Planning</vt:lpstr>
      <vt:lpstr>Construction Measurement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Construction and   Development</dc:title>
  <dc:creator>Maria Batool</dc:creator>
  <cp:lastModifiedBy>Microsoft account</cp:lastModifiedBy>
  <cp:revision>23</cp:revision>
  <dcterms:created xsi:type="dcterms:W3CDTF">2024-02-20T04:23:32Z</dcterms:created>
  <dcterms:modified xsi:type="dcterms:W3CDTF">2026-02-13T12:52:51Z</dcterms:modified>
</cp:coreProperties>
</file>