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77" r:id="rId11"/>
    <p:sldId id="278" r:id="rId12"/>
    <p:sldId id="279" r:id="rId13"/>
    <p:sldId id="265" r:id="rId14"/>
    <p:sldId id="266" r:id="rId15"/>
    <p:sldId id="267" r:id="rId16"/>
    <p:sldId id="268"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76"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596035-364B-48CF-B1F6-AA9F96727DE9}">
  <a:tblStyle styleId="{CF596035-364B-48CF-B1F6-AA9F96727DE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A"/>
          </a:solidFill>
        </a:fill>
      </a:tcStyle>
    </a:wholeTbl>
    <a:band1H>
      <a:tcTxStyle/>
      <a:tcStyle>
        <a:tcBdr/>
        <a:fill>
          <a:solidFill>
            <a:srgbClr val="CBE2F5"/>
          </a:solidFill>
        </a:fill>
      </a:tcStyle>
    </a:band1H>
    <a:band2H>
      <a:tcTxStyle/>
      <a:tcStyle>
        <a:tcBdr/>
      </a:tcStyle>
    </a:band2H>
    <a:band1V>
      <a:tcTxStyle/>
      <a:tcStyle>
        <a:tcBdr/>
        <a:fill>
          <a:solidFill>
            <a:srgbClr val="CBE2F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48"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940992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042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extLst>
      <p:ext uri="{BB962C8B-B14F-4D97-AF65-F5344CB8AC3E}">
        <p14:creationId xmlns:p14="http://schemas.microsoft.com/office/powerpoint/2010/main" val="1717818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9023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29" name="Google Shape;1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1881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9508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43" name="Google Shape;1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3935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50" name="Google Shape;15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9234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0435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70" name="Google Shape;17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5281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77" name="Google Shape;17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8951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4976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5326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r>
              <a:rPr lang="en-US" dirty="0" smtClean="0"/>
              <a:t>Resource contention happens when </a:t>
            </a:r>
            <a:r>
              <a:rPr lang="en-US" b="1" dirty="0" smtClean="0"/>
              <a:t>multiple threads or processes try to use the same resource at the same time</a:t>
            </a:r>
            <a:r>
              <a:rPr lang="en-US" dirty="0" smtClean="0"/>
              <a:t>, but the resource </a:t>
            </a:r>
            <a:r>
              <a:rPr lang="en-US" b="1" dirty="0" smtClean="0"/>
              <a:t>cannot be shared simultaneously</a:t>
            </a:r>
            <a:r>
              <a:rPr lang="en-US" dirty="0" smtClean="0"/>
              <a:t>.</a:t>
            </a:r>
            <a:endParaRPr dirty="0"/>
          </a:p>
        </p:txBody>
      </p:sp>
      <p:sp>
        <p:nvSpPr>
          <p:cNvPr id="200" name="Google Shape;20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5345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ls</a:t>
            </a:r>
            <a:r>
              <a:rPr lang="en-US" dirty="0" smtClean="0"/>
              <a:t> (Program A) lists files Its output is </a:t>
            </a:r>
            <a:r>
              <a:rPr lang="en-US" b="1" dirty="0" smtClean="0"/>
              <a:t>sent as a message</a:t>
            </a:r>
            <a:r>
              <a:rPr lang="en-US" dirty="0" smtClean="0"/>
              <a:t> </a:t>
            </a:r>
            <a:r>
              <a:rPr lang="en-US" dirty="0" err="1" smtClean="0"/>
              <a:t>grep</a:t>
            </a:r>
            <a:r>
              <a:rPr lang="en-US" dirty="0" smtClean="0"/>
              <a:t> txt (Program B) receives that message as input </a:t>
            </a:r>
            <a:r>
              <a:rPr lang="en-US" dirty="0" err="1" smtClean="0"/>
              <a:t>grep</a:t>
            </a:r>
            <a:r>
              <a:rPr lang="en-US" dirty="0" smtClean="0"/>
              <a:t> filters and displays only .txt files</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6929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5923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 y="6334316"/>
            <a:ext cx="12192000" cy="6648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
          <p:cNvSpPr txBox="1">
            <a:spLocks noGrp="1"/>
          </p:cNvSpPr>
          <p:nvPr>
            <p:ph type="sldNum" idx="12"/>
          </p:nvPr>
        </p:nvSpPr>
        <p:spPr>
          <a:xfrm>
            <a:off x="17610368" y="1061427"/>
            <a:ext cx="73096" cy="6002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cxnSp>
        <p:nvCxnSpPr>
          <p:cNvPr id="26" name="Google Shape;26;p2"/>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1" name="Google Shape;31;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
          <p:cNvSpPr txBox="1">
            <a:spLocks noGrp="1"/>
          </p:cNvSpPr>
          <p:nvPr>
            <p:ph type="sldNum" idx="12"/>
          </p:nvPr>
        </p:nvSpPr>
        <p:spPr>
          <a:xfrm>
            <a:off x="17780998" y="6768987"/>
            <a:ext cx="100916" cy="526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34" name="Google Shape;34;p3"/>
          <p:cNvSpPr/>
          <p:nvPr/>
        </p:nvSpPr>
        <p:spPr>
          <a:xfrm>
            <a:off x="30480" y="1737360"/>
            <a:ext cx="12192000" cy="57150"/>
          </a:xfrm>
          <a:prstGeom prst="rect">
            <a:avLst/>
          </a:prstGeom>
          <a:solidFill>
            <a:schemeClr val="accent1"/>
          </a:solidFill>
          <a:ln w="15875" cap="flat" cmpd="sng">
            <a:solidFill>
              <a:srgbClr val="147EA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1"/>
        <p:cNvGrpSpPr/>
        <p:nvPr/>
      </p:nvGrpSpPr>
      <p:grpSpPr>
        <a:xfrm>
          <a:off x="0" y="0"/>
          <a:ext cx="0" cy="0"/>
          <a:chOff x="0" y="0"/>
          <a:chExt cx="0" cy="0"/>
        </a:xfrm>
      </p:grpSpPr>
      <p:sp>
        <p:nvSpPr>
          <p:cNvPr id="42" name="Google Shape;42;p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47"/>
        <p:cNvGrpSpPr/>
        <p:nvPr/>
      </p:nvGrpSpPr>
      <p:grpSpPr>
        <a:xfrm>
          <a:off x="0" y="0"/>
          <a:ext cx="0" cy="0"/>
          <a:chOff x="0" y="0"/>
          <a:chExt cx="0" cy="0"/>
        </a:xfrm>
      </p:grpSpPr>
      <p:sp>
        <p:nvSpPr>
          <p:cNvPr id="48" name="Google Shape;48;p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txBox="1">
            <a:spLocks noGrp="1"/>
          </p:cNvSpPr>
          <p:nvPr>
            <p:ph type="title"/>
          </p:nvPr>
        </p:nvSpPr>
        <p:spPr>
          <a:xfrm>
            <a:off x="1097280" y="758952"/>
            <a:ext cx="10058400" cy="2014058"/>
          </a:xfrm>
          <a:prstGeom prst="rect">
            <a:avLst/>
          </a:prstGeom>
          <a:noFill/>
          <a:ln>
            <a:noFill/>
          </a:ln>
        </p:spPr>
        <p:txBody>
          <a:bodyPr spcFirstLastPara="1" wrap="square" lIns="91425" tIns="45700" rIns="91425" bIns="45700" anchor="b" anchorCtr="0">
            <a:normAutofit/>
          </a:bodyPr>
          <a:lstStyle>
            <a:lvl1pPr lvl="0" algn="ctr">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
          <p:cNvSpPr txBox="1">
            <a:spLocks noGrp="1"/>
          </p:cNvSpPr>
          <p:nvPr>
            <p:ph type="body" idx="1"/>
          </p:nvPr>
        </p:nvSpPr>
        <p:spPr>
          <a:xfrm>
            <a:off x="1097280" y="2831995"/>
            <a:ext cx="10058400" cy="3469231"/>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52" name="Google Shape;52;p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7"/>
          <p:cNvSpPr txBox="1">
            <a:spLocks noGrp="1"/>
          </p:cNvSpPr>
          <p:nvPr>
            <p:ph type="body" idx="1"/>
          </p:nvPr>
        </p:nvSpPr>
        <p:spPr>
          <a:xfrm>
            <a:off x="1097280" y="1845734"/>
            <a:ext cx="4937760" cy="402335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9" name="Google Shape;59;p7"/>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0" name="Google Shape;60;p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8"/>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6" name="Google Shape;66;p8"/>
          <p:cNvSpPr txBox="1">
            <a:spLocks noGrp="1"/>
          </p:cNvSpPr>
          <p:nvPr>
            <p:ph type="body" idx="2"/>
          </p:nvPr>
        </p:nvSpPr>
        <p:spPr>
          <a:xfrm>
            <a:off x="1097280" y="2582335"/>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7" name="Google Shape;67;p8"/>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8" name="Google Shape;68;p8"/>
          <p:cNvSpPr txBox="1">
            <a:spLocks noGrp="1"/>
          </p:cNvSpPr>
          <p:nvPr>
            <p:ph type="body" idx="4"/>
          </p:nvPr>
        </p:nvSpPr>
        <p:spPr>
          <a:xfrm>
            <a:off x="6217920" y="2582334"/>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9" name="Google Shape;69;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2"/>
        <p:cNvGrpSpPr/>
        <p:nvPr/>
      </p:nvGrpSpPr>
      <p:grpSpPr>
        <a:xfrm>
          <a:off x="0" y="0"/>
          <a:ext cx="0" cy="0"/>
          <a:chOff x="0" y="0"/>
          <a:chExt cx="0" cy="0"/>
        </a:xfrm>
      </p:grpSpPr>
      <p:sp>
        <p:nvSpPr>
          <p:cNvPr id="73" name="Google Shape;73;p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7" name="Google Shape;77;p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8" name="Google Shape;78;p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1"/>
        <p:cNvGrpSpPr/>
        <p:nvPr/>
      </p:nvGrpSpPr>
      <p:grpSpPr>
        <a:xfrm>
          <a:off x="0" y="0"/>
          <a:ext cx="0" cy="0"/>
          <a:chOff x="0" y="0"/>
          <a:chExt cx="0" cy="0"/>
        </a:xfrm>
      </p:grpSpPr>
      <p:sp>
        <p:nvSpPr>
          <p:cNvPr id="82" name="Google Shape;82;p1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0"/>
          <p:cNvSpPr>
            <a:spLocks noGrp="1"/>
          </p:cNvSpPr>
          <p:nvPr>
            <p:ph type="pic" idx="2"/>
          </p:nvPr>
        </p:nvSpPr>
        <p:spPr>
          <a:xfrm>
            <a:off x="15" y="0"/>
            <a:ext cx="12191985" cy="4915076"/>
          </a:xfrm>
          <a:prstGeom prst="rect">
            <a:avLst/>
          </a:prstGeom>
          <a:solidFill>
            <a:srgbClr val="C6CDD0"/>
          </a:solidFill>
          <a:ln>
            <a:noFill/>
          </a:ln>
        </p:spPr>
      </p:sp>
      <p:sp>
        <p:nvSpPr>
          <p:cNvPr id="86" name="Google Shape;86;p10"/>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7" name="Google Shape;87;p1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3" name="Google Shape;93;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1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2"/>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2"/>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1" name="Google Shape;101;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cxnSp>
        <p:nvCxnSpPr>
          <p:cNvPr id="17" name="Google Shape;17;p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3"/>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n-GB"/>
              <a:t>Software Construction &amp; Development                                                                                                              </a:t>
            </a:r>
            <a:endParaRPr/>
          </a:p>
        </p:txBody>
      </p:sp>
      <p:sp>
        <p:nvSpPr>
          <p:cNvPr id="109" name="Google Shape;109;p13"/>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GB" dirty="0"/>
              <a:t>COURSE INSTRUCTOR: </a:t>
            </a:r>
            <a:r>
              <a:rPr lang="en-GB" dirty="0" err="1" smtClean="0"/>
              <a:t>Dr.</a:t>
            </a:r>
            <a:r>
              <a:rPr lang="en-GB" dirty="0" smtClean="0"/>
              <a:t> Marriam Nawaz</a:t>
            </a:r>
            <a:endParaRPr dirty="0"/>
          </a:p>
          <a:p>
            <a:pPr marL="0" lvl="0" indent="0" algn="l" rtl="0">
              <a:lnSpc>
                <a:spcPct val="90000"/>
              </a:lnSpc>
              <a:spcBef>
                <a:spcPts val="1400"/>
              </a:spcBef>
              <a:spcAft>
                <a:spcPts val="0"/>
              </a:spcAft>
              <a:buSzPts val="2400"/>
              <a:buNone/>
            </a:pP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4"/>
          <p:cNvSpPr txBox="1">
            <a:spLocks noGrp="1"/>
          </p:cNvSpPr>
          <p:nvPr>
            <p:ph type="ctrTitle"/>
          </p:nvPr>
        </p:nvSpPr>
        <p:spPr>
          <a:xfrm>
            <a:off x="1100051" y="2728255"/>
            <a:ext cx="10819806" cy="140149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262626"/>
              </a:buClr>
              <a:buSzPts val="7200"/>
              <a:buFont typeface="Calibri"/>
              <a:buNone/>
            </a:pPr>
            <a:r>
              <a:rPr lang="en-GB" sz="7200" dirty="0"/>
              <a:t>Basics of Concurrency 	</a:t>
            </a:r>
            <a:endParaRPr sz="7200" dirty="0"/>
          </a:p>
        </p:txBody>
      </p:sp>
      <p:sp>
        <p:nvSpPr>
          <p:cNvPr id="117" name="Google Shape;117;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t>11/17/2024</a:t>
            </a:r>
            <a:endParaRPr/>
          </a:p>
        </p:txBody>
      </p:sp>
      <p:sp>
        <p:nvSpPr>
          <p:cNvPr id="118" name="Google Shape;118;p14"/>
          <p:cNvSpPr txBox="1">
            <a:spLocks noGrp="1"/>
          </p:cNvSpPr>
          <p:nvPr>
            <p:ph type="sldNum" idx="12"/>
          </p:nvPr>
        </p:nvSpPr>
        <p:spPr>
          <a:xfrm>
            <a:off x="17610368" y="1061427"/>
            <a:ext cx="73096" cy="60027"/>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GB"/>
              <a:t>2</a:t>
            </a:fld>
            <a:endParaRPr/>
          </a:p>
        </p:txBody>
      </p:sp>
      <p:sp>
        <p:nvSpPr>
          <p:cNvPr id="119" name="Google Shape;119;p14"/>
          <p:cNvSpPr txBox="1"/>
          <p:nvPr/>
        </p:nvSpPr>
        <p:spPr>
          <a:xfrm>
            <a:off x="1097280" y="4332945"/>
            <a:ext cx="10058400" cy="402336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accent1"/>
              </a:buClr>
              <a:buSzPts val="2400"/>
              <a:buFont typeface="Calibri"/>
              <a:buNone/>
            </a:pPr>
            <a:r>
              <a:rPr lang="en-GB" sz="2400" b="0" i="0" u="none" strike="noStrike" cap="none">
                <a:solidFill>
                  <a:srgbClr val="002060"/>
                </a:solidFill>
                <a:latin typeface="Calibri"/>
                <a:ea typeface="Calibri"/>
                <a:cs typeface="Calibri"/>
                <a:sym typeface="Calibri"/>
              </a:rPr>
              <a:t>Outline</a:t>
            </a:r>
            <a:endParaRPr/>
          </a:p>
          <a:p>
            <a:pPr marL="514350" marR="0" lvl="0" indent="-514350" algn="l" rtl="0">
              <a:lnSpc>
                <a:spcPct val="90000"/>
              </a:lnSpc>
              <a:spcBef>
                <a:spcPts val="1400"/>
              </a:spcBef>
              <a:spcAft>
                <a:spcPts val="0"/>
              </a:spcAft>
              <a:buClr>
                <a:schemeClr val="accent1"/>
              </a:buClr>
              <a:buSzPts val="2400"/>
              <a:buFont typeface="Calibri"/>
              <a:buAutoNum type="arabicPeriod"/>
            </a:pPr>
            <a:r>
              <a:rPr lang="en-GB" sz="2400" b="0" i="0" u="none" strike="noStrike" cap="none">
                <a:solidFill>
                  <a:schemeClr val="dk2"/>
                </a:solidFill>
                <a:latin typeface="Calibri"/>
                <a:ea typeface="Calibri"/>
                <a:cs typeface="Calibri"/>
                <a:sym typeface="Calibri"/>
              </a:rPr>
              <a:t>Introduction to concurrency	</a:t>
            </a:r>
            <a:endParaRPr/>
          </a:p>
          <a:p>
            <a:pPr marL="514350" marR="0" lvl="0" indent="-514350" algn="l" rtl="0">
              <a:lnSpc>
                <a:spcPct val="90000"/>
              </a:lnSpc>
              <a:spcBef>
                <a:spcPts val="1400"/>
              </a:spcBef>
              <a:spcAft>
                <a:spcPts val="0"/>
              </a:spcAft>
              <a:buClr>
                <a:schemeClr val="accent1"/>
              </a:buClr>
              <a:buSzPts val="2400"/>
              <a:buFont typeface="Calibri"/>
              <a:buAutoNum type="arabicPeriod"/>
            </a:pPr>
            <a:r>
              <a:rPr lang="en-GB" sz="2400" b="0" i="0" u="none" strike="noStrike" cap="none">
                <a:solidFill>
                  <a:schemeClr val="dk2"/>
                </a:solidFill>
                <a:latin typeface="Calibri"/>
                <a:ea typeface="Calibri"/>
                <a:cs typeface="Calibri"/>
                <a:sym typeface="Calibri"/>
              </a:rPr>
              <a:t>Socket overview	</a:t>
            </a:r>
            <a:endParaRPr/>
          </a:p>
          <a:p>
            <a:pPr marL="274320" marR="0" lvl="1" indent="0" algn="ctr" rtl="0">
              <a:lnSpc>
                <a:spcPct val="90000"/>
              </a:lnSpc>
              <a:spcBef>
                <a:spcPts val="400"/>
              </a:spcBef>
              <a:spcAft>
                <a:spcPts val="0"/>
              </a:spcAft>
              <a:buClr>
                <a:schemeClr val="accent1"/>
              </a:buClr>
              <a:buSzPts val="2200"/>
              <a:buFont typeface="Calibri"/>
              <a:buNone/>
            </a:pPr>
            <a:endParaRPr sz="2200" b="0" i="0" u="none" strike="noStrike" cap="none">
              <a:solidFill>
                <a:srgbClr val="002060"/>
              </a:solidFill>
              <a:latin typeface="Calibri"/>
              <a:ea typeface="Calibri"/>
              <a:cs typeface="Calibri"/>
              <a:sym typeface="Calibri"/>
            </a:endParaRPr>
          </a:p>
          <a:p>
            <a:pPr marL="0" marR="0" lvl="0" indent="0" algn="l" rtl="0">
              <a:lnSpc>
                <a:spcPct val="90000"/>
              </a:lnSpc>
              <a:spcBef>
                <a:spcPts val="1600"/>
              </a:spcBef>
              <a:spcAft>
                <a:spcPts val="0"/>
              </a:spcAft>
              <a:buClr>
                <a:schemeClr val="accent1"/>
              </a:buClr>
              <a:buSzPts val="2400"/>
              <a:buFont typeface="Calibri"/>
              <a:buNone/>
            </a:pPr>
            <a:endParaRPr sz="2400" b="0" i="0" u="none" strike="noStrike" cap="none">
              <a:solidFill>
                <a:srgbClr val="00206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0" lvl="0" indent="0" algn="ctr" rtl="0">
              <a:lnSpc>
                <a:spcPct val="90000"/>
              </a:lnSpc>
              <a:spcBef>
                <a:spcPts val="0"/>
              </a:spcBef>
              <a:spcAft>
                <a:spcPts val="0"/>
              </a:spcAft>
              <a:buSzPts val="2800"/>
              <a:buNone/>
            </a:pPr>
            <a:endParaRPr sz="2800"/>
          </a:p>
          <a:p>
            <a:pPr marL="0" lvl="0" indent="0" algn="ctr" rtl="0">
              <a:lnSpc>
                <a:spcPct val="90000"/>
              </a:lnSpc>
              <a:spcBef>
                <a:spcPts val="1400"/>
              </a:spcBef>
              <a:spcAft>
                <a:spcPts val="0"/>
              </a:spcAft>
              <a:buSzPts val="2800"/>
              <a:buNone/>
            </a:pPr>
            <a:endParaRPr sz="2800"/>
          </a:p>
          <a:p>
            <a:pPr marL="0" lvl="0" indent="0" algn="ctr" rtl="0">
              <a:lnSpc>
                <a:spcPct val="90000"/>
              </a:lnSpc>
              <a:spcBef>
                <a:spcPts val="1400"/>
              </a:spcBef>
              <a:spcAft>
                <a:spcPts val="0"/>
              </a:spcAft>
              <a:buSzPts val="2800"/>
              <a:buNone/>
            </a:pPr>
            <a:endParaRPr sz="2800"/>
          </a:p>
          <a:p>
            <a:pPr marL="0" lvl="0" indent="0" algn="ctr" rtl="0">
              <a:lnSpc>
                <a:spcPct val="90000"/>
              </a:lnSpc>
              <a:spcBef>
                <a:spcPts val="1400"/>
              </a:spcBef>
              <a:spcAft>
                <a:spcPts val="0"/>
              </a:spcAft>
              <a:buSzPts val="3200"/>
              <a:buNone/>
            </a:pPr>
            <a:r>
              <a:rPr lang="en-GB" sz="3200"/>
              <a:t>How Modern Computers Handle Multiple Tasks?</a:t>
            </a:r>
            <a:endParaRPr sz="3200">
              <a:solidFill>
                <a:srgbClr val="002060"/>
              </a:solidFill>
            </a:endParaRPr>
          </a:p>
        </p:txBody>
      </p:sp>
      <p:sp>
        <p:nvSpPr>
          <p:cNvPr id="125" name="Google Shape;125;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t>11/17/2024</a:t>
            </a:r>
            <a:endParaRPr/>
          </a:p>
        </p:txBody>
      </p:sp>
      <p:sp>
        <p:nvSpPr>
          <p:cNvPr id="126" name="Google Shape;126;p15"/>
          <p:cNvSpPr txBox="1">
            <a:spLocks noGrp="1"/>
          </p:cNvSpPr>
          <p:nvPr>
            <p:ph type="sldNum" idx="12"/>
          </p:nvPr>
        </p:nvSpPr>
        <p:spPr>
          <a:xfrm>
            <a:off x="17780998" y="6768987"/>
            <a:ext cx="100916" cy="526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6"/>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Parallelism and concurrency</a:t>
            </a:r>
            <a:endParaRPr/>
          </a:p>
        </p:txBody>
      </p:sp>
      <p:pic>
        <p:nvPicPr>
          <p:cNvPr id="133" name="Google Shape;133;p16"/>
          <p:cNvPicPr preferRelativeResize="0"/>
          <p:nvPr/>
        </p:nvPicPr>
        <p:blipFill rotWithShape="1">
          <a:blip r:embed="rId3">
            <a:alphaModFix/>
          </a:blip>
          <a:srcRect/>
          <a:stretch/>
        </p:blipFill>
        <p:spPr>
          <a:xfrm>
            <a:off x="2608306" y="1861879"/>
            <a:ext cx="6399770" cy="4435347"/>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Parallelism and concurrency</a:t>
            </a:r>
            <a:endParaRPr/>
          </a:p>
        </p:txBody>
      </p:sp>
      <p:pic>
        <p:nvPicPr>
          <p:cNvPr id="140" name="Google Shape;140;p17"/>
          <p:cNvPicPr preferRelativeResize="0"/>
          <p:nvPr/>
        </p:nvPicPr>
        <p:blipFill rotWithShape="1">
          <a:blip r:embed="rId3">
            <a:alphaModFix/>
          </a:blip>
          <a:srcRect/>
          <a:stretch/>
        </p:blipFill>
        <p:spPr>
          <a:xfrm>
            <a:off x="2381378" y="1974506"/>
            <a:ext cx="6935617" cy="4175841"/>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Concurrency</a:t>
            </a:r>
            <a:endParaRPr/>
          </a:p>
        </p:txBody>
      </p:sp>
      <p:sp>
        <p:nvSpPr>
          <p:cNvPr id="146" name="Google Shape;146;p1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635508" lvl="1" indent="-342900" algn="l" rtl="0">
              <a:lnSpc>
                <a:spcPct val="90000"/>
              </a:lnSpc>
              <a:spcBef>
                <a:spcPts val="400"/>
              </a:spcBef>
              <a:spcAft>
                <a:spcPts val="0"/>
              </a:spcAft>
              <a:buSzPts val="1800"/>
              <a:buFont typeface="Arial"/>
              <a:buChar char="•"/>
            </a:pPr>
            <a:r>
              <a:rPr lang="en-GB" sz="2400"/>
              <a:t>Doing multiple things at a same time but not necessarily all at once</a:t>
            </a:r>
            <a:endParaRPr/>
          </a:p>
          <a:p>
            <a:pPr marL="635508" lvl="1" indent="-342900" algn="l" rtl="0">
              <a:lnSpc>
                <a:spcPct val="90000"/>
              </a:lnSpc>
              <a:spcBef>
                <a:spcPts val="400"/>
              </a:spcBef>
              <a:spcAft>
                <a:spcPts val="0"/>
              </a:spcAft>
              <a:buSzPts val="1800"/>
              <a:buFont typeface="Arial"/>
              <a:buChar char="•"/>
            </a:pPr>
            <a:r>
              <a:rPr lang="en-GB" sz="2400"/>
              <a:t>Multitasking</a:t>
            </a:r>
            <a:endParaRPr/>
          </a:p>
          <a:p>
            <a:pPr marL="635508" lvl="1" indent="-342900" algn="l" rtl="0">
              <a:lnSpc>
                <a:spcPct val="90000"/>
              </a:lnSpc>
              <a:spcBef>
                <a:spcPts val="400"/>
              </a:spcBef>
              <a:spcAft>
                <a:spcPts val="0"/>
              </a:spcAft>
              <a:buSzPts val="1800"/>
              <a:buFont typeface="Arial"/>
              <a:buChar char="•"/>
            </a:pPr>
            <a:r>
              <a:rPr lang="en-GB" sz="2400"/>
              <a:t>Task are running efficiently, even though they are not </a:t>
            </a:r>
            <a:endParaRPr/>
          </a:p>
          <a:p>
            <a:pPr marL="292608" lvl="1" indent="0" algn="l" rtl="0">
              <a:lnSpc>
                <a:spcPct val="90000"/>
              </a:lnSpc>
              <a:spcBef>
                <a:spcPts val="400"/>
              </a:spcBef>
              <a:spcAft>
                <a:spcPts val="0"/>
              </a:spcAft>
              <a:buSzPts val="1800"/>
              <a:buNone/>
            </a:pPr>
            <a:r>
              <a:rPr lang="en-GB" sz="2400" b="1"/>
              <a:t>Example: </a:t>
            </a:r>
            <a:endParaRPr sz="2400" b="1"/>
          </a:p>
          <a:p>
            <a:pPr marL="694246" lvl="1" indent="-401638" algn="l" rtl="0">
              <a:lnSpc>
                <a:spcPct val="90000"/>
              </a:lnSpc>
              <a:spcBef>
                <a:spcPts val="400"/>
              </a:spcBef>
              <a:spcAft>
                <a:spcPts val="0"/>
              </a:spcAft>
              <a:buSzPts val="1800"/>
              <a:buFont typeface="Noto Sans Symbols"/>
              <a:buChar char="▪"/>
            </a:pPr>
            <a:r>
              <a:rPr lang="en-GB" sz="2400"/>
              <a:t>download files from the internet</a:t>
            </a:r>
            <a:endParaRPr sz="2400"/>
          </a:p>
          <a:p>
            <a:pPr marL="694246" lvl="1" indent="-401638" algn="l" rtl="0">
              <a:lnSpc>
                <a:spcPct val="90000"/>
              </a:lnSpc>
              <a:spcBef>
                <a:spcPts val="600"/>
              </a:spcBef>
              <a:spcAft>
                <a:spcPts val="0"/>
              </a:spcAft>
              <a:buSzPts val="1800"/>
              <a:buFont typeface="Noto Sans Symbols"/>
              <a:buChar char="▪"/>
            </a:pPr>
            <a:r>
              <a:rPr lang="en-GB" sz="2400"/>
              <a:t>also processing user input.</a:t>
            </a:r>
            <a:endParaRPr/>
          </a:p>
          <a:p>
            <a:pPr marL="694246" lvl="1" indent="-287338" algn="l" rtl="0">
              <a:lnSpc>
                <a:spcPct val="90000"/>
              </a:lnSpc>
              <a:spcBef>
                <a:spcPts val="600"/>
              </a:spcBef>
              <a:spcAft>
                <a:spcPts val="0"/>
              </a:spcAft>
              <a:buSzPts val="1800"/>
              <a:buFont typeface="Noto Sans Symbols"/>
              <a:buNone/>
            </a:pPr>
            <a:endParaRPr sz="24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Concurrency</a:t>
            </a:r>
            <a:endParaRPr/>
          </a:p>
        </p:txBody>
      </p:sp>
      <p:sp>
        <p:nvSpPr>
          <p:cNvPr id="153" name="Google Shape;153;p1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38" lvl="0" indent="-91438" algn="l" rtl="0">
              <a:lnSpc>
                <a:spcPct val="90000"/>
              </a:lnSpc>
              <a:spcBef>
                <a:spcPts val="0"/>
              </a:spcBef>
              <a:spcAft>
                <a:spcPts val="0"/>
              </a:spcAft>
              <a:buSzPts val="2000"/>
              <a:buChar char=" "/>
            </a:pPr>
            <a:r>
              <a:rPr lang="en-GB" sz="2400"/>
              <a:t>Metrics to evaluate concurrent systems</a:t>
            </a:r>
            <a:endParaRPr sz="2400"/>
          </a:p>
          <a:p>
            <a:pPr marL="91438" lvl="0" indent="-91438" algn="l" rtl="0">
              <a:lnSpc>
                <a:spcPct val="90000"/>
              </a:lnSpc>
              <a:spcBef>
                <a:spcPts val="1400"/>
              </a:spcBef>
              <a:spcAft>
                <a:spcPts val="0"/>
              </a:spcAft>
              <a:buSzPts val="2000"/>
              <a:buChar char=" "/>
            </a:pPr>
            <a:r>
              <a:rPr lang="en-GB" sz="2400"/>
              <a:t>1. Good Throughput</a:t>
            </a:r>
            <a:endParaRPr sz="2400"/>
          </a:p>
          <a:p>
            <a:pPr marL="91438" lvl="0" indent="-91438" algn="l" rtl="0">
              <a:lnSpc>
                <a:spcPct val="90000"/>
              </a:lnSpc>
              <a:spcBef>
                <a:spcPts val="1600"/>
              </a:spcBef>
              <a:spcAft>
                <a:spcPts val="0"/>
              </a:spcAft>
              <a:buSzPts val="2000"/>
              <a:buChar char=" "/>
            </a:pPr>
            <a:r>
              <a:rPr lang="en-GB" sz="2400"/>
              <a:t>2. Good Responsiveness</a:t>
            </a:r>
            <a:endParaRPr/>
          </a:p>
          <a:p>
            <a:pPr marL="91438" lvl="0" indent="35562" algn="l" rtl="0">
              <a:lnSpc>
                <a:spcPct val="90000"/>
              </a:lnSpc>
              <a:spcBef>
                <a:spcPts val="1600"/>
              </a:spcBef>
              <a:spcAft>
                <a:spcPts val="0"/>
              </a:spcAft>
              <a:buSzPts val="2000"/>
              <a:buNone/>
            </a:pPr>
            <a:endParaRPr sz="2400"/>
          </a:p>
          <a:p>
            <a:pPr marL="91438" lvl="0" indent="-91438" algn="l" rtl="0">
              <a:lnSpc>
                <a:spcPct val="90000"/>
              </a:lnSpc>
              <a:spcBef>
                <a:spcPts val="0"/>
              </a:spcBef>
              <a:spcAft>
                <a:spcPts val="0"/>
              </a:spcAft>
              <a:buSzPts val="2000"/>
              <a:buChar char=" "/>
            </a:pPr>
            <a:r>
              <a:rPr lang="en-GB" sz="2400"/>
              <a:t>These metrics ensure that a concurrent system </a:t>
            </a:r>
            <a:endParaRPr sz="2400"/>
          </a:p>
          <a:p>
            <a:pPr marL="91438" lvl="0" indent="35562" algn="l" rtl="0">
              <a:lnSpc>
                <a:spcPct val="90000"/>
              </a:lnSpc>
              <a:spcBef>
                <a:spcPts val="0"/>
              </a:spcBef>
              <a:spcAft>
                <a:spcPts val="0"/>
              </a:spcAft>
              <a:buSzPts val="2000"/>
              <a:buNone/>
            </a:pPr>
            <a:endParaRPr sz="2400"/>
          </a:p>
          <a:p>
            <a:pPr marL="2873376" lvl="0" indent="-623888" algn="l" rtl="0">
              <a:lnSpc>
                <a:spcPct val="90000"/>
              </a:lnSpc>
              <a:spcBef>
                <a:spcPts val="0"/>
              </a:spcBef>
              <a:spcAft>
                <a:spcPts val="0"/>
              </a:spcAft>
              <a:buSzPts val="2000"/>
              <a:buFont typeface="Arial"/>
              <a:buChar char="•"/>
            </a:pPr>
            <a:r>
              <a:rPr lang="en-GB" sz="2400"/>
              <a:t>Handle multiple tasks </a:t>
            </a:r>
            <a:endParaRPr/>
          </a:p>
          <a:p>
            <a:pPr marL="2873376" lvl="0" indent="-623888" algn="l" rtl="0">
              <a:lnSpc>
                <a:spcPct val="90000"/>
              </a:lnSpc>
              <a:spcBef>
                <a:spcPts val="0"/>
              </a:spcBef>
              <a:spcAft>
                <a:spcPts val="0"/>
              </a:spcAft>
              <a:buSzPts val="2000"/>
              <a:buFont typeface="Arial"/>
              <a:buChar char="•"/>
            </a:pPr>
            <a:r>
              <a:rPr lang="en-GB" sz="2400"/>
              <a:t>Staying fast and interactive for users.</a:t>
            </a:r>
            <a:endParaRPr/>
          </a:p>
          <a:p>
            <a:pPr marL="91438" lvl="0" indent="35562" algn="l" rtl="0">
              <a:lnSpc>
                <a:spcPct val="90000"/>
              </a:lnSpc>
              <a:spcBef>
                <a:spcPts val="1600"/>
              </a:spcBef>
              <a:spcAft>
                <a:spcPts val="0"/>
              </a:spcAft>
              <a:buSzPts val="2000"/>
              <a:buNone/>
            </a:pPr>
            <a:endParaRPr sz="2400"/>
          </a:p>
          <a:p>
            <a:pPr marL="384038" lvl="1" indent="-68574" algn="l" rtl="0">
              <a:lnSpc>
                <a:spcPct val="90000"/>
              </a:lnSpc>
              <a:spcBef>
                <a:spcPts val="600"/>
              </a:spcBef>
              <a:spcAft>
                <a:spcPts val="0"/>
              </a:spcAft>
              <a:buSzPts val="1800"/>
              <a:buNone/>
            </a:pP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0"/>
          <p:cNvSpPr txBox="1">
            <a:spLocks noGrp="1"/>
          </p:cNvSpPr>
          <p:nvPr>
            <p:ph type="title"/>
          </p:nvPr>
        </p:nvSpPr>
        <p:spPr>
          <a:xfrm>
            <a:off x="8177212" y="634946"/>
            <a:ext cx="3372529" cy="5055904"/>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GB"/>
              <a:t>Multitasking</a:t>
            </a:r>
            <a:endParaRPr/>
          </a:p>
        </p:txBody>
      </p:sp>
      <p:grpSp>
        <p:nvGrpSpPr>
          <p:cNvPr id="161" name="Google Shape;161;p20"/>
          <p:cNvGrpSpPr/>
          <p:nvPr/>
        </p:nvGrpSpPr>
        <p:grpSpPr>
          <a:xfrm>
            <a:off x="633413" y="1843015"/>
            <a:ext cx="6910387" cy="2644920"/>
            <a:chOff x="0" y="1203252"/>
            <a:chExt cx="6910387" cy="2644920"/>
          </a:xfrm>
        </p:grpSpPr>
        <p:sp>
          <p:nvSpPr>
            <p:cNvPr id="162" name="Google Shape;162;p20"/>
            <p:cNvSpPr/>
            <p:nvPr/>
          </p:nvSpPr>
          <p:spPr>
            <a:xfrm>
              <a:off x="0" y="1660812"/>
              <a:ext cx="6910387" cy="781200"/>
            </a:xfrm>
            <a:prstGeom prst="rect">
              <a:avLst/>
            </a:prstGeom>
            <a:solidFill>
              <a:schemeClr val="lt1">
                <a:alpha val="89411"/>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63" name="Google Shape;163;p20"/>
            <p:cNvSpPr/>
            <p:nvPr/>
          </p:nvSpPr>
          <p:spPr>
            <a:xfrm>
              <a:off x="345519" y="1203252"/>
              <a:ext cx="4837270" cy="915120"/>
            </a:xfrm>
            <a:prstGeom prst="roundRect">
              <a:avLst>
                <a:gd name="adj" fmla="val 16667"/>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64" name="Google Shape;164;p20"/>
            <p:cNvSpPr txBox="1"/>
            <p:nvPr/>
          </p:nvSpPr>
          <p:spPr>
            <a:xfrm>
              <a:off x="390191" y="1247924"/>
              <a:ext cx="4747926" cy="825776"/>
            </a:xfrm>
            <a:prstGeom prst="rect">
              <a:avLst/>
            </a:prstGeom>
            <a:noFill/>
            <a:ln>
              <a:noFill/>
            </a:ln>
          </p:spPr>
          <p:txBody>
            <a:bodyPr spcFirstLastPara="1" wrap="square" lIns="182825" tIns="0" rIns="182825" bIns="0" anchor="ctr" anchorCtr="0">
              <a:noAutofit/>
            </a:bodyPr>
            <a:lstStyle/>
            <a:p>
              <a:pPr marL="0" marR="0" lvl="0" indent="0" algn="l" rtl="0">
                <a:lnSpc>
                  <a:spcPct val="90000"/>
                </a:lnSpc>
                <a:spcBef>
                  <a:spcPts val="0"/>
                </a:spcBef>
                <a:spcAft>
                  <a:spcPts val="0"/>
                </a:spcAft>
                <a:buClr>
                  <a:schemeClr val="lt1"/>
                </a:buClr>
                <a:buSzPts val="3100"/>
                <a:buFont typeface="Calibri"/>
                <a:buNone/>
              </a:pPr>
              <a:r>
                <a:rPr lang="en-GB" sz="3100" b="0" i="0" u="none" strike="noStrike" cap="none">
                  <a:solidFill>
                    <a:schemeClr val="lt1"/>
                  </a:solidFill>
                  <a:latin typeface="Calibri"/>
                  <a:ea typeface="Calibri"/>
                  <a:cs typeface="Calibri"/>
                  <a:sym typeface="Calibri"/>
                </a:rPr>
                <a:t>Process based multitasking</a:t>
              </a:r>
              <a:endParaRPr sz="1800" b="0" i="0" u="none" strike="noStrike" cap="none">
                <a:solidFill>
                  <a:schemeClr val="dk1"/>
                </a:solidFill>
                <a:latin typeface="Calibri"/>
                <a:ea typeface="Calibri"/>
                <a:cs typeface="Calibri"/>
                <a:sym typeface="Calibri"/>
              </a:endParaRPr>
            </a:p>
          </p:txBody>
        </p:sp>
        <p:sp>
          <p:nvSpPr>
            <p:cNvPr id="165" name="Google Shape;165;p20"/>
            <p:cNvSpPr/>
            <p:nvPr/>
          </p:nvSpPr>
          <p:spPr>
            <a:xfrm>
              <a:off x="0" y="3066972"/>
              <a:ext cx="6910387" cy="781200"/>
            </a:xfrm>
            <a:prstGeom prst="rect">
              <a:avLst/>
            </a:prstGeom>
            <a:solidFill>
              <a:schemeClr val="lt1">
                <a:alpha val="89411"/>
              </a:schemeClr>
            </a:solidFill>
            <a:ln w="15875" cap="flat" cmpd="sng">
              <a:solidFill>
                <a:srgbClr val="19ACE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66" name="Google Shape;166;p20"/>
            <p:cNvSpPr/>
            <p:nvPr/>
          </p:nvSpPr>
          <p:spPr>
            <a:xfrm>
              <a:off x="345519" y="2609412"/>
              <a:ext cx="4837270" cy="915120"/>
            </a:xfrm>
            <a:prstGeom prst="roundRect">
              <a:avLst>
                <a:gd name="adj" fmla="val 16667"/>
              </a:avLst>
            </a:prstGeom>
            <a:solidFill>
              <a:srgbClr val="19ACE4"/>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67" name="Google Shape;167;p20"/>
            <p:cNvSpPr txBox="1"/>
            <p:nvPr/>
          </p:nvSpPr>
          <p:spPr>
            <a:xfrm>
              <a:off x="390191" y="2654084"/>
              <a:ext cx="4747926" cy="825776"/>
            </a:xfrm>
            <a:prstGeom prst="rect">
              <a:avLst/>
            </a:prstGeom>
            <a:noFill/>
            <a:ln>
              <a:noFill/>
            </a:ln>
          </p:spPr>
          <p:txBody>
            <a:bodyPr spcFirstLastPara="1" wrap="square" lIns="182825" tIns="0" rIns="182825" bIns="0" anchor="ctr" anchorCtr="0">
              <a:noAutofit/>
            </a:bodyPr>
            <a:lstStyle/>
            <a:p>
              <a:pPr marL="0" marR="0" lvl="0" indent="0" algn="l" rtl="0">
                <a:lnSpc>
                  <a:spcPct val="90000"/>
                </a:lnSpc>
                <a:spcBef>
                  <a:spcPts val="0"/>
                </a:spcBef>
                <a:spcAft>
                  <a:spcPts val="0"/>
                </a:spcAft>
                <a:buClr>
                  <a:schemeClr val="lt1"/>
                </a:buClr>
                <a:buSzPts val="3100"/>
                <a:buFont typeface="Calibri"/>
                <a:buNone/>
              </a:pPr>
              <a:r>
                <a:rPr lang="en-GB" sz="3100" b="0" i="0" u="none" strike="noStrike" cap="none">
                  <a:solidFill>
                    <a:schemeClr val="lt1"/>
                  </a:solidFill>
                  <a:latin typeface="Calibri"/>
                  <a:ea typeface="Calibri"/>
                  <a:cs typeface="Calibri"/>
                  <a:sym typeface="Calibri"/>
                </a:rPr>
                <a:t>Thread based multitasking</a:t>
              </a: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Multitasking</a:t>
            </a:r>
            <a:endParaRPr/>
          </a:p>
        </p:txBody>
      </p:sp>
      <p:graphicFrame>
        <p:nvGraphicFramePr>
          <p:cNvPr id="174" name="Google Shape;174;p21"/>
          <p:cNvGraphicFramePr/>
          <p:nvPr/>
        </p:nvGraphicFramePr>
        <p:xfrm>
          <a:off x="843148" y="1935677"/>
          <a:ext cx="9844650" cy="3752600"/>
        </p:xfrm>
        <a:graphic>
          <a:graphicData uri="http://schemas.openxmlformats.org/drawingml/2006/table">
            <a:tbl>
              <a:tblPr firstRow="1" bandRow="1">
                <a:noFill/>
                <a:tableStyleId>{CF596035-364B-48CF-B1F6-AA9F96727DE9}</a:tableStyleId>
              </a:tblPr>
              <a:tblGrid>
                <a:gridCol w="4891450"/>
                <a:gridCol w="4953200"/>
              </a:tblGrid>
              <a:tr h="494800">
                <a:tc>
                  <a:txBody>
                    <a:bodyPr/>
                    <a:lstStyle/>
                    <a:p>
                      <a:pPr marL="0" marR="0" lvl="0" indent="0" algn="ctr" rtl="0">
                        <a:lnSpc>
                          <a:spcPct val="100000"/>
                        </a:lnSpc>
                        <a:spcBef>
                          <a:spcPts val="0"/>
                        </a:spcBef>
                        <a:spcAft>
                          <a:spcPts val="0"/>
                        </a:spcAft>
                        <a:buClr>
                          <a:schemeClr val="dk1"/>
                        </a:buClr>
                        <a:buSzPts val="2400"/>
                        <a:buFont typeface="Calibri"/>
                        <a:buNone/>
                      </a:pPr>
                      <a:r>
                        <a:rPr lang="en-GB" sz="2400" u="none" strike="noStrike" cap="none" dirty="0"/>
                        <a:t>Process-Based Multitasking </a:t>
                      </a:r>
                      <a:endParaRPr dirty="0"/>
                    </a:p>
                  </a:txBody>
                  <a:tcPr marL="91450" marR="91450" marT="45725" marB="45725"/>
                </a:tc>
                <a:tc>
                  <a:txBody>
                    <a:bodyPr/>
                    <a:lstStyle/>
                    <a:p>
                      <a:pPr marL="0" marR="0" lvl="0" indent="0" algn="ctr" rtl="0">
                        <a:lnSpc>
                          <a:spcPct val="100000"/>
                        </a:lnSpc>
                        <a:spcBef>
                          <a:spcPts val="0"/>
                        </a:spcBef>
                        <a:spcAft>
                          <a:spcPts val="0"/>
                        </a:spcAft>
                        <a:buClr>
                          <a:schemeClr val="dk1"/>
                        </a:buClr>
                        <a:buSzPts val="2400"/>
                        <a:buFont typeface="Calibri"/>
                        <a:buNone/>
                      </a:pPr>
                      <a:r>
                        <a:rPr lang="en-GB" sz="2400" b="1" u="none" strike="noStrike" cap="none"/>
                        <a:t>Thread</a:t>
                      </a:r>
                      <a:r>
                        <a:rPr lang="en-GB" sz="2400" u="none" strike="noStrike" cap="none"/>
                        <a:t>-Based Multitasking </a:t>
                      </a:r>
                      <a:endParaRPr/>
                    </a:p>
                  </a:txBody>
                  <a:tcPr marL="91450" marR="91450" marT="45725" marB="45725"/>
                </a:tc>
              </a:tr>
              <a:tr h="668100">
                <a:tc>
                  <a:txBody>
                    <a:bodyPr/>
                    <a:lstStyle/>
                    <a:p>
                      <a:pPr marL="0" marR="0" lvl="0" indent="0" algn="l" rtl="0">
                        <a:spcBef>
                          <a:spcPts val="0"/>
                        </a:spcBef>
                        <a:spcAft>
                          <a:spcPts val="0"/>
                        </a:spcAft>
                        <a:buNone/>
                      </a:pPr>
                      <a:r>
                        <a:rPr lang="en-GB" sz="2400" u="none" strike="noStrike" cap="none"/>
                        <a:t>Independent program</a:t>
                      </a:r>
                      <a:endParaRPr sz="2400"/>
                    </a:p>
                  </a:txBody>
                  <a:tcPr marL="91450" marR="91450" marT="45725" marB="45725"/>
                </a:tc>
                <a:tc>
                  <a:txBody>
                    <a:bodyPr/>
                    <a:lstStyle/>
                    <a:p>
                      <a:pPr marL="0" marR="0" lvl="0" indent="0" algn="l" rtl="0">
                        <a:spcBef>
                          <a:spcPts val="0"/>
                        </a:spcBef>
                        <a:spcAft>
                          <a:spcPts val="0"/>
                        </a:spcAft>
                        <a:buNone/>
                      </a:pPr>
                      <a:r>
                        <a:rPr lang="en-GB" sz="2400"/>
                        <a:t>Smaller unit within a process </a:t>
                      </a:r>
                      <a:endParaRPr sz="2400"/>
                    </a:p>
                  </a:txBody>
                  <a:tcPr marL="91450" marR="91450" marT="45725" marB="45725"/>
                </a:tc>
              </a:tr>
              <a:tr h="890650">
                <a:tc>
                  <a:txBody>
                    <a:bodyPr/>
                    <a:lstStyle/>
                    <a:p>
                      <a:pPr marL="0" marR="0" lvl="0" indent="0" algn="l" rtl="0">
                        <a:spcBef>
                          <a:spcPts val="0"/>
                        </a:spcBef>
                        <a:spcAft>
                          <a:spcPts val="0"/>
                        </a:spcAft>
                        <a:buNone/>
                      </a:pPr>
                      <a:r>
                        <a:rPr lang="en-GB" sz="2400" dirty="0"/>
                        <a:t>Running different programs</a:t>
                      </a:r>
                      <a:endParaRPr sz="2400" dirty="0"/>
                    </a:p>
                  </a:txBody>
                  <a:tcPr marL="91450" marR="91450" marT="45725" marB="45725"/>
                </a:tc>
                <a:tc>
                  <a:txBody>
                    <a:bodyPr/>
                    <a:lstStyle/>
                    <a:p>
                      <a:pPr marL="0" marR="0" lvl="0" indent="0" algn="l" rtl="0">
                        <a:spcBef>
                          <a:spcPts val="0"/>
                        </a:spcBef>
                        <a:spcAft>
                          <a:spcPts val="0"/>
                        </a:spcAft>
                        <a:buNone/>
                      </a:pPr>
                      <a:r>
                        <a:rPr lang="en-GB" sz="2400"/>
                        <a:t>Running different tasks within the same program </a:t>
                      </a:r>
                      <a:endParaRPr sz="2400"/>
                    </a:p>
                  </a:txBody>
                  <a:tcPr marL="91450" marR="91450" marT="45725" marB="45725"/>
                </a:tc>
              </a:tr>
              <a:tr h="849525">
                <a:tc>
                  <a:txBody>
                    <a:bodyPr/>
                    <a:lstStyle/>
                    <a:p>
                      <a:pPr marL="0" marR="0" lvl="0" indent="0" algn="l" rtl="0">
                        <a:spcBef>
                          <a:spcPts val="0"/>
                        </a:spcBef>
                        <a:spcAft>
                          <a:spcPts val="0"/>
                        </a:spcAft>
                        <a:buNone/>
                      </a:pPr>
                      <a:r>
                        <a:rPr lang="en-GB" sz="2400"/>
                        <a:t>Processes are more isolated and safer </a:t>
                      </a:r>
                      <a:endParaRPr sz="2400"/>
                    </a:p>
                  </a:txBody>
                  <a:tcPr marL="91450" marR="91450" marT="45725" marB="45725"/>
                </a:tc>
                <a:tc>
                  <a:txBody>
                    <a:bodyPr/>
                    <a:lstStyle/>
                    <a:p>
                      <a:pPr marL="0" marR="0" lvl="0" indent="0" algn="l" rtl="0">
                        <a:spcBef>
                          <a:spcPts val="0"/>
                        </a:spcBef>
                        <a:spcAft>
                          <a:spcPts val="0"/>
                        </a:spcAft>
                        <a:buNone/>
                      </a:pPr>
                      <a:r>
                        <a:rPr lang="en-GB" sz="2400"/>
                        <a:t>Threads share memory and resources </a:t>
                      </a:r>
                      <a:endParaRPr sz="2400"/>
                    </a:p>
                  </a:txBody>
                  <a:tcPr marL="91450" marR="91450" marT="45725" marB="45725"/>
                </a:tc>
              </a:tr>
              <a:tr h="849525">
                <a:tc>
                  <a:txBody>
                    <a:bodyPr/>
                    <a:lstStyle/>
                    <a:p>
                      <a:pPr marL="0" marR="0" lvl="0" indent="0" algn="l" rtl="0">
                        <a:lnSpc>
                          <a:spcPct val="100000"/>
                        </a:lnSpc>
                        <a:spcBef>
                          <a:spcPts val="0"/>
                        </a:spcBef>
                        <a:spcAft>
                          <a:spcPts val="0"/>
                        </a:spcAft>
                        <a:buClr>
                          <a:schemeClr val="dk1"/>
                        </a:buClr>
                        <a:buSzPts val="2400"/>
                        <a:buFont typeface="Calibri"/>
                        <a:buNone/>
                      </a:pPr>
                      <a:r>
                        <a:rPr lang="en-GB" sz="2400"/>
                        <a:t>Processes uses more resources.</a:t>
                      </a:r>
                      <a:endParaRPr/>
                    </a:p>
                  </a:txBody>
                  <a:tcPr marL="91450" marR="91450" marT="45725" marB="45725"/>
                </a:tc>
                <a:tc>
                  <a:txBody>
                    <a:bodyPr/>
                    <a:lstStyle/>
                    <a:p>
                      <a:pPr marL="0" marR="0" lvl="0" indent="0" algn="l" rtl="0">
                        <a:spcBef>
                          <a:spcPts val="0"/>
                        </a:spcBef>
                        <a:spcAft>
                          <a:spcPts val="0"/>
                        </a:spcAft>
                        <a:buNone/>
                      </a:pPr>
                      <a:r>
                        <a:rPr lang="en-GB" sz="2400" dirty="0"/>
                        <a:t>Threads can interfere other programs</a:t>
                      </a:r>
                      <a:endParaRPr sz="2400" dirty="0"/>
                    </a:p>
                  </a:txBody>
                  <a:tcPr marL="91450" marR="91450" marT="45725" marB="45725"/>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eaLnBrk="0" fontAlgn="base" hangingPunct="0">
              <a:lnSpc>
                <a:spcPct val="100000"/>
              </a:lnSpc>
              <a:spcBef>
                <a:spcPct val="0"/>
              </a:spcBef>
              <a:spcAft>
                <a:spcPct val="0"/>
              </a:spcAft>
            </a:pPr>
            <a:r>
              <a:rPr lang="en-US" sz="3200" b="1" dirty="0">
                <a:solidFill>
                  <a:srgbClr val="000000"/>
                </a:solidFill>
                <a:latin typeface="Arial" panose="020B0604020202020204" pitchFamily="34" charset="0"/>
              </a:rPr>
              <a:t>Process-Based Multitasking (Example</a:t>
            </a:r>
            <a:r>
              <a:rPr lang="en-US" sz="3200" b="1" dirty="0" smtClean="0">
                <a:solidFill>
                  <a:srgbClr val="000000"/>
                </a:solidFill>
                <a:latin typeface="Arial" panose="020B0604020202020204" pitchFamily="34" charset="0"/>
              </a:rPr>
              <a:t>)</a:t>
            </a:r>
            <a:endParaRPr lang="en-US" sz="8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sp>
        <p:nvSpPr>
          <p:cNvPr id="5" name="Rectangle 1"/>
          <p:cNvSpPr>
            <a:spLocks noGrp="1" noChangeArrowheads="1"/>
          </p:cNvSpPr>
          <p:nvPr>
            <p:ph type="body" idx="1"/>
          </p:nvPr>
        </p:nvSpPr>
        <p:spPr bwMode="auto">
          <a:xfrm>
            <a:off x="1165373" y="1553396"/>
            <a:ext cx="717123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Example 1: Using Multiple Applications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On your laptop: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Google Chrome (browser)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MS Word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VLC Media Player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Each is a </a:t>
            </a:r>
            <a:r>
              <a:rPr kumimoji="0" lang="en-US"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separate process</a:t>
            </a: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If VLC crashes → Word is still safe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“Each program runs independently with its own memory.”</a:t>
            </a:r>
          </a:p>
        </p:txBody>
      </p:sp>
    </p:spTree>
    <p:extLst>
      <p:ext uri="{BB962C8B-B14F-4D97-AF65-F5344CB8AC3E}">
        <p14:creationId xmlns:p14="http://schemas.microsoft.com/office/powerpoint/2010/main" val="16904384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eaLnBrk="0" fontAlgn="base" hangingPunct="0">
              <a:lnSpc>
                <a:spcPct val="100000"/>
              </a:lnSpc>
              <a:spcBef>
                <a:spcPct val="0"/>
              </a:spcBef>
              <a:spcAft>
                <a:spcPct val="0"/>
              </a:spcAft>
            </a:pPr>
            <a:r>
              <a:rPr lang="en-US" sz="3200" b="1" dirty="0">
                <a:solidFill>
                  <a:srgbClr val="000000"/>
                </a:solidFill>
                <a:latin typeface="Arial" panose="020B0604020202020204" pitchFamily="34" charset="0"/>
              </a:rPr>
              <a:t>Thread-Based Multitasking (Example)</a:t>
            </a:r>
            <a:endParaRPr lang="en-US" sz="8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sp>
        <p:nvSpPr>
          <p:cNvPr id="5" name="Rectangle 1"/>
          <p:cNvSpPr>
            <a:spLocks noGrp="1" noChangeArrowheads="1"/>
          </p:cNvSpPr>
          <p:nvPr>
            <p:ph type="body" idx="1"/>
          </p:nvPr>
        </p:nvSpPr>
        <p:spPr bwMode="auto">
          <a:xfrm>
            <a:off x="1165373" y="1867329"/>
            <a:ext cx="7171231" cy="3773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b="1" dirty="0" smtClean="0"/>
              <a:t>Example: </a:t>
            </a:r>
            <a:r>
              <a:rPr lang="en-US" sz="2800" b="1" dirty="0" err="1"/>
              <a:t>WhatsApp</a:t>
            </a:r>
            <a:r>
              <a:rPr lang="en-US" sz="2800" b="1" dirty="0"/>
              <a:t> / Messaging App</a:t>
            </a:r>
          </a:p>
          <a:p>
            <a:r>
              <a:rPr lang="en-US" sz="2800" dirty="0"/>
              <a:t>👉 Inside one app:</a:t>
            </a:r>
          </a:p>
          <a:p>
            <a:pPr>
              <a:buFont typeface="Arial" panose="020B0604020202020204" pitchFamily="34" charset="0"/>
              <a:buChar char="•"/>
            </a:pPr>
            <a:r>
              <a:rPr lang="en-US" sz="2800" dirty="0"/>
              <a:t>Thread 1 → Send message </a:t>
            </a:r>
          </a:p>
          <a:p>
            <a:pPr>
              <a:buFont typeface="Arial" panose="020B0604020202020204" pitchFamily="34" charset="0"/>
              <a:buChar char="•"/>
            </a:pPr>
            <a:r>
              <a:rPr lang="en-US" sz="2800" dirty="0"/>
              <a:t>Thread 2 → Receive messages </a:t>
            </a:r>
          </a:p>
          <a:p>
            <a:pPr>
              <a:buFont typeface="Arial" panose="020B0604020202020204" pitchFamily="34" charset="0"/>
              <a:buChar char="•"/>
            </a:pPr>
            <a:r>
              <a:rPr lang="en-US" sz="2800" dirty="0"/>
              <a:t>Thread 3 → Update UI </a:t>
            </a:r>
          </a:p>
          <a:p>
            <a:r>
              <a:rPr lang="en-US" sz="2800" dirty="0"/>
              <a:t>✔ All happen simultaneously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40741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Text Placeholder 2"/>
          <p:cNvSpPr>
            <a:spLocks noGrp="1"/>
          </p:cNvSpPr>
          <p:nvPr>
            <p:ph type="body" idx="1"/>
          </p:nvPr>
        </p:nvSpPr>
        <p:spPr/>
        <p:txBody>
          <a:bodyPr/>
          <a:lstStyle/>
          <a:p>
            <a:r>
              <a:rPr lang="en-US" dirty="0"/>
              <a:t>👉 “If one tab in Chrome crashes, does whole Chrome close?”</a:t>
            </a:r>
          </a:p>
          <a:p>
            <a:r>
              <a:rPr lang="en-US" dirty="0"/>
              <a:t>Sometimes YES → because threads share memory </a:t>
            </a:r>
          </a:p>
          <a:p>
            <a:r>
              <a:rPr lang="en-US" dirty="0"/>
              <a:t>👉 “If VLC crashes, does Word close?”</a:t>
            </a:r>
          </a:p>
          <a:p>
            <a:r>
              <a:rPr lang="en-US" dirty="0"/>
              <a:t>NO → separate processes</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spTree>
    <p:extLst>
      <p:ext uri="{BB962C8B-B14F-4D97-AF65-F5344CB8AC3E}">
        <p14:creationId xmlns:p14="http://schemas.microsoft.com/office/powerpoint/2010/main" val="18796968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Why Concurrency</a:t>
            </a:r>
            <a:endParaRPr/>
          </a:p>
        </p:txBody>
      </p:sp>
      <p:sp>
        <p:nvSpPr>
          <p:cNvPr id="180" name="Google Shape;180;p2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401638" lvl="0" indent="-401638" algn="l" rtl="0">
              <a:lnSpc>
                <a:spcPct val="150000"/>
              </a:lnSpc>
              <a:spcBef>
                <a:spcPts val="0"/>
              </a:spcBef>
              <a:spcAft>
                <a:spcPts val="0"/>
              </a:spcAft>
              <a:buSzPts val="2000"/>
              <a:buFont typeface="Noto Sans Symbols"/>
              <a:buChar char="▪"/>
            </a:pPr>
            <a:r>
              <a:rPr lang="en-GB"/>
              <a:t>1. </a:t>
            </a:r>
            <a:r>
              <a:rPr lang="en-GB" b="1"/>
              <a:t>Increased Speed</a:t>
            </a:r>
            <a:endParaRPr/>
          </a:p>
          <a:p>
            <a:pPr marL="401638" lvl="0" indent="-401638" algn="l" rtl="0">
              <a:lnSpc>
                <a:spcPct val="150000"/>
              </a:lnSpc>
              <a:spcBef>
                <a:spcPts val="0"/>
              </a:spcBef>
              <a:spcAft>
                <a:spcPts val="0"/>
              </a:spcAft>
              <a:buSzPts val="2000"/>
              <a:buFont typeface="Noto Sans Symbols"/>
              <a:buChar char="▪"/>
            </a:pPr>
            <a:r>
              <a:rPr lang="en-GB"/>
              <a:t>2. </a:t>
            </a:r>
            <a:r>
              <a:rPr lang="en-GB" b="1"/>
              <a:t>Efficient CPU Usage</a:t>
            </a:r>
            <a:endParaRPr/>
          </a:p>
          <a:p>
            <a:pPr marL="401638" lvl="0" indent="-401638" algn="l" rtl="0">
              <a:lnSpc>
                <a:spcPct val="150000"/>
              </a:lnSpc>
              <a:spcBef>
                <a:spcPts val="0"/>
              </a:spcBef>
              <a:spcAft>
                <a:spcPts val="0"/>
              </a:spcAft>
              <a:buSzPts val="2000"/>
              <a:buFont typeface="Noto Sans Symbols"/>
              <a:buChar char="▪"/>
            </a:pPr>
            <a:r>
              <a:rPr lang="en-GB"/>
              <a:t>3. </a:t>
            </a:r>
            <a:r>
              <a:rPr lang="en-GB" b="1"/>
              <a:t>Enhanced Responsiveness</a:t>
            </a:r>
            <a:endParaRPr/>
          </a:p>
          <a:p>
            <a:pPr marL="401638" lvl="0" indent="-401638" algn="l" rtl="0">
              <a:lnSpc>
                <a:spcPct val="150000"/>
              </a:lnSpc>
              <a:spcBef>
                <a:spcPts val="0"/>
              </a:spcBef>
              <a:spcAft>
                <a:spcPts val="0"/>
              </a:spcAft>
              <a:buSzPts val="2000"/>
              <a:buFont typeface="Noto Sans Symbols"/>
              <a:buChar char="▪"/>
            </a:pPr>
            <a:r>
              <a:rPr lang="en-GB"/>
              <a:t>4. </a:t>
            </a:r>
            <a:r>
              <a:rPr lang="en-GB" b="1"/>
              <a:t>Optimized Resource Allocation</a:t>
            </a:r>
            <a:endParaRPr/>
          </a:p>
          <a:p>
            <a:pPr marL="401638" lvl="0" indent="-401638" algn="l" rtl="0">
              <a:lnSpc>
                <a:spcPct val="150000"/>
              </a:lnSpc>
              <a:spcBef>
                <a:spcPts val="0"/>
              </a:spcBef>
              <a:spcAft>
                <a:spcPts val="0"/>
              </a:spcAft>
              <a:buSzPts val="2000"/>
              <a:buFont typeface="Noto Sans Symbols"/>
              <a:buChar char="▪"/>
            </a:pPr>
            <a:r>
              <a:rPr lang="en-GB"/>
              <a:t>5. </a:t>
            </a:r>
            <a:r>
              <a:rPr lang="en-GB" b="1"/>
              <a:t>Improved User Experience</a:t>
            </a: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Code without Concurrency</a:t>
            </a:r>
            <a:endParaRPr/>
          </a:p>
        </p:txBody>
      </p:sp>
      <p:sp>
        <p:nvSpPr>
          <p:cNvPr id="187" name="Google Shape;187;p2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t>11/17/2024</a:t>
            </a:r>
            <a:endParaRPr/>
          </a:p>
        </p:txBody>
      </p:sp>
      <p:sp>
        <p:nvSpPr>
          <p:cNvPr id="188" name="Google Shape;188;p2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GB"/>
              <a:t>14</a:t>
            </a:fld>
            <a:endParaRPr/>
          </a:p>
        </p:txBody>
      </p:sp>
      <p:pic>
        <p:nvPicPr>
          <p:cNvPr id="189" name="Google Shape;189;p23"/>
          <p:cNvPicPr preferRelativeResize="0"/>
          <p:nvPr/>
        </p:nvPicPr>
        <p:blipFill rotWithShape="1">
          <a:blip r:embed="rId3">
            <a:alphaModFix/>
          </a:blip>
          <a:srcRect/>
          <a:stretch/>
        </p:blipFill>
        <p:spPr>
          <a:xfrm>
            <a:off x="2956997" y="1936397"/>
            <a:ext cx="5857875" cy="4324350"/>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4"/>
          <p:cNvSpPr txBox="1">
            <a:spLocks noGrp="1"/>
          </p:cNvSpPr>
          <p:nvPr>
            <p:ph type="title"/>
          </p:nvPr>
        </p:nvSpPr>
        <p:spPr>
          <a:xfrm>
            <a:off x="1097280" y="135924"/>
            <a:ext cx="10058400" cy="81060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Code with Concurrency</a:t>
            </a:r>
            <a:endParaRPr/>
          </a:p>
        </p:txBody>
      </p:sp>
      <p:sp>
        <p:nvSpPr>
          <p:cNvPr id="195" name="Google Shape;195;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t>11/17/2024</a:t>
            </a:r>
            <a:endParaRPr/>
          </a:p>
        </p:txBody>
      </p:sp>
      <p:sp>
        <p:nvSpPr>
          <p:cNvPr id="196" name="Google Shape;196;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GB"/>
              <a:t>15</a:t>
            </a:fld>
            <a:endParaRPr/>
          </a:p>
        </p:txBody>
      </p:sp>
      <p:pic>
        <p:nvPicPr>
          <p:cNvPr id="197" name="Google Shape;197;p24"/>
          <p:cNvPicPr preferRelativeResize="0"/>
          <p:nvPr/>
        </p:nvPicPr>
        <p:blipFill rotWithShape="1">
          <a:blip r:embed="rId3">
            <a:alphaModFix/>
          </a:blip>
          <a:srcRect/>
          <a:stretch/>
        </p:blipFill>
        <p:spPr>
          <a:xfrm>
            <a:off x="2728372" y="946527"/>
            <a:ext cx="6491418" cy="52197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5"/>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GB"/>
              <a:t>Concurrency Drawbacks</a:t>
            </a:r>
            <a:endParaRPr/>
          </a:p>
        </p:txBody>
      </p:sp>
      <p:sp>
        <p:nvSpPr>
          <p:cNvPr id="203" name="Google Shape;203;p2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344488" lvl="0" indent="-344488" algn="l" rtl="0">
              <a:lnSpc>
                <a:spcPct val="90000"/>
              </a:lnSpc>
              <a:spcBef>
                <a:spcPts val="0"/>
              </a:spcBef>
              <a:spcAft>
                <a:spcPts val="0"/>
              </a:spcAft>
              <a:buSzPts val="2000"/>
              <a:buFont typeface="Noto Sans Symbols"/>
              <a:buChar char="▪"/>
            </a:pPr>
            <a:r>
              <a:rPr lang="en-GB" b="1" dirty="0"/>
              <a:t>Complexity</a:t>
            </a:r>
            <a:r>
              <a:rPr lang="en-GB" dirty="0"/>
              <a:t>.</a:t>
            </a:r>
            <a:endParaRPr dirty="0"/>
          </a:p>
          <a:p>
            <a:pPr marL="344488" lvl="0" indent="-344488" algn="l" rtl="0">
              <a:lnSpc>
                <a:spcPct val="90000"/>
              </a:lnSpc>
              <a:spcBef>
                <a:spcPts val="1400"/>
              </a:spcBef>
              <a:spcAft>
                <a:spcPts val="0"/>
              </a:spcAft>
              <a:buSzPts val="2000"/>
              <a:buFont typeface="Noto Sans Symbols"/>
              <a:buChar char="▪"/>
            </a:pPr>
            <a:r>
              <a:rPr lang="en-GB" b="1" dirty="0"/>
              <a:t>Debugging Difficulties</a:t>
            </a:r>
            <a:endParaRPr dirty="0"/>
          </a:p>
          <a:p>
            <a:pPr marL="344488" lvl="0" indent="-344488" algn="l" rtl="0">
              <a:lnSpc>
                <a:spcPct val="90000"/>
              </a:lnSpc>
              <a:spcBef>
                <a:spcPts val="1400"/>
              </a:spcBef>
              <a:spcAft>
                <a:spcPts val="0"/>
              </a:spcAft>
              <a:buSzPts val="2000"/>
              <a:buFont typeface="Noto Sans Symbols"/>
              <a:buChar char="▪"/>
            </a:pPr>
            <a:r>
              <a:rPr lang="en-GB" b="1" dirty="0"/>
              <a:t>Error Potential</a:t>
            </a:r>
            <a:endParaRPr dirty="0"/>
          </a:p>
          <a:p>
            <a:pPr marL="344488" lvl="0" indent="-344488" algn="l" rtl="0">
              <a:lnSpc>
                <a:spcPct val="90000"/>
              </a:lnSpc>
              <a:spcBef>
                <a:spcPts val="1400"/>
              </a:spcBef>
              <a:spcAft>
                <a:spcPts val="0"/>
              </a:spcAft>
              <a:buSzPts val="2000"/>
              <a:buFont typeface="Noto Sans Symbols"/>
              <a:buChar char="▪"/>
            </a:pPr>
            <a:r>
              <a:rPr lang="en-GB" b="1" dirty="0"/>
              <a:t>Resource Contention</a:t>
            </a:r>
            <a:endParaRP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333333"/>
                </a:solidFill>
                <a:latin typeface="Lato"/>
              </a:rPr>
              <a:t>Two Models for Concurrent </a:t>
            </a:r>
            <a:r>
              <a:rPr lang="en-US" b="1" dirty="0" smtClean="0">
                <a:solidFill>
                  <a:srgbClr val="333333"/>
                </a:solidFill>
                <a:latin typeface="Lato"/>
              </a:rPr>
              <a:t>Programming</a:t>
            </a:r>
            <a:endParaRPr lang="en-US" dirty="0"/>
          </a:p>
        </p:txBody>
      </p:sp>
      <p:sp>
        <p:nvSpPr>
          <p:cNvPr id="3" name="Text Placeholder 2"/>
          <p:cNvSpPr>
            <a:spLocks noGrp="1"/>
          </p:cNvSpPr>
          <p:nvPr>
            <p:ph type="body" idx="1"/>
          </p:nvPr>
        </p:nvSpPr>
        <p:spPr/>
        <p:txBody>
          <a:bodyPr/>
          <a:lstStyle/>
          <a:p>
            <a:r>
              <a:rPr lang="en-US" dirty="0">
                <a:solidFill>
                  <a:srgbClr val="333333"/>
                </a:solidFill>
                <a:latin typeface="Helvetica Neue"/>
              </a:rPr>
              <a:t>There are two common models for concurrent programming: </a:t>
            </a:r>
            <a:endParaRPr lang="en-US" dirty="0" smtClean="0">
              <a:solidFill>
                <a:srgbClr val="333333"/>
              </a:solidFill>
              <a:latin typeface="Helvetica Neue"/>
            </a:endParaRPr>
          </a:p>
          <a:p>
            <a:r>
              <a:rPr lang="en-US" i="1" dirty="0" smtClean="0">
                <a:solidFill>
                  <a:srgbClr val="333333"/>
                </a:solidFill>
                <a:latin typeface="Helvetica Neue"/>
              </a:rPr>
              <a:t>1. shared </a:t>
            </a:r>
            <a:r>
              <a:rPr lang="en-US" i="1" dirty="0">
                <a:solidFill>
                  <a:srgbClr val="333333"/>
                </a:solidFill>
                <a:latin typeface="Helvetica Neue"/>
              </a:rPr>
              <a:t>memory</a:t>
            </a:r>
            <a:r>
              <a:rPr lang="en-US" dirty="0">
                <a:solidFill>
                  <a:srgbClr val="333333"/>
                </a:solidFill>
                <a:latin typeface="Helvetica Neue"/>
              </a:rPr>
              <a:t> </a:t>
            </a:r>
          </a:p>
          <a:p>
            <a:r>
              <a:rPr lang="en-US" i="1" dirty="0" smtClean="0">
                <a:solidFill>
                  <a:srgbClr val="333333"/>
                </a:solidFill>
                <a:latin typeface="Helvetica Neue"/>
              </a:rPr>
              <a:t>2. message passing</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17</a:t>
            </a:fld>
            <a:endParaRPr lang="en-GB"/>
          </a:p>
        </p:txBody>
      </p:sp>
    </p:spTree>
    <p:extLst>
      <p:ext uri="{BB962C8B-B14F-4D97-AF65-F5344CB8AC3E}">
        <p14:creationId xmlns:p14="http://schemas.microsoft.com/office/powerpoint/2010/main" val="23495425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Shared </a:t>
            </a:r>
            <a:r>
              <a:rPr lang="en-US" b="1" dirty="0"/>
              <a:t>memory </a:t>
            </a:r>
          </a:p>
        </p:txBody>
      </p:sp>
      <p:sp>
        <p:nvSpPr>
          <p:cNvPr id="3" name="Text Placeholder 2"/>
          <p:cNvSpPr>
            <a:spLocks noGrp="1"/>
          </p:cNvSpPr>
          <p:nvPr>
            <p:ph type="body" idx="1"/>
          </p:nvPr>
        </p:nvSpPr>
        <p:spPr/>
        <p:txBody>
          <a:bodyPr/>
          <a:lstStyle/>
          <a:p>
            <a:r>
              <a:rPr lang="en-US" dirty="0" smtClean="0">
                <a:solidFill>
                  <a:srgbClr val="333333"/>
                </a:solidFill>
                <a:latin typeface="Helvetica Neue"/>
              </a:rPr>
              <a:t>In </a:t>
            </a:r>
            <a:r>
              <a:rPr lang="en-US" dirty="0">
                <a:solidFill>
                  <a:srgbClr val="333333"/>
                </a:solidFill>
                <a:latin typeface="Helvetica Neue"/>
              </a:rPr>
              <a:t>the shared memory model of concurrency, concurrent modules interact by reading and writing shared objects in memory.</a:t>
            </a:r>
          </a:p>
          <a:p>
            <a:r>
              <a:rPr lang="en-US" dirty="0" smtClean="0">
                <a:solidFill>
                  <a:srgbClr val="333333"/>
                </a:solidFill>
                <a:latin typeface="Helvetica Neue"/>
              </a:rPr>
              <a:t>examples </a:t>
            </a:r>
            <a:r>
              <a:rPr lang="en-US" dirty="0">
                <a:solidFill>
                  <a:srgbClr val="333333"/>
                </a:solidFill>
                <a:latin typeface="Helvetica Neue"/>
              </a:rPr>
              <a:t>of the shared-memory model:</a:t>
            </a:r>
          </a:p>
          <a:p>
            <a:pPr>
              <a:buFont typeface="Arial" panose="020B0604020202020204" pitchFamily="34" charset="0"/>
              <a:buChar char="•"/>
            </a:pPr>
            <a:r>
              <a:rPr lang="en-US" dirty="0">
                <a:solidFill>
                  <a:srgbClr val="333333"/>
                </a:solidFill>
                <a:latin typeface="Helvetica Neue"/>
              </a:rPr>
              <a:t>A and B might be two processors (or processor cores) in the same computer, sharing the same physical memory.</a:t>
            </a:r>
          </a:p>
          <a:p>
            <a:pPr>
              <a:buFont typeface="Arial" panose="020B0604020202020204" pitchFamily="34" charset="0"/>
              <a:buChar char="•"/>
            </a:pPr>
            <a:r>
              <a:rPr lang="en-US" dirty="0">
                <a:solidFill>
                  <a:srgbClr val="333333"/>
                </a:solidFill>
                <a:latin typeface="Helvetica Neue"/>
              </a:rPr>
              <a:t>A and B might be two programs running on the same computer, sharing a common </a:t>
            </a:r>
            <a:r>
              <a:rPr lang="en-US" dirty="0" err="1">
                <a:solidFill>
                  <a:srgbClr val="333333"/>
                </a:solidFill>
                <a:latin typeface="Helvetica Neue"/>
              </a:rPr>
              <a:t>filesystem</a:t>
            </a:r>
            <a:r>
              <a:rPr lang="en-US" dirty="0">
                <a:solidFill>
                  <a:srgbClr val="333333"/>
                </a:solidFill>
                <a:latin typeface="Helvetica Neue"/>
              </a:rPr>
              <a:t> with files they can read and write.</a:t>
            </a:r>
          </a:p>
          <a:p>
            <a:pPr>
              <a:buFont typeface="Arial" panose="020B0604020202020204" pitchFamily="34" charset="0"/>
              <a:buChar char="•"/>
            </a:pPr>
            <a:r>
              <a:rPr lang="en-US" dirty="0">
                <a:solidFill>
                  <a:srgbClr val="333333"/>
                </a:solidFill>
                <a:latin typeface="Helvetica Neue"/>
              </a:rPr>
              <a:t>A and B might be two threads in the same Java program (we’ll explain what a thread is below), sharing the same Java objects.</a:t>
            </a:r>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18</a:t>
            </a:fld>
            <a:endParaRPr lang="en-GB"/>
          </a:p>
        </p:txBody>
      </p:sp>
    </p:spTree>
    <p:extLst>
      <p:ext uri="{BB962C8B-B14F-4D97-AF65-F5344CB8AC3E}">
        <p14:creationId xmlns:p14="http://schemas.microsoft.com/office/powerpoint/2010/main" val="40416131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Shared </a:t>
            </a:r>
            <a:r>
              <a:rPr lang="en-US" b="1" dirty="0"/>
              <a:t>memory </a:t>
            </a:r>
          </a:p>
        </p:txBody>
      </p:sp>
      <p:pic>
        <p:nvPicPr>
          <p:cNvPr id="5" name="Picture 4"/>
          <p:cNvPicPr>
            <a:picLocks noChangeAspect="1"/>
          </p:cNvPicPr>
          <p:nvPr/>
        </p:nvPicPr>
        <p:blipFill>
          <a:blip r:embed="rId2"/>
          <a:stretch>
            <a:fillRect/>
          </a:stretch>
        </p:blipFill>
        <p:spPr>
          <a:xfrm>
            <a:off x="1215958" y="2675107"/>
            <a:ext cx="10172700" cy="2552700"/>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19</a:t>
            </a:fld>
            <a:endParaRPr lang="en-GB"/>
          </a:p>
        </p:txBody>
      </p:sp>
    </p:spTree>
    <p:extLst>
      <p:ext uri="{BB962C8B-B14F-4D97-AF65-F5344CB8AC3E}">
        <p14:creationId xmlns:p14="http://schemas.microsoft.com/office/powerpoint/2010/main" val="6811492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Helvetica Neue"/>
              </a:rPr>
              <a:t>Message passing</a:t>
            </a:r>
            <a:endParaRPr lang="en-US" dirty="0"/>
          </a:p>
        </p:txBody>
      </p:sp>
      <p:sp>
        <p:nvSpPr>
          <p:cNvPr id="3" name="Text Placeholder 2"/>
          <p:cNvSpPr>
            <a:spLocks noGrp="1"/>
          </p:cNvSpPr>
          <p:nvPr>
            <p:ph type="body" idx="1"/>
          </p:nvPr>
        </p:nvSpPr>
        <p:spPr/>
        <p:txBody>
          <a:bodyPr>
            <a:normAutofit/>
          </a:bodyPr>
          <a:lstStyle/>
          <a:p>
            <a:r>
              <a:rPr lang="en-US" dirty="0"/>
              <a:t>In the message-passing model, concurrent modules interact by sending messages to each other through a communication channel. Modules send off messages, and incoming messages to each module are queued up for handling. Examples include</a:t>
            </a:r>
            <a:r>
              <a:rPr lang="en-US" dirty="0" smtClean="0"/>
              <a:t>:</a:t>
            </a:r>
            <a:endParaRPr lang="en-US" dirty="0"/>
          </a:p>
          <a:p>
            <a:pPr lvl="1">
              <a:buFont typeface="Wingdings" panose="05000000000000000000" pitchFamily="2" charset="2"/>
              <a:buChar char="Ø"/>
            </a:pPr>
            <a:r>
              <a:rPr lang="en-US" dirty="0"/>
              <a:t>A and B might be two computers in a network, communicating by network connections</a:t>
            </a:r>
            <a:r>
              <a:rPr lang="en-US" dirty="0" smtClean="0"/>
              <a:t>.</a:t>
            </a:r>
            <a:endParaRPr lang="en-US" dirty="0"/>
          </a:p>
          <a:p>
            <a:pPr lvl="1">
              <a:buFont typeface="Wingdings" panose="05000000000000000000" pitchFamily="2" charset="2"/>
              <a:buChar char="Ø"/>
            </a:pPr>
            <a:r>
              <a:rPr lang="en-US" dirty="0"/>
              <a:t>A and B might be a web browser and a web server – A opens a connection to B, asks for a web page, and B sends the web page data back to A</a:t>
            </a:r>
            <a:r>
              <a:rPr lang="en-US" dirty="0" smtClean="0"/>
              <a:t>.</a:t>
            </a:r>
            <a:endParaRPr lang="en-US" dirty="0"/>
          </a:p>
          <a:p>
            <a:pPr lvl="1">
              <a:buFont typeface="Wingdings" panose="05000000000000000000" pitchFamily="2" charset="2"/>
              <a:buChar char="Ø"/>
            </a:pPr>
            <a:r>
              <a:rPr lang="en-US" dirty="0"/>
              <a:t>A and B might be an instant messaging client and server</a:t>
            </a:r>
            <a:r>
              <a:rPr lang="en-US" dirty="0" smtClean="0"/>
              <a:t>.</a:t>
            </a:r>
            <a:endParaRPr lang="en-US" dirty="0"/>
          </a:p>
          <a:p>
            <a:pPr lvl="1">
              <a:buFont typeface="Wingdings" panose="05000000000000000000" pitchFamily="2" charset="2"/>
              <a:buChar char="Ø"/>
            </a:pPr>
            <a:r>
              <a:rPr lang="en-US" dirty="0"/>
              <a:t>A and B might be two programs running on the same computer whose input and output have been connected by a pipe, like </a:t>
            </a:r>
            <a:r>
              <a:rPr lang="en-US" dirty="0" err="1"/>
              <a:t>ls</a:t>
            </a:r>
            <a:r>
              <a:rPr lang="en-US" dirty="0"/>
              <a:t> | </a:t>
            </a:r>
            <a:r>
              <a:rPr lang="en-US" dirty="0" err="1"/>
              <a:t>grep</a:t>
            </a:r>
            <a:r>
              <a:rPr lang="en-US" dirty="0"/>
              <a:t> typed into a command prompt.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20</a:t>
            </a:fld>
            <a:endParaRPr lang="en-GB"/>
          </a:p>
        </p:txBody>
      </p:sp>
    </p:spTree>
    <p:extLst>
      <p:ext uri="{BB962C8B-B14F-4D97-AF65-F5344CB8AC3E}">
        <p14:creationId xmlns:p14="http://schemas.microsoft.com/office/powerpoint/2010/main" val="39425918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Helvetica Neue"/>
              </a:rPr>
              <a:t>Message passing</a:t>
            </a:r>
            <a:endParaRPr lang="en-US" dirty="0"/>
          </a:p>
        </p:txBody>
      </p:sp>
      <p:pic>
        <p:nvPicPr>
          <p:cNvPr id="5" name="Picture 4"/>
          <p:cNvPicPr>
            <a:picLocks noChangeAspect="1"/>
          </p:cNvPicPr>
          <p:nvPr/>
        </p:nvPicPr>
        <p:blipFill>
          <a:blip r:embed="rId2"/>
          <a:stretch>
            <a:fillRect/>
          </a:stretch>
        </p:blipFill>
        <p:spPr>
          <a:xfrm>
            <a:off x="1527242" y="3064214"/>
            <a:ext cx="8364550" cy="1773068"/>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21</a:t>
            </a:fld>
            <a:endParaRPr lang="en-GB"/>
          </a:p>
        </p:txBody>
      </p:sp>
    </p:spTree>
    <p:extLst>
      <p:ext uri="{BB962C8B-B14F-4D97-AF65-F5344CB8AC3E}">
        <p14:creationId xmlns:p14="http://schemas.microsoft.com/office/powerpoint/2010/main" val="37762960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p:txBody>
          <a:bodyPr>
            <a:normAutofit lnSpcReduction="10000"/>
          </a:bodyPr>
          <a:lstStyle/>
          <a:p>
            <a:r>
              <a:rPr lang="en-US" dirty="0"/>
              <a:t>Let’s look at an example of a shared memory system. The point of this example is to show that </a:t>
            </a:r>
            <a:r>
              <a:rPr lang="en-US" dirty="0">
                <a:solidFill>
                  <a:srgbClr val="FF0000"/>
                </a:solidFill>
              </a:rPr>
              <a:t>concurrent programming is hard</a:t>
            </a:r>
            <a:r>
              <a:rPr lang="en-US" dirty="0"/>
              <a:t>, </a:t>
            </a:r>
            <a:r>
              <a:rPr lang="en-US" b="1" dirty="0"/>
              <a:t>because it can have subtle bugs</a:t>
            </a:r>
            <a:r>
              <a:rPr lang="en-US" dirty="0"/>
              <a:t>.</a:t>
            </a:r>
          </a:p>
          <a:p>
            <a:r>
              <a:rPr lang="en-US" b="1" dirty="0" smtClean="0"/>
              <a:t>shared </a:t>
            </a:r>
            <a:r>
              <a:rPr lang="en-US" b="1" dirty="0"/>
              <a:t>memory model for bank accounts</a:t>
            </a:r>
          </a:p>
          <a:p>
            <a:endParaRPr lang="en-US" dirty="0"/>
          </a:p>
          <a:p>
            <a:endParaRPr lang="en-US" dirty="0" smtClean="0"/>
          </a:p>
          <a:p>
            <a:endParaRPr lang="en-US" dirty="0"/>
          </a:p>
          <a:p>
            <a:endParaRPr lang="en-US" dirty="0" smtClean="0"/>
          </a:p>
          <a:p>
            <a:endParaRPr lang="en-US" dirty="0"/>
          </a:p>
          <a:p>
            <a:r>
              <a:rPr lang="en-US" dirty="0" smtClean="0"/>
              <a:t>Imagine </a:t>
            </a:r>
            <a:r>
              <a:rPr lang="en-US" dirty="0"/>
              <a:t>that a bank has cash machines that use a shared memory model, so all the cash machines can read and write the same account objects in memory.</a:t>
            </a:r>
          </a:p>
          <a:p>
            <a:endParaRPr lang="en-US" dirty="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22</a:t>
            </a:fld>
            <a:endParaRPr lang="en-GB"/>
          </a:p>
        </p:txBody>
      </p:sp>
      <p:pic>
        <p:nvPicPr>
          <p:cNvPr id="6" name="Picture 5"/>
          <p:cNvPicPr>
            <a:picLocks noChangeAspect="1"/>
          </p:cNvPicPr>
          <p:nvPr/>
        </p:nvPicPr>
        <p:blipFill>
          <a:blip r:embed="rId2"/>
          <a:stretch>
            <a:fillRect/>
          </a:stretch>
        </p:blipFill>
        <p:spPr>
          <a:xfrm>
            <a:off x="3599234" y="2888636"/>
            <a:ext cx="4541196" cy="2017549"/>
          </a:xfrm>
          <a:prstGeom prst="rect">
            <a:avLst/>
          </a:prstGeom>
        </p:spPr>
      </p:pic>
    </p:spTree>
    <p:extLst>
      <p:ext uri="{BB962C8B-B14F-4D97-AF65-F5344CB8AC3E}">
        <p14:creationId xmlns:p14="http://schemas.microsoft.com/office/powerpoint/2010/main" val="41695913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p:txBody>
          <a:bodyPr>
            <a:normAutofit fontScale="92500" lnSpcReduction="10000"/>
          </a:bodyPr>
          <a:lstStyle/>
          <a:p>
            <a:r>
              <a:rPr lang="en-US" dirty="0"/>
              <a:t>To illustrate what can go wrong, let’s simplify the bank down to a single account, with a dollar balance stored in the balance variable, and two operations deposit and withdraw that simply add or remove a dollar</a:t>
            </a:r>
            <a:r>
              <a:rPr lang="en-US" dirty="0" smtClean="0"/>
              <a:t>:</a:t>
            </a:r>
          </a:p>
          <a:p>
            <a:r>
              <a:rPr lang="en-US" dirty="0">
                <a:solidFill>
                  <a:srgbClr val="00B050"/>
                </a:solidFill>
              </a:rPr>
              <a:t>// suppose all the cash machines share a single bank account</a:t>
            </a:r>
          </a:p>
          <a:p>
            <a:r>
              <a:rPr lang="en-US" dirty="0"/>
              <a:t>private static </a:t>
            </a:r>
            <a:r>
              <a:rPr lang="en-US" dirty="0" err="1"/>
              <a:t>int</a:t>
            </a:r>
            <a:r>
              <a:rPr lang="en-US" dirty="0"/>
              <a:t> balance = 0</a:t>
            </a:r>
            <a:r>
              <a:rPr lang="en-US" dirty="0" smtClean="0"/>
              <a:t>;</a:t>
            </a:r>
            <a:endParaRPr lang="en-US" dirty="0"/>
          </a:p>
          <a:p>
            <a:r>
              <a:rPr lang="en-US" dirty="0"/>
              <a:t>private static void deposit() {</a:t>
            </a:r>
          </a:p>
          <a:p>
            <a:r>
              <a:rPr lang="en-US" dirty="0"/>
              <a:t>    balance = balance + 1;</a:t>
            </a:r>
          </a:p>
          <a:p>
            <a:r>
              <a:rPr lang="en-US" dirty="0"/>
              <a:t>}</a:t>
            </a:r>
          </a:p>
          <a:p>
            <a:r>
              <a:rPr lang="en-US" dirty="0"/>
              <a:t>private static void withdraw() {</a:t>
            </a:r>
          </a:p>
          <a:p>
            <a:r>
              <a:rPr lang="en-US" dirty="0"/>
              <a:t>    balance = balance - 1;</a:t>
            </a:r>
          </a:p>
          <a:p>
            <a:r>
              <a:rPr lang="en-US" dirty="0"/>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23</a:t>
            </a:fld>
            <a:endParaRPr lang="en-GB"/>
          </a:p>
        </p:txBody>
      </p:sp>
    </p:spTree>
    <p:extLst>
      <p:ext uri="{BB962C8B-B14F-4D97-AF65-F5344CB8AC3E}">
        <p14:creationId xmlns:p14="http://schemas.microsoft.com/office/powerpoint/2010/main" val="34385942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a:xfrm>
            <a:off x="1097280" y="1845733"/>
            <a:ext cx="10058400" cy="4632887"/>
          </a:xfrm>
        </p:spPr>
        <p:txBody>
          <a:bodyPr>
            <a:noAutofit/>
          </a:bodyPr>
          <a:lstStyle/>
          <a:p>
            <a:r>
              <a:rPr lang="en-US" sz="1600" dirty="0">
                <a:solidFill>
                  <a:schemeClr val="tx1"/>
                </a:solidFill>
              </a:rPr>
              <a:t>Customers use the cash machines to do transactions like this:</a:t>
            </a:r>
          </a:p>
          <a:p>
            <a:r>
              <a:rPr lang="en-US" sz="1600" dirty="0" smtClean="0">
                <a:solidFill>
                  <a:schemeClr val="tx1"/>
                </a:solidFill>
              </a:rPr>
              <a:t>deposit</a:t>
            </a:r>
            <a:r>
              <a:rPr lang="en-US" sz="1600" dirty="0">
                <a:solidFill>
                  <a:schemeClr val="tx1"/>
                </a:solidFill>
              </a:rPr>
              <a:t>(); // put a dollar in</a:t>
            </a:r>
          </a:p>
          <a:p>
            <a:r>
              <a:rPr lang="en-US" sz="1600" dirty="0">
                <a:solidFill>
                  <a:schemeClr val="tx1"/>
                </a:solidFill>
              </a:rPr>
              <a:t>withdraw(); // take it back out</a:t>
            </a:r>
          </a:p>
          <a:p>
            <a:r>
              <a:rPr lang="en-US" sz="1600" dirty="0">
                <a:solidFill>
                  <a:schemeClr val="tx1"/>
                </a:solidFill>
              </a:rPr>
              <a:t>In this simple example, every transaction is just a one dollar deposit followed by a one-dollar withdrawal, so it should leave the balance in the account unchanged. Throughout the day, each cash machine in our network is processing a sequence of deposit/withdraw transactions.</a:t>
            </a:r>
          </a:p>
          <a:p>
            <a:r>
              <a:rPr lang="en-US" sz="1600" dirty="0" smtClean="0">
                <a:solidFill>
                  <a:schemeClr val="tx1"/>
                </a:solidFill>
              </a:rPr>
              <a:t>// </a:t>
            </a:r>
            <a:r>
              <a:rPr lang="en-US" sz="1600" dirty="0">
                <a:solidFill>
                  <a:schemeClr val="tx1"/>
                </a:solidFill>
              </a:rPr>
              <a:t>each ATM does a bunch of transactions that</a:t>
            </a:r>
          </a:p>
          <a:p>
            <a:r>
              <a:rPr lang="en-US" sz="1600" dirty="0">
                <a:solidFill>
                  <a:schemeClr val="tx1"/>
                </a:solidFill>
              </a:rPr>
              <a:t>// modify balance, but leave it unchanged afterward</a:t>
            </a:r>
          </a:p>
          <a:p>
            <a:r>
              <a:rPr lang="en-US" sz="1600" dirty="0">
                <a:solidFill>
                  <a:schemeClr val="tx1"/>
                </a:solidFill>
              </a:rPr>
              <a:t>private static void </a:t>
            </a:r>
            <a:r>
              <a:rPr lang="en-US" sz="1600" dirty="0" err="1">
                <a:solidFill>
                  <a:schemeClr val="tx1"/>
                </a:solidFill>
              </a:rPr>
              <a:t>cashMachine</a:t>
            </a:r>
            <a:r>
              <a:rPr lang="en-US" sz="1600" dirty="0">
                <a:solidFill>
                  <a:schemeClr val="tx1"/>
                </a:solidFill>
              </a:rPr>
              <a:t>() {</a:t>
            </a:r>
          </a:p>
          <a:p>
            <a:r>
              <a:rPr lang="en-US" sz="1600" dirty="0">
                <a:solidFill>
                  <a:schemeClr val="tx1"/>
                </a:solidFill>
              </a:rPr>
              <a:t>    for (</a:t>
            </a:r>
            <a:r>
              <a:rPr lang="en-US" sz="1600" dirty="0" err="1">
                <a:solidFill>
                  <a:schemeClr val="tx1"/>
                </a:solidFill>
              </a:rPr>
              <a:t>int</a:t>
            </a:r>
            <a:r>
              <a:rPr lang="en-US" sz="1600" dirty="0">
                <a:solidFill>
                  <a:schemeClr val="tx1"/>
                </a:solidFill>
              </a:rPr>
              <a:t> </a:t>
            </a:r>
            <a:r>
              <a:rPr lang="en-US" sz="1600" dirty="0" err="1">
                <a:solidFill>
                  <a:schemeClr val="tx1"/>
                </a:solidFill>
              </a:rPr>
              <a:t>i</a:t>
            </a:r>
            <a:r>
              <a:rPr lang="en-US" sz="1600" dirty="0">
                <a:solidFill>
                  <a:schemeClr val="tx1"/>
                </a:solidFill>
              </a:rPr>
              <a:t> = 0; </a:t>
            </a:r>
            <a:r>
              <a:rPr lang="en-US" sz="1600" dirty="0" err="1">
                <a:solidFill>
                  <a:schemeClr val="tx1"/>
                </a:solidFill>
              </a:rPr>
              <a:t>i</a:t>
            </a:r>
            <a:r>
              <a:rPr lang="en-US" sz="1600" dirty="0">
                <a:solidFill>
                  <a:schemeClr val="tx1"/>
                </a:solidFill>
              </a:rPr>
              <a:t> &lt; TRANSACTIONS_PER_MACHINE; ++</a:t>
            </a:r>
            <a:r>
              <a:rPr lang="en-US" sz="1600" dirty="0" err="1">
                <a:solidFill>
                  <a:schemeClr val="tx1"/>
                </a:solidFill>
              </a:rPr>
              <a:t>i</a:t>
            </a:r>
            <a:r>
              <a:rPr lang="en-US" sz="1600" dirty="0">
                <a:solidFill>
                  <a:schemeClr val="tx1"/>
                </a:solidFill>
              </a:rPr>
              <a:t>) {</a:t>
            </a:r>
          </a:p>
          <a:p>
            <a:r>
              <a:rPr lang="en-US" sz="1600" dirty="0">
                <a:solidFill>
                  <a:schemeClr val="tx1"/>
                </a:solidFill>
              </a:rPr>
              <a:t>        deposit(); // put a dollar in</a:t>
            </a:r>
          </a:p>
          <a:p>
            <a:r>
              <a:rPr lang="en-US" sz="1600" dirty="0">
                <a:solidFill>
                  <a:schemeClr val="tx1"/>
                </a:solidFill>
              </a:rPr>
              <a:t>        withdraw(); // take it back out</a:t>
            </a:r>
          </a:p>
          <a:p>
            <a:r>
              <a:rPr lang="en-US" sz="1600" dirty="0">
                <a:solidFill>
                  <a:schemeClr val="tx1"/>
                </a:solidFill>
              </a:rPr>
              <a:t>    }</a:t>
            </a:r>
          </a:p>
          <a:p>
            <a:r>
              <a:rPr lang="en-US" sz="1600" dirty="0">
                <a:solidFill>
                  <a:schemeClr val="tx1"/>
                </a:solidFill>
              </a:rPr>
              <a: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24</a:t>
            </a:fld>
            <a:endParaRPr lang="en-GB"/>
          </a:p>
        </p:txBody>
      </p:sp>
    </p:spTree>
    <p:extLst>
      <p:ext uri="{BB962C8B-B14F-4D97-AF65-F5344CB8AC3E}">
        <p14:creationId xmlns:p14="http://schemas.microsoft.com/office/powerpoint/2010/main" val="40405132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a:xfrm>
            <a:off x="1097280" y="1845733"/>
            <a:ext cx="10058400" cy="4632887"/>
          </a:xfrm>
        </p:spPr>
        <p:txBody>
          <a:bodyPr>
            <a:noAutofit/>
          </a:bodyPr>
          <a:lstStyle/>
          <a:p>
            <a:r>
              <a:rPr lang="en-US" sz="1600" dirty="0">
                <a:solidFill>
                  <a:schemeClr val="tx1"/>
                </a:solidFill>
              </a:rPr>
              <a:t>So at the end of the day, regardless of how many cash machines were running, or how many transactions we processed, we should expect the account balance to still be 0.</a:t>
            </a:r>
          </a:p>
          <a:p>
            <a:r>
              <a:rPr lang="en-US" sz="1600" dirty="0" smtClean="0">
                <a:solidFill>
                  <a:schemeClr val="tx1"/>
                </a:solidFill>
              </a:rPr>
              <a:t>But </a:t>
            </a:r>
            <a:r>
              <a:rPr lang="en-US" sz="1600" dirty="0">
                <a:solidFill>
                  <a:schemeClr val="tx1"/>
                </a:solidFill>
              </a:rPr>
              <a:t>if we run this code, we discover frequently that the balance at the end of the day is not 0. If more than one </a:t>
            </a:r>
            <a:r>
              <a:rPr lang="en-US" sz="1600" dirty="0" err="1">
                <a:solidFill>
                  <a:schemeClr val="tx1"/>
                </a:solidFill>
              </a:rPr>
              <a:t>cashMachine</a:t>
            </a:r>
            <a:r>
              <a:rPr lang="en-US" sz="1600" dirty="0">
                <a:solidFill>
                  <a:schemeClr val="tx1"/>
                </a:solidFill>
              </a:rPr>
              <a:t>() call is running at the same time – say, on separate processors in the same computer – then balance may not be zero at the end of the day. Why not?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spTree>
    <p:extLst>
      <p:ext uri="{BB962C8B-B14F-4D97-AF65-F5344CB8AC3E}">
        <p14:creationId xmlns:p14="http://schemas.microsoft.com/office/powerpoint/2010/main" val="21262702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a:xfrm>
            <a:off x="1097280" y="1845733"/>
            <a:ext cx="10058400" cy="4632887"/>
          </a:xfrm>
        </p:spPr>
        <p:txBody>
          <a:bodyPr>
            <a:noAutofit/>
          </a:bodyPr>
          <a:lstStyle/>
          <a:p>
            <a:r>
              <a:rPr lang="en-US" sz="1600" b="1" dirty="0">
                <a:solidFill>
                  <a:srgbClr val="333333"/>
                </a:solidFill>
                <a:latin typeface="Lato"/>
              </a:rPr>
              <a:t>Interleaving</a:t>
            </a:r>
          </a:p>
          <a:p>
            <a:r>
              <a:rPr lang="en-US" sz="1600" dirty="0">
                <a:solidFill>
                  <a:srgbClr val="333333"/>
                </a:solidFill>
                <a:latin typeface="Helvetica Neue"/>
              </a:rPr>
              <a:t>Here’s one thing that can happen. Suppose two cash machines, A and B, are both working on a deposit at the same time. Here’s how the deposit() step typically breaks down into low-level processor instructions:</a:t>
            </a:r>
          </a:p>
          <a:p>
            <a:r>
              <a:rPr lang="en-US" sz="1600" dirty="0">
                <a:solidFill>
                  <a:schemeClr val="tx1"/>
                </a:solidFill>
              </a:rPr>
              <a:t>get balance (balance=0)</a:t>
            </a:r>
          </a:p>
          <a:p>
            <a:r>
              <a:rPr lang="en-US" sz="1600" dirty="0">
                <a:solidFill>
                  <a:schemeClr val="tx1"/>
                </a:solidFill>
              </a:rPr>
              <a:t>add 1                 </a:t>
            </a:r>
          </a:p>
          <a:p>
            <a:r>
              <a:rPr lang="en-US" sz="1600" dirty="0">
                <a:solidFill>
                  <a:schemeClr val="tx1"/>
                </a:solidFill>
              </a:rPr>
              <a:t>write back the result (balance=1</a:t>
            </a:r>
            <a:r>
              <a:rPr lang="en-US" sz="1600" dirty="0" smtClean="0">
                <a:solidFill>
                  <a:schemeClr val="tx1"/>
                </a:solidFill>
              </a:rPr>
              <a:t>)</a:t>
            </a:r>
            <a:endParaRPr lang="en-US" sz="1600" dirty="0">
              <a:solidFill>
                <a:schemeClr val="tx1"/>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spTree>
    <p:extLst>
      <p:ext uri="{BB962C8B-B14F-4D97-AF65-F5344CB8AC3E}">
        <p14:creationId xmlns:p14="http://schemas.microsoft.com/office/powerpoint/2010/main" val="11664309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a:xfrm>
            <a:off x="1097280" y="1845733"/>
            <a:ext cx="10058400" cy="4632887"/>
          </a:xfrm>
        </p:spPr>
        <p:txBody>
          <a:bodyPr>
            <a:noAutofit/>
          </a:bodyPr>
          <a:lstStyle/>
          <a:p>
            <a:r>
              <a:rPr lang="en-US" sz="1600" dirty="0">
                <a:solidFill>
                  <a:schemeClr val="tx1"/>
                </a:solidFill>
              </a:rPr>
              <a:t>When A and B are running concurrently, these low-level instructions interleave with each other (some might even be simultaneous in some sense, but let’s just worry about interleaving for now):</a:t>
            </a:r>
          </a:p>
          <a:p>
            <a:r>
              <a:rPr lang="en-US" sz="1600" dirty="0">
                <a:solidFill>
                  <a:schemeClr val="tx1"/>
                </a:solidFill>
              </a:rPr>
              <a:t>A get balance (balance=0)</a:t>
            </a:r>
          </a:p>
          <a:p>
            <a:r>
              <a:rPr lang="en-US" sz="1600" dirty="0">
                <a:solidFill>
                  <a:schemeClr val="tx1"/>
                </a:solidFill>
              </a:rPr>
              <a:t>A add 1        </a:t>
            </a:r>
          </a:p>
          <a:p>
            <a:r>
              <a:rPr lang="en-US" sz="1600" dirty="0">
                <a:solidFill>
                  <a:schemeClr val="tx1"/>
                </a:solidFill>
              </a:rPr>
              <a:t>A write back the result (balance=1)</a:t>
            </a:r>
          </a:p>
          <a:p>
            <a:r>
              <a:rPr lang="en-US" sz="1600" dirty="0">
                <a:solidFill>
                  <a:schemeClr val="tx1"/>
                </a:solidFill>
              </a:rPr>
              <a:t>                                    B get balance (balance=1)</a:t>
            </a:r>
          </a:p>
          <a:p>
            <a:r>
              <a:rPr lang="en-US" sz="1600" dirty="0">
                <a:solidFill>
                  <a:schemeClr val="tx1"/>
                </a:solidFill>
              </a:rPr>
              <a:t>                                    B add 1     </a:t>
            </a:r>
          </a:p>
          <a:p>
            <a:r>
              <a:rPr lang="en-US" sz="1600" dirty="0">
                <a:solidFill>
                  <a:schemeClr val="tx1"/>
                </a:solidFill>
              </a:rPr>
              <a:t>                                    B write back the result (balance=2</a:t>
            </a:r>
            <a:r>
              <a:rPr lang="en-US" sz="1600" dirty="0" smtClean="0">
                <a:solidFill>
                  <a:schemeClr val="tx1"/>
                </a:solidFill>
              </a:rPr>
              <a:t>)</a:t>
            </a:r>
          </a:p>
          <a:p>
            <a:endParaRPr lang="en-US" sz="1600" dirty="0">
              <a:solidFill>
                <a:schemeClr val="tx1"/>
              </a:solidFill>
            </a:endParaRPr>
          </a:p>
          <a:p>
            <a:r>
              <a:rPr lang="en-US" sz="1600" dirty="0"/>
              <a:t>This interleaving is fine – we end up with balance 2, so both A and B successfully put in a dollar.</a:t>
            </a:r>
            <a:endParaRPr lang="en-US" sz="1600" dirty="0">
              <a:solidFill>
                <a:schemeClr val="tx1"/>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spTree>
    <p:extLst>
      <p:ext uri="{BB962C8B-B14F-4D97-AF65-F5344CB8AC3E}">
        <p14:creationId xmlns:p14="http://schemas.microsoft.com/office/powerpoint/2010/main" val="6858068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333333"/>
                </a:solidFill>
                <a:latin typeface="Lato"/>
              </a:rPr>
              <a:t>Shared Memory </a:t>
            </a:r>
            <a:r>
              <a:rPr lang="en-US" b="1" dirty="0" smtClean="0">
                <a:solidFill>
                  <a:srgbClr val="333333"/>
                </a:solidFill>
                <a:latin typeface="Lato"/>
              </a:rPr>
              <a:t>Example</a:t>
            </a:r>
            <a:endParaRPr lang="en-US" dirty="0"/>
          </a:p>
        </p:txBody>
      </p:sp>
      <p:sp>
        <p:nvSpPr>
          <p:cNvPr id="3" name="Text Placeholder 2"/>
          <p:cNvSpPr>
            <a:spLocks noGrp="1"/>
          </p:cNvSpPr>
          <p:nvPr>
            <p:ph type="body" idx="1"/>
          </p:nvPr>
        </p:nvSpPr>
        <p:spPr>
          <a:xfrm>
            <a:off x="1097280" y="1845733"/>
            <a:ext cx="10058400" cy="4632887"/>
          </a:xfrm>
        </p:spPr>
        <p:txBody>
          <a:bodyPr>
            <a:noAutofit/>
          </a:bodyPr>
          <a:lstStyle/>
          <a:p>
            <a:r>
              <a:rPr lang="en-US" sz="1600" dirty="0">
                <a:solidFill>
                  <a:schemeClr val="tx1"/>
                </a:solidFill>
              </a:rPr>
              <a:t>But what if the interleaving looked like this:</a:t>
            </a:r>
          </a:p>
          <a:p>
            <a:endParaRPr lang="en-US" sz="1600" dirty="0">
              <a:solidFill>
                <a:schemeClr val="tx1"/>
              </a:solidFill>
            </a:endParaRPr>
          </a:p>
          <a:p>
            <a:r>
              <a:rPr lang="en-US" sz="1600" dirty="0">
                <a:solidFill>
                  <a:schemeClr val="tx1"/>
                </a:solidFill>
              </a:rPr>
              <a:t>A get balance (balance=0)</a:t>
            </a:r>
          </a:p>
          <a:p>
            <a:r>
              <a:rPr lang="en-US" sz="1600" dirty="0">
                <a:solidFill>
                  <a:schemeClr val="tx1"/>
                </a:solidFill>
              </a:rPr>
              <a:t>                                    B get balance (balance=0)</a:t>
            </a:r>
          </a:p>
          <a:p>
            <a:r>
              <a:rPr lang="en-US" sz="1600" dirty="0">
                <a:solidFill>
                  <a:schemeClr val="tx1"/>
                </a:solidFill>
              </a:rPr>
              <a:t>A add 1         </a:t>
            </a:r>
          </a:p>
          <a:p>
            <a:r>
              <a:rPr lang="en-US" sz="1600" dirty="0">
                <a:solidFill>
                  <a:schemeClr val="tx1"/>
                </a:solidFill>
              </a:rPr>
              <a:t>                                    B add 1     </a:t>
            </a:r>
          </a:p>
          <a:p>
            <a:r>
              <a:rPr lang="en-US" sz="1600" dirty="0">
                <a:solidFill>
                  <a:schemeClr val="tx1"/>
                </a:solidFill>
              </a:rPr>
              <a:t>A write back the result (balance=1)</a:t>
            </a:r>
          </a:p>
          <a:p>
            <a:r>
              <a:rPr lang="en-US" sz="1600" dirty="0">
                <a:solidFill>
                  <a:schemeClr val="tx1"/>
                </a:solidFill>
              </a:rPr>
              <a:t>                                    B write back the result (balance=1)</a:t>
            </a:r>
          </a:p>
          <a:p>
            <a:r>
              <a:rPr lang="en-US" sz="1600" dirty="0">
                <a:solidFill>
                  <a:schemeClr val="tx1"/>
                </a:solidFill>
              </a:rPr>
              <a:t>The balance is now 1 – A’s dollar was lost! A and B both read the balance at the same time, computed separate final balances, and then raced to store back the new balance – which failed to take the other’s deposit into account.</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spTree>
    <p:extLst>
      <p:ext uri="{BB962C8B-B14F-4D97-AF65-F5344CB8AC3E}">
        <p14:creationId xmlns:p14="http://schemas.microsoft.com/office/powerpoint/2010/main" val="39778232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Race Condition</a:t>
            </a:r>
          </a:p>
        </p:txBody>
      </p:sp>
      <p:sp>
        <p:nvSpPr>
          <p:cNvPr id="3" name="Text Placeholder 2"/>
          <p:cNvSpPr>
            <a:spLocks noGrp="1"/>
          </p:cNvSpPr>
          <p:nvPr>
            <p:ph type="body" idx="1"/>
          </p:nvPr>
        </p:nvSpPr>
        <p:spPr/>
        <p:txBody>
          <a:bodyPr/>
          <a:lstStyle/>
          <a:p>
            <a:r>
              <a:rPr lang="en-US" dirty="0"/>
              <a:t>This is an example of a race condition. A race condition means that the correctness of the program (the satisfaction of </a:t>
            </a:r>
            <a:r>
              <a:rPr lang="en-US" dirty="0" err="1"/>
              <a:t>postconditions</a:t>
            </a:r>
            <a:r>
              <a:rPr lang="en-US" dirty="0"/>
              <a:t> and invariants) depends on the relative timing of events in concurrent computations A and B. When this happens, we say “A is in a race with B</a:t>
            </a:r>
            <a:r>
              <a:rPr lang="en-US" dirty="0" smtClean="0"/>
              <a:t>.”</a:t>
            </a:r>
            <a:endParaRPr lang="en-US" dirty="0"/>
          </a:p>
          <a:p>
            <a:r>
              <a:rPr lang="en-US" dirty="0"/>
              <a:t>Some </a:t>
            </a:r>
            <a:r>
              <a:rPr lang="en-US" dirty="0" err="1"/>
              <a:t>interleavings</a:t>
            </a:r>
            <a:r>
              <a:rPr lang="en-US" dirty="0"/>
              <a:t> of events may be OK, in the sense that they are consistent with what a single, </a:t>
            </a:r>
            <a:r>
              <a:rPr lang="en-US" dirty="0" err="1"/>
              <a:t>nonconcurrent</a:t>
            </a:r>
            <a:r>
              <a:rPr lang="en-US" dirty="0"/>
              <a:t> process would produce, but other </a:t>
            </a:r>
            <a:r>
              <a:rPr lang="en-US" dirty="0" err="1"/>
              <a:t>interleavings</a:t>
            </a:r>
            <a:r>
              <a:rPr lang="en-US" dirty="0"/>
              <a:t> produce wrong answers – violating </a:t>
            </a:r>
            <a:r>
              <a:rPr lang="en-US" dirty="0" err="1"/>
              <a:t>postconditions</a:t>
            </a:r>
            <a:r>
              <a:rPr lang="en-US" dirty="0"/>
              <a:t> or invariants.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29</a:t>
            </a:fld>
            <a:endParaRPr lang="en-GB"/>
          </a:p>
        </p:txBody>
      </p:sp>
    </p:spTree>
    <p:extLst>
      <p:ext uri="{BB962C8B-B14F-4D97-AF65-F5344CB8AC3E}">
        <p14:creationId xmlns:p14="http://schemas.microsoft.com/office/powerpoint/2010/main" val="28318375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Message Passing </a:t>
            </a:r>
            <a:r>
              <a:rPr lang="en-US" b="1" dirty="0" smtClean="0"/>
              <a:t>Example</a:t>
            </a:r>
            <a:endParaRPr lang="en-US" dirty="0"/>
          </a:p>
        </p:txBody>
      </p:sp>
      <p:sp>
        <p:nvSpPr>
          <p:cNvPr id="3" name="Text Placeholder 2"/>
          <p:cNvSpPr>
            <a:spLocks noGrp="1"/>
          </p:cNvSpPr>
          <p:nvPr>
            <p:ph type="body" idx="1"/>
          </p:nvPr>
        </p:nvSpPr>
        <p:spPr/>
        <p:txBody>
          <a:bodyPr>
            <a:normAutofit lnSpcReduction="10000"/>
          </a:bodyPr>
          <a:lstStyle/>
          <a:p>
            <a:r>
              <a:rPr lang="en-US" dirty="0"/>
              <a:t>Now let’s look at the message-passing approach to our bank account example.</a:t>
            </a:r>
          </a:p>
          <a:p>
            <a:endParaRPr lang="en-US" dirty="0"/>
          </a:p>
          <a:p>
            <a:r>
              <a:rPr lang="en-US" dirty="0"/>
              <a:t>Now not only are the cash machine modules, but the accounts are modules, too. Modules interact by sending messages to each other. Incoming requests are placed in a queue to be handled one at a time. The sender doesn’t stop working while waiting for an answer to its request. It handles more requests from its own queue. The reply to its request eventually comes back as another message.</a:t>
            </a:r>
          </a:p>
          <a:p>
            <a:endParaRPr lang="en-US" dirty="0"/>
          </a:p>
          <a:p>
            <a:r>
              <a:rPr lang="en-US" dirty="0"/>
              <a:t>Unfortunately, message passing doesn’t eliminate the possibility of race conditions. Suppose each account supports get-balance and withdraw operations, with corresponding messages. Two users, at cash machine A and B, are both trying to withdraw a dollar from the same account. They check the balance first to make sure they never withdraw more than the account holds, because overdrafts trigger big bank penalties: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30</a:t>
            </a:fld>
            <a:endParaRPr lang="en-GB"/>
          </a:p>
        </p:txBody>
      </p:sp>
    </p:spTree>
    <p:extLst>
      <p:ext uri="{BB962C8B-B14F-4D97-AF65-F5344CB8AC3E}">
        <p14:creationId xmlns:p14="http://schemas.microsoft.com/office/powerpoint/2010/main" val="37606894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Message Passing </a:t>
            </a:r>
            <a:r>
              <a:rPr lang="en-US" b="1" dirty="0" smtClean="0"/>
              <a:t>Example</a:t>
            </a:r>
            <a:endParaRPr lang="en-US" dirty="0"/>
          </a:p>
        </p:txBody>
      </p:sp>
      <p:pic>
        <p:nvPicPr>
          <p:cNvPr id="6" name="Picture 5"/>
          <p:cNvPicPr>
            <a:picLocks noChangeAspect="1"/>
          </p:cNvPicPr>
          <p:nvPr/>
        </p:nvPicPr>
        <p:blipFill>
          <a:blip r:embed="rId2"/>
          <a:stretch>
            <a:fillRect/>
          </a:stretch>
        </p:blipFill>
        <p:spPr>
          <a:xfrm>
            <a:off x="2266563" y="2461098"/>
            <a:ext cx="5940968" cy="2926080"/>
          </a:xfrm>
          <a:prstGeom prst="rect">
            <a:avLst/>
          </a:prstGeom>
        </p:spPr>
      </p:pic>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31</a:t>
            </a:fld>
            <a:endParaRPr lang="en-GB"/>
          </a:p>
        </p:txBody>
      </p:sp>
    </p:spTree>
    <p:extLst>
      <p:ext uri="{BB962C8B-B14F-4D97-AF65-F5344CB8AC3E}">
        <p14:creationId xmlns:p14="http://schemas.microsoft.com/office/powerpoint/2010/main" val="40390888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Message Passing Example</a:t>
            </a:r>
            <a:endParaRPr lang="en-US" dirty="0"/>
          </a:p>
        </p:txBody>
      </p:sp>
      <p:sp>
        <p:nvSpPr>
          <p:cNvPr id="7" name="Text Placeholder 6"/>
          <p:cNvSpPr>
            <a:spLocks noGrp="1"/>
          </p:cNvSpPr>
          <p:nvPr>
            <p:ph type="body" idx="1"/>
          </p:nvPr>
        </p:nvSpPr>
        <p:spPr/>
        <p:txBody>
          <a:bodyPr/>
          <a:lstStyle/>
          <a:p>
            <a:r>
              <a:rPr lang="en-US" dirty="0"/>
              <a:t>get-balance</a:t>
            </a:r>
          </a:p>
          <a:p>
            <a:r>
              <a:rPr lang="en-US" dirty="0"/>
              <a:t>if balance &gt;= 1 then withdraw </a:t>
            </a:r>
            <a:r>
              <a:rPr lang="en-US" dirty="0" smtClean="0"/>
              <a:t>1</a:t>
            </a:r>
          </a:p>
          <a:p>
            <a:r>
              <a:rPr lang="en-US" dirty="0"/>
              <a:t>The problem is again interleaving, but this time interleaving of the messages sent to the bank account, rather than the instructions executed by A and B. If the account starts with a dollar in it, then what interleaving of messages will fool A and B into thinking they can both withdraw a dollar, thereby overdrawing the account</a:t>
            </a:r>
            <a:r>
              <a:rPr lang="en-US" dirty="0" smtClean="0"/>
              <a:t>?</a:t>
            </a:r>
            <a:endParaRPr lang="en-US" dirty="0"/>
          </a:p>
          <a:p>
            <a:r>
              <a:rPr lang="en-US" dirty="0"/>
              <a:t>One lesson here is that you need to carefully choose the operations of a message-passing model. withdraw-if-sufficient-funds would be a better operation than just withdraw.</a:t>
            </a:r>
          </a:p>
        </p:txBody>
      </p:sp>
      <p:sp>
        <p:nvSpPr>
          <p:cNvPr id="4" name="Slide Number Placeholder 3"/>
          <p:cNvSpPr>
            <a:spLocks noGrp="1"/>
          </p:cNvSpPr>
          <p:nvPr>
            <p:ph type="sldNum" idx="12"/>
          </p:nvPr>
        </p:nvSpPr>
        <p:spPr/>
        <p:txBody>
          <a:bodyPr/>
          <a:lstStyle/>
          <a:p>
            <a:pPr lvl="0"/>
            <a:fld id="{00000000-1234-1234-1234-123412341234}" type="slidenum">
              <a:rPr lang="en-GB" smtClean="0"/>
              <a:pPr lvl="0"/>
              <a:t>32</a:t>
            </a:fld>
            <a:endParaRPr lang="en-GB"/>
          </a:p>
        </p:txBody>
      </p:sp>
    </p:spTree>
    <p:extLst>
      <p:ext uri="{BB962C8B-B14F-4D97-AF65-F5344CB8AC3E}">
        <p14:creationId xmlns:p14="http://schemas.microsoft.com/office/powerpoint/2010/main" val="40564014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Concurrency is Hard to Test and Debug</a:t>
            </a:r>
          </a:p>
        </p:txBody>
      </p:sp>
      <p:sp>
        <p:nvSpPr>
          <p:cNvPr id="3" name="Text Placeholder 2"/>
          <p:cNvSpPr>
            <a:spLocks noGrp="1"/>
          </p:cNvSpPr>
          <p:nvPr>
            <p:ph type="body" idx="1"/>
          </p:nvPr>
        </p:nvSpPr>
        <p:spPr/>
        <p:txBody>
          <a:bodyPr/>
          <a:lstStyle/>
          <a:p>
            <a:r>
              <a:rPr lang="en-US" b="1" dirty="0"/>
              <a:t>Concurrency is Hard to Test &amp; Debug</a:t>
            </a:r>
          </a:p>
          <a:p>
            <a:pPr>
              <a:buFont typeface="Arial" panose="020B0604020202020204" pitchFamily="34" charset="0"/>
              <a:buChar char="•"/>
            </a:pPr>
            <a:r>
              <a:rPr lang="en-US" dirty="0"/>
              <a:t>Race conditions are </a:t>
            </a:r>
            <a:r>
              <a:rPr lang="en-US" b="1" dirty="0"/>
              <a:t>difficult to detect through testing</a:t>
            </a:r>
            <a:r>
              <a:rPr lang="en-US" dirty="0"/>
              <a:t> </a:t>
            </a:r>
          </a:p>
          <a:p>
            <a:pPr>
              <a:buFont typeface="Arial" panose="020B0604020202020204" pitchFamily="34" charset="0"/>
              <a:buChar char="•"/>
            </a:pPr>
            <a:r>
              <a:rPr lang="en-US" dirty="0"/>
              <a:t>Even if found, it’s </a:t>
            </a:r>
            <a:r>
              <a:rPr lang="en-US" b="1" dirty="0"/>
              <a:t>hard to locate the exact cause</a:t>
            </a:r>
            <a:r>
              <a:rPr lang="en-US" dirty="0"/>
              <a:t> </a:t>
            </a:r>
          </a:p>
          <a:p>
            <a:pPr>
              <a:buFont typeface="Arial" panose="020B0604020202020204" pitchFamily="34" charset="0"/>
              <a:buChar char="•"/>
            </a:pPr>
            <a:r>
              <a:rPr lang="en-US" dirty="0"/>
              <a:t>Results are </a:t>
            </a:r>
            <a:r>
              <a:rPr lang="en-US" b="1" dirty="0"/>
              <a:t>not consistent (non-reproducible)</a:t>
            </a:r>
            <a:r>
              <a:rPr lang="en-US" dirty="0"/>
              <a:t> </a:t>
            </a:r>
          </a:p>
          <a:p>
            <a:pPr>
              <a:buFont typeface="Arial" panose="020B0604020202020204" pitchFamily="34" charset="0"/>
              <a:buChar char="•"/>
            </a:pPr>
            <a:r>
              <a:rPr lang="en-US" dirty="0"/>
              <a:t>Same program → </a:t>
            </a:r>
            <a:r>
              <a:rPr lang="en-US" b="1" dirty="0"/>
              <a:t>different output each run</a:t>
            </a:r>
            <a:r>
              <a:rPr lang="en-US" dirty="0"/>
              <a:t> </a:t>
            </a:r>
          </a:p>
          <a:p>
            <a:pPr>
              <a:buFont typeface="Arial" panose="020B0604020202020204" pitchFamily="34" charset="0"/>
              <a:buChar char="•"/>
            </a:pPr>
            <a:r>
              <a:rPr lang="en-US" dirty="0"/>
              <a:t>Behavior depends on </a:t>
            </a:r>
            <a:r>
              <a:rPr lang="en-US" b="1" dirty="0"/>
              <a:t>timing factors</a:t>
            </a:r>
            <a:r>
              <a:rPr lang="en-US" dirty="0"/>
              <a:t>, such as: </a:t>
            </a:r>
          </a:p>
          <a:p>
            <a:pPr marL="742950" lvl="1" indent="-285750">
              <a:buFont typeface="Arial" panose="020B0604020202020204" pitchFamily="34" charset="0"/>
              <a:buChar char="•"/>
            </a:pPr>
            <a:r>
              <a:rPr lang="en-US" dirty="0"/>
              <a:t>CPU scheduling </a:t>
            </a:r>
          </a:p>
          <a:p>
            <a:pPr marL="742950" lvl="1" indent="-285750">
              <a:buFont typeface="Arial" panose="020B0604020202020204" pitchFamily="34" charset="0"/>
              <a:buChar char="•"/>
            </a:pPr>
            <a:r>
              <a:rPr lang="en-US" dirty="0"/>
              <a:t>Other running programs </a:t>
            </a:r>
          </a:p>
          <a:p>
            <a:pPr marL="742950" lvl="1" indent="-285750">
              <a:buFont typeface="Arial" panose="020B0604020202020204" pitchFamily="34" charset="0"/>
              <a:buChar char="•"/>
            </a:pPr>
            <a:r>
              <a:rPr lang="en-US" dirty="0"/>
              <a:t>System load / network delays </a:t>
            </a:r>
          </a:p>
          <a:p>
            <a:pPr>
              <a:buFont typeface="Arial" panose="020B0604020202020204" pitchFamily="34" charset="0"/>
              <a:buChar char="•"/>
            </a:pPr>
            <a:r>
              <a:rPr lang="en-US" dirty="0"/>
              <a:t>Small changes (e.g., adding print statements) can </a:t>
            </a:r>
            <a:r>
              <a:rPr lang="en-US" b="1" dirty="0"/>
              <a:t>hide the bug</a:t>
            </a:r>
            <a:endParaRPr lang="en-US" dirty="0"/>
          </a:p>
          <a:p>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33</a:t>
            </a:fld>
            <a:endParaRPr lang="en-GB"/>
          </a:p>
        </p:txBody>
      </p:sp>
    </p:spTree>
    <p:extLst>
      <p:ext uri="{BB962C8B-B14F-4D97-AF65-F5344CB8AC3E}">
        <p14:creationId xmlns:p14="http://schemas.microsoft.com/office/powerpoint/2010/main" val="33634539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3"/>
          <p:cNvSpPr/>
          <p:nvPr/>
        </p:nvSpPr>
        <p:spPr>
          <a:xfrm>
            <a:off x="4824788" y="2967335"/>
            <a:ext cx="2542427"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GB" sz="5400" b="1" cap="none">
                <a:solidFill>
                  <a:srgbClr val="A2CDED"/>
                </a:solidFill>
                <a:latin typeface="Calibri"/>
                <a:ea typeface="Calibri"/>
                <a:cs typeface="Calibri"/>
                <a:sym typeface="Calibri"/>
              </a:rPr>
              <a:t>THANKS</a:t>
            </a:r>
            <a:endParaRPr/>
          </a:p>
        </p:txBody>
      </p:sp>
      <p:sp>
        <p:nvSpPr>
          <p:cNvPr id="260" name="Google Shape;260;p3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GB"/>
              <a:t>11/17/2024</a:t>
            </a:r>
            <a:endParaRPr/>
          </a:p>
        </p:txBody>
      </p:sp>
      <p:sp>
        <p:nvSpPr>
          <p:cNvPr id="261" name="Google Shape;261;p3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1738</Words>
  <Application>Microsoft Office PowerPoint</Application>
  <PresentationFormat>Widescreen</PresentationFormat>
  <Paragraphs>216</Paragraphs>
  <Slides>34</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Helvetica Neue</vt:lpstr>
      <vt:lpstr>Lato</vt:lpstr>
      <vt:lpstr>Noto Sans Symbols</vt:lpstr>
      <vt:lpstr>Times New Roman</vt:lpstr>
      <vt:lpstr>Wingdings</vt:lpstr>
      <vt:lpstr>Retrospect</vt:lpstr>
      <vt:lpstr>Software Construction &amp; Development                                                                                                              </vt:lpstr>
      <vt:lpstr>Basics of Concurrency  </vt:lpstr>
      <vt:lpstr>PowerPoint Presentation</vt:lpstr>
      <vt:lpstr>Parallelism and concurrency</vt:lpstr>
      <vt:lpstr>Parallelism and concurrency</vt:lpstr>
      <vt:lpstr>Concurrency</vt:lpstr>
      <vt:lpstr>Concurrency</vt:lpstr>
      <vt:lpstr>Multitasking</vt:lpstr>
      <vt:lpstr>Multitasking</vt:lpstr>
      <vt:lpstr>Process-Based Multitasking (Example)</vt:lpstr>
      <vt:lpstr>Thread-Based Multitasking (Example)</vt:lpstr>
      <vt:lpstr>Discussion</vt:lpstr>
      <vt:lpstr>Why Concurrency</vt:lpstr>
      <vt:lpstr>Code without Concurrency</vt:lpstr>
      <vt:lpstr>Code with Concurrency</vt:lpstr>
      <vt:lpstr>Concurrency Drawbacks</vt:lpstr>
      <vt:lpstr>Two Models for Concurrent Programming</vt:lpstr>
      <vt:lpstr>Shared memory </vt:lpstr>
      <vt:lpstr>Shared memory </vt:lpstr>
      <vt:lpstr>Message passing</vt:lpstr>
      <vt:lpstr>Message passing</vt:lpstr>
      <vt:lpstr>Shared Memory Example</vt:lpstr>
      <vt:lpstr>Shared Memory Example</vt:lpstr>
      <vt:lpstr>Shared Memory Example</vt:lpstr>
      <vt:lpstr>Shared Memory Example</vt:lpstr>
      <vt:lpstr>Shared Memory Example</vt:lpstr>
      <vt:lpstr>Shared Memory Example</vt:lpstr>
      <vt:lpstr>Shared Memory Example</vt:lpstr>
      <vt:lpstr>Race Condition</vt:lpstr>
      <vt:lpstr>Message Passing Example</vt:lpstr>
      <vt:lpstr>Message Passing Example</vt:lpstr>
      <vt:lpstr>Message Passing Example</vt:lpstr>
      <vt:lpstr>Concurrency is Hard to Test and Debug</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Construction &amp; Development                                                                                                              </dc:title>
  <cp:lastModifiedBy>Microsoft account</cp:lastModifiedBy>
  <cp:revision>22</cp:revision>
  <dcterms:modified xsi:type="dcterms:W3CDTF">2026-05-05T15:37:53Z</dcterms:modified>
</cp:coreProperties>
</file>